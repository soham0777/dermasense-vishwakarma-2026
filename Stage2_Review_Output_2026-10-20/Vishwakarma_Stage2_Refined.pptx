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5.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9" r:id="rId10"/>
    <p:sldId id="276" r:id="rId47"/>
    <p:sldId id="277" r:id="rId48"/>
    <p:sldId id="278" r:id="rId49"/>
    <p:sldId id="261" r:id="rId12"/>
    <p:sldId id="279" r:id="rId50"/>
    <p:sldId id="263" r:id="rId14"/>
    <p:sldId id="280" r:id="rId51"/>
    <p:sldId id="265" r:id="rId16"/>
    <p:sldId id="281" r:id="rId52"/>
    <p:sldId id="267" r:id="rId18"/>
    <p:sldId id="282" r:id="rId53"/>
    <p:sldId id="270" r:id="rId21"/>
    <p:sldId id="283" r:id="rId54"/>
    <p:sldId id="273" r:id="rId24"/>
    <p:sldId id="284" r:id="rId55"/>
    <p:sldId id="274" r:id="rId25"/>
    <p:sldId id="275" r:id="rId26"/>
  </p:sldIdLst>
  <p:sldSz cy="6858000" cx="12192000"/>
  <p:notesSz cx="6858000" cy="9144000"/>
  <p:embeddedFontLst>
    <p:embeddedFont>
      <p:font typeface="DM Sans Medium"/>
      <p:regular r:id="rId27"/>
      <p:bold r:id="rId28"/>
      <p:italic r:id="rId29"/>
      <p:boldItalic r:id="rId30"/>
    </p:embeddedFont>
    <p:embeddedFont>
      <p:font typeface="Poppins"/>
      <p:regular r:id="rId31"/>
      <p:bold r:id="rId32"/>
      <p:italic r:id="rId33"/>
      <p:boldItalic r:id="rId34"/>
    </p:embeddedFont>
    <p:embeddedFont>
      <p:font typeface="Inter"/>
      <p:regular r:id="rId35"/>
      <p:bold r:id="rId36"/>
      <p:italic r:id="rId37"/>
      <p:boldItalic r:id="rId38"/>
    </p:embeddedFont>
    <p:embeddedFont>
      <p:font typeface="Poppins SemiBold"/>
      <p:regular r:id="rId39"/>
      <p:bold r:id="rId40"/>
      <p:italic r:id="rId41"/>
      <p:boldItalic r:id="rId42"/>
    </p:embeddedFont>
    <p:embeddedFont>
      <p:font typeface="DM Sans"/>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2EFB60C-4C19-4109-8612-B18C57E068F9}">
  <a:tblStyle styleId="{A2EFB60C-4C19-4109-8612-B18C57E068F9}"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10" Type="http://schemas.openxmlformats.org/officeDocument/2006/relationships/slide" Target="slides/slide4.xml"/><Relationship Id="rId12" Type="http://schemas.openxmlformats.org/officeDocument/2006/relationships/slide" Target="slides/slide6.xml"/><Relationship Id="rId14" Type="http://schemas.openxmlformats.org/officeDocument/2006/relationships/slide" Target="slides/slide8.xml"/><Relationship Id="rId16" Type="http://schemas.openxmlformats.org/officeDocument/2006/relationships/slide" Target="slides/slide10.xml"/><Relationship Id="rId18" Type="http://schemas.openxmlformats.org/officeDocument/2006/relationships/slide" Target="slides/slide12.xml"/><Relationship Id="rId21" Type="http://schemas.openxmlformats.org/officeDocument/2006/relationships/slide" Target="slides/slide15.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font" Target="fonts/DMSansMedium-regular.fntdata"/><Relationship Id="rId28" Type="http://schemas.openxmlformats.org/officeDocument/2006/relationships/font" Target="fonts/DMSansMedium-bold.fntdata"/><Relationship Id="rId29" Type="http://schemas.openxmlformats.org/officeDocument/2006/relationships/font" Target="fonts/DMSansMedium-italic.fntdata"/><Relationship Id="rId30" Type="http://schemas.openxmlformats.org/officeDocument/2006/relationships/font" Target="fonts/DMSansMedium-boldItalic.fntdata"/><Relationship Id="rId31" Type="http://schemas.openxmlformats.org/officeDocument/2006/relationships/font" Target="fonts/Poppins-regular.fntdata"/><Relationship Id="rId32" Type="http://schemas.openxmlformats.org/officeDocument/2006/relationships/font" Target="fonts/Poppins-bold.fntdata"/><Relationship Id="rId33" Type="http://schemas.openxmlformats.org/officeDocument/2006/relationships/font" Target="fonts/Poppins-italic.fntdata"/><Relationship Id="rId34" Type="http://schemas.openxmlformats.org/officeDocument/2006/relationships/font" Target="fonts/Poppins-boldItalic.fntdata"/><Relationship Id="rId35" Type="http://schemas.openxmlformats.org/officeDocument/2006/relationships/font" Target="fonts/Inter-regular.fntdata"/><Relationship Id="rId36" Type="http://schemas.openxmlformats.org/officeDocument/2006/relationships/font" Target="fonts/Inter-bold.fntdata"/><Relationship Id="rId37" Type="http://schemas.openxmlformats.org/officeDocument/2006/relationships/font" Target="fonts/Inter-italic.fntdata"/><Relationship Id="rId38" Type="http://schemas.openxmlformats.org/officeDocument/2006/relationships/font" Target="fonts/Inter-boldItalic.fntdata"/><Relationship Id="rId39" Type="http://schemas.openxmlformats.org/officeDocument/2006/relationships/font" Target="fonts/PoppinsSemiBold-regular.fntdata"/><Relationship Id="rId40" Type="http://schemas.openxmlformats.org/officeDocument/2006/relationships/font" Target="fonts/PoppinsSemiBold-bold.fntdata"/><Relationship Id="rId41" Type="http://schemas.openxmlformats.org/officeDocument/2006/relationships/font" Target="fonts/PoppinsSemiBold-italic.fntdata"/><Relationship Id="rId42" Type="http://schemas.openxmlformats.org/officeDocument/2006/relationships/font" Target="fonts/PoppinsSemiBold-boldItalic.fntdata"/><Relationship Id="rId43" Type="http://schemas.openxmlformats.org/officeDocument/2006/relationships/font" Target="fonts/DMSans-regular.fntdata"/><Relationship Id="rId44" Type="http://schemas.openxmlformats.org/officeDocument/2006/relationships/font" Target="fonts/DMSans-bold.fntdata"/><Relationship Id="rId45" Type="http://schemas.openxmlformats.org/officeDocument/2006/relationships/font" Target="fonts/DMSans-italic.fntdata"/><Relationship Id="rId46" Type="http://schemas.openxmlformats.org/officeDocument/2006/relationships/font" Target="fonts/DMSans-boldItalic.fntdata"/><Relationship Id="rId47" Type="http://schemas.openxmlformats.org/officeDocument/2006/relationships/slide" Target="slides/slide21.xml"/><Relationship Id="rId48" Type="http://schemas.openxmlformats.org/officeDocument/2006/relationships/slide" Target="slides/slide22.xml"/><Relationship Id="rId49" Type="http://schemas.openxmlformats.org/officeDocument/2006/relationships/slide" Target="slides/slide23.xml"/><Relationship Id="rId50" Type="http://schemas.openxmlformats.org/officeDocument/2006/relationships/slide" Target="slides/slide24.xml"/><Relationship Id="rId51" Type="http://schemas.openxmlformats.org/officeDocument/2006/relationships/slide" Target="slides/slide25.xml"/><Relationship Id="rId52" Type="http://schemas.openxmlformats.org/officeDocument/2006/relationships/slide" Target="slides/slide26.xml"/><Relationship Id="rId53" Type="http://schemas.openxmlformats.org/officeDocument/2006/relationships/slide" Target="slides/slide27.xml"/><Relationship Id="rId54" Type="http://schemas.openxmlformats.org/officeDocument/2006/relationships/slide" Target="slides/slide28.xml"/><Relationship Id="rId5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Template page 1 asks only for the Vishwakarma Application ID; team names added. Project title, track and core innovation are in the Project Overview bar on slide 2 (as in the template's example page 4).</a:t>
            </a:r>
          </a:p>
        </p:txBody>
      </p:sp>
      <p:sp>
        <p:nvSpPr>
          <p:cNvPr id="82" name="Google Shape;82;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fb70659208_2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Milne 2016 [1]: 264 of 588 changes at optimal moisture (WoundSense spot readings). Change rules: some foam dressings ~2 cm from the pad edge [2]; ALLEVYN LIFE 'At 75%, it's time to change' [14]. Exudate 0.10-1.3 g/cm2/day by two methods [6]. Template page 2: Project Overview + Problem Statement.</a:t>
            </a:r>
          </a:p>
        </p:txBody>
      </p:sp>
      <p:sp>
        <p:nvSpPr>
          <p:cNvPr id="123" name="Google Shape;123;g3fb70659208_26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fb70659208_26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Electrode lines/gaps 1.0 mm (provisional until E2). Windows 6 x 3.9 mm. Expected wet 4.2-14.8 kOhm, dry &gt;= 1 MOhm (calc_readout.py). Self-check: 100 kOhm 0.1 % resistor (+/-5 %) and COM loop -&gt; FAULT. BLE: one 13-byte advertisement per scan (ble_beacon.h), compiled, not run on hardware. Sources: config.h, strip_v0_1_geometry.json.</a:t>
            </a:r>
          </a:p>
        </p:txBody>
      </p:sp>
      <p:sp>
        <p:nvSpPr>
          <p:cNvPr id="180" name="Google Shape;180;g3fb70659208_26_3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g3fb70659208_26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Hand calculations: 5_cad/calc_mechanical_report.md (pin rate 0.49 N/mm from the P75-B1 listing; 1.48 mm compression; lid 4.0 mm PETG, span 35.7 mm, simply supported; tolerance stack worst case 0.49 mm, RSS 0.25 mm; t/2R strain; 10 N tug at the dowels). No FEA: loads are under 3 N, so stresses are far below PETG limits; SolidWorks Simulation is available if the judges want plots. CAD checks: 5_cad/verify_cad_report.md.</a:t>
            </a:r>
          </a:p>
        </p:txBody>
      </p:sp>
      <p:sp>
        <p:nvSpPr>
          <p:cNvPr id="232" name="Google Shape;232;g3fb70659208_26_6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fb70659208_26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pin map: 7_firmware/WIRING.md (generated from the netlist). I2C on GPIO6/7 (ADS1115 0x48); A1 = 3V3 rail; LEDs on GPIO0/1/21; strapping pins GPIO2/8/9 unused.</a:t>
            </a:r>
          </a:p>
        </p:txBody>
      </p:sp>
      <p:sp>
        <p:nvSpPr>
          <p:cNvPr id="275" name="Google Shape;275;g3fb70659208_26_9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g3fb70659208_26_1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TEAM TO DO: replace the two photo placeholders (right-click &gt; Change Picture, or put team.jpg and lab1.jpg in Stage2_Review_Output_2026-10-20/team_photos/ and rebuild), and the roles. Template page 11: lab photos of team members with institutional ID badges; joint photo with a faculty mentor only if one is attached. Every commit since 14 Oct carries a Co-Authored-By: Claude line.</a:t>
            </a:r>
          </a:p>
        </p:txBody>
      </p:sp>
      <p:sp>
        <p:nvSpPr>
          <p:cNvPr id="360" name="Google Shape;360;g3fb70659208_26_14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g3fb70659208_26_1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FMEA: 3_decisions/fmea_v0_1.md (15 modes). Laser safety: signed checklist each session (4_sensor_strip/e2_experiment/E2_safety_checklist.md). Bench test T8 checks average DC &lt; 5 mV.</a:t>
            </a:r>
          </a:p>
        </p:txBody>
      </p:sp>
      <p:sp>
        <p:nvSpPr>
          <p:cNvPr id="415" name="Google Shape;415;g3fb70659208_26_16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3fb70659208_26_1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Evidence: 5_cad/verify_cad_report.md (interference), 3_decisions/fmea_v0_1.md, 4_sensor_strip/machine_record.md.</a:t>
            </a:r>
          </a:p>
        </p:txBody>
      </p:sp>
      <p:sp>
        <p:nvSpPr>
          <p:cNvPr id="475" name="Google Shape;475;g3fb70659208_26_19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Full list: 2_research/literature.csv and research_matrix.csv (41 + 16 entries); refs 16-20 added 20 Oct (Stage2_Review_Output_2026-10-20/new_sources.csv).</a:t>
            </a:r>
          </a:p>
        </p:txBody>
      </p:sp>
      <p:sp>
        <p:nvSpPr>
          <p:cNvPr id="502" name="Google Shape;502;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g3fb70659208_26_2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Generators: 1_presentation/render_cad.py and make_figures.py. Photos: 1_presentation/team_photos/.</a:t>
            </a:r>
          </a:p>
        </p:txBody>
      </p:sp>
      <p:sp>
        <p:nvSpPr>
          <p:cNvPr id="519" name="Google Shape;519;g3fb70659208_26_22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Ticks are our reading of each source: WoundSense readings in Milne 2016 [1] were spot checks at dressing change; Jiang 2022 [5] is a mouse-model closed-loop bandage; diaper patents [4] use a strip plus clip-on detector; ALLEVYN LIFE [14] has a visual change indicator. Source: 2_research/research_gap.md.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WHO: Gupta 2004 [16] 31 chronic wounds in 6,917 people (4.5/1,000); Sharma 2024 [17] 19 in 10,003 (1.9/1,000), diabetic foot ulcers 36.8 % of them; ICMR-INDIAB [18] 101 million (11.4 %); Armstrong 2017 [19] 19-34 % lifetime (review estimate; upper bound contested); Price 2008 [20] 790 of 2,018 patients. Persona is illustrative, built from these data; not a real patient or interview. Quantified: Mölnlycke survey [13], Milne [1], Truemeds [15].</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Targets and projections, not results. 'Up to 44.9 %' assumes every change waits for CHANGE; some changes have other clinical reasons. Payback: strip &lt;= Rs 100 (estimate) / dressing Rs 242-514 [15] = 0.19-0.41. Bluetooth: compiled and tested in software only (bench test T11 pending); no phone app yet.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ADS1115 single-shot 128 SPS, auto-range; A1 reads the 3V3 rail. Rx from both phases, averaged, scaled by the check resistor (+/-5 % else FAULT), minus 2 kOhm protection. Idle pins high-Z; zones frozen during FAULT. Compiles for ESP32-C3 with 0 warnings (650,349 bytes, 49 % of flash, with Bluetooth). BLE payload: state, wet flags, scan number, both zone resistances; unencrypted, test company ID 0xFFFF, bench only. Decoder: 7_firmware/tools/decode_beacon.py.</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Graphene not confirmed until Raman. Machine (LaserCAD config): 1200 x 900 mm bed, 20 kHz PWM, 98 % cap. Logged per layer: min/max power, speed, 0.1 mm interval, passes, scan direction, focus, tube current. E2 = 4 bracket coupons (power 10/12/14, speed x0.67/1/1.5) + 3 resolution coupons.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Line items: 6_electronics/bom_v0_1.csv (23 lines, each traced to the file that needs it). First order: silver paint, 1 % resistor set, 0.1 % 100 kOhm resistors, ADS1115, ESP32-C3. Quoted 19 Oct 2026 incl. GST: Probots PRO4607 ESP32-C3 SuperMini Rs 242; Probots PRO789 ADS1115 Rs 125; Hubtronics 05880 P75-B1 pack of 100 Rs 354. Total leaves out the borrowed meter, USB cable and E4 dressings. Ranges = sum of min/max estimates.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5 concepts scored on 13 weighted criteria (3_decisions/decision_matrix.md). Verification fixes: seal moved off the clamp; STEP was in cm, now mm; drawings rebuilt first-angle. FMEA F04 (cracked sense lead reads dry, RPN 224). 4 zones were cut to 2 until E2 proves finer lines. Stage 1 also estimated '60 % fewer changes'; we dropped that number (no source). IP: concept and files are the team's own; no patent filed yet.</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Gates: G1 E2 Rs CV &lt;= 20 %; G2 reader bench test T0-T11; G3 E4 alert within +/-10 %; G4 live demo with logged raw data. Programme dates (vishwakarma-awards.org and the Internshala listing, read 19 Oct 2026): prototype video + updated PPT in December (listing: 4 Dec 2026); Health Tech semi-final interviews in January; IIT Indore bootcamp and finale 26 Jan - 1 Feb 2027. No patient use. Raman/SEM via a partner lab if access is granted.</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Future scope details: 4_sensor_strip/e2_experiment/E2_measurements_and_unknowns.md.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png"/><Relationship Id="rId4" Type="http://schemas.openxmlformats.org/officeDocument/2006/relationships/image" Target="../media/image5.png"/><Relationship Id="rId5" Type="http://schemas.openxmlformats.org/officeDocument/2006/relationships/image" Target="../media/image30.png"/><Relationship Id="rId6" Type="http://schemas.openxmlformats.org/officeDocument/2006/relationships/image" Target="../media/image7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3.png"/><Relationship Id="rId7" Type="http://schemas.openxmlformats.org/officeDocument/2006/relationships/image" Target="../media/image14.png"/><Relationship Id="rId8" Type="http://schemas.openxmlformats.org/officeDocument/2006/relationships/image" Target="../media/image13.png"/><Relationship Id="rId9" Type="http://schemas.openxmlformats.org/officeDocument/2006/relationships/image" Target="../media/image16.png"/><Relationship Id="rId10" Type="http://schemas.openxmlformats.org/officeDocument/2006/relationships/image" Target="../media/image15.png"/><Relationship Id="rId11" Type="http://schemas.openxmlformats.org/officeDocument/2006/relationships/image" Target="../media/image20.png"/><Relationship Id="rId12" Type="http://schemas.openxmlformats.org/officeDocument/2006/relationships/image" Target="../media/image12.png"/><Relationship Id="rId13" Type="http://schemas.openxmlformats.org/officeDocument/2006/relationships/image" Target="../media/image30.png"/><Relationship Id="rId14" Type="http://schemas.openxmlformats.org/officeDocument/2006/relationships/image" Target="../media/image75.png"/><Relationship Id="rId15" Type="http://schemas.openxmlformats.org/officeDocument/2006/relationships/image" Target="../media/image7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24.png"/><Relationship Id="rId6" Type="http://schemas.openxmlformats.org/officeDocument/2006/relationships/image" Target="../media/image32.png"/><Relationship Id="rId7" Type="http://schemas.openxmlformats.org/officeDocument/2006/relationships/image" Target="../media/image15.png"/><Relationship Id="rId8" Type="http://schemas.openxmlformats.org/officeDocument/2006/relationships/image" Target="../media/image27.png"/><Relationship Id="rId9" Type="http://schemas.openxmlformats.org/officeDocument/2006/relationships/image" Target="../media/image23.png"/><Relationship Id="rId10" Type="http://schemas.openxmlformats.org/officeDocument/2006/relationships/image" Target="../media/image30.png"/><Relationship Id="rId11" Type="http://schemas.openxmlformats.org/officeDocument/2006/relationships/image" Target="../media/image75.png"/><Relationship Id="rId12" Type="http://schemas.openxmlformats.org/officeDocument/2006/relationships/image" Target="../media/image7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24.png"/><Relationship Id="rId6" Type="http://schemas.openxmlformats.org/officeDocument/2006/relationships/image" Target="../media/image32.png"/><Relationship Id="rId7" Type="http://schemas.openxmlformats.org/officeDocument/2006/relationships/image" Target="../media/image15.png"/><Relationship Id="rId8" Type="http://schemas.openxmlformats.org/officeDocument/2006/relationships/image" Target="../media/image39.png"/><Relationship Id="rId9" Type="http://schemas.openxmlformats.org/officeDocument/2006/relationships/image" Target="../media/image40.png"/><Relationship Id="rId10" Type="http://schemas.openxmlformats.org/officeDocument/2006/relationships/image" Target="../media/image30.png"/><Relationship Id="rId11" Type="http://schemas.openxmlformats.org/officeDocument/2006/relationships/image" Target="../media/image75.png"/><Relationship Id="rId12" Type="http://schemas.openxmlformats.org/officeDocument/2006/relationships/image" Target="../media/image8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24.png"/><Relationship Id="rId6" Type="http://schemas.openxmlformats.org/officeDocument/2006/relationships/image" Target="../media/image32.png"/><Relationship Id="rId7" Type="http://schemas.openxmlformats.org/officeDocument/2006/relationships/image" Target="../media/image15.png"/><Relationship Id="rId8" Type="http://schemas.openxmlformats.org/officeDocument/2006/relationships/image" Target="../media/image42.png"/><Relationship Id="rId9" Type="http://schemas.openxmlformats.org/officeDocument/2006/relationships/image" Target="../media/image41.png"/><Relationship Id="rId10" Type="http://schemas.openxmlformats.org/officeDocument/2006/relationships/image" Target="../media/image30.png"/><Relationship Id="rId11" Type="http://schemas.openxmlformats.org/officeDocument/2006/relationships/image" Target="../media/image75.png"/><Relationship Id="rId12" Type="http://schemas.openxmlformats.org/officeDocument/2006/relationships/image" Target="../media/image8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24.png"/><Relationship Id="rId6" Type="http://schemas.openxmlformats.org/officeDocument/2006/relationships/image" Target="../media/image32.png"/><Relationship Id="rId7" Type="http://schemas.openxmlformats.org/officeDocument/2006/relationships/image" Target="../media/image1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30.png"/><Relationship Id="rId11" Type="http://schemas.openxmlformats.org/officeDocument/2006/relationships/image" Target="../media/image75.png"/><Relationship Id="rId12" Type="http://schemas.openxmlformats.org/officeDocument/2006/relationships/image" Target="../media/image84.png"/><Relationship Id="rId13" Type="http://schemas.openxmlformats.org/officeDocument/2006/relationships/image" Target="../media/image85.png"/><Relationship Id="rId14" Type="http://schemas.openxmlformats.org/officeDocument/2006/relationships/image" Target="../media/image8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51.png"/><Relationship Id="rId5" Type="http://schemas.openxmlformats.org/officeDocument/2006/relationships/image" Target="../media/image53.png"/><Relationship Id="rId6" Type="http://schemas.openxmlformats.org/officeDocument/2006/relationships/image" Target="../media/image52.png"/><Relationship Id="rId7" Type="http://schemas.openxmlformats.org/officeDocument/2006/relationships/image" Target="../media/image15.png"/><Relationship Id="rId8" Type="http://schemas.openxmlformats.org/officeDocument/2006/relationships/image" Target="../media/image54.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30.png"/><Relationship Id="rId12" Type="http://schemas.openxmlformats.org/officeDocument/2006/relationships/image" Target="../media/image75.png"/><Relationship Id="rId13" Type="http://schemas.openxmlformats.org/officeDocument/2006/relationships/image" Target="../media/image8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 Id="rId8" Type="http://schemas.openxmlformats.org/officeDocument/2006/relationships/image" Target="../media/image15.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30.png"/><Relationship Id="rId13" Type="http://schemas.openxmlformats.org/officeDocument/2006/relationships/image" Target="../media/image75.png"/><Relationship Id="rId14" Type="http://schemas.openxmlformats.org/officeDocument/2006/relationships/image" Target="../media/image9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30.png"/><Relationship Id="rId6" Type="http://schemas.openxmlformats.org/officeDocument/2006/relationships/image" Target="../media/image75.png"/><Relationship Id="rId7"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png"/><Relationship Id="rId8" Type="http://schemas.openxmlformats.org/officeDocument/2006/relationships/image" Target="../media/image76.png"/><Relationship Id="rId9" Type="http://schemas.openxmlformats.org/officeDocument/2006/relationships/image" Target="../media/image15.png"/><Relationship Id="rId10" Type="http://schemas.openxmlformats.org/officeDocument/2006/relationships/image" Target="../media/image30.png"/><Relationship Id="rId11" Type="http://schemas.openxmlformats.org/officeDocument/2006/relationships/image" Target="../media/image75.png"/><Relationship Id="rId12" Type="http://schemas.openxmlformats.org/officeDocument/2006/relationships/image" Target="../media/image77.png"/><Relationship Id="rId13" Type="http://schemas.openxmlformats.org/officeDocument/2006/relationships/image" Target="../media/image78.png"/><Relationship Id="rId14" Type="http://schemas.openxmlformats.org/officeDocument/2006/relationships/image" Target="../media/image79.png"/><Relationship Id="rId15" Type="http://schemas.openxmlformats.org/officeDocument/2006/relationships/image" Target="../media/image80.png"/><Relationship Id="rId16" Type="http://schemas.openxmlformats.org/officeDocument/2006/relationships/image" Target="../media/image81.png"/><Relationship Id="rId17" Type="http://schemas.openxmlformats.org/officeDocument/2006/relationships/image" Target="../media/image82.png"/><Relationship Id="rId18" Type="http://schemas.openxmlformats.org/officeDocument/2006/relationships/image" Target="../media/image83.png"/><Relationship Id="rId19" Type="http://schemas.openxmlformats.org/officeDocument/2006/relationships/image" Target="../media/image84.png"/><Relationship Id="rId20" Type="http://schemas.openxmlformats.org/officeDocument/2006/relationships/image" Target="../media/image87.png"/><Relationship Id="rId21" Type="http://schemas.openxmlformats.org/officeDocument/2006/relationships/image" Target="../media/image88.png"/><Relationship Id="rId22" Type="http://schemas.openxmlformats.org/officeDocument/2006/relationships/image" Target="../media/image89.png"/><Relationship Id="rId23" Type="http://schemas.openxmlformats.org/officeDocument/2006/relationships/image" Target="../media/image9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5.png"/><Relationship Id="rId4" Type="http://schemas.openxmlformats.org/officeDocument/2006/relationships/image" Target="../media/image30.png"/><Relationship Id="rId5" Type="http://schemas.openxmlformats.org/officeDocument/2006/relationships/image" Target="../media/image12.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6.png"/><Relationship Id="rId9" Type="http://schemas.openxmlformats.org/officeDocument/2006/relationships/image" Target="../media/image75.png"/><Relationship Id="rId10" Type="http://schemas.openxmlformats.org/officeDocument/2006/relationships/image" Target="../media/image11.png"/><Relationship Id="rId11" Type="http://schemas.openxmlformats.org/officeDocument/2006/relationships/image" Target="../media/image3.png"/><Relationship Id="rId12" Type="http://schemas.openxmlformats.org/officeDocument/2006/relationships/image" Target="../media/image14.png"/><Relationship Id="rId13" Type="http://schemas.openxmlformats.org/officeDocument/2006/relationships/image" Target="../media/image13.png"/><Relationship Id="rId1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5.png"/><Relationship Id="rId4" Type="http://schemas.openxmlformats.org/officeDocument/2006/relationships/image" Target="../media/image30.png"/><Relationship Id="rId5" Type="http://schemas.openxmlformats.org/officeDocument/2006/relationships/image" Target="../media/image12.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6.png"/><Relationship Id="rId9" Type="http://schemas.openxmlformats.org/officeDocument/2006/relationships/image" Target="../media/image75.png"/><Relationship Id="rId10" Type="http://schemas.openxmlformats.org/officeDocument/2006/relationships/image" Target="../media/image11.png"/><Relationship Id="rId11" Type="http://schemas.openxmlformats.org/officeDocument/2006/relationships/image" Target="../media/image3.png"/><Relationship Id="rId12" Type="http://schemas.openxmlformats.org/officeDocument/2006/relationships/image" Target="../media/image14.png"/><Relationship Id="rId13" Type="http://schemas.openxmlformats.org/officeDocument/2006/relationships/image" Target="../media/image13.png"/><Relationship Id="rId14" Type="http://schemas.openxmlformats.org/officeDocument/2006/relationships/image" Target="../media/image77.png"/><Relationship Id="rId1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5.png"/><Relationship Id="rId4" Type="http://schemas.openxmlformats.org/officeDocument/2006/relationships/image" Target="../media/image30.png"/><Relationship Id="rId5" Type="http://schemas.openxmlformats.org/officeDocument/2006/relationships/image" Target="../media/image12.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6.png"/><Relationship Id="rId9" Type="http://schemas.openxmlformats.org/officeDocument/2006/relationships/image" Target="../media/image75.png"/><Relationship Id="rId10" Type="http://schemas.openxmlformats.org/officeDocument/2006/relationships/image" Target="../media/image11.png"/><Relationship Id="rId11" Type="http://schemas.openxmlformats.org/officeDocument/2006/relationships/image" Target="../media/image3.png"/><Relationship Id="rId12" Type="http://schemas.openxmlformats.org/officeDocument/2006/relationships/image" Target="../media/image14.png"/><Relationship Id="rId13" Type="http://schemas.openxmlformats.org/officeDocument/2006/relationships/image" Target="../media/image13.png"/><Relationship Id="rId14" Type="http://schemas.openxmlformats.org/officeDocument/2006/relationships/image" Target="../media/image77.png"/><Relationship Id="rId1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30.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40.png"/><Relationship Id="rId7" Type="http://schemas.openxmlformats.org/officeDocument/2006/relationships/image" Target="../media/image24.png"/><Relationship Id="rId8" Type="http://schemas.openxmlformats.org/officeDocument/2006/relationships/image" Target="../media/image32.png"/><Relationship Id="rId9" Type="http://schemas.openxmlformats.org/officeDocument/2006/relationships/image" Target="../media/image15.png"/><Relationship Id="rId10" Type="http://schemas.openxmlformats.org/officeDocument/2006/relationships/image" Target="../media/image39.png"/><Relationship Id="rId11" Type="http://schemas.openxmlformats.org/officeDocument/2006/relationships/image" Target="../media/image79.png"/><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30.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40.png"/><Relationship Id="rId7" Type="http://schemas.openxmlformats.org/officeDocument/2006/relationships/image" Target="../media/image24.png"/><Relationship Id="rId8" Type="http://schemas.openxmlformats.org/officeDocument/2006/relationships/image" Target="../media/image32.png"/><Relationship Id="rId9" Type="http://schemas.openxmlformats.org/officeDocument/2006/relationships/image" Target="../media/image15.png"/><Relationship Id="rId10" Type="http://schemas.openxmlformats.org/officeDocument/2006/relationships/image" Target="../media/image39.png"/><Relationship Id="rId11" Type="http://schemas.openxmlformats.org/officeDocument/2006/relationships/image" Target="../media/image81.png"/><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30.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41.png"/><Relationship Id="rId7" Type="http://schemas.openxmlformats.org/officeDocument/2006/relationships/image" Target="../media/image24.png"/><Relationship Id="rId8" Type="http://schemas.openxmlformats.org/officeDocument/2006/relationships/image" Target="../media/image32.png"/><Relationship Id="rId9" Type="http://schemas.openxmlformats.org/officeDocument/2006/relationships/image" Target="../media/image15.png"/><Relationship Id="rId10" Type="http://schemas.openxmlformats.org/officeDocument/2006/relationships/image" Target="../media/image42.png"/><Relationship Id="rId11" Type="http://schemas.openxmlformats.org/officeDocument/2006/relationships/image" Target="../media/image83.png"/><Relationship Id="rId1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30.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47.png"/><Relationship Id="rId7" Type="http://schemas.openxmlformats.org/officeDocument/2006/relationships/image" Target="../media/image24.png"/><Relationship Id="rId8" Type="http://schemas.openxmlformats.org/officeDocument/2006/relationships/image" Target="../media/image32.png"/><Relationship Id="rId9" Type="http://schemas.openxmlformats.org/officeDocument/2006/relationships/image" Target="../media/image15.png"/><Relationship Id="rId10" Type="http://schemas.openxmlformats.org/officeDocument/2006/relationships/image" Target="../media/image46.png"/><Relationship Id="rId11" Type="http://schemas.openxmlformats.org/officeDocument/2006/relationships/image" Target="../media/image87.png"/><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57.png"/><Relationship Id="rId4" Type="http://schemas.openxmlformats.org/officeDocument/2006/relationships/image" Target="../media/image75.png"/><Relationship Id="rId5" Type="http://schemas.openxmlformats.org/officeDocument/2006/relationships/image" Target="../media/image6.png"/><Relationship Id="rId6" Type="http://schemas.openxmlformats.org/officeDocument/2006/relationships/image" Target="../media/image51.png"/><Relationship Id="rId7" Type="http://schemas.openxmlformats.org/officeDocument/2006/relationships/image" Target="../media/image56.png"/><Relationship Id="rId8" Type="http://schemas.openxmlformats.org/officeDocument/2006/relationships/image" Target="../media/image53.png"/><Relationship Id="rId9" Type="http://schemas.openxmlformats.org/officeDocument/2006/relationships/image" Target="../media/image52.png"/><Relationship Id="rId10" Type="http://schemas.openxmlformats.org/officeDocument/2006/relationships/image" Target="../media/image15.png"/><Relationship Id="rId11" Type="http://schemas.openxmlformats.org/officeDocument/2006/relationships/image" Target="../media/image54.png"/><Relationship Id="rId12" Type="http://schemas.openxmlformats.org/officeDocument/2006/relationships/image" Target="../media/image89.png"/><Relationship Id="rId1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66.png"/><Relationship Id="rId4" Type="http://schemas.openxmlformats.org/officeDocument/2006/relationships/image" Target="../media/image75.png"/><Relationship Id="rId5" Type="http://schemas.openxmlformats.org/officeDocument/2006/relationships/image" Target="../media/image30.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65.png"/><Relationship Id="rId9" Type="http://schemas.openxmlformats.org/officeDocument/2006/relationships/image" Target="../media/image62.png"/><Relationship Id="rId10" Type="http://schemas.openxmlformats.org/officeDocument/2006/relationships/image" Target="../media/image63.png"/><Relationship Id="rId11" Type="http://schemas.openxmlformats.org/officeDocument/2006/relationships/image" Target="../media/image64.png"/><Relationship Id="rId12" Type="http://schemas.openxmlformats.org/officeDocument/2006/relationships/image" Target="../media/image15.png"/><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descr="image.png" id="84" name="Google Shape;84;p13"/>
          <p:cNvPicPr preferRelativeResize="0"/>
          <p:nvPr/>
        </p:nvPicPr>
        <p:blipFill rotWithShape="1">
          <a:blip r:embed="rId3">
            <a:alphaModFix/>
          </a:blip>
          <a:srcRect b="0" l="0" r="0" t="0"/>
          <a:stretch/>
        </p:blipFill>
        <p:spPr>
          <a:xfrm>
            <a:off x="0" y="-2"/>
            <a:ext cx="12192000" cy="6858000"/>
          </a:xfrm>
          <a:prstGeom prst="rect">
            <a:avLst/>
          </a:prstGeom>
          <a:noFill/>
          <a:ln>
            <a:noFill/>
          </a:ln>
        </p:spPr>
      </p:pic>
      <p:sp>
        <p:nvSpPr>
          <p:cNvPr id="85" name="Google Shape;85;p13"/>
          <p:cNvSpPr txBox="1"/>
          <p:nvPr/>
        </p:nvSpPr>
        <p:spPr>
          <a:xfrm>
            <a:off x="2320528" y="3182619"/>
            <a:ext cx="7551000" cy="5772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sz="3750">
                <a:solidFill>
                  <a:srgbClr val="0F172A"/>
                </a:solidFill>
                <a:latin typeface="Poppins"/>
                <a:ea typeface="Poppins"/>
                <a:cs typeface="Poppins"/>
                <a:sym typeface="Poppins"/>
              </a:rPr>
              <a:t>Vishwakarma Application ID</a:t>
            </a:r>
            <a:endParaRPr/>
          </a:p>
        </p:txBody>
      </p:sp>
      <p:sp>
        <p:nvSpPr>
          <p:cNvPr id="86" name="Google Shape;86;p13"/>
          <p:cNvSpPr txBox="1"/>
          <p:nvPr/>
        </p:nvSpPr>
        <p:spPr>
          <a:xfrm>
            <a:off x="2011680" y="3931920"/>
            <a:ext cx="8165592" cy="566928"/>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None/>
            </a:pPr>
            <a:r>
              <a:rPr sz="2600" b="0">
                <a:solidFill>
                  <a:srgbClr val="0369A1"/>
                </a:solidFill>
                <a:latin typeface="Poppins SemiBold"/>
              </a:rPr>
              <a:t>VK26-IITI-HT-0050</a:t>
            </a:r>
            <a:endParaRPr/>
          </a:p>
        </p:txBody>
      </p:sp>
      <p:pic>
        <p:nvPicPr>
          <p:cNvPr descr="image.png" id="87" name="Google Shape;87;p13"/>
          <p:cNvPicPr preferRelativeResize="0"/>
          <p:nvPr/>
        </p:nvPicPr>
        <p:blipFill rotWithShape="1">
          <a:blip r:embed="rId4">
            <a:alphaModFix/>
          </a:blip>
          <a:srcRect b="0" l="0" r="0" t="0"/>
          <a:stretch/>
        </p:blipFill>
        <p:spPr>
          <a:xfrm>
            <a:off x="3170213" y="2268205"/>
            <a:ext cx="5851614" cy="577200"/>
          </a:xfrm>
          <a:prstGeom prst="rect">
            <a:avLst/>
          </a:prstGeom>
          <a:noFill/>
          <a:ln>
            <a:noFill/>
          </a:ln>
        </p:spPr>
      </p:pic>
      <p:pic>
        <p:nvPicPr>
          <p:cNvPr id="88" name="Google Shape;88;p13" title="MBF_Logo_2020.png"/>
          <p:cNvPicPr preferRelativeResize="0"/>
          <p:nvPr/>
        </p:nvPicPr>
        <p:blipFill>
          <a:blip r:embed="rId5">
            <a:alphaModFix/>
          </a:blip>
          <a:stretch>
            <a:fillRect/>
          </a:stretch>
        </p:blipFill>
        <p:spPr>
          <a:xfrm>
            <a:off x="10700669" y="80825"/>
            <a:ext cx="1491330" cy="784825"/>
          </a:xfrm>
          <a:prstGeom prst="rect">
            <a:avLst/>
          </a:prstGeom>
          <a:noFill/>
          <a:ln>
            <a:noFill/>
          </a:ln>
        </p:spPr>
      </p:pic>
      <p:pic>
        <p:nvPicPr>
          <p:cNvPr id="89" name="Google Shape;89;p13" title="VK colored transparent logo.png"/>
          <p:cNvPicPr preferRelativeResize="0"/>
          <p:nvPr/>
        </p:nvPicPr>
        <p:blipFill rotWithShape="1">
          <a:blip r:embed="rId6">
            <a:alphaModFix/>
          </a:blip>
          <a:srcRect b="44466" l="14673" r="15820" t="33074"/>
          <a:stretch/>
        </p:blipFill>
        <p:spPr>
          <a:xfrm>
            <a:off x="0" y="80825"/>
            <a:ext cx="2428825" cy="784825"/>
          </a:xfrm>
          <a:prstGeom prst="rect">
            <a:avLst/>
          </a:prstGeom>
          <a:noFill/>
          <a:ln>
            <a:noFill/>
          </a:ln>
        </p:spPr>
      </p:pic>
      <p:sp>
        <p:nvSpPr>
          <p:cNvPr id="90" name="TextBox 89"/>
          <p:cNvSpPr txBox="1"/>
          <p:nvPr/>
        </p:nvSpPr>
        <p:spPr>
          <a:xfrm>
            <a:off x="1280160" y="4709160"/>
            <a:ext cx="9628632" cy="411480"/>
          </a:xfrm>
          <a:prstGeom prst="rect">
            <a:avLst/>
          </a:prstGeom>
          <a:noFill/>
        </p:spPr>
        <p:txBody>
          <a:bodyPr wrap="square" lIns="18288" rIns="18288" tIns="9144" bIns="9144" anchor="t"/>
          <a:lstStyle/>
          <a:p>
            <a:pPr algn="ctr">
              <a:lnSpc>
                <a:spcPct val="108000"/>
              </a:lnSpc>
              <a:spcAft>
                <a:spcPts val="400"/>
              </a:spcAft>
            </a:pPr>
            <a:r>
              <a:rPr sz="1400" b="0">
                <a:solidFill>
                  <a:srgbClr val="0F172A"/>
                </a:solidFill>
                <a:latin typeface="Poppins SemiBold"/>
              </a:rPr>
              <a:t>Team: Soham Prabhakar Kadu · Bhakti Ajay Kadam</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126" name="Google Shape;126;p16"/>
          <p:cNvPicPr preferRelativeResize="0"/>
          <p:nvPr/>
        </p:nvPicPr>
        <p:blipFill rotWithShape="1">
          <a:blip r:embed="rId4">
            <a:alphaModFix/>
          </a:blip>
          <a:srcRect b="0" l="0" r="0" t="0"/>
          <a:stretch/>
        </p:blipFill>
        <p:spPr>
          <a:xfrm>
            <a:off x="533400" y="5714641"/>
            <a:ext cx="11125200" cy="363140"/>
          </a:xfrm>
          <a:prstGeom prst="rect">
            <a:avLst/>
          </a:prstGeom>
          <a:noFill/>
          <a:ln>
            <a:noFill/>
          </a:ln>
        </p:spPr>
      </p:pic>
      <p:pic>
        <p:nvPicPr>
          <p:cNvPr descr="image.png" id="127" name="Google Shape;127;p16"/>
          <p:cNvPicPr preferRelativeResize="0"/>
          <p:nvPr/>
        </p:nvPicPr>
        <p:blipFill rotWithShape="1">
          <a:blip r:embed="rId5">
            <a:alphaModFix/>
          </a:blip>
          <a:srcRect b="0" l="0" r="0" t="0"/>
          <a:stretch/>
        </p:blipFill>
        <p:spPr>
          <a:xfrm>
            <a:off x="533400" y="956220"/>
            <a:ext cx="2667000" cy="649485"/>
          </a:xfrm>
          <a:prstGeom prst="rect">
            <a:avLst/>
          </a:prstGeom>
          <a:noFill/>
          <a:ln>
            <a:noFill/>
          </a:ln>
        </p:spPr>
      </p:pic>
      <p:pic>
        <p:nvPicPr>
          <p:cNvPr descr="image.png" id="128" name="Google Shape;128;p16"/>
          <p:cNvPicPr preferRelativeResize="0"/>
          <p:nvPr/>
        </p:nvPicPr>
        <p:blipFill rotWithShape="1">
          <a:blip r:embed="rId6">
            <a:alphaModFix/>
          </a:blip>
          <a:srcRect b="0" l="0" r="0" t="0"/>
          <a:stretch/>
        </p:blipFill>
        <p:spPr>
          <a:xfrm>
            <a:off x="3352800" y="956220"/>
            <a:ext cx="2667000" cy="649485"/>
          </a:xfrm>
          <a:prstGeom prst="rect">
            <a:avLst/>
          </a:prstGeom>
          <a:noFill/>
          <a:ln>
            <a:noFill/>
          </a:ln>
        </p:spPr>
      </p:pic>
      <p:pic>
        <p:nvPicPr>
          <p:cNvPr descr="image.png" id="129" name="Google Shape;129;p16"/>
          <p:cNvPicPr preferRelativeResize="0"/>
          <p:nvPr/>
        </p:nvPicPr>
        <p:blipFill rotWithShape="1">
          <a:blip r:embed="rId7">
            <a:alphaModFix/>
          </a:blip>
          <a:srcRect b="0" l="0" r="0" t="0"/>
          <a:stretch/>
        </p:blipFill>
        <p:spPr>
          <a:xfrm>
            <a:off x="6172200" y="956220"/>
            <a:ext cx="2667000" cy="649485"/>
          </a:xfrm>
          <a:prstGeom prst="rect">
            <a:avLst/>
          </a:prstGeom>
          <a:noFill/>
          <a:ln>
            <a:noFill/>
          </a:ln>
        </p:spPr>
      </p:pic>
      <p:pic>
        <p:nvPicPr>
          <p:cNvPr descr="image.png" id="130" name="Google Shape;130;p16"/>
          <p:cNvPicPr preferRelativeResize="0"/>
          <p:nvPr/>
        </p:nvPicPr>
        <p:blipFill rotWithShape="1">
          <a:blip r:embed="rId7">
            <a:alphaModFix/>
          </a:blip>
          <a:srcRect b="0" l="0" r="0" t="0"/>
          <a:stretch/>
        </p:blipFill>
        <p:spPr>
          <a:xfrm>
            <a:off x="8991600" y="956220"/>
            <a:ext cx="2667000" cy="649485"/>
          </a:xfrm>
          <a:prstGeom prst="rect">
            <a:avLst/>
          </a:prstGeom>
          <a:noFill/>
          <a:ln>
            <a:noFill/>
          </a:ln>
        </p:spPr>
      </p:pic>
      <p:pic>
        <p:nvPicPr>
          <p:cNvPr descr="image.png" id="131" name="Google Shape;131;p16"/>
          <p:cNvPicPr preferRelativeResize="0"/>
          <p:nvPr/>
        </p:nvPicPr>
        <p:blipFill rotWithShape="1">
          <a:blip r:embed="rId8">
            <a:alphaModFix/>
          </a:blip>
          <a:srcRect b="0" l="0" r="0" t="0"/>
          <a:stretch/>
        </p:blipFill>
        <p:spPr>
          <a:xfrm>
            <a:off x="6229350" y="1737360"/>
            <a:ext cx="5429250" cy="3886200"/>
          </a:xfrm>
          <a:prstGeom prst="rect">
            <a:avLst/>
          </a:prstGeom>
          <a:noFill/>
          <a:ln>
            <a:noFill/>
          </a:ln>
        </p:spPr>
      </p:pic>
      <p:pic>
        <p:nvPicPr>
          <p:cNvPr descr="image.png" id="132" name="Google Shape;132;p16"/>
          <p:cNvPicPr preferRelativeResize="0"/>
          <p:nvPr/>
        </p:nvPicPr>
        <p:blipFill rotWithShape="1">
          <a:blip r:embed="rId9">
            <a:alphaModFix/>
          </a:blip>
          <a:srcRect b="0" l="0" r="0" t="0"/>
          <a:stretch/>
        </p:blipFill>
        <p:spPr>
          <a:xfrm>
            <a:off x="530352" y="1737360"/>
            <a:ext cx="5431536" cy="3611880"/>
          </a:xfrm>
          <a:prstGeom prst="rect">
            <a:avLst/>
          </a:prstGeom>
          <a:noFill/>
          <a:ln>
            <a:noFill/>
          </a:ln>
        </p:spPr>
      </p:pic>
      <p:sp>
        <p:nvSpPr>
          <p:cNvPr id="133" name="Google Shape;133;p16"/>
          <p:cNvSpPr txBox="1"/>
          <p:nvPr/>
        </p:nvSpPr>
        <p:spPr>
          <a:xfrm>
            <a:off x="533400" y="438150"/>
            <a:ext cx="8595360" cy="308520"/>
          </a:xfrm>
          <a:prstGeom prst="rect">
            <a:avLst/>
          </a:prstGeom>
          <a:noFill/>
          <a:ln>
            <a:noFill/>
          </a:ln>
        </p:spPr>
        <p:txBody>
          <a:bodyPr anchorCtr="0" anchor="ctr" bIns="0" lIns="0" spcFirstLastPara="1" rIns="0" wrap="square" tIns="0">
            <a:spAutoFit/>
          </a:bodyPr>
          <a:lstStyle/>
          <a:p>
            <a:pPr indent="0" lvl="0" marL="0" marR="0" rtl="0" algn="l">
              <a:lnSpc>
                <a:spcPct val="119950"/>
              </a:lnSpc>
              <a:spcBef>
                <a:spcPts val="0"/>
              </a:spcBef>
              <a:spcAft>
                <a:spcPts val="0"/>
              </a:spcAft>
              <a:buNone/>
            </a:pPr>
            <a:r>
              <a:rPr sz="2025" b="0">
                <a:solidFill>
                  <a:srgbClr val="0F172A"/>
                </a:solidFill>
                <a:latin typeface="Poppins SemiBold"/>
              </a:rPr>
              <a:t>Problem Context</a:t>
            </a:r>
            <a:endParaRPr/>
          </a:p>
        </p:txBody>
      </p:sp>
      <p:sp>
        <p:nvSpPr>
          <p:cNvPr id="135" name="Google Shape;135;p16"/>
          <p:cNvSpPr txBox="1"/>
          <p:nvPr/>
        </p:nvSpPr>
        <p:spPr>
          <a:xfrm>
            <a:off x="695325" y="5838653"/>
            <a:ext cx="10698480" cy="329184"/>
          </a:xfrm>
          <a:prstGeom prst="rect">
            <a:avLst/>
          </a:prstGeom>
          <a:noFill/>
          <a:ln>
            <a:noFill/>
          </a:ln>
        </p:spPr>
        <p:txBody>
          <a:bodyPr anchorCtr="0" anchor="t" bIns="0" lIns="0" spcFirstLastPara="1" rIns="0" wrap="square" tIns="0">
            <a:spAutoFit/>
          </a:bodyPr>
          <a:lstStyle/>
          <a:p>
            <a:pPr indent="0" lvl="0" marL="0" marR="0" rtl="0" algn="l">
              <a:lnSpc>
                <a:spcPct val="145037"/>
              </a:lnSpc>
              <a:spcBef>
                <a:spcPts val="0"/>
              </a:spcBef>
              <a:spcAft>
                <a:spcPts val="0"/>
              </a:spcAft>
              <a:buNone/>
            </a:pPr>
            <a:r>
              <a:rPr sz="880" b="1">
                <a:solidFill>
                  <a:srgbClr val="0F172A"/>
                </a:solidFill>
                <a:latin typeface="DM Sans"/>
              </a:rPr>
              <a:t>Project Overview: </a:t>
            </a:r>
            <a:r>
              <a:rPr sz="880" b="0">
                <a:solidFill>
                  <a:srgbClr val="334155"/>
                </a:solidFill>
                <a:latin typeface="DM Sans"/>
              </a:rPr>
              <a:t>Dermasense · Team ID VK26-IITI-HT-0050 · Health Tech: Emergency Response &amp; Remote Monitoring · Core innovation: a strip that reads a dressing's own change line.</a:t>
            </a:r>
            <a:endParaRPr/>
          </a:p>
        </p:txBody>
      </p:sp>
      <p:sp>
        <p:nvSpPr>
          <p:cNvPr id="136" name="Google Shape;136;p16"/>
          <p:cNvSpPr txBox="1"/>
          <p:nvPr/>
        </p:nvSpPr>
        <p:spPr>
          <a:xfrm>
            <a:off x="695325" y="1024128"/>
            <a:ext cx="2343150" cy="301752"/>
          </a:xfrm>
          <a:prstGeom prst="rect">
            <a:avLst/>
          </a:prstGeom>
          <a:noFill/>
          <a:ln>
            <a:noFill/>
          </a:ln>
        </p:spPr>
        <p:txBody>
          <a:bodyPr anchorCtr="0" anchor="t" bIns="0" lIns="0" spcFirstLastPara="1" rIns="0" wrap="square" tIns="0">
            <a:spAutoFit/>
          </a:bodyPr>
          <a:lstStyle/>
          <a:p>
            <a:pPr indent="0" lvl="0" marL="0" marR="0" rtl="0" algn="ctr">
              <a:lnSpc>
                <a:spcPct val="109939"/>
              </a:lnSpc>
              <a:spcBef>
                <a:spcPts val="0"/>
              </a:spcBef>
              <a:spcAft>
                <a:spcPts val="0"/>
              </a:spcAft>
              <a:buNone/>
            </a:pPr>
            <a:r>
              <a:rPr sz="1500" b="0">
                <a:solidFill>
                  <a:srgbClr val="0369A1"/>
                </a:solidFill>
                <a:latin typeface="Poppins SemiBold"/>
              </a:rPr>
              <a:t>44.9 %</a:t>
            </a:r>
            <a:endParaRPr/>
          </a:p>
        </p:txBody>
      </p:sp>
      <p:sp>
        <p:nvSpPr>
          <p:cNvPr id="137" name="Google Shape;137;p16"/>
          <p:cNvSpPr txBox="1"/>
          <p:nvPr/>
        </p:nvSpPr>
        <p:spPr>
          <a:xfrm>
            <a:off x="695325" y="1344168"/>
            <a:ext cx="2343150" cy="219456"/>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sz="760" b="0">
                <a:solidFill>
                  <a:srgbClr val="64748B"/>
                </a:solidFill>
                <a:latin typeface="DM Sans Medium"/>
              </a:rPr>
              <a:t>CHANGES MADE AT STILL-OPTIMAL MOISTURE¹</a:t>
            </a:r>
            <a:endParaRPr/>
          </a:p>
        </p:txBody>
      </p:sp>
      <p:sp>
        <p:nvSpPr>
          <p:cNvPr id="138" name="Google Shape;138;p16"/>
          <p:cNvSpPr txBox="1"/>
          <p:nvPr/>
        </p:nvSpPr>
        <p:spPr>
          <a:xfrm>
            <a:off x="3514725" y="1024128"/>
            <a:ext cx="2343150" cy="301752"/>
          </a:xfrm>
          <a:prstGeom prst="rect">
            <a:avLst/>
          </a:prstGeom>
          <a:noFill/>
          <a:ln>
            <a:noFill/>
          </a:ln>
        </p:spPr>
        <p:txBody>
          <a:bodyPr anchorCtr="0" anchor="t" bIns="0" lIns="0" spcFirstLastPara="1" rIns="0" wrap="square" tIns="0">
            <a:spAutoFit/>
          </a:bodyPr>
          <a:lstStyle/>
          <a:p>
            <a:pPr indent="0" lvl="0" marL="0" marR="0" rtl="0" algn="ctr">
              <a:lnSpc>
                <a:spcPct val="109939"/>
              </a:lnSpc>
              <a:spcBef>
                <a:spcPts val="0"/>
              </a:spcBef>
              <a:spcAft>
                <a:spcPts val="0"/>
              </a:spcAft>
              <a:buNone/>
            </a:pPr>
            <a:r>
              <a:rPr sz="1300" b="0">
                <a:solidFill>
                  <a:srgbClr val="0369A1"/>
                </a:solidFill>
                <a:latin typeface="Poppins SemiBold"/>
              </a:rPr>
              <a:t>≈ 2 cm · 75 %</a:t>
            </a:r>
            <a:endParaRPr/>
          </a:p>
        </p:txBody>
      </p:sp>
      <p:sp>
        <p:nvSpPr>
          <p:cNvPr id="139" name="Google Shape;139;p16"/>
          <p:cNvSpPr txBox="1"/>
          <p:nvPr/>
        </p:nvSpPr>
        <p:spPr>
          <a:xfrm>
            <a:off x="3514725" y="1344168"/>
            <a:ext cx="2343150" cy="219456"/>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sz="760" b="0">
                <a:solidFill>
                  <a:srgbClr val="64748B"/>
                </a:solidFill>
                <a:latin typeface="DM Sans Medium"/>
              </a:rPr>
              <a:t>MAKERS' VISUAL 'CHANGE NOW' SIGNS²¹⁴</a:t>
            </a:r>
            <a:endParaRPr/>
          </a:p>
        </p:txBody>
      </p:sp>
      <p:sp>
        <p:nvSpPr>
          <p:cNvPr id="140" name="Google Shape;140;p16"/>
          <p:cNvSpPr txBox="1"/>
          <p:nvPr/>
        </p:nvSpPr>
        <p:spPr>
          <a:xfrm>
            <a:off x="6334125" y="1024128"/>
            <a:ext cx="2343150" cy="301752"/>
          </a:xfrm>
          <a:prstGeom prst="rect">
            <a:avLst/>
          </a:prstGeom>
          <a:noFill/>
          <a:ln>
            <a:noFill/>
          </a:ln>
        </p:spPr>
        <p:txBody>
          <a:bodyPr anchorCtr="0" anchor="t" bIns="0" lIns="0" spcFirstLastPara="1" rIns="0" wrap="square" tIns="0">
            <a:spAutoFit/>
          </a:bodyPr>
          <a:lstStyle/>
          <a:p>
            <a:pPr indent="0" lvl="0" marL="0" marR="0" rtl="0" algn="ctr">
              <a:lnSpc>
                <a:spcPct val="109939"/>
              </a:lnSpc>
              <a:spcBef>
                <a:spcPts val="0"/>
              </a:spcBef>
              <a:spcAft>
                <a:spcPts val="0"/>
              </a:spcAft>
              <a:buNone/>
            </a:pPr>
            <a:r>
              <a:rPr sz="1500" b="0">
                <a:solidFill>
                  <a:srgbClr val="0369A1"/>
                </a:solidFill>
                <a:latin typeface="Poppins SemiBold"/>
              </a:rPr>
              <a:t>1 point</a:t>
            </a:r>
            <a:endParaRPr/>
          </a:p>
        </p:txBody>
      </p:sp>
      <p:sp>
        <p:nvSpPr>
          <p:cNvPr id="141" name="Google Shape;141;p16"/>
          <p:cNvSpPr txBox="1"/>
          <p:nvPr/>
        </p:nvSpPr>
        <p:spPr>
          <a:xfrm>
            <a:off x="6334125" y="1344168"/>
            <a:ext cx="2343150" cy="219456"/>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sz="760" b="0">
                <a:solidFill>
                  <a:srgbClr val="64748B"/>
                </a:solidFill>
                <a:latin typeface="DM Sans Medium"/>
              </a:rPr>
              <a:t>WHERE TODAY'S MOISTURE SENSOR READS¹</a:t>
            </a:r>
            <a:endParaRPr/>
          </a:p>
        </p:txBody>
      </p:sp>
      <p:sp>
        <p:nvSpPr>
          <p:cNvPr id="142" name="Google Shape;142;p16"/>
          <p:cNvSpPr txBox="1"/>
          <p:nvPr/>
        </p:nvSpPr>
        <p:spPr>
          <a:xfrm>
            <a:off x="9153525" y="1024128"/>
            <a:ext cx="2343150" cy="301752"/>
          </a:xfrm>
          <a:prstGeom prst="rect">
            <a:avLst/>
          </a:prstGeom>
          <a:noFill/>
          <a:ln>
            <a:noFill/>
          </a:ln>
        </p:spPr>
        <p:txBody>
          <a:bodyPr anchorCtr="0" anchor="t" bIns="0" lIns="0" spcFirstLastPara="1" rIns="0" wrap="square" tIns="0">
            <a:spAutoFit/>
          </a:bodyPr>
          <a:lstStyle/>
          <a:p>
            <a:pPr indent="0" lvl="0" marL="0" marR="0" rtl="0" algn="ctr">
              <a:lnSpc>
                <a:spcPct val="109939"/>
              </a:lnSpc>
              <a:spcBef>
                <a:spcPts val="0"/>
              </a:spcBef>
              <a:spcAft>
                <a:spcPts val="0"/>
              </a:spcAft>
              <a:buNone/>
            </a:pPr>
            <a:r>
              <a:rPr sz="1500" b="0">
                <a:solidFill>
                  <a:srgbClr val="0369A1"/>
                </a:solidFill>
                <a:latin typeface="Poppins SemiBold"/>
              </a:rPr>
              <a:t>&gt; 10×</a:t>
            </a:r>
            <a:endParaRPr/>
          </a:p>
        </p:txBody>
      </p:sp>
      <p:sp>
        <p:nvSpPr>
          <p:cNvPr id="143" name="Google Shape;143;p16"/>
          <p:cNvSpPr txBox="1"/>
          <p:nvPr/>
        </p:nvSpPr>
        <p:spPr>
          <a:xfrm>
            <a:off x="9153525" y="1344168"/>
            <a:ext cx="2343150" cy="219456"/>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sz="760" b="0">
                <a:solidFill>
                  <a:srgbClr val="64748B"/>
                </a:solidFill>
                <a:latin typeface="DM Sans Medium"/>
              </a:rPr>
              <a:t>SPREAD IN REPORTED EXUDATE RATES⁶</a:t>
            </a:r>
            <a:endParaRPr/>
          </a:p>
        </p:txBody>
      </p:sp>
      <p:sp>
        <p:nvSpPr>
          <p:cNvPr id="144" name="Google Shape;144;p16"/>
          <p:cNvSpPr txBox="1"/>
          <p:nvPr/>
        </p:nvSpPr>
        <p:spPr>
          <a:xfrm>
            <a:off x="533400" y="5394960"/>
            <a:ext cx="5429250" cy="201168"/>
          </a:xfrm>
          <a:prstGeom prst="rect">
            <a:avLst/>
          </a:prstGeom>
          <a:noFill/>
          <a:ln>
            <a:noFill/>
          </a:ln>
        </p:spPr>
        <p:txBody>
          <a:bodyPr anchorCtr="0" anchor="t" bIns="0" lIns="0" spcFirstLastPara="1" rIns="0" wrap="square" tIns="0">
            <a:spAutoFit/>
          </a:bodyPr>
          <a:lstStyle/>
          <a:p>
            <a:pPr indent="0" lvl="0" marL="0" marR="0" rtl="0" algn="r">
              <a:lnSpc>
                <a:spcPct val="145011"/>
              </a:lnSpc>
              <a:spcBef>
                <a:spcPts val="0"/>
              </a:spcBef>
              <a:spcAft>
                <a:spcPts val="0"/>
              </a:spcAft>
              <a:buNone/>
            </a:pPr>
            <a:r>
              <a:rPr sz="760" b="0">
                <a:solidFill>
                  <a:srgbClr val="64748B"/>
                </a:solidFill>
                <a:latin typeface="DM Sans"/>
              </a:rPr>
              <a:t>Figure: the change line is invisible under a cover (to scale, from our strip geometry).</a:t>
            </a:r>
            <a:endParaRPr/>
          </a:p>
        </p:txBody>
      </p:sp>
      <p:pic>
        <p:nvPicPr>
          <p:cNvPr descr="image.png" id="146" name="Google Shape;146;p16"/>
          <p:cNvPicPr preferRelativeResize="0"/>
          <p:nvPr/>
        </p:nvPicPr>
        <p:blipFill rotWithShape="1">
          <a:blip r:embed="rId12">
            <a:alphaModFix/>
          </a:blip>
          <a:srcRect b="0" l="0" r="0" t="0"/>
          <a:stretch/>
        </p:blipFill>
        <p:spPr>
          <a:xfrm>
            <a:off x="6448425" y="1958131"/>
            <a:ext cx="154334" cy="152400"/>
          </a:xfrm>
          <a:prstGeom prst="rect">
            <a:avLst/>
          </a:prstGeom>
          <a:noFill/>
          <a:ln>
            <a:noFill/>
          </a:ln>
        </p:spPr>
      </p:pic>
      <p:sp>
        <p:nvSpPr>
          <p:cNvPr id="147" name="Google Shape;147;p16"/>
          <p:cNvSpPr txBox="1"/>
          <p:nvPr/>
        </p:nvSpPr>
        <p:spPr>
          <a:xfrm>
            <a:off x="6698009" y="1939081"/>
            <a:ext cx="484632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Problem Statement &amp; Target Beneficiary</a:t>
            </a:r>
            <a:endParaRPr/>
          </a:p>
        </p:txBody>
      </p:sp>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Rounded Rectangle 157"/>
          <p:cNvSpPr/>
          <p:nvPr/>
        </p:nvSpPr>
        <p:spPr>
          <a:xfrm>
            <a:off x="9767620" y="457200"/>
            <a:ext cx="1890979" cy="246888"/>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0369A1"/>
                </a:solidFill>
                <a:latin typeface="DM Sans"/>
              </a:rPr>
              <a:t>PUBLISHED EVIDENCE · CITED</a:t>
            </a:r>
          </a:p>
        </p:txBody>
      </p:sp>
      <p:pic>
        <p:nvPicPr>
          <p:cNvPr id="159" name="Picture 158" descr="fig_problem.png"/>
          <p:cNvPicPr>
            <a:picLocks noChangeAspect="1"/>
          </p:cNvPicPr>
          <p:nvPr/>
        </p:nvPicPr>
        <p:blipFill>
          <a:blip r:embed="rId15"/>
          <a:stretch>
            <a:fillRect/>
          </a:stretch>
        </p:blipFill>
        <p:spPr>
          <a:xfrm>
            <a:off x="545756" y="1746504"/>
            <a:ext cx="5400726" cy="3593591"/>
          </a:xfrm>
          <a:prstGeom prst="rect">
            <a:avLst/>
          </a:prstGeom>
        </p:spPr>
      </p:pic>
      <p:sp>
        <p:nvSpPr>
          <p:cNvPr id="160" name="TextBox 159"/>
          <p:cNvSpPr txBox="1"/>
          <p:nvPr/>
        </p:nvSpPr>
        <p:spPr>
          <a:xfrm>
            <a:off x="6464808" y="2395728"/>
            <a:ext cx="5029200" cy="3108960"/>
          </a:xfrm>
          <a:prstGeom prst="rect">
            <a:avLst/>
          </a:prstGeom>
          <a:noFill/>
        </p:spPr>
        <p:txBody>
          <a:bodyPr wrap="square" lIns="18288" rIns="18288" tIns="9144" bIns="9144" anchor="t"/>
          <a:lstStyle/>
          <a:p>
            <a:pPr>
              <a:lnSpc>
                <a:spcPct val="108000"/>
              </a:lnSpc>
              <a:spcAft>
                <a:spcPts val="1200"/>
              </a:spcAft>
            </a:pPr>
            <a:r>
              <a:rPr sz="1200" b="0">
                <a:solidFill>
                  <a:srgbClr val="059669"/>
                </a:solidFill>
                <a:latin typeface="DM Sans"/>
              </a:rPr>
              <a:t>▪  </a:t>
            </a:r>
            <a:r>
              <a:rPr sz="1200" b="1">
                <a:solidFill>
                  <a:srgbClr val="0F172A"/>
                </a:solidFill>
                <a:latin typeface="DM Sans"/>
              </a:rPr>
              <a:t>Problem:  </a:t>
            </a:r>
            <a:r>
              <a:rPr sz="1200" b="0">
                <a:solidFill>
                  <a:srgbClr val="334155"/>
                </a:solidFill>
                <a:latin typeface="DM Sans"/>
              </a:rPr>
              <a:t>carers cannot see when a covered foam dressing reaches its maker's change line.</a:t>
            </a:r>
          </a:p>
          <a:p>
            <a:pPr>
              <a:lnSpc>
                <a:spcPct val="108000"/>
              </a:lnSpc>
              <a:spcAft>
                <a:spcPts val="1200"/>
              </a:spcAft>
            </a:pPr>
            <a:r>
              <a:rPr sz="1200" b="0">
                <a:solidFill>
                  <a:srgbClr val="059669"/>
                </a:solidFill>
                <a:latin typeface="DM Sans"/>
              </a:rPr>
              <a:t>▪  </a:t>
            </a:r>
            <a:r>
              <a:rPr sz="1200" b="1">
                <a:solidFill>
                  <a:srgbClr val="0F172A"/>
                </a:solidFill>
                <a:latin typeface="DM Sans"/>
              </a:rPr>
              <a:t>Result:  </a:t>
            </a:r>
            <a:r>
              <a:rPr sz="1200" b="0">
                <a:solidFill>
                  <a:srgbClr val="334155"/>
                </a:solidFill>
                <a:latin typeface="DM Sans"/>
              </a:rPr>
              <a:t>changes come too early (pain, waste) or too late (leaks, wet skin).</a:t>
            </a:r>
          </a:p>
          <a:p>
            <a:pPr>
              <a:lnSpc>
                <a:spcPct val="108000"/>
              </a:lnSpc>
              <a:spcAft>
                <a:spcPts val="1200"/>
              </a:spcAft>
            </a:pPr>
            <a:r>
              <a:rPr sz="1200" b="0">
                <a:solidFill>
                  <a:srgbClr val="059669"/>
                </a:solidFill>
                <a:latin typeface="DM Sans"/>
              </a:rPr>
              <a:t>▪  </a:t>
            </a:r>
            <a:r>
              <a:rPr sz="1200" b="1">
                <a:solidFill>
                  <a:srgbClr val="0F172A"/>
                </a:solidFill>
                <a:latin typeface="DM Sans"/>
              </a:rPr>
              <a:t>Who:  </a:t>
            </a:r>
            <a:r>
              <a:rPr sz="1200" b="0">
                <a:solidFill>
                  <a:srgbClr val="334155"/>
                </a:solidFill>
                <a:latin typeface="DM Sans"/>
              </a:rPr>
              <a:t>nurses and family carers of people with exuding chronic wounds: diabetic foot, leg and pressure ulcers.</a:t>
            </a:r>
          </a:p>
          <a:p>
            <a:pPr>
              <a:lnSpc>
                <a:spcPct val="108000"/>
              </a:lnSpc>
              <a:spcAft>
                <a:spcPts val="1200"/>
              </a:spcAft>
            </a:pPr>
            <a:r>
              <a:rPr sz="1200" b="0">
                <a:solidFill>
                  <a:srgbClr val="059669"/>
                </a:solidFill>
                <a:latin typeface="DM Sans"/>
              </a:rPr>
              <a:t>▪  </a:t>
            </a:r>
            <a:r>
              <a:rPr sz="1200" b="1">
                <a:solidFill>
                  <a:srgbClr val="0F172A"/>
                </a:solidFill>
                <a:latin typeface="DM Sans"/>
              </a:rPr>
              <a:t>We will:  </a:t>
            </a:r>
            <a:r>
              <a:rPr sz="1200" b="0">
                <a:solidFill>
                  <a:srgbClr val="334155"/>
                </a:solidFill>
                <a:latin typeface="DM Sans"/>
              </a:rPr>
              <a:t>signal that line from outside, without lifting the dressing.</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pic>
        <p:nvPicPr>
          <p:cNvPr descr="image.png" id="182" name="Google Shape;182;p18"/>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183" name="Google Shape;183;p18"/>
          <p:cNvPicPr preferRelativeResize="0"/>
          <p:nvPr/>
        </p:nvPicPr>
        <p:blipFill rotWithShape="1">
          <a:blip r:embed="rId4">
            <a:alphaModFix/>
          </a:blip>
          <a:srcRect b="0" l="0" r="0" t="0"/>
          <a:stretch/>
        </p:blipFill>
        <p:spPr>
          <a:xfrm>
            <a:off x="533400" y="5310956"/>
            <a:ext cx="11125200" cy="363140"/>
          </a:xfrm>
          <a:prstGeom prst="rect">
            <a:avLst/>
          </a:prstGeom>
          <a:noFill/>
          <a:ln>
            <a:noFill/>
          </a:ln>
        </p:spPr>
      </p:pic>
      <p:pic>
        <p:nvPicPr>
          <p:cNvPr descr="image.png" id="184" name="Google Shape;184;p18"/>
          <p:cNvPicPr preferRelativeResize="0"/>
          <p:nvPr/>
        </p:nvPicPr>
        <p:blipFill rotWithShape="1">
          <a:blip r:embed="rId5">
            <a:alphaModFix/>
          </a:blip>
          <a:srcRect b="0" l="0" r="0" t="0"/>
          <a:stretch/>
        </p:blipFill>
        <p:spPr>
          <a:xfrm>
            <a:off x="6229350" y="956224"/>
            <a:ext cx="5429250" cy="4076875"/>
          </a:xfrm>
          <a:prstGeom prst="rect">
            <a:avLst/>
          </a:prstGeom>
          <a:noFill/>
          <a:ln>
            <a:noFill/>
          </a:ln>
        </p:spPr>
      </p:pic>
      <p:pic>
        <p:nvPicPr>
          <p:cNvPr descr="image.png" id="185" name="Google Shape;185;p18"/>
          <p:cNvPicPr preferRelativeResize="0"/>
          <p:nvPr/>
        </p:nvPicPr>
        <p:blipFill rotWithShape="1">
          <a:blip r:embed="rId6">
            <a:alphaModFix/>
          </a:blip>
          <a:srcRect b="0" l="0" r="0" t="0"/>
          <a:stretch/>
        </p:blipFill>
        <p:spPr>
          <a:xfrm>
            <a:off x="530352" y="960120"/>
            <a:ext cx="5431536" cy="3895344"/>
          </a:xfrm>
          <a:prstGeom prst="rect">
            <a:avLst/>
          </a:prstGeom>
          <a:noFill/>
          <a:ln>
            <a:noFill/>
          </a:ln>
        </p:spPr>
      </p:pic>
      <p:sp>
        <p:nvSpPr>
          <p:cNvPr id="186" name="Google Shape;186;p18"/>
          <p:cNvSpPr txBox="1"/>
          <p:nvPr/>
        </p:nvSpPr>
        <p:spPr>
          <a:xfrm>
            <a:off x="533400" y="438150"/>
            <a:ext cx="8595360" cy="308520"/>
          </a:xfrm>
          <a:prstGeom prst="rect">
            <a:avLst/>
          </a:prstGeom>
          <a:noFill/>
          <a:ln>
            <a:noFill/>
          </a:ln>
        </p:spPr>
        <p:txBody>
          <a:bodyPr anchorCtr="0" anchor="ctr" bIns="0" lIns="0" spcFirstLastPara="1" rIns="0" wrap="square" tIns="0">
            <a:spAutoFit/>
          </a:bodyPr>
          <a:lstStyle/>
          <a:p>
            <a:pPr indent="0" lvl="0" marL="0" marR="0" rtl="0" algn="l">
              <a:lnSpc>
                <a:spcPct val="119950"/>
              </a:lnSpc>
              <a:spcBef>
                <a:spcPts val="0"/>
              </a:spcBef>
              <a:spcAft>
                <a:spcPts val="0"/>
              </a:spcAft>
              <a:buNone/>
            </a:pPr>
            <a:r>
              <a:rPr sz="2025" b="0">
                <a:solidFill>
                  <a:srgbClr val="0F172A"/>
                </a:solidFill>
                <a:latin typeface="Poppins SemiBold"/>
              </a:rPr>
              <a:t>System Architecture &amp; Specs</a:t>
            </a:r>
            <a:endParaRPr/>
          </a:p>
        </p:txBody>
      </p:sp>
      <p:sp>
        <p:nvSpPr>
          <p:cNvPr id="188" name="Google Shape;188;p18"/>
          <p:cNvSpPr txBox="1"/>
          <p:nvPr/>
        </p:nvSpPr>
        <p:spPr>
          <a:xfrm>
            <a:off x="723900" y="5406206"/>
            <a:ext cx="10698480" cy="353400"/>
          </a:xfrm>
          <a:prstGeom prst="rect">
            <a:avLst/>
          </a:prstGeom>
          <a:noFill/>
          <a:ln>
            <a:noFill/>
          </a:ln>
        </p:spPr>
        <p:txBody>
          <a:bodyPr anchorCtr="0" anchor="t" bIns="0" lIns="0" spcFirstLastPara="1" rIns="0" wrap="square" tIns="0">
            <a:spAutoFit/>
          </a:bodyPr>
          <a:lstStyle/>
          <a:p>
            <a:pPr indent="0" lvl="0" marL="0" marR="0" rtl="0" algn="l">
              <a:lnSpc>
                <a:spcPct val="145037"/>
              </a:lnSpc>
              <a:spcBef>
                <a:spcPts val="0"/>
              </a:spcBef>
              <a:spcAft>
                <a:spcPts val="0"/>
              </a:spcAft>
              <a:buNone/>
            </a:pPr>
            <a:r>
              <a:rPr sz="960" b="1">
                <a:solidFill>
                  <a:srgbClr val="0F172A"/>
                </a:solidFill>
                <a:latin typeface="DM Sans"/>
              </a:rPr>
              <a:t>Architecture Rationale: </a:t>
            </a:r>
            <a:r>
              <a:rPr sz="960" b="0">
                <a:solidFill>
                  <a:srgbClr val="334155"/>
                </a:solidFill>
                <a:latin typeface="DM Sans"/>
              </a:rPr>
              <a:t>only film and carbon are disposable; every electronic part is reused.</a:t>
            </a:r>
            <a:endParaRPr/>
          </a:p>
        </p:txBody>
      </p:sp>
      <p:sp>
        <p:nvSpPr>
          <p:cNvPr id="189" name="Google Shape;189;p18"/>
          <p:cNvSpPr txBox="1"/>
          <p:nvPr/>
        </p:nvSpPr>
        <p:spPr>
          <a:xfrm>
            <a:off x="533400" y="4882896"/>
            <a:ext cx="5429250" cy="219456"/>
          </a:xfrm>
          <a:prstGeom prst="rect">
            <a:avLst/>
          </a:prstGeom>
          <a:noFill/>
          <a:ln>
            <a:noFill/>
          </a:ln>
        </p:spPr>
        <p:txBody>
          <a:bodyPr anchorCtr="0" anchor="t" bIns="0" lIns="0" spcFirstLastPara="1" rIns="0" wrap="square" tIns="0">
            <a:spAutoFit/>
          </a:bodyPr>
          <a:lstStyle/>
          <a:p>
            <a:pPr indent="0" lvl="0" marL="0" marR="0" rtl="0" algn="r">
              <a:lnSpc>
                <a:spcPct val="145011"/>
              </a:lnSpc>
              <a:spcBef>
                <a:spcPts val="0"/>
              </a:spcBef>
              <a:spcAft>
                <a:spcPts val="0"/>
              </a:spcAft>
              <a:buNone/>
            </a:pPr>
            <a:r>
              <a:rPr sz="760" b="0">
                <a:solidFill>
                  <a:srgbClr val="64748B"/>
                </a:solidFill>
                <a:latin typeface="DM Sans"/>
              </a:rPr>
              <a:t>Figure: how a wet pad becomes a state (concept drawing; values calculated, to be measured).</a:t>
            </a:r>
            <a:endParaRPr/>
          </a:p>
        </p:txBody>
      </p:sp>
      <p:pic>
        <p:nvPicPr>
          <p:cNvPr descr="image.png" id="192" name="Google Shape;192;p18"/>
          <p:cNvPicPr preferRelativeResize="0"/>
          <p:nvPr/>
        </p:nvPicPr>
        <p:blipFill rotWithShape="1">
          <a:blip r:embed="rId9">
            <a:alphaModFix/>
          </a:blip>
          <a:srcRect b="0" l="0" r="0" t="0"/>
          <a:stretch/>
        </p:blipFill>
        <p:spPr>
          <a:xfrm>
            <a:off x="6448425" y="1175295"/>
            <a:ext cx="154334" cy="152400"/>
          </a:xfrm>
          <a:prstGeom prst="rect">
            <a:avLst/>
          </a:prstGeom>
          <a:noFill/>
          <a:ln>
            <a:noFill/>
          </a:ln>
        </p:spPr>
      </p:pic>
      <p:sp>
        <p:nvSpPr>
          <p:cNvPr id="193" name="Google Shape;193;p18"/>
          <p:cNvSpPr txBox="1"/>
          <p:nvPr/>
        </p:nvSpPr>
        <p:spPr>
          <a:xfrm>
            <a:off x="6698009" y="1156245"/>
            <a:ext cx="3507134"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Target Specifications &amp; Hardware</a:t>
            </a:r>
            <a:endParaRPr/>
          </a:p>
        </p:txBody>
      </p:sp>
      <p:pic>
        <p:nvPicPr>
          <p:cNvPr id="212" name="Google Shape;212;p18" title="MBF_Logo_2020.png"/>
          <p:cNvPicPr preferRelativeResize="0"/>
          <p:nvPr/>
        </p:nvPicPr>
        <p:blipFill>
          <a:blip r:embed="rId10">
            <a:alphaModFix/>
          </a:blip>
          <a:stretch>
            <a:fillRect/>
          </a:stretch>
        </p:blipFill>
        <p:spPr>
          <a:xfrm>
            <a:off x="11095194" y="6280800"/>
            <a:ext cx="1096806" cy="577200"/>
          </a:xfrm>
          <a:prstGeom prst="rect">
            <a:avLst/>
          </a:prstGeom>
          <a:noFill/>
          <a:ln>
            <a:noFill/>
          </a:ln>
        </p:spPr>
      </p:pic>
      <p:pic>
        <p:nvPicPr>
          <p:cNvPr id="213" name="Google Shape;213;p18" title="VK colored transparent logo.png"/>
          <p:cNvPicPr preferRelativeResize="0"/>
          <p:nvPr/>
        </p:nvPicPr>
        <p:blipFill rotWithShape="1">
          <a:blip r:embed="rId11">
            <a:alphaModFix/>
          </a:blip>
          <a:srcRect b="44466" l="14673" r="15820" t="33074"/>
          <a:stretch/>
        </p:blipFill>
        <p:spPr>
          <a:xfrm>
            <a:off x="0" y="6280800"/>
            <a:ext cx="1786280" cy="577200"/>
          </a:xfrm>
          <a:prstGeom prst="rect">
            <a:avLst/>
          </a:prstGeom>
          <a:noFill/>
          <a:ln>
            <a:noFill/>
          </a:ln>
        </p:spPr>
      </p:pic>
      <p:sp>
        <p:nvSpPr>
          <p:cNvPr id="214" name="Rounded Rectangle 213"/>
          <p:cNvSpPr/>
          <p:nvPr/>
        </p:nvSpPr>
        <p:spPr>
          <a:xfrm>
            <a:off x="9705441" y="457200"/>
            <a:ext cx="1953158" cy="246888"/>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B45309"/>
                </a:solidFill>
                <a:latin typeface="DM Sans"/>
              </a:rPr>
              <a:t>DESIGNED · LAB TEST PENDING</a:t>
            </a:r>
          </a:p>
        </p:txBody>
      </p:sp>
      <p:pic>
        <p:nvPicPr>
          <p:cNvPr id="215" name="Picture 214" descr="fig_howitworks.png"/>
          <p:cNvPicPr>
            <a:picLocks noChangeAspect="1"/>
          </p:cNvPicPr>
          <p:nvPr/>
        </p:nvPicPr>
        <p:blipFill>
          <a:blip r:embed="rId12"/>
          <a:stretch>
            <a:fillRect/>
          </a:stretch>
        </p:blipFill>
        <p:spPr>
          <a:xfrm>
            <a:off x="539496" y="970048"/>
            <a:ext cx="5413248" cy="3875487"/>
          </a:xfrm>
          <a:prstGeom prst="rect">
            <a:avLst/>
          </a:prstGeom>
        </p:spPr>
      </p:pic>
      <p:graphicFrame>
        <p:nvGraphicFramePr>
          <p:cNvPr id="216" name="Table 215"/>
          <p:cNvGraphicFramePr>
            <a:graphicFrameLocks noGrp="1"/>
          </p:cNvGraphicFramePr>
          <p:nvPr/>
        </p:nvGraphicFramePr>
        <p:xfrm>
          <a:off x="6446520" y="1481328"/>
          <a:ext cx="5010911" cy="3374136"/>
        </p:xfrm>
        <a:graphic>
          <a:graphicData uri="http://schemas.openxmlformats.org/drawingml/2006/table">
            <a:tbl>
              <a:tblPr firstRow="0" bandRow="0">
                <a:tableStyleId>{2D5ABB26-0587-4C30-8999-92F81FD0307C}</a:tableStyleId>
              </a:tblPr>
              <a:tblGrid>
                <a:gridCol w="1179038"/>
                <a:gridCol w="2407202"/>
                <a:gridCol w="1424671"/>
              </a:tblGrid>
              <a:tr h="374904">
                <a:tc>
                  <a:txBody>
                    <a:bodyPr wrap="square"/>
                    <a:lstStyle/>
                    <a:p>
                      <a:r>
                        <a:rPr sz="900" b="1">
                          <a:solidFill>
                            <a:srgbClr val="0F172A"/>
                          </a:solidFill>
                          <a:latin typeface="DM Sans"/>
                        </a:rPr>
                        <a:t>Parameter</a:t>
                      </a:r>
                    </a:p>
                  </a:txBody>
                  <a:tcPr marL="36576" marR="36576" marT="22860" marB="18288" anchor="ctr">
                    <a:noFill/>
                    <a:lnL w="12700">
                      <a:noFill/>
                    </a:lnL>
                    <a:lnR w="12700">
                      <a:noFill/>
                    </a:lnR>
                    <a:lnT w="12700">
                      <a:noFill/>
                    </a:lnT>
                    <a:lnB w="12700">
                      <a:solidFill>
                        <a:srgbClr val="CBD5E1"/>
                      </a:solidFill>
                    </a:lnB>
                  </a:tcPr>
                </a:tc>
                <a:tc>
                  <a:txBody>
                    <a:bodyPr wrap="square"/>
                    <a:lstStyle/>
                    <a:p>
                      <a:r>
                        <a:rPr sz="900" b="1">
                          <a:solidFill>
                            <a:srgbClr val="0F172A"/>
                          </a:solidFill>
                          <a:latin typeface="DM Sans"/>
                        </a:rPr>
                        <a:t>Design value</a:t>
                      </a:r>
                    </a:p>
                  </a:txBody>
                  <a:tcPr marL="36576" marR="36576" marT="22860" marB="18288" anchor="ctr">
                    <a:noFill/>
                    <a:lnL w="12700">
                      <a:noFill/>
                    </a:lnL>
                    <a:lnR w="12700">
                      <a:noFill/>
                    </a:lnR>
                    <a:lnT w="12700">
                      <a:noFill/>
                    </a:lnT>
                    <a:lnB w="12700">
                      <a:solidFill>
                        <a:srgbClr val="CBD5E1"/>
                      </a:solidFill>
                    </a:lnB>
                  </a:tcPr>
                </a:tc>
                <a:tc>
                  <a:txBody>
                    <a:bodyPr wrap="square"/>
                    <a:lstStyle/>
                    <a:p>
                      <a:r>
                        <a:rPr sz="900" b="1">
                          <a:solidFill>
                            <a:srgbClr val="0F172A"/>
                          </a:solidFill>
                          <a:latin typeface="DM Sans"/>
                        </a:rPr>
                        <a:t>Basis</a:t>
                      </a:r>
                    </a:p>
                  </a:txBody>
                  <a:tcPr marL="36576" marR="36576" marT="22860" marB="18288" anchor="ctr">
                    <a:noFill/>
                    <a:lnL w="12700">
                      <a:noFill/>
                    </a:lnL>
                    <a:lnR w="12700">
                      <a:noFill/>
                    </a:lnR>
                    <a:lnT w="12700">
                      <a:noFill/>
                    </a:lnT>
                    <a:lnB w="12700">
                      <a:solidFill>
                        <a:srgbClr val="CBD5E1"/>
                      </a:solidFill>
                    </a:lnB>
                  </a:tcPr>
                </a:tc>
              </a:tr>
              <a:tr h="374904">
                <a:tc>
                  <a:txBody>
                    <a:bodyPr wrap="square"/>
                    <a:lstStyle/>
                    <a:p>
                      <a:r>
                        <a:rPr sz="960" b="1">
                          <a:solidFill>
                            <a:srgbClr val="0F172A"/>
                          </a:solidFill>
                          <a:latin typeface="DM Sans"/>
                        </a:rPr>
                        <a:t>Sensing zones</a:t>
                      </a:r>
                    </a:p>
                  </a:txBody>
                  <a:tcPr marL="36576" marR="36576" marT="22860" marB="18288" anchor="ctr">
                    <a:noFill/>
                    <a:lnL w="7620">
                      <a:noFill/>
                    </a:lnL>
                    <a:lnR w="7620">
                      <a:noFill/>
                    </a:lnR>
                    <a:lnT w="7620">
                      <a:noFill/>
                    </a:lnT>
                    <a:lnB w="7620">
                      <a:solidFill>
                        <a:srgbClr val="E2E8F0"/>
                      </a:solidFill>
                    </a:lnB>
                  </a:tcPr>
                </a:tc>
                <a:tc>
                  <a:txBody>
                    <a:bodyPr wrap="square"/>
                    <a:lstStyle/>
                    <a:p>
                      <a:r>
                        <a:rPr sz="960" b="0">
                          <a:solidFill>
                            <a:srgbClr val="334155"/>
                          </a:solidFill>
                          <a:latin typeface="DM Sans"/>
                        </a:rPr>
                        <a:t>2: centre C, change line A</a:t>
                      </a:r>
                    </a:p>
                  </a:txBody>
                  <a:tcPr marL="36576" marR="36576" marT="22860" marB="18288" anchor="ctr">
                    <a:noFill/>
                    <a:lnL w="7620">
                      <a:noFill/>
                    </a:lnL>
                    <a:lnR w="7620">
                      <a:noFill/>
                    </a:lnR>
                    <a:lnT w="7620">
                      <a:noFill/>
                    </a:lnT>
                    <a:lnB w="7620">
                      <a:solidFill>
                        <a:srgbClr val="E2E8F0"/>
                      </a:solidFill>
                    </a:lnB>
                  </a:tcPr>
                </a:tc>
                <a:tc>
                  <a:txBody>
                    <a:bodyPr wrap="square"/>
                    <a:lstStyle/>
                    <a:p>
                      <a:r>
                        <a:rPr sz="960" b="0">
                          <a:solidFill>
                            <a:srgbClr val="334155"/>
                          </a:solidFill>
                          <a:latin typeface="DM Sans"/>
                        </a:rPr>
                        <a:t>decision D-012</a:t>
                      </a:r>
                    </a:p>
                  </a:txBody>
                  <a:tcPr marL="36576" marR="36576" marT="22860" marB="18288" anchor="ctr">
                    <a:noFill/>
                    <a:lnL w="7620">
                      <a:noFill/>
                    </a:lnL>
                    <a:lnR w="7620">
                      <a:noFill/>
                    </a:lnR>
                    <a:lnT w="7620">
                      <a:noFill/>
                    </a:lnT>
                    <a:lnB w="7620">
                      <a:solidFill>
                        <a:srgbClr val="E2E8F0"/>
                      </a:solidFill>
                    </a:lnB>
                  </a:tcPr>
                </a:tc>
              </a:tr>
              <a:tr h="374904">
                <a:tc>
                  <a:txBody>
                    <a:bodyPr wrap="square"/>
                    <a:lstStyle/>
                    <a:p>
                      <a:r>
                        <a:rPr sz="960" b="1">
                          <a:solidFill>
                            <a:srgbClr val="0F172A"/>
                          </a:solidFill>
                          <a:latin typeface="DM Sans"/>
                        </a:rPr>
                        <a:t>Electrodes</a:t>
                      </a:r>
                    </a:p>
                  </a:txBody>
                  <a:tcPr marL="36576" marR="36576" marT="22860" marB="18288" anchor="ctr">
                    <a:noFill/>
                    <a:lnL w="7620">
                      <a:noFill/>
                    </a:lnL>
                    <a:lnR w="7620">
                      <a:noFill/>
                    </a:lnR>
                    <a:lnT w="7620">
                      <a:noFill/>
                    </a:lnT>
                    <a:lnB w="7620">
                      <a:solidFill>
                        <a:srgbClr val="E2E8F0"/>
                      </a:solidFill>
                    </a:lnB>
                  </a:tcPr>
                </a:tc>
                <a:tc>
                  <a:txBody>
                    <a:bodyPr wrap="square"/>
                    <a:lstStyle/>
                    <a:p>
                      <a:r>
                        <a:rPr sz="960" b="0">
                          <a:solidFill>
                            <a:srgbClr val="334155"/>
                          </a:solidFill>
                          <a:latin typeface="DM Sans"/>
                        </a:rPr>
                        <a:t>1.0 mm lines and gaps</a:t>
                      </a:r>
                    </a:p>
                  </a:txBody>
                  <a:tcPr marL="36576" marR="36576" marT="22860" marB="18288" anchor="ctr">
                    <a:noFill/>
                    <a:lnL w="7620">
                      <a:noFill/>
                    </a:lnL>
                    <a:lnR w="7620">
                      <a:noFill/>
                    </a:lnR>
                    <a:lnT w="7620">
                      <a:noFill/>
                    </a:lnT>
                    <a:lnB w="7620">
                      <a:solidFill>
                        <a:srgbClr val="E2E8F0"/>
                      </a:solidFill>
                    </a:lnB>
                  </a:tcPr>
                </a:tc>
                <a:tc>
                  <a:txBody>
                    <a:bodyPr wrap="square"/>
                    <a:lstStyle/>
                    <a:p>
                      <a:r>
                        <a:rPr sz="960" b="0">
                          <a:solidFill>
                            <a:srgbClr val="334155"/>
                          </a:solidFill>
                          <a:latin typeface="DM Sans"/>
                        </a:rPr>
                        <a:t>E2 confirms</a:t>
                      </a:r>
                    </a:p>
                  </a:txBody>
                  <a:tcPr marL="36576" marR="36576" marT="22860" marB="18288" anchor="ctr">
                    <a:noFill/>
                    <a:lnL w="7620">
                      <a:noFill/>
                    </a:lnL>
                    <a:lnR w="7620">
                      <a:noFill/>
                    </a:lnR>
                    <a:lnT w="7620">
                      <a:noFill/>
                    </a:lnT>
                    <a:lnB w="7620">
                      <a:solidFill>
                        <a:srgbClr val="E2E8F0"/>
                      </a:solidFill>
                    </a:lnB>
                  </a:tcPr>
                </a:tc>
              </a:tr>
              <a:tr h="374904">
                <a:tc>
                  <a:txBody>
                    <a:bodyPr wrap="square"/>
                    <a:lstStyle/>
                    <a:p>
                      <a:r>
                        <a:rPr sz="960" b="1">
                          <a:solidFill>
                            <a:srgbClr val="0F172A"/>
                          </a:solidFill>
                          <a:latin typeface="DM Sans"/>
                        </a:rPr>
                        <a:t>Wet / dry</a:t>
                      </a:r>
                    </a:p>
                  </a:txBody>
                  <a:tcPr marL="36576" marR="36576" marT="22860" marB="18288" anchor="ctr">
                    <a:noFill/>
                    <a:lnL w="7620">
                      <a:noFill/>
                    </a:lnL>
                    <a:lnR w="7620">
                      <a:noFill/>
                    </a:lnR>
                    <a:lnT w="7620">
                      <a:noFill/>
                    </a:lnT>
                    <a:lnB w="7620">
                      <a:solidFill>
                        <a:srgbClr val="E2E8F0"/>
                      </a:solidFill>
                    </a:lnB>
                  </a:tcPr>
                </a:tc>
                <a:tc>
                  <a:txBody>
                    <a:bodyPr wrap="square"/>
                    <a:lstStyle/>
                    <a:p>
                      <a:r>
                        <a:rPr sz="960" b="0">
                          <a:solidFill>
                            <a:srgbClr val="334155"/>
                          </a:solidFill>
                          <a:latin typeface="DM Sans"/>
                        </a:rPr>
                        <a:t>&lt; 100 kΩ / &gt; 300 kΩ, 3 scans</a:t>
                      </a:r>
                    </a:p>
                  </a:txBody>
                  <a:tcPr marL="36576" marR="36576" marT="22860" marB="18288" anchor="ctr">
                    <a:noFill/>
                    <a:lnL w="7620">
                      <a:noFill/>
                    </a:lnL>
                    <a:lnR w="7620">
                      <a:noFill/>
                    </a:lnR>
                    <a:lnT w="7620">
                      <a:noFill/>
                    </a:lnT>
                    <a:lnB w="7620">
                      <a:solidFill>
                        <a:srgbClr val="E2E8F0"/>
                      </a:solidFill>
                    </a:lnB>
                  </a:tcPr>
                </a:tc>
                <a:tc>
                  <a:txBody>
                    <a:bodyPr wrap="square"/>
                    <a:lstStyle/>
                    <a:p>
                      <a:r>
                        <a:rPr sz="960" b="0">
                          <a:solidFill>
                            <a:srgbClr val="334155"/>
                          </a:solidFill>
                          <a:latin typeface="DM Sans"/>
                        </a:rPr>
                        <a:t>calc: wet 4–15 kΩ</a:t>
                      </a:r>
                    </a:p>
                  </a:txBody>
                  <a:tcPr marL="36576" marR="36576" marT="22860" marB="18288" anchor="ctr">
                    <a:noFill/>
                    <a:lnL w="7620">
                      <a:noFill/>
                    </a:lnL>
                    <a:lnR w="7620">
                      <a:noFill/>
                    </a:lnR>
                    <a:lnT w="7620">
                      <a:noFill/>
                    </a:lnT>
                    <a:lnB w="7620">
                      <a:solidFill>
                        <a:srgbClr val="E2E8F0"/>
                      </a:solidFill>
                    </a:lnB>
                  </a:tcPr>
                </a:tc>
              </a:tr>
              <a:tr h="374904">
                <a:tc>
                  <a:txBody>
                    <a:bodyPr wrap="square"/>
                    <a:lstStyle/>
                    <a:p>
                      <a:r>
                        <a:rPr sz="960" b="1">
                          <a:solidFill>
                            <a:srgbClr val="0F172A"/>
                          </a:solidFill>
                          <a:latin typeface="DM Sans"/>
                        </a:rPr>
                        <a:t>Drive</a:t>
                      </a:r>
                    </a:p>
                  </a:txBody>
                  <a:tcPr marL="36576" marR="36576" marT="22860" marB="18288" anchor="ctr">
                    <a:noFill/>
                    <a:lnL w="7620">
                      <a:noFill/>
                    </a:lnL>
                    <a:lnR w="7620">
                      <a:noFill/>
                    </a:lnR>
                    <a:lnT w="7620">
                      <a:noFill/>
                    </a:lnT>
                    <a:lnB w="7620">
                      <a:solidFill>
                        <a:srgbClr val="E2E8F0"/>
                      </a:solidFill>
                    </a:lnB>
                  </a:tcPr>
                </a:tc>
                <a:tc>
                  <a:txBody>
                    <a:bodyPr wrap="square"/>
                    <a:lstStyle/>
                    <a:p>
                      <a:r>
                        <a:rPr sz="960" b="0">
                          <a:solidFill>
                            <a:srgbClr val="334155"/>
                          </a:solidFill>
                          <a:latin typeface="DM Sans"/>
                        </a:rPr>
                        <a:t>bipolar, ≤ 33 µA, no net DC</a:t>
                      </a:r>
                    </a:p>
                  </a:txBody>
                  <a:tcPr marL="36576" marR="36576" marT="22860" marB="18288" anchor="ctr">
                    <a:noFill/>
                    <a:lnL w="7620">
                      <a:noFill/>
                    </a:lnL>
                    <a:lnR w="7620">
                      <a:noFill/>
                    </a:lnR>
                    <a:lnT w="7620">
                      <a:noFill/>
                    </a:lnT>
                    <a:lnB w="7620">
                      <a:solidFill>
                        <a:srgbClr val="E2E8F0"/>
                      </a:solidFill>
                    </a:lnB>
                  </a:tcPr>
                </a:tc>
                <a:tc>
                  <a:txBody>
                    <a:bodyPr wrap="square"/>
                    <a:lstStyle/>
                    <a:p>
                      <a:r>
                        <a:rPr sz="960" b="0">
                          <a:solidFill>
                            <a:srgbClr val="334155"/>
                          </a:solidFill>
                          <a:latin typeface="DM Sans"/>
                        </a:rPr>
                        <a:t>calc · bench T8</a:t>
                      </a:r>
                    </a:p>
                  </a:txBody>
                  <a:tcPr marL="36576" marR="36576" marT="22860" marB="18288" anchor="ctr">
                    <a:noFill/>
                    <a:lnL w="7620">
                      <a:noFill/>
                    </a:lnL>
                    <a:lnR w="7620">
                      <a:noFill/>
                    </a:lnR>
                    <a:lnT w="7620">
                      <a:noFill/>
                    </a:lnT>
                    <a:lnB w="7620">
                      <a:solidFill>
                        <a:srgbClr val="E2E8F0"/>
                      </a:solidFill>
                    </a:lnB>
                  </a:tcPr>
                </a:tc>
              </a:tr>
              <a:tr h="374904">
                <a:tc>
                  <a:txBody>
                    <a:bodyPr wrap="square"/>
                    <a:lstStyle/>
                    <a:p>
                      <a:r>
                        <a:rPr sz="960" b="1">
                          <a:solidFill>
                            <a:srgbClr val="0F172A"/>
                          </a:solidFill>
                          <a:latin typeface="DM Sans"/>
                        </a:rPr>
                        <a:t>ADC / MCU</a:t>
                      </a:r>
                    </a:p>
                  </a:txBody>
                  <a:tcPr marL="36576" marR="36576" marT="22860" marB="18288" anchor="ctr">
                    <a:noFill/>
                    <a:lnL w="7620">
                      <a:noFill/>
                    </a:lnL>
                    <a:lnR w="7620">
                      <a:noFill/>
                    </a:lnR>
                    <a:lnT w="7620">
                      <a:noFill/>
                    </a:lnT>
                    <a:lnB w="7620">
                      <a:solidFill>
                        <a:srgbClr val="E2E8F0"/>
                      </a:solidFill>
                    </a:lnB>
                  </a:tcPr>
                </a:tc>
                <a:tc>
                  <a:txBody>
                    <a:bodyPr wrap="square"/>
                    <a:lstStyle/>
                    <a:p>
                      <a:r>
                        <a:rPr sz="960" b="0">
                          <a:solidFill>
                            <a:srgbClr val="334155"/>
                          </a:solidFill>
                          <a:latin typeface="DM Sans"/>
                        </a:rPr>
                        <a:t>ADS1115 16-bit (I²C) · ESP32-C3</a:t>
                      </a:r>
                    </a:p>
                  </a:txBody>
                  <a:tcPr marL="36576" marR="36576" marT="22860" marB="18288" anchor="ctr">
                    <a:noFill/>
                    <a:lnL w="7620">
                      <a:noFill/>
                    </a:lnL>
                    <a:lnR w="7620">
                      <a:noFill/>
                    </a:lnR>
                    <a:lnT w="7620">
                      <a:noFill/>
                    </a:lnT>
                    <a:lnB w="7620">
                      <a:solidFill>
                        <a:srgbClr val="E2E8F0"/>
                      </a:solidFill>
                    </a:lnB>
                  </a:tcPr>
                </a:tc>
                <a:tc>
                  <a:txBody>
                    <a:bodyPr wrap="square"/>
                    <a:lstStyle/>
                    <a:p>
                      <a:r>
                        <a:rPr sz="960" b="0">
                          <a:solidFill>
                            <a:srgbClr val="334155"/>
                          </a:solidFill>
                          <a:latin typeface="DM Sans"/>
                        </a:rPr>
                        <a:t>datasheets</a:t>
                      </a:r>
                    </a:p>
                  </a:txBody>
                  <a:tcPr marL="36576" marR="36576" marT="22860" marB="18288" anchor="ctr">
                    <a:noFill/>
                    <a:lnL w="7620">
                      <a:noFill/>
                    </a:lnL>
                    <a:lnR w="7620">
                      <a:noFill/>
                    </a:lnR>
                    <a:lnT w="7620">
                      <a:noFill/>
                    </a:lnT>
                    <a:lnB w="7620">
                      <a:solidFill>
                        <a:srgbClr val="E2E8F0"/>
                      </a:solidFill>
                    </a:lnB>
                  </a:tcPr>
                </a:tc>
              </a:tr>
              <a:tr h="374904">
                <a:tc>
                  <a:txBody>
                    <a:bodyPr wrap="square"/>
                    <a:lstStyle/>
                    <a:p>
                      <a:r>
                        <a:rPr sz="960" b="1">
                          <a:solidFill>
                            <a:srgbClr val="0F172A"/>
                          </a:solidFill>
                          <a:latin typeface="DM Sans"/>
                        </a:rPr>
                        <a:t>Self-test</a:t>
                      </a:r>
                    </a:p>
                  </a:txBody>
                  <a:tcPr marL="36576" marR="36576" marT="22860" marB="18288" anchor="ctr">
                    <a:noFill/>
                    <a:lnL w="7620">
                      <a:noFill/>
                    </a:lnL>
                    <a:lnR w="7620">
                      <a:noFill/>
                    </a:lnR>
                    <a:lnT w="7620">
                      <a:noFill/>
                    </a:lnT>
                    <a:lnB w="7620">
                      <a:solidFill>
                        <a:srgbClr val="E2E8F0"/>
                      </a:solidFill>
                    </a:lnB>
                  </a:tcPr>
                </a:tc>
                <a:tc>
                  <a:txBody>
                    <a:bodyPr wrap="square"/>
                    <a:lstStyle/>
                    <a:p>
                      <a:r>
                        <a:rPr sz="960" b="0">
                          <a:solidFill>
                            <a:srgbClr val="334155"/>
                          </a:solidFill>
                          <a:latin typeface="DM Sans"/>
                        </a:rPr>
                        <a:t>100 kΩ check ±5 % + strip loop</a:t>
                      </a:r>
                    </a:p>
                  </a:txBody>
                  <a:tcPr marL="36576" marR="36576" marT="22860" marB="18288" anchor="ctr">
                    <a:noFill/>
                    <a:lnL w="7620">
                      <a:noFill/>
                    </a:lnL>
                    <a:lnR w="7620">
                      <a:noFill/>
                    </a:lnR>
                    <a:lnT w="7620">
                      <a:noFill/>
                    </a:lnT>
                    <a:lnB w="7620">
                      <a:solidFill>
                        <a:srgbClr val="E2E8F0"/>
                      </a:solidFill>
                    </a:lnB>
                  </a:tcPr>
                </a:tc>
                <a:tc>
                  <a:txBody>
                    <a:bodyPr wrap="square"/>
                    <a:lstStyle/>
                    <a:p>
                      <a:r>
                        <a:rPr sz="960" b="0">
                          <a:solidFill>
                            <a:srgbClr val="334155"/>
                          </a:solidFill>
                          <a:latin typeface="DM Sans"/>
                        </a:rPr>
                        <a:t>else FAULT</a:t>
                      </a:r>
                    </a:p>
                  </a:txBody>
                  <a:tcPr marL="36576" marR="36576" marT="22860" marB="18288" anchor="ctr">
                    <a:noFill/>
                    <a:lnL w="7620">
                      <a:noFill/>
                    </a:lnL>
                    <a:lnR w="7620">
                      <a:noFill/>
                    </a:lnR>
                    <a:lnT w="7620">
                      <a:noFill/>
                    </a:lnT>
                    <a:lnB w="7620">
                      <a:solidFill>
                        <a:srgbClr val="E2E8F0"/>
                      </a:solidFill>
                    </a:lnB>
                  </a:tcPr>
                </a:tc>
              </a:tr>
              <a:tr h="374904">
                <a:tc>
                  <a:txBody>
                    <a:bodyPr wrap="square"/>
                    <a:lstStyle/>
                    <a:p>
                      <a:r>
                        <a:rPr sz="960" b="1">
                          <a:solidFill>
                            <a:srgbClr val="0F172A"/>
                          </a:solidFill>
                          <a:latin typeface="DM Sans"/>
                        </a:rPr>
                        <a:t>Contacts</a:t>
                      </a:r>
                    </a:p>
                  </a:txBody>
                  <a:tcPr marL="36576" marR="36576" marT="22860" marB="18288" anchor="ctr">
                    <a:noFill/>
                    <a:lnL w="7620">
                      <a:noFill/>
                    </a:lnL>
                    <a:lnR w="7620">
                      <a:noFill/>
                    </a:lnR>
                    <a:lnT w="7620">
                      <a:noFill/>
                    </a:lnT>
                    <a:lnB w="7620">
                      <a:solidFill>
                        <a:srgbClr val="E2E8F0"/>
                      </a:solidFill>
                    </a:lnB>
                  </a:tcPr>
                </a:tc>
                <a:tc>
                  <a:txBody>
                    <a:bodyPr wrap="square"/>
                    <a:lstStyle/>
                    <a:p>
                      <a:r>
                        <a:rPr sz="960" b="0">
                          <a:solidFill>
                            <a:srgbClr val="334155"/>
                          </a:solidFill>
                          <a:latin typeface="DM Sans"/>
                        </a:rPr>
                        <a:t>4 pogo pins + 2 dowels</a:t>
                      </a:r>
                    </a:p>
                  </a:txBody>
                  <a:tcPr marL="36576" marR="36576" marT="22860" marB="18288" anchor="ctr">
                    <a:noFill/>
                    <a:lnL w="7620">
                      <a:noFill/>
                    </a:lnL>
                    <a:lnR w="7620">
                      <a:noFill/>
                    </a:lnR>
                    <a:lnT w="7620">
                      <a:noFill/>
                    </a:lnT>
                    <a:lnB w="7620">
                      <a:solidFill>
                        <a:srgbClr val="E2E8F0"/>
                      </a:solidFill>
                    </a:lnB>
                  </a:tcPr>
                </a:tc>
                <a:tc>
                  <a:txBody>
                    <a:bodyPr wrap="square"/>
                    <a:lstStyle/>
                    <a:p>
                      <a:r>
                        <a:rPr sz="960" b="0">
                          <a:solidFill>
                            <a:srgbClr val="334155"/>
                          </a:solidFill>
                          <a:latin typeface="DM Sans"/>
                        </a:rPr>
                        <a:t>CAD checked</a:t>
                      </a:r>
                    </a:p>
                  </a:txBody>
                  <a:tcPr marL="36576" marR="36576" marT="22860" marB="18288" anchor="ctr">
                    <a:noFill/>
                    <a:lnL w="7620">
                      <a:noFill/>
                    </a:lnL>
                    <a:lnR w="7620">
                      <a:noFill/>
                    </a:lnR>
                    <a:lnT w="7620">
                      <a:noFill/>
                    </a:lnT>
                    <a:lnB w="7620">
                      <a:solidFill>
                        <a:srgbClr val="E2E8F0"/>
                      </a:solidFill>
                    </a:lnB>
                  </a:tcPr>
                </a:tc>
              </a:tr>
              <a:tr h="374904">
                <a:tc>
                  <a:txBody>
                    <a:bodyPr wrap="square"/>
                    <a:lstStyle/>
                    <a:p>
                      <a:r>
                        <a:rPr sz="960" b="1">
                          <a:solidFill>
                            <a:srgbClr val="0F172A"/>
                          </a:solidFill>
                          <a:latin typeface="DM Sans"/>
                        </a:rPr>
                        <a:t>Output</a:t>
                      </a:r>
                    </a:p>
                  </a:txBody>
                  <a:tcPr marL="36576" marR="36576" marT="22860" marB="18288" anchor="ctr">
                    <a:noFill/>
                    <a:lnL w="7620">
                      <a:noFill/>
                    </a:lnL>
                    <a:lnR w="7620">
                      <a:noFill/>
                    </a:lnR>
                    <a:lnT w="7620">
                      <a:noFill/>
                    </a:lnT>
                    <a:lnB w="7620">
                      <a:solidFill>
                        <a:srgbClr val="E2E8F0"/>
                      </a:solidFill>
                    </a:lnB>
                  </a:tcPr>
                </a:tc>
                <a:tc>
                  <a:txBody>
                    <a:bodyPr wrap="square"/>
                    <a:lstStyle/>
                    <a:p>
                      <a:r>
                        <a:rPr sz="960" b="0">
                          <a:solidFill>
                            <a:srgbClr val="334155"/>
                          </a:solidFill>
                          <a:latin typeface="DM Sans"/>
                        </a:rPr>
                        <a:t>LEDs · USB log · BLE broadcast</a:t>
                      </a:r>
                    </a:p>
                  </a:txBody>
                  <a:tcPr marL="36576" marR="36576" marT="22860" marB="18288" anchor="ctr">
                    <a:noFill/>
                    <a:lnL w="7620">
                      <a:noFill/>
                    </a:lnL>
                    <a:lnR w="7620">
                      <a:noFill/>
                    </a:lnR>
                    <a:lnT w="7620">
                      <a:noFill/>
                    </a:lnT>
                    <a:lnB w="7620">
                      <a:solidFill>
                        <a:srgbClr val="E2E8F0"/>
                      </a:solidFill>
                    </a:lnB>
                  </a:tcPr>
                </a:tc>
                <a:tc>
                  <a:txBody>
                    <a:bodyPr wrap="square"/>
                    <a:lstStyle/>
                    <a:p>
                      <a:r>
                        <a:rPr sz="960" b="0">
                          <a:solidFill>
                            <a:srgbClr val="334155"/>
                          </a:solidFill>
                          <a:latin typeface="DM Sans"/>
                        </a:rPr>
                        <a:t>BLE compiled only</a:t>
                      </a:r>
                    </a:p>
                  </a:txBody>
                  <a:tcPr marL="36576" marR="36576" marT="22860" marB="18288" anchor="ctr">
                    <a:noFill/>
                    <a:lnL w="7620">
                      <a:noFill/>
                    </a:lnL>
                    <a:lnR w="7620">
                      <a:noFill/>
                    </a:lnR>
                    <a:lnT w="7620">
                      <a:noFill/>
                    </a:lnT>
                    <a:lnB w="7620">
                      <a:solidFill>
                        <a:srgbClr val="E2E8F0"/>
                      </a:solid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pic>
        <p:nvPicPr>
          <p:cNvPr descr="image.png" id="234" name="Google Shape;234;p20"/>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235" name="Google Shape;235;p20"/>
          <p:cNvPicPr preferRelativeResize="0"/>
          <p:nvPr/>
        </p:nvPicPr>
        <p:blipFill rotWithShape="1">
          <a:blip r:embed="rId4">
            <a:alphaModFix/>
          </a:blip>
          <a:srcRect b="0" l="0" r="0" t="0"/>
          <a:stretch/>
        </p:blipFill>
        <p:spPr>
          <a:xfrm>
            <a:off x="533400" y="5551726"/>
            <a:ext cx="11125200" cy="363140"/>
          </a:xfrm>
          <a:prstGeom prst="rect">
            <a:avLst/>
          </a:prstGeom>
          <a:noFill/>
          <a:ln>
            <a:noFill/>
          </a:ln>
        </p:spPr>
      </p:pic>
      <p:pic>
        <p:nvPicPr>
          <p:cNvPr descr="image.png" id="236" name="Google Shape;236;p20"/>
          <p:cNvPicPr preferRelativeResize="0"/>
          <p:nvPr/>
        </p:nvPicPr>
        <p:blipFill rotWithShape="1">
          <a:blip r:embed="rId5">
            <a:alphaModFix/>
          </a:blip>
          <a:srcRect b="0" l="0" r="0" t="0"/>
          <a:stretch/>
        </p:blipFill>
        <p:spPr>
          <a:xfrm>
            <a:off x="6229350" y="956224"/>
            <a:ext cx="5429250" cy="4434840"/>
          </a:xfrm>
          <a:prstGeom prst="rect">
            <a:avLst/>
          </a:prstGeom>
          <a:noFill/>
          <a:ln>
            <a:noFill/>
          </a:ln>
        </p:spPr>
      </p:pic>
      <p:pic>
        <p:nvPicPr>
          <p:cNvPr descr="image.png" id="237" name="Google Shape;237;p20"/>
          <p:cNvPicPr preferRelativeResize="0"/>
          <p:nvPr/>
        </p:nvPicPr>
        <p:blipFill rotWithShape="1">
          <a:blip r:embed="rId6">
            <a:alphaModFix/>
          </a:blip>
          <a:srcRect b="0" l="0" r="0" t="0"/>
          <a:stretch/>
        </p:blipFill>
        <p:spPr>
          <a:xfrm>
            <a:off x="530352" y="960120"/>
            <a:ext cx="5431536" cy="3895344"/>
          </a:xfrm>
          <a:prstGeom prst="rect">
            <a:avLst/>
          </a:prstGeom>
          <a:noFill/>
          <a:ln>
            <a:noFill/>
          </a:ln>
        </p:spPr>
      </p:pic>
      <p:sp>
        <p:nvSpPr>
          <p:cNvPr id="238" name="Google Shape;238;p20"/>
          <p:cNvSpPr txBox="1"/>
          <p:nvPr/>
        </p:nvSpPr>
        <p:spPr>
          <a:xfrm>
            <a:off x="533400" y="438150"/>
            <a:ext cx="8595360" cy="308520"/>
          </a:xfrm>
          <a:prstGeom prst="rect">
            <a:avLst/>
          </a:prstGeom>
          <a:noFill/>
          <a:ln>
            <a:noFill/>
          </a:ln>
        </p:spPr>
        <p:txBody>
          <a:bodyPr anchorCtr="0" anchor="ctr" bIns="0" lIns="0" spcFirstLastPara="1" rIns="0" wrap="square" tIns="0">
            <a:spAutoFit/>
          </a:bodyPr>
          <a:lstStyle/>
          <a:p>
            <a:pPr indent="0" lvl="0" marL="0" marR="0" rtl="0" algn="l">
              <a:lnSpc>
                <a:spcPct val="119950"/>
              </a:lnSpc>
              <a:spcBef>
                <a:spcPts val="0"/>
              </a:spcBef>
              <a:spcAft>
                <a:spcPts val="0"/>
              </a:spcAft>
              <a:buNone/>
            </a:pPr>
            <a:r>
              <a:rPr sz="2025" b="0">
                <a:solidFill>
                  <a:srgbClr val="0F172A"/>
                </a:solidFill>
                <a:latin typeface="Poppins SemiBold"/>
              </a:rPr>
              <a:t>CAD Design &amp; Mechanical Specs</a:t>
            </a:r>
            <a:endParaRPr/>
          </a:p>
        </p:txBody>
      </p:sp>
      <p:sp>
        <p:nvSpPr>
          <p:cNvPr id="240" name="Google Shape;240;p20"/>
          <p:cNvSpPr txBox="1"/>
          <p:nvPr/>
        </p:nvSpPr>
        <p:spPr>
          <a:xfrm>
            <a:off x="723900" y="5646976"/>
            <a:ext cx="10698480" cy="329184"/>
          </a:xfrm>
          <a:prstGeom prst="rect">
            <a:avLst/>
          </a:prstGeom>
          <a:noFill/>
          <a:ln>
            <a:noFill/>
          </a:ln>
        </p:spPr>
        <p:txBody>
          <a:bodyPr anchorCtr="0" anchor="t" bIns="0" lIns="0" spcFirstLastPara="1" rIns="0" wrap="square" tIns="0">
            <a:spAutoFit/>
          </a:bodyPr>
          <a:lstStyle/>
          <a:p>
            <a:pPr indent="0" lvl="0" marL="0" marR="0" rtl="0" algn="l">
              <a:lnSpc>
                <a:spcPct val="145037"/>
              </a:lnSpc>
              <a:spcBef>
                <a:spcPts val="0"/>
              </a:spcBef>
              <a:spcAft>
                <a:spcPts val="0"/>
              </a:spcAft>
              <a:buNone/>
            </a:pPr>
            <a:r>
              <a:rPr sz="960" b="1">
                <a:solidFill>
                  <a:srgbClr val="0F172A"/>
                </a:solidFill>
                <a:latin typeface="DM Sans"/>
              </a:rPr>
              <a:t>Design Iteration: </a:t>
            </a:r>
            <a:r>
              <a:rPr sz="960" b="0">
                <a:solidFill>
                  <a:srgbClr val="334155"/>
                </a:solidFill>
                <a:latin typeface="DM Sans"/>
              </a:rPr>
              <a:t>a clash check found the seal tape trapped under the clamp (9.0 mm³); moved to x = 23 mm, now 0 clash (decision D-013).</a:t>
            </a:r>
            <a:endParaRPr/>
          </a:p>
        </p:txBody>
      </p:sp>
      <p:sp>
        <p:nvSpPr>
          <p:cNvPr id="241" name="Google Shape;241;p20"/>
          <p:cNvSpPr txBox="1"/>
          <p:nvPr/>
        </p:nvSpPr>
        <p:spPr>
          <a:xfrm>
            <a:off x="533400" y="4901184"/>
            <a:ext cx="5429250" cy="201168"/>
          </a:xfrm>
          <a:prstGeom prst="rect">
            <a:avLst/>
          </a:prstGeom>
          <a:noFill/>
          <a:ln>
            <a:noFill/>
          </a:ln>
        </p:spPr>
        <p:txBody>
          <a:bodyPr anchorCtr="0" anchor="t" bIns="0" lIns="0" spcFirstLastPara="1" rIns="0" wrap="square" tIns="0">
            <a:spAutoFit/>
          </a:bodyPr>
          <a:lstStyle/>
          <a:p>
            <a:pPr indent="0" lvl="0" marL="0" marR="0" rtl="0" algn="r">
              <a:lnSpc>
                <a:spcPct val="145011"/>
              </a:lnSpc>
              <a:spcBef>
                <a:spcPts val="0"/>
              </a:spcBef>
              <a:spcAft>
                <a:spcPts val="0"/>
              </a:spcAft>
              <a:buNone/>
            </a:pPr>
            <a:r>
              <a:rPr sz="760" b="0">
                <a:solidFill>
                  <a:srgbClr val="64748B"/>
                </a:solidFill>
                <a:latin typeface="DM Sans"/>
              </a:rPr>
              <a:t>Figure: our SolidWorks 2019 models (9 parts, 1 assembly, 7 A3 drawings, STEP); not yet built.</a:t>
            </a:r>
            <a:endParaRPr/>
          </a:p>
        </p:txBody>
      </p:sp>
      <p:pic>
        <p:nvPicPr>
          <p:cNvPr descr="image.png" id="243" name="Google Shape;243;p20"/>
          <p:cNvPicPr preferRelativeResize="0"/>
          <p:nvPr/>
        </p:nvPicPr>
        <p:blipFill rotWithShape="1">
          <a:blip r:embed="rId9">
            <a:alphaModFix/>
          </a:blip>
          <a:srcRect b="0" l="0" r="0" t="0"/>
          <a:stretch/>
        </p:blipFill>
        <p:spPr>
          <a:xfrm>
            <a:off x="6448425" y="1175295"/>
            <a:ext cx="154334" cy="152400"/>
          </a:xfrm>
          <a:prstGeom prst="rect">
            <a:avLst/>
          </a:prstGeom>
          <a:noFill/>
          <a:ln>
            <a:noFill/>
          </a:ln>
        </p:spPr>
      </p:pic>
      <p:sp>
        <p:nvSpPr>
          <p:cNvPr id="244" name="Google Shape;244;p20"/>
          <p:cNvSpPr txBox="1"/>
          <p:nvPr/>
        </p:nvSpPr>
        <p:spPr>
          <a:xfrm>
            <a:off x="6698009" y="1156245"/>
            <a:ext cx="484632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A clip-on clamp: 4 spring pins, 2 dowels</a:t>
            </a:r>
            <a:endParaRPr/>
          </a:p>
        </p:txBody>
      </p:sp>
      <p:pic>
        <p:nvPicPr>
          <p:cNvPr id="255" name="Google Shape;255;p20" title="MBF_Logo_2020.png"/>
          <p:cNvPicPr preferRelativeResize="0"/>
          <p:nvPr/>
        </p:nvPicPr>
        <p:blipFill>
          <a:blip r:embed="rId10">
            <a:alphaModFix/>
          </a:blip>
          <a:stretch>
            <a:fillRect/>
          </a:stretch>
        </p:blipFill>
        <p:spPr>
          <a:xfrm>
            <a:off x="11095194" y="6280800"/>
            <a:ext cx="1096806" cy="577200"/>
          </a:xfrm>
          <a:prstGeom prst="rect">
            <a:avLst/>
          </a:prstGeom>
          <a:noFill/>
          <a:ln>
            <a:noFill/>
          </a:ln>
        </p:spPr>
      </p:pic>
      <p:pic>
        <p:nvPicPr>
          <p:cNvPr id="256" name="Google Shape;256;p20" title="VK colored transparent logo.png"/>
          <p:cNvPicPr preferRelativeResize="0"/>
          <p:nvPr/>
        </p:nvPicPr>
        <p:blipFill rotWithShape="1">
          <a:blip r:embed="rId11">
            <a:alphaModFix/>
          </a:blip>
          <a:srcRect b="44466" l="14673" r="15820" t="33074"/>
          <a:stretch/>
        </p:blipFill>
        <p:spPr>
          <a:xfrm>
            <a:off x="0" y="6280800"/>
            <a:ext cx="1786280" cy="577200"/>
          </a:xfrm>
          <a:prstGeom prst="rect">
            <a:avLst/>
          </a:prstGeom>
          <a:noFill/>
          <a:ln>
            <a:noFill/>
          </a:ln>
        </p:spPr>
      </p:pic>
      <p:sp>
        <p:nvSpPr>
          <p:cNvPr id="257" name="Rounded Rectangle 256"/>
          <p:cNvSpPr/>
          <p:nvPr/>
        </p:nvSpPr>
        <p:spPr>
          <a:xfrm>
            <a:off x="8959291" y="457200"/>
            <a:ext cx="2699308" cy="246888"/>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B45309"/>
                </a:solidFill>
                <a:latin typeface="DM Sans"/>
              </a:rPr>
              <a:t>DESIGNED · CAD VERIFIED · NOT YET BUILT</a:t>
            </a:r>
          </a:p>
        </p:txBody>
      </p:sp>
      <p:pic>
        <p:nvPicPr>
          <p:cNvPr id="258" name="Picture 257" descr="fig_cad.png"/>
          <p:cNvPicPr>
            <a:picLocks noChangeAspect="1"/>
          </p:cNvPicPr>
          <p:nvPr/>
        </p:nvPicPr>
        <p:blipFill>
          <a:blip r:embed="rId12"/>
          <a:stretch>
            <a:fillRect/>
          </a:stretch>
        </p:blipFill>
        <p:spPr>
          <a:xfrm>
            <a:off x="539496" y="970048"/>
            <a:ext cx="5413248" cy="3875487"/>
          </a:xfrm>
          <a:prstGeom prst="rect">
            <a:avLst/>
          </a:prstGeom>
        </p:spPr>
      </p:pic>
      <p:graphicFrame>
        <p:nvGraphicFramePr>
          <p:cNvPr id="259" name="Table 258"/>
          <p:cNvGraphicFramePr>
            <a:graphicFrameLocks noGrp="1"/>
          </p:cNvGraphicFramePr>
          <p:nvPr/>
        </p:nvGraphicFramePr>
        <p:xfrm>
          <a:off x="6446520" y="1517904"/>
          <a:ext cx="5010910" cy="3291840"/>
        </p:xfrm>
        <a:graphic>
          <a:graphicData uri="http://schemas.openxmlformats.org/drawingml/2006/table">
            <a:tbl>
              <a:tblPr firstRow="0" bandRow="0">
                <a:tableStyleId>{2D5ABB26-0587-4C30-8999-92F81FD0307C}</a:tableStyleId>
              </a:tblPr>
              <a:tblGrid>
                <a:gridCol w="1129911"/>
                <a:gridCol w="2554582"/>
                <a:gridCol w="1326417"/>
              </a:tblGrid>
              <a:tr h="411480">
                <a:tc>
                  <a:txBody>
                    <a:bodyPr wrap="square"/>
                    <a:lstStyle/>
                    <a:p>
                      <a:r>
                        <a:rPr sz="900" b="1">
                          <a:solidFill>
                            <a:srgbClr val="0F172A"/>
                          </a:solidFill>
                          <a:latin typeface="DM Sans"/>
                        </a:rPr>
                        <a:t>Check</a:t>
                      </a:r>
                    </a:p>
                  </a:txBody>
                  <a:tcPr marL="36576" marR="36576" marT="22860" marB="18288" anchor="ctr">
                    <a:noFill/>
                    <a:lnL w="12700">
                      <a:noFill/>
                    </a:lnL>
                    <a:lnR w="12700">
                      <a:noFill/>
                    </a:lnR>
                    <a:lnT w="12700">
                      <a:noFill/>
                    </a:lnT>
                    <a:lnB w="12700">
                      <a:solidFill>
                        <a:srgbClr val="CBD5E1"/>
                      </a:solidFill>
                    </a:lnB>
                  </a:tcPr>
                </a:tc>
                <a:tc>
                  <a:txBody>
                    <a:bodyPr wrap="square"/>
                    <a:lstStyle/>
                    <a:p>
                      <a:r>
                        <a:rPr sz="900" b="1">
                          <a:solidFill>
                            <a:srgbClr val="0F172A"/>
                          </a:solidFill>
                          <a:latin typeface="DM Sans"/>
                        </a:rPr>
                        <a:t>Result</a:t>
                      </a:r>
                    </a:p>
                  </a:txBody>
                  <a:tcPr marL="36576" marR="36576" marT="22860" marB="18288" anchor="ctr">
                    <a:noFill/>
                    <a:lnL w="12700">
                      <a:noFill/>
                    </a:lnL>
                    <a:lnR w="12700">
                      <a:noFill/>
                    </a:lnR>
                    <a:lnT w="12700">
                      <a:noFill/>
                    </a:lnT>
                    <a:lnB w="12700">
                      <a:solidFill>
                        <a:srgbClr val="CBD5E1"/>
                      </a:solidFill>
                    </a:lnB>
                  </a:tcPr>
                </a:tc>
                <a:tc>
                  <a:txBody>
                    <a:bodyPr wrap="square"/>
                    <a:lstStyle/>
                    <a:p>
                      <a:r>
                        <a:rPr sz="900" b="1">
                          <a:solidFill>
                            <a:srgbClr val="0F172A"/>
                          </a:solidFill>
                          <a:latin typeface="DM Sans"/>
                        </a:rPr>
                        <a:t>Basis</a:t>
                      </a:r>
                    </a:p>
                  </a:txBody>
                  <a:tcPr marL="36576" marR="36576" marT="22860" marB="18288" anchor="ctr">
                    <a:noFill/>
                    <a:lnL w="12700">
                      <a:noFill/>
                    </a:lnL>
                    <a:lnR w="12700">
                      <a:noFill/>
                    </a:lnR>
                    <a:lnT w="12700">
                      <a:noFill/>
                    </a:lnT>
                    <a:lnB w="12700">
                      <a:solidFill>
                        <a:srgbClr val="CBD5E1"/>
                      </a:solidFill>
                    </a:lnB>
                  </a:tcPr>
                </a:tc>
              </a:tr>
              <a:tr h="411480">
                <a:tc>
                  <a:txBody>
                    <a:bodyPr wrap="square"/>
                    <a:lstStyle/>
                    <a:p>
                      <a:r>
                        <a:rPr sz="980" b="1">
                          <a:solidFill>
                            <a:srgbClr val="0F172A"/>
                          </a:solidFill>
                          <a:latin typeface="DM Sans"/>
                        </a:rPr>
                        <a:t>Materials</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polyimide strip · PETG clamp · acrylic rig</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printable, laser-cut</a:t>
                      </a:r>
                    </a:p>
                  </a:txBody>
                  <a:tcPr marL="36576" marR="36576" marT="22860" marB="18288" anchor="ctr">
                    <a:noFill/>
                    <a:lnL w="7620">
                      <a:noFill/>
                    </a:lnL>
                    <a:lnR w="7620">
                      <a:noFill/>
                    </a:lnR>
                    <a:lnT w="7620">
                      <a:noFill/>
                    </a:lnT>
                    <a:lnB w="7620">
                      <a:solidFill>
                        <a:srgbClr val="E2E8F0"/>
                      </a:solidFill>
                    </a:lnB>
                  </a:tcPr>
                </a:tc>
              </a:tr>
              <a:tr h="411480">
                <a:tc>
                  <a:txBody>
                    <a:bodyPr wrap="square"/>
                    <a:lstStyle/>
                    <a:p>
                      <a:r>
                        <a:rPr sz="980" b="1">
                          <a:solidFill>
                            <a:srgbClr val="0F172A"/>
                          </a:solidFill>
                          <a:latin typeface="DM Sans"/>
                        </a:rPr>
                        <a:t>Pin force</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0.72 N each · 2.9 N total</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calc</a:t>
                      </a:r>
                    </a:p>
                  </a:txBody>
                  <a:tcPr marL="36576" marR="36576" marT="22860" marB="18288" anchor="ctr">
                    <a:noFill/>
                    <a:lnL w="7620">
                      <a:noFill/>
                    </a:lnL>
                    <a:lnR w="7620">
                      <a:noFill/>
                    </a:lnR>
                    <a:lnT w="7620">
                      <a:noFill/>
                    </a:lnT>
                    <a:lnB w="7620">
                      <a:solidFill>
                        <a:srgbClr val="E2E8F0"/>
                      </a:solidFill>
                    </a:lnB>
                  </a:tcPr>
                </a:tc>
              </a:tr>
              <a:tr h="411480">
                <a:tc>
                  <a:txBody>
                    <a:bodyPr wrap="square"/>
                    <a:lstStyle/>
                    <a:p>
                      <a:r>
                        <a:rPr sz="980" b="1">
                          <a:solidFill>
                            <a:srgbClr val="0F172A"/>
                          </a:solidFill>
                          <a:latin typeface="DM Sans"/>
                        </a:rPr>
                        <a:t>Lid bending</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11 µm vs 1.48 mm pin travel</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calc</a:t>
                      </a:r>
                    </a:p>
                  </a:txBody>
                  <a:tcPr marL="36576" marR="36576" marT="22860" marB="18288" anchor="ctr">
                    <a:noFill/>
                    <a:lnL w="7620">
                      <a:noFill/>
                    </a:lnL>
                    <a:lnR w="7620">
                      <a:noFill/>
                    </a:lnR>
                    <a:lnT w="7620">
                      <a:noFill/>
                    </a:lnT>
                    <a:lnB w="7620">
                      <a:solidFill>
                        <a:srgbClr val="E2E8F0"/>
                      </a:solidFill>
                    </a:lnB>
                  </a:tcPr>
                </a:tc>
              </a:tr>
              <a:tr h="411480">
                <a:tc>
                  <a:txBody>
                    <a:bodyPr wrap="square"/>
                    <a:lstStyle/>
                    <a:p>
                      <a:r>
                        <a:rPr sz="980" b="1">
                          <a:solidFill>
                            <a:srgbClr val="0F172A"/>
                          </a:solidFill>
                          <a:latin typeface="DM Sans"/>
                        </a:rPr>
                        <a:t>Alignment</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0.49 mm used of ±1.35 mm</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calc · 2.8× margin</a:t>
                      </a:r>
                    </a:p>
                  </a:txBody>
                  <a:tcPr marL="36576" marR="36576" marT="22860" marB="18288" anchor="ctr">
                    <a:noFill/>
                    <a:lnL w="7620">
                      <a:noFill/>
                    </a:lnL>
                    <a:lnR w="7620">
                      <a:noFill/>
                    </a:lnR>
                    <a:lnT w="7620">
                      <a:noFill/>
                    </a:lnT>
                    <a:lnB w="7620">
                      <a:solidFill>
                        <a:srgbClr val="E2E8F0"/>
                      </a:solidFill>
                    </a:lnB>
                  </a:tcPr>
                </a:tc>
              </a:tr>
              <a:tr h="411480">
                <a:tc>
                  <a:txBody>
                    <a:bodyPr wrap="square"/>
                    <a:lstStyle/>
                    <a:p>
                      <a:r>
                        <a:rPr sz="980" b="1">
                          <a:solidFill>
                            <a:srgbClr val="0F172A"/>
                          </a:solidFill>
                          <a:latin typeface="DM Sans"/>
                        </a:rPr>
                        <a:t>Strip bending</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0.62 % strain at 10 mm radius</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calc · yield ≈ 3 %</a:t>
                      </a:r>
                    </a:p>
                  </a:txBody>
                  <a:tcPr marL="36576" marR="36576" marT="22860" marB="18288" anchor="ctr">
                    <a:noFill/>
                    <a:lnL w="7620">
                      <a:noFill/>
                    </a:lnL>
                    <a:lnR w="7620">
                      <a:noFill/>
                    </a:lnR>
                    <a:lnT w="7620">
                      <a:noFill/>
                    </a:lnT>
                    <a:lnB w="7620">
                      <a:solidFill>
                        <a:srgbClr val="E2E8F0"/>
                      </a:solidFill>
                    </a:lnB>
                  </a:tcPr>
                </a:tc>
              </a:tr>
              <a:tr h="411480">
                <a:tc>
                  <a:txBody>
                    <a:bodyPr wrap="square"/>
                    <a:lstStyle/>
                    <a:p>
                      <a:r>
                        <a:rPr sz="980" b="1">
                          <a:solidFill>
                            <a:srgbClr val="0F172A"/>
                          </a:solidFill>
                          <a:latin typeface="DM Sans"/>
                        </a:rPr>
                        <a:t>CAD checks</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99 pass · 0 fail · 5 wait for E2</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verify_cad.py</a:t>
                      </a:r>
                    </a:p>
                  </a:txBody>
                  <a:tcPr marL="36576" marR="36576" marT="22860" marB="18288" anchor="ctr">
                    <a:noFill/>
                    <a:lnL w="7620">
                      <a:noFill/>
                    </a:lnL>
                    <a:lnR w="7620">
                      <a:noFill/>
                    </a:lnR>
                    <a:lnT w="7620">
                      <a:noFill/>
                    </a:lnT>
                    <a:lnB w="7620">
                      <a:solidFill>
                        <a:srgbClr val="E2E8F0"/>
                      </a:solidFill>
                    </a:lnB>
                  </a:tcPr>
                </a:tc>
              </a:tr>
              <a:tr h="411480">
                <a:tc>
                  <a:txBody>
                    <a:bodyPr wrap="square"/>
                    <a:lstStyle/>
                    <a:p>
                      <a:r>
                        <a:rPr sz="980" b="1">
                          <a:solidFill>
                            <a:srgbClr val="0F172A"/>
                          </a:solidFill>
                          <a:latin typeface="DM Sans"/>
                        </a:rPr>
                        <a:t>FEA</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not run: loads are under 3 N</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hand calcs above</a:t>
                      </a:r>
                    </a:p>
                  </a:txBody>
                  <a:tcPr marL="36576" marR="36576" marT="22860" marB="18288" anchor="ctr">
                    <a:noFill/>
                    <a:lnL w="7620">
                      <a:noFill/>
                    </a:lnL>
                    <a:lnR w="7620">
                      <a:noFill/>
                    </a:lnR>
                    <a:lnT w="7620">
                      <a:noFill/>
                    </a:lnT>
                    <a:lnB w="7620">
                      <a:solidFill>
                        <a:srgbClr val="E2E8F0"/>
                      </a:solid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 name="Shape 276"/>
        <p:cNvGrpSpPr/>
        <p:nvPr/>
      </p:nvGrpSpPr>
      <p:grpSpPr>
        <a:xfrm>
          <a:off x="0" y="0"/>
          <a:ext cx="0" cy="0"/>
          <a:chOff x="0" y="0"/>
          <a:chExt cx="0" cy="0"/>
        </a:xfrm>
      </p:grpSpPr>
      <p:pic>
        <p:nvPicPr>
          <p:cNvPr descr="image.png" id="277" name="Google Shape;277;p22"/>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278" name="Google Shape;278;p22"/>
          <p:cNvPicPr preferRelativeResize="0"/>
          <p:nvPr/>
        </p:nvPicPr>
        <p:blipFill rotWithShape="1">
          <a:blip r:embed="rId4">
            <a:alphaModFix/>
          </a:blip>
          <a:srcRect b="0" l="0" r="0" t="0"/>
          <a:stretch/>
        </p:blipFill>
        <p:spPr>
          <a:xfrm>
            <a:off x="533400" y="5749634"/>
            <a:ext cx="11125200" cy="363140"/>
          </a:xfrm>
          <a:prstGeom prst="rect">
            <a:avLst/>
          </a:prstGeom>
          <a:noFill/>
          <a:ln>
            <a:noFill/>
          </a:ln>
        </p:spPr>
      </p:pic>
      <p:pic>
        <p:nvPicPr>
          <p:cNvPr descr="image.png" id="279" name="Google Shape;279;p22"/>
          <p:cNvPicPr preferRelativeResize="0"/>
          <p:nvPr/>
        </p:nvPicPr>
        <p:blipFill rotWithShape="1">
          <a:blip r:embed="rId5">
            <a:alphaModFix/>
          </a:blip>
          <a:srcRect b="0" l="0" r="0" t="0"/>
          <a:stretch/>
        </p:blipFill>
        <p:spPr>
          <a:xfrm>
            <a:off x="6229350" y="956226"/>
            <a:ext cx="5429250" cy="4468100"/>
          </a:xfrm>
          <a:prstGeom prst="rect">
            <a:avLst/>
          </a:prstGeom>
          <a:noFill/>
          <a:ln>
            <a:noFill/>
          </a:ln>
        </p:spPr>
      </p:pic>
      <p:pic>
        <p:nvPicPr>
          <p:cNvPr descr="image.png" id="280" name="Google Shape;280;p22"/>
          <p:cNvPicPr preferRelativeResize="0"/>
          <p:nvPr/>
        </p:nvPicPr>
        <p:blipFill rotWithShape="1">
          <a:blip r:embed="rId6">
            <a:alphaModFix/>
          </a:blip>
          <a:srcRect b="0" l="0" r="0" t="0"/>
          <a:stretch/>
        </p:blipFill>
        <p:spPr>
          <a:xfrm>
            <a:off x="530352" y="960120"/>
            <a:ext cx="5431536" cy="3895344"/>
          </a:xfrm>
          <a:prstGeom prst="rect">
            <a:avLst/>
          </a:prstGeom>
          <a:noFill/>
          <a:ln>
            <a:noFill/>
          </a:ln>
        </p:spPr>
      </p:pic>
      <p:sp>
        <p:nvSpPr>
          <p:cNvPr id="281" name="Google Shape;281;p22"/>
          <p:cNvSpPr txBox="1"/>
          <p:nvPr/>
        </p:nvSpPr>
        <p:spPr>
          <a:xfrm>
            <a:off x="533400" y="438150"/>
            <a:ext cx="8595360" cy="308520"/>
          </a:xfrm>
          <a:prstGeom prst="rect">
            <a:avLst/>
          </a:prstGeom>
          <a:noFill/>
          <a:ln>
            <a:noFill/>
          </a:ln>
        </p:spPr>
        <p:txBody>
          <a:bodyPr anchorCtr="0" anchor="ctr" bIns="0" lIns="0" spcFirstLastPara="1" rIns="0" wrap="square" tIns="0">
            <a:spAutoFit/>
          </a:bodyPr>
          <a:lstStyle/>
          <a:p>
            <a:pPr indent="0" lvl="0" marL="0" marR="0" rtl="0" algn="l">
              <a:lnSpc>
                <a:spcPct val="119950"/>
              </a:lnSpc>
              <a:spcBef>
                <a:spcPts val="0"/>
              </a:spcBef>
              <a:spcAft>
                <a:spcPts val="0"/>
              </a:spcAft>
              <a:buNone/>
            </a:pPr>
            <a:r>
              <a:rPr sz="2025" b="0">
                <a:solidFill>
                  <a:srgbClr val="0F172A"/>
                </a:solidFill>
                <a:latin typeface="Poppins SemiBold"/>
              </a:rPr>
              <a:t>Electronics Schematics &amp; BOM</a:t>
            </a:r>
            <a:endParaRPr/>
          </a:p>
        </p:txBody>
      </p:sp>
      <p:sp>
        <p:nvSpPr>
          <p:cNvPr id="283" name="Google Shape;283;p22"/>
          <p:cNvSpPr txBox="1"/>
          <p:nvPr/>
        </p:nvSpPr>
        <p:spPr>
          <a:xfrm>
            <a:off x="723900" y="5844884"/>
            <a:ext cx="10698480" cy="353400"/>
          </a:xfrm>
          <a:prstGeom prst="rect">
            <a:avLst/>
          </a:prstGeom>
          <a:noFill/>
          <a:ln>
            <a:noFill/>
          </a:ln>
        </p:spPr>
        <p:txBody>
          <a:bodyPr anchorCtr="0" anchor="t" bIns="0" lIns="0" spcFirstLastPara="1" rIns="0" wrap="square" tIns="0">
            <a:spAutoFit/>
          </a:bodyPr>
          <a:lstStyle/>
          <a:p>
            <a:pPr indent="0" lvl="0" marL="0" marR="0" rtl="0" algn="l">
              <a:lnSpc>
                <a:spcPct val="145037"/>
              </a:lnSpc>
              <a:spcBef>
                <a:spcPts val="0"/>
              </a:spcBef>
              <a:spcAft>
                <a:spcPts val="0"/>
              </a:spcAft>
              <a:buNone/>
            </a:pPr>
            <a:r>
              <a:rPr sz="960" b="1">
                <a:solidFill>
                  <a:srgbClr val="0F172A"/>
                </a:solidFill>
                <a:latin typeface="DM Sans"/>
              </a:rPr>
              <a:t>Verification: </a:t>
            </a:r>
            <a:r>
              <a:rPr sz="960" b="0">
                <a:solidFill>
                  <a:srgbClr val="334155"/>
                </a:solidFill>
                <a:latin typeface="DM Sans"/>
              </a:rPr>
              <a:t>ERC 0 violations; netlist matches firmware and strip pads (0 mismatches).</a:t>
            </a:r>
            <a:endParaRPr/>
          </a:p>
        </p:txBody>
      </p:sp>
      <p:sp>
        <p:nvSpPr>
          <p:cNvPr id="284" name="Google Shape;284;p22"/>
          <p:cNvSpPr txBox="1"/>
          <p:nvPr/>
        </p:nvSpPr>
        <p:spPr>
          <a:xfrm>
            <a:off x="533400" y="4901184"/>
            <a:ext cx="5429250" cy="219456"/>
          </a:xfrm>
          <a:prstGeom prst="rect">
            <a:avLst/>
          </a:prstGeom>
          <a:noFill/>
          <a:ln>
            <a:noFill/>
          </a:ln>
        </p:spPr>
        <p:txBody>
          <a:bodyPr anchorCtr="0" anchor="t" bIns="0" lIns="0" spcFirstLastPara="1" rIns="0" wrap="square" tIns="0">
            <a:spAutoFit/>
          </a:bodyPr>
          <a:lstStyle/>
          <a:p>
            <a:pPr indent="0" lvl="0" marL="0" marR="0" rtl="0" algn="r">
              <a:lnSpc>
                <a:spcPct val="145011"/>
              </a:lnSpc>
              <a:spcBef>
                <a:spcPts val="0"/>
              </a:spcBef>
              <a:spcAft>
                <a:spcPts val="0"/>
              </a:spcAft>
              <a:buNone/>
            </a:pPr>
            <a:r>
              <a:rPr sz="760" b="0">
                <a:solidFill>
                  <a:srgbClr val="64748B"/>
                </a:solidFill>
                <a:latin typeface="DM Sans"/>
              </a:rPr>
              <a:t>Figure: zone-C path drawn from our netlist, above our real KiCad 10 sheet.</a:t>
            </a:r>
            <a:endParaRPr/>
          </a:p>
        </p:txBody>
      </p:sp>
      <p:pic>
        <p:nvPicPr>
          <p:cNvPr descr="image.png" id="287" name="Google Shape;287;p22"/>
          <p:cNvPicPr preferRelativeResize="0"/>
          <p:nvPr/>
        </p:nvPicPr>
        <p:blipFill rotWithShape="1">
          <a:blip r:embed="rId9">
            <a:alphaModFix/>
          </a:blip>
          <a:srcRect b="0" l="0" r="0" t="0"/>
          <a:stretch/>
        </p:blipFill>
        <p:spPr>
          <a:xfrm>
            <a:off x="6448425" y="1175295"/>
            <a:ext cx="116234" cy="152400"/>
          </a:xfrm>
          <a:prstGeom prst="rect">
            <a:avLst/>
          </a:prstGeom>
          <a:noFill/>
          <a:ln>
            <a:noFill/>
          </a:ln>
        </p:spPr>
      </p:pic>
      <p:sp>
        <p:nvSpPr>
          <p:cNvPr id="288" name="Google Shape;288;p22"/>
          <p:cNvSpPr txBox="1"/>
          <p:nvPr/>
        </p:nvSpPr>
        <p:spPr>
          <a:xfrm>
            <a:off x="6659909" y="1156245"/>
            <a:ext cx="3051869"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Pin &amp; Net Map (from the KiCad netlist)</a:t>
            </a:r>
            <a:endParaRPr/>
          </a:p>
        </p:txBody>
      </p:sp>
      <p:pic>
        <p:nvPicPr>
          <p:cNvPr id="324" name="Google Shape;324;p22" title="MBF_Logo_2020.png"/>
          <p:cNvPicPr preferRelativeResize="0"/>
          <p:nvPr/>
        </p:nvPicPr>
        <p:blipFill>
          <a:blip r:embed="rId10">
            <a:alphaModFix/>
          </a:blip>
          <a:stretch>
            <a:fillRect/>
          </a:stretch>
        </p:blipFill>
        <p:spPr>
          <a:xfrm>
            <a:off x="11095194" y="6280800"/>
            <a:ext cx="1096806" cy="577200"/>
          </a:xfrm>
          <a:prstGeom prst="rect">
            <a:avLst/>
          </a:prstGeom>
          <a:noFill/>
          <a:ln>
            <a:noFill/>
          </a:ln>
        </p:spPr>
      </p:pic>
      <p:pic>
        <p:nvPicPr>
          <p:cNvPr id="325" name="Google Shape;325;p22" title="VK colored transparent logo.png"/>
          <p:cNvPicPr preferRelativeResize="0"/>
          <p:nvPr/>
        </p:nvPicPr>
        <p:blipFill rotWithShape="1">
          <a:blip r:embed="rId11">
            <a:alphaModFix/>
          </a:blip>
          <a:srcRect b="44466" l="14673" r="15820" t="33074"/>
          <a:stretch/>
        </p:blipFill>
        <p:spPr>
          <a:xfrm>
            <a:off x="0" y="6280800"/>
            <a:ext cx="1786280" cy="577200"/>
          </a:xfrm>
          <a:prstGeom prst="rect">
            <a:avLst/>
          </a:prstGeom>
          <a:noFill/>
          <a:ln>
            <a:noFill/>
          </a:ln>
        </p:spPr>
      </p:pic>
      <p:sp>
        <p:nvSpPr>
          <p:cNvPr id="326" name="Rounded Rectangle 325"/>
          <p:cNvSpPr/>
          <p:nvPr/>
        </p:nvSpPr>
        <p:spPr>
          <a:xfrm>
            <a:off x="9643262" y="457200"/>
            <a:ext cx="2015337" cy="246888"/>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047857"/>
                </a:solidFill>
                <a:latin typeface="DM Sans"/>
              </a:rPr>
              <a:t>ERC VERIFIED · NOT YET WIRED</a:t>
            </a:r>
          </a:p>
        </p:txBody>
      </p:sp>
      <p:pic>
        <p:nvPicPr>
          <p:cNvPr id="327" name="Picture 326" descr="fig_schematic.png"/>
          <p:cNvPicPr>
            <a:picLocks noChangeAspect="1"/>
          </p:cNvPicPr>
          <p:nvPr/>
        </p:nvPicPr>
        <p:blipFill>
          <a:blip r:embed="rId12"/>
          <a:stretch>
            <a:fillRect/>
          </a:stretch>
        </p:blipFill>
        <p:spPr>
          <a:xfrm>
            <a:off x="539496" y="970048"/>
            <a:ext cx="5413248" cy="3875487"/>
          </a:xfrm>
          <a:prstGeom prst="rect">
            <a:avLst/>
          </a:prstGeom>
        </p:spPr>
      </p:pic>
      <p:graphicFrame>
        <p:nvGraphicFramePr>
          <p:cNvPr id="328" name="Table 327"/>
          <p:cNvGraphicFramePr>
            <a:graphicFrameLocks noGrp="1"/>
          </p:cNvGraphicFramePr>
          <p:nvPr/>
        </p:nvGraphicFramePr>
        <p:xfrm>
          <a:off x="6446520" y="1481328"/>
          <a:ext cx="5010910" cy="3520440"/>
        </p:xfrm>
        <a:graphic>
          <a:graphicData uri="http://schemas.openxmlformats.org/drawingml/2006/table">
            <a:tbl>
              <a:tblPr firstRow="0" bandRow="0">
                <a:tableStyleId>{2D5ABB26-0587-4C30-8999-92F81FD0307C}</a:tableStyleId>
              </a:tblPr>
              <a:tblGrid>
                <a:gridCol w="1326417"/>
                <a:gridCol w="1572050"/>
                <a:gridCol w="2112443"/>
              </a:tblGrid>
              <a:tr h="352044">
                <a:tc>
                  <a:txBody>
                    <a:bodyPr wrap="square"/>
                    <a:lstStyle/>
                    <a:p>
                      <a:r>
                        <a:rPr sz="900" b="1">
                          <a:solidFill>
                            <a:srgbClr val="0F172A"/>
                          </a:solidFill>
                          <a:latin typeface="DM Sans"/>
                        </a:rPr>
                        <a:t>Net</a:t>
                      </a:r>
                    </a:p>
                  </a:txBody>
                  <a:tcPr marL="36576" marR="36576" marT="22860" marB="18288" anchor="ctr">
                    <a:noFill/>
                    <a:lnL w="12700">
                      <a:noFill/>
                    </a:lnL>
                    <a:lnR w="12700">
                      <a:noFill/>
                    </a:lnR>
                    <a:lnT w="12700">
                      <a:noFill/>
                    </a:lnT>
                    <a:lnB w="12700">
                      <a:solidFill>
                        <a:srgbClr val="CBD5E1"/>
                      </a:solidFill>
                    </a:lnB>
                  </a:tcPr>
                </a:tc>
                <a:tc>
                  <a:txBody>
                    <a:bodyPr wrap="square"/>
                    <a:lstStyle/>
                    <a:p>
                      <a:r>
                        <a:rPr sz="900" b="1">
                          <a:solidFill>
                            <a:srgbClr val="0F172A"/>
                          </a:solidFill>
                          <a:latin typeface="DM Sans"/>
                        </a:rPr>
                        <a:t>Pin</a:t>
                      </a:r>
                    </a:p>
                  </a:txBody>
                  <a:tcPr marL="36576" marR="36576" marT="22860" marB="18288" anchor="ctr">
                    <a:noFill/>
                    <a:lnL w="12700">
                      <a:noFill/>
                    </a:lnL>
                    <a:lnR w="12700">
                      <a:noFill/>
                    </a:lnR>
                    <a:lnT w="12700">
                      <a:noFill/>
                    </a:lnT>
                    <a:lnB w="12700">
                      <a:solidFill>
                        <a:srgbClr val="CBD5E1"/>
                      </a:solidFill>
                    </a:lnB>
                  </a:tcPr>
                </a:tc>
                <a:tc>
                  <a:txBody>
                    <a:bodyPr wrap="square"/>
                    <a:lstStyle/>
                    <a:p>
                      <a:r>
                        <a:rPr sz="900" b="1">
                          <a:solidFill>
                            <a:srgbClr val="0F172A"/>
                          </a:solidFill>
                          <a:latin typeface="DM Sans"/>
                        </a:rPr>
                        <a:t>Function</a:t>
                      </a:r>
                    </a:p>
                  </a:txBody>
                  <a:tcPr marL="36576" marR="36576" marT="22860" marB="18288" anchor="ctr">
                    <a:noFill/>
                    <a:lnL w="12700">
                      <a:noFill/>
                    </a:lnL>
                    <a:lnR w="12700">
                      <a:noFill/>
                    </a:lnR>
                    <a:lnT w="12700">
                      <a:noFill/>
                    </a:lnT>
                    <a:lnB w="12700">
                      <a:solidFill>
                        <a:srgbClr val="CBD5E1"/>
                      </a:solidFill>
                    </a:lnB>
                  </a:tcPr>
                </a:tc>
              </a:tr>
              <a:tr h="352044">
                <a:tc>
                  <a:txBody>
                    <a:bodyPr wrap="square"/>
                    <a:lstStyle/>
                    <a:p>
                      <a:r>
                        <a:rPr sz="940" b="1">
                          <a:solidFill>
                            <a:srgbClr val="0F172A"/>
                          </a:solidFill>
                          <a:latin typeface="DM Sans"/>
                        </a:rPr>
                        <a:t>DRV_C · DRV_A</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GPIO3 · GPIO4</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drive zone C · A via 1 kΩ</a:t>
                      </a:r>
                    </a:p>
                  </a:txBody>
                  <a:tcPr marL="36576" marR="36576" marT="22860" marB="18288" anchor="ctr">
                    <a:noFill/>
                    <a:lnL w="7620">
                      <a:noFill/>
                    </a:lnL>
                    <a:lnR w="7620">
                      <a:noFill/>
                    </a:lnR>
                    <a:lnT w="7620">
                      <a:noFill/>
                    </a:lnT>
                    <a:lnB w="7620">
                      <a:solidFill>
                        <a:srgbClr val="E2E8F0"/>
                      </a:solidFill>
                    </a:lnB>
                  </a:tcPr>
                </a:tc>
              </a:tr>
              <a:tr h="352044">
                <a:tc>
                  <a:txBody>
                    <a:bodyPr wrap="square"/>
                    <a:lstStyle/>
                    <a:p>
                      <a:r>
                        <a:rPr sz="940" b="1">
                          <a:solidFill>
                            <a:srgbClr val="0F172A"/>
                          </a:solidFill>
                          <a:latin typeface="DM Sans"/>
                        </a:rPr>
                        <a:t>DRV_LOOP</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GPIO5</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strip loop (broken strip)</a:t>
                      </a:r>
                    </a:p>
                  </a:txBody>
                  <a:tcPr marL="36576" marR="36576" marT="22860" marB="18288" anchor="ctr">
                    <a:noFill/>
                    <a:lnL w="7620">
                      <a:noFill/>
                    </a:lnL>
                    <a:lnR w="7620">
                      <a:noFill/>
                    </a:lnR>
                    <a:lnT w="7620">
                      <a:noFill/>
                    </a:lnT>
                    <a:lnB w="7620">
                      <a:solidFill>
                        <a:srgbClr val="E2E8F0"/>
                      </a:solidFill>
                    </a:lnB>
                  </a:tcPr>
                </a:tc>
              </a:tr>
              <a:tr h="352044">
                <a:tc>
                  <a:txBody>
                    <a:bodyPr wrap="square"/>
                    <a:lstStyle/>
                    <a:p>
                      <a:r>
                        <a:rPr sz="940" b="1">
                          <a:solidFill>
                            <a:srgbClr val="0F172A"/>
                          </a:solidFill>
                          <a:latin typeface="DM Sans"/>
                        </a:rPr>
                        <a:t>DRV_REF</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GPIO10</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100 kΩ 0.1 % reference</a:t>
                      </a:r>
                    </a:p>
                  </a:txBody>
                  <a:tcPr marL="36576" marR="36576" marT="22860" marB="18288" anchor="ctr">
                    <a:noFill/>
                    <a:lnL w="7620">
                      <a:noFill/>
                    </a:lnL>
                    <a:lnR w="7620">
                      <a:noFill/>
                    </a:lnR>
                    <a:lnT w="7620">
                      <a:noFill/>
                    </a:lnT>
                    <a:lnB w="7620">
                      <a:solidFill>
                        <a:srgbClr val="E2E8F0"/>
                      </a:solidFill>
                    </a:lnB>
                  </a:tcPr>
                </a:tc>
              </a:tr>
              <a:tr h="352044">
                <a:tc>
                  <a:txBody>
                    <a:bodyPr wrap="square"/>
                    <a:lstStyle/>
                    <a:p>
                      <a:r>
                        <a:rPr sz="940" b="1">
                          <a:solidFill>
                            <a:srgbClr val="0F172A"/>
                          </a:solidFill>
                          <a:latin typeface="DM Sans"/>
                        </a:rPr>
                        <a:t>DRV_CHK</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GPIO20</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100 kΩ self-check</a:t>
                      </a:r>
                    </a:p>
                  </a:txBody>
                  <a:tcPr marL="36576" marR="36576" marT="22860" marB="18288" anchor="ctr">
                    <a:noFill/>
                    <a:lnL w="7620">
                      <a:noFill/>
                    </a:lnL>
                    <a:lnR w="7620">
                      <a:noFill/>
                    </a:lnR>
                    <a:lnT w="7620">
                      <a:noFill/>
                    </a:lnT>
                    <a:lnB w="7620">
                      <a:solidFill>
                        <a:srgbClr val="E2E8F0"/>
                      </a:solidFill>
                    </a:lnB>
                  </a:tcPr>
                </a:tc>
              </a:tr>
              <a:tr h="352044">
                <a:tc>
                  <a:txBody>
                    <a:bodyPr wrap="square"/>
                    <a:lstStyle/>
                    <a:p>
                      <a:r>
                        <a:rPr sz="940" b="1">
                          <a:solidFill>
                            <a:srgbClr val="0F172A"/>
                          </a:solidFill>
                          <a:latin typeface="DM Sans"/>
                        </a:rPr>
                        <a:t>SDA · SCL</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GPIO6 · GPIO7</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I²C to ADS1115 (0x48)</a:t>
                      </a:r>
                    </a:p>
                  </a:txBody>
                  <a:tcPr marL="36576" marR="36576" marT="22860" marB="18288" anchor="ctr">
                    <a:noFill/>
                    <a:lnL w="7620">
                      <a:noFill/>
                    </a:lnL>
                    <a:lnR w="7620">
                      <a:noFill/>
                    </a:lnR>
                    <a:lnT w="7620">
                      <a:noFill/>
                    </a:lnT>
                    <a:lnB w="7620">
                      <a:solidFill>
                        <a:srgbClr val="E2E8F0"/>
                      </a:solidFill>
                    </a:lnB>
                  </a:tcPr>
                </a:tc>
              </a:tr>
              <a:tr h="352044">
                <a:tc>
                  <a:txBody>
                    <a:bodyPr wrap="square"/>
                    <a:lstStyle/>
                    <a:p>
                      <a:r>
                        <a:rPr sz="940" b="1">
                          <a:solidFill>
                            <a:srgbClr val="0F172A"/>
                          </a:solidFill>
                          <a:latin typeface="DM Sans"/>
                        </a:rPr>
                        <a:t>N · 3V3</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ADS1115 A0 · A1</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node · rail (ratiometric)</a:t>
                      </a:r>
                    </a:p>
                  </a:txBody>
                  <a:tcPr marL="36576" marR="36576" marT="22860" marB="18288" anchor="ctr">
                    <a:noFill/>
                    <a:lnL w="7620">
                      <a:noFill/>
                    </a:lnL>
                    <a:lnR w="7620">
                      <a:noFill/>
                    </a:lnR>
                    <a:lnT w="7620">
                      <a:noFill/>
                    </a:lnT>
                    <a:lnB w="7620">
                      <a:solidFill>
                        <a:srgbClr val="E2E8F0"/>
                      </a:solidFill>
                    </a:lnB>
                  </a:tcPr>
                </a:tc>
              </a:tr>
              <a:tr h="352044">
                <a:tc>
                  <a:txBody>
                    <a:bodyPr wrap="square"/>
                    <a:lstStyle/>
                    <a:p>
                      <a:r>
                        <a:rPr sz="940" b="1">
                          <a:solidFill>
                            <a:srgbClr val="0F172A"/>
                          </a:solidFill>
                          <a:latin typeface="DM Sans"/>
                        </a:rPr>
                        <a:t>LED G · Y · R</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GPIO0 · 1 · 21</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OK · CHANGE · CHECK/FAULT</a:t>
                      </a:r>
                    </a:p>
                  </a:txBody>
                  <a:tcPr marL="36576" marR="36576" marT="22860" marB="18288" anchor="ctr">
                    <a:noFill/>
                    <a:lnL w="7620">
                      <a:noFill/>
                    </a:lnL>
                    <a:lnR w="7620">
                      <a:noFill/>
                    </a:lnR>
                    <a:lnT w="7620">
                      <a:noFill/>
                    </a:lnT>
                    <a:lnB w="7620">
                      <a:solidFill>
                        <a:srgbClr val="E2E8F0"/>
                      </a:solidFill>
                    </a:lnB>
                  </a:tcPr>
                </a:tc>
              </a:tr>
              <a:tr h="352044">
                <a:tc>
                  <a:txBody>
                    <a:bodyPr wrap="square"/>
                    <a:lstStyle/>
                    <a:p>
                      <a:r>
                        <a:rPr sz="940" b="1">
                          <a:solidFill>
                            <a:srgbClr val="0F172A"/>
                          </a:solidFill>
                          <a:latin typeface="DM Sans"/>
                        </a:rPr>
                        <a:t>Strip pads</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J4.1 – J4.4</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S_C · S_A · COM1 · COM2</a:t>
                      </a:r>
                    </a:p>
                  </a:txBody>
                  <a:tcPr marL="36576" marR="36576" marT="22860" marB="18288" anchor="ctr">
                    <a:noFill/>
                    <a:lnL w="7620">
                      <a:noFill/>
                    </a:lnL>
                    <a:lnR w="7620">
                      <a:noFill/>
                    </a:lnR>
                    <a:lnT w="7620">
                      <a:noFill/>
                    </a:lnT>
                    <a:lnB w="7620">
                      <a:solidFill>
                        <a:srgbClr val="E2E8F0"/>
                      </a:solidFill>
                    </a:lnB>
                  </a:tcPr>
                </a:tc>
              </a:tr>
              <a:tr h="352044">
                <a:tc>
                  <a:txBody>
                    <a:bodyPr wrap="square"/>
                    <a:lstStyle/>
                    <a:p>
                      <a:r>
                        <a:rPr sz="940" b="1">
                          <a:solidFill>
                            <a:srgbClr val="0F172A"/>
                          </a:solidFill>
                          <a:latin typeface="DM Sans"/>
                        </a:rPr>
                        <a:t>Power</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USB-C → 3V3</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LDO on the SuperMini</a:t>
                      </a:r>
                    </a:p>
                  </a:txBody>
                  <a:tcPr marL="36576" marR="36576" marT="22860" marB="18288" anchor="ctr">
                    <a:noFill/>
                    <a:lnL w="7620">
                      <a:noFill/>
                    </a:lnL>
                    <a:lnR w="7620">
                      <a:noFill/>
                    </a:lnR>
                    <a:lnT w="7620">
                      <a:noFill/>
                    </a:lnT>
                    <a:lnB w="7620">
                      <a:solidFill>
                        <a:srgbClr val="E2E8F0"/>
                      </a:solidFill>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pic>
        <p:nvPicPr>
          <p:cNvPr descr="image.png" id="362" name="Google Shape;362;p24"/>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363" name="Google Shape;363;p24"/>
          <p:cNvPicPr preferRelativeResize="0"/>
          <p:nvPr/>
        </p:nvPicPr>
        <p:blipFill rotWithShape="1">
          <a:blip r:embed="rId4">
            <a:alphaModFix/>
          </a:blip>
          <a:srcRect b="0" l="0" r="0" t="0"/>
          <a:stretch/>
        </p:blipFill>
        <p:spPr>
          <a:xfrm>
            <a:off x="533400" y="5665754"/>
            <a:ext cx="11125200" cy="363140"/>
          </a:xfrm>
          <a:prstGeom prst="rect">
            <a:avLst/>
          </a:prstGeom>
          <a:noFill/>
          <a:ln>
            <a:noFill/>
          </a:ln>
        </p:spPr>
      </p:pic>
      <p:pic>
        <p:nvPicPr>
          <p:cNvPr descr="image.png" id="364" name="Google Shape;364;p24"/>
          <p:cNvPicPr preferRelativeResize="0"/>
          <p:nvPr/>
        </p:nvPicPr>
        <p:blipFill rotWithShape="1">
          <a:blip r:embed="rId5">
            <a:alphaModFix/>
          </a:blip>
          <a:srcRect b="0" l="0" r="0" t="0"/>
          <a:stretch/>
        </p:blipFill>
        <p:spPr>
          <a:xfrm>
            <a:off x="6229350" y="956223"/>
            <a:ext cx="5429250" cy="4526280"/>
          </a:xfrm>
          <a:prstGeom prst="rect">
            <a:avLst/>
          </a:prstGeom>
          <a:noFill/>
          <a:ln>
            <a:noFill/>
          </a:ln>
        </p:spPr>
      </p:pic>
      <p:pic>
        <p:nvPicPr>
          <p:cNvPr descr="image.png" id="365" name="Google Shape;365;p24"/>
          <p:cNvPicPr preferRelativeResize="0"/>
          <p:nvPr/>
        </p:nvPicPr>
        <p:blipFill rotWithShape="1">
          <a:blip r:embed="rId6">
            <a:alphaModFix/>
          </a:blip>
          <a:srcRect b="0" l="0" r="0" t="0"/>
          <a:stretch/>
        </p:blipFill>
        <p:spPr>
          <a:xfrm>
            <a:off x="530352" y="960120"/>
            <a:ext cx="5431536" cy="3895344"/>
          </a:xfrm>
          <a:prstGeom prst="rect">
            <a:avLst/>
          </a:prstGeom>
          <a:noFill/>
          <a:ln>
            <a:noFill/>
          </a:ln>
        </p:spPr>
      </p:pic>
      <p:sp>
        <p:nvSpPr>
          <p:cNvPr id="366" name="Google Shape;366;p24"/>
          <p:cNvSpPr txBox="1"/>
          <p:nvPr/>
        </p:nvSpPr>
        <p:spPr>
          <a:xfrm>
            <a:off x="533400" y="438150"/>
            <a:ext cx="8595360" cy="311700"/>
          </a:xfrm>
          <a:prstGeom prst="rect">
            <a:avLst/>
          </a:prstGeom>
          <a:noFill/>
          <a:ln>
            <a:noFill/>
          </a:ln>
        </p:spPr>
        <p:txBody>
          <a:bodyPr anchorCtr="0" anchor="ctr" bIns="0" lIns="0" spcFirstLastPara="1" rIns="0" wrap="square" tIns="0">
            <a:spAutoFit/>
          </a:bodyPr>
          <a:lstStyle/>
          <a:p>
            <a:pPr indent="0" lvl="0" marL="0" marR="0" rtl="0" algn="l">
              <a:lnSpc>
                <a:spcPct val="119950"/>
              </a:lnSpc>
              <a:spcBef>
                <a:spcPts val="0"/>
              </a:spcBef>
              <a:spcAft>
                <a:spcPts val="0"/>
              </a:spcAft>
              <a:buNone/>
            </a:pPr>
            <a:r>
              <a:rPr sz="2025" b="0">
                <a:solidFill>
                  <a:srgbClr val="0F172A"/>
                </a:solidFill>
                <a:latin typeface="Poppins SemiBold"/>
              </a:rPr>
              <a:t>Maker Journey</a:t>
            </a:r>
            <a:endParaRPr/>
          </a:p>
        </p:txBody>
      </p:sp>
      <p:sp>
        <p:nvSpPr>
          <p:cNvPr id="368" name="Google Shape;368;p24"/>
          <p:cNvSpPr txBox="1"/>
          <p:nvPr/>
        </p:nvSpPr>
        <p:spPr>
          <a:xfrm>
            <a:off x="723900" y="5761004"/>
            <a:ext cx="10698480" cy="329184"/>
          </a:xfrm>
          <a:prstGeom prst="rect">
            <a:avLst/>
          </a:prstGeom>
          <a:noFill/>
          <a:ln>
            <a:noFill/>
          </a:ln>
        </p:spPr>
        <p:txBody>
          <a:bodyPr anchorCtr="0" anchor="t" bIns="0" lIns="0" spcFirstLastPara="1" rIns="0" wrap="square" tIns="0">
            <a:spAutoFit/>
          </a:bodyPr>
          <a:lstStyle/>
          <a:p>
            <a:pPr indent="0" lvl="0" marL="0" marR="0" rtl="0" algn="l">
              <a:lnSpc>
                <a:spcPct val="145037"/>
              </a:lnSpc>
              <a:spcBef>
                <a:spcPts val="0"/>
              </a:spcBef>
              <a:spcAft>
                <a:spcPts val="0"/>
              </a:spcAft>
              <a:buNone/>
            </a:pPr>
            <a:r>
              <a:rPr sz="960" b="1">
                <a:solidFill>
                  <a:srgbClr val="0F172A"/>
                </a:solidFill>
                <a:latin typeface="DM Sans"/>
              </a:rPr>
              <a:t>Raw Repository Linkage: </a:t>
            </a:r>
            <a:r>
              <a:rPr sz="960" b="0">
                <a:solidFill>
                  <a:srgbClr val="334155"/>
                </a:solidFill>
                <a:latin typeface="DM Sans"/>
              </a:rPr>
              <a:t>[team to insert the Drive link before upload]: all native files and a dated work history.</a:t>
            </a:r>
            <a:endParaRPr/>
          </a:p>
        </p:txBody>
      </p:sp>
      <p:sp>
        <p:nvSpPr>
          <p:cNvPr id="369" name="Google Shape;369;p24"/>
          <p:cNvSpPr txBox="1"/>
          <p:nvPr/>
        </p:nvSpPr>
        <p:spPr>
          <a:xfrm>
            <a:off x="533400" y="4901184"/>
            <a:ext cx="5429250" cy="201168"/>
          </a:xfrm>
          <a:prstGeom prst="rect">
            <a:avLst/>
          </a:prstGeom>
          <a:noFill/>
          <a:ln>
            <a:noFill/>
          </a:ln>
        </p:spPr>
        <p:txBody>
          <a:bodyPr anchorCtr="0" anchor="t" bIns="0" lIns="0" spcFirstLastPara="1" rIns="0" wrap="square" tIns="0">
            <a:spAutoFit/>
          </a:bodyPr>
          <a:lstStyle/>
          <a:p>
            <a:pPr indent="0" lvl="0" marL="0" marR="0" rtl="0" algn="r">
              <a:lnSpc>
                <a:spcPct val="145011"/>
              </a:lnSpc>
              <a:spcBef>
                <a:spcPts val="0"/>
              </a:spcBef>
              <a:spcAft>
                <a:spcPts val="0"/>
              </a:spcAft>
              <a:buNone/>
            </a:pPr>
            <a:r>
              <a:rPr sz="760" b="0">
                <a:solidFill>
                  <a:srgbClr val="64748B"/>
                </a:solidFill>
                <a:latin typeface="DM Sans"/>
              </a:rPr>
              <a:t>Figure: our own files and tool output (checks re-run 19 Oct 2026).</a:t>
            </a:r>
            <a:endParaRPr/>
          </a:p>
        </p:txBody>
      </p:sp>
      <p:pic>
        <p:nvPicPr>
          <p:cNvPr descr="image.png" id="371" name="Google Shape;371;p24"/>
          <p:cNvPicPr preferRelativeResize="0"/>
          <p:nvPr/>
        </p:nvPicPr>
        <p:blipFill rotWithShape="1">
          <a:blip r:embed="rId9">
            <a:alphaModFix/>
          </a:blip>
          <a:srcRect b="0" l="0" r="0" t="0"/>
          <a:stretch/>
        </p:blipFill>
        <p:spPr>
          <a:xfrm>
            <a:off x="6448425" y="1175295"/>
            <a:ext cx="173384" cy="152400"/>
          </a:xfrm>
          <a:prstGeom prst="rect">
            <a:avLst/>
          </a:prstGeom>
          <a:noFill/>
          <a:ln>
            <a:noFill/>
          </a:ln>
        </p:spPr>
      </p:pic>
      <p:sp>
        <p:nvSpPr>
          <p:cNvPr id="372" name="Google Shape;372;p24"/>
          <p:cNvSpPr txBox="1"/>
          <p:nvPr/>
        </p:nvSpPr>
        <p:spPr>
          <a:xfrm>
            <a:off x="6717059" y="1156245"/>
            <a:ext cx="484632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Our Team at Work</a:t>
            </a:r>
            <a:endParaRPr/>
          </a:p>
        </p:txBody>
      </p:sp>
      <p:pic>
        <p:nvPicPr>
          <p:cNvPr id="381" name="Google Shape;381;p24" title="MBF_Logo_2020.png"/>
          <p:cNvPicPr preferRelativeResize="0"/>
          <p:nvPr/>
        </p:nvPicPr>
        <p:blipFill>
          <a:blip r:embed="rId10">
            <a:alphaModFix/>
          </a:blip>
          <a:stretch>
            <a:fillRect/>
          </a:stretch>
        </p:blipFill>
        <p:spPr>
          <a:xfrm>
            <a:off x="11095194" y="6280800"/>
            <a:ext cx="1096806" cy="577200"/>
          </a:xfrm>
          <a:prstGeom prst="rect">
            <a:avLst/>
          </a:prstGeom>
          <a:noFill/>
          <a:ln>
            <a:noFill/>
          </a:ln>
        </p:spPr>
      </p:pic>
      <p:pic>
        <p:nvPicPr>
          <p:cNvPr id="382" name="Google Shape;382;p24" title="VK colored transparent logo.png"/>
          <p:cNvPicPr preferRelativeResize="0"/>
          <p:nvPr/>
        </p:nvPicPr>
        <p:blipFill rotWithShape="1">
          <a:blip r:embed="rId11">
            <a:alphaModFix/>
          </a:blip>
          <a:srcRect b="44466" l="14673" r="15820" t="33074"/>
          <a:stretch/>
        </p:blipFill>
        <p:spPr>
          <a:xfrm>
            <a:off x="0" y="6280800"/>
            <a:ext cx="1786280" cy="577200"/>
          </a:xfrm>
          <a:prstGeom prst="rect">
            <a:avLst/>
          </a:prstGeom>
          <a:noFill/>
          <a:ln>
            <a:noFill/>
          </a:ln>
        </p:spPr>
      </p:pic>
      <p:sp>
        <p:nvSpPr>
          <p:cNvPr id="383" name="Rounded Rectangle 382"/>
          <p:cNvSpPr/>
          <p:nvPr/>
        </p:nvSpPr>
        <p:spPr>
          <a:xfrm>
            <a:off x="8648395" y="457200"/>
            <a:ext cx="3010204" cy="246888"/>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047857"/>
                </a:solidFill>
                <a:latin typeface="DM Sans"/>
              </a:rPr>
              <a:t>REAL FILES · RE-CHECKABLE · NO STAGED PHOTOS</a:t>
            </a:r>
          </a:p>
        </p:txBody>
      </p:sp>
      <p:pic>
        <p:nvPicPr>
          <p:cNvPr id="384" name="Picture 383" descr="fig_maker.png"/>
          <p:cNvPicPr>
            <a:picLocks noChangeAspect="1"/>
          </p:cNvPicPr>
          <p:nvPr/>
        </p:nvPicPr>
        <p:blipFill>
          <a:blip r:embed="rId12"/>
          <a:stretch>
            <a:fillRect/>
          </a:stretch>
        </p:blipFill>
        <p:spPr>
          <a:xfrm>
            <a:off x="539496" y="970048"/>
            <a:ext cx="5413248" cy="3875487"/>
          </a:xfrm>
          <a:prstGeom prst="rect">
            <a:avLst/>
          </a:prstGeom>
        </p:spPr>
      </p:pic>
      <p:pic>
        <p:nvPicPr>
          <p:cNvPr id="385" name="PHOTO team - PLACEHOLDER (right-click &gt; Change Picture)" descr="placeholder_team_photo.png"/>
          <p:cNvPicPr>
            <a:picLocks noChangeAspect="1"/>
          </p:cNvPicPr>
          <p:nvPr/>
        </p:nvPicPr>
        <p:blipFill>
          <a:blip r:embed="rId13"/>
          <a:srcRect t="763" b="763"/>
          <a:stretch>
            <a:fillRect/>
          </a:stretch>
        </p:blipFill>
        <p:spPr>
          <a:xfrm>
            <a:off x="6464808" y="1481328"/>
            <a:ext cx="2395728" cy="1572768"/>
          </a:xfrm>
          <a:prstGeom prst="rect">
            <a:avLst/>
          </a:prstGeom>
          <a:ln w="9525">
            <a:solidFill>
              <a:srgbClr val="CBD5E1"/>
            </a:solidFill>
          </a:ln>
        </p:spPr>
      </p:pic>
      <p:pic>
        <p:nvPicPr>
          <p:cNvPr id="386" name="PHOTO lab1 - PLACEHOLDER (right-click &gt; Change Picture)" descr="placeholder_lab_photo.png"/>
          <p:cNvPicPr>
            <a:picLocks noChangeAspect="1"/>
          </p:cNvPicPr>
          <p:nvPr/>
        </p:nvPicPr>
        <p:blipFill>
          <a:blip r:embed="rId14"/>
          <a:srcRect t="763" b="763"/>
          <a:stretch>
            <a:fillRect/>
          </a:stretch>
        </p:blipFill>
        <p:spPr>
          <a:xfrm>
            <a:off x="9006840" y="1481328"/>
            <a:ext cx="2395728" cy="1572768"/>
          </a:xfrm>
          <a:prstGeom prst="rect">
            <a:avLst/>
          </a:prstGeom>
          <a:ln w="9525">
            <a:solidFill>
              <a:srgbClr val="CBD5E1"/>
            </a:solidFill>
          </a:ln>
        </p:spPr>
      </p:pic>
      <p:sp>
        <p:nvSpPr>
          <p:cNvPr id="387" name="TextBox 386"/>
          <p:cNvSpPr txBox="1"/>
          <p:nvPr/>
        </p:nvSpPr>
        <p:spPr>
          <a:xfrm>
            <a:off x="6464808" y="3090672"/>
            <a:ext cx="5029200" cy="457200"/>
          </a:xfrm>
          <a:prstGeom prst="rect">
            <a:avLst/>
          </a:prstGeom>
          <a:noFill/>
        </p:spPr>
        <p:txBody>
          <a:bodyPr wrap="square" lIns="18288" rIns="18288" tIns="9144" bIns="9144" anchor="t"/>
          <a:lstStyle/>
          <a:p>
            <a:pPr>
              <a:lnSpc>
                <a:spcPct val="108000"/>
              </a:lnSpc>
              <a:spcAft>
                <a:spcPts val="100"/>
              </a:spcAft>
            </a:pPr>
            <a:r>
              <a:rPr sz="900" b="1">
                <a:solidFill>
                  <a:srgbClr val="0F172A"/>
                </a:solidFill>
                <a:latin typeface="DM Sans"/>
              </a:rPr>
              <a:t>Soham Prabhakar Kadu</a:t>
            </a:r>
            <a:r>
              <a:rPr sz="900" b="0">
                <a:solidFill>
                  <a:srgbClr val="64748B"/>
                </a:solidFill>
                <a:latin typeface="DM Sans"/>
              </a:rPr>
              <a:t> · role: </a:t>
            </a:r>
            <a:r>
              <a:rPr sz="900" b="1">
                <a:solidFill>
                  <a:srgbClr val="B45309"/>
                </a:solidFill>
                <a:latin typeface="DM Sans"/>
              </a:rPr>
              <a:t>[team to add]</a:t>
            </a:r>
          </a:p>
          <a:p>
            <a:pPr>
              <a:lnSpc>
                <a:spcPct val="108000"/>
              </a:lnSpc>
              <a:spcAft>
                <a:spcPts val="100"/>
              </a:spcAft>
            </a:pPr>
            <a:r>
              <a:rPr sz="900" b="1">
                <a:solidFill>
                  <a:srgbClr val="0F172A"/>
                </a:solidFill>
                <a:latin typeface="DM Sans"/>
              </a:rPr>
              <a:t>Bhakti Ajay Kadam</a:t>
            </a:r>
            <a:r>
              <a:rPr sz="900" b="0">
                <a:solidFill>
                  <a:srgbClr val="64748B"/>
                </a:solidFill>
                <a:latin typeface="DM Sans"/>
              </a:rPr>
              <a:t> · role: </a:t>
            </a:r>
            <a:r>
              <a:rPr sz="900" b="1">
                <a:solidFill>
                  <a:srgbClr val="B45309"/>
                </a:solidFill>
                <a:latin typeface="DM Sans"/>
              </a:rPr>
              <a:t>[team to add]</a:t>
            </a:r>
          </a:p>
        </p:txBody>
      </p:sp>
      <p:sp>
        <p:nvSpPr>
          <p:cNvPr id="388" name="TextBox 387"/>
          <p:cNvSpPr txBox="1"/>
          <p:nvPr/>
        </p:nvSpPr>
        <p:spPr>
          <a:xfrm>
            <a:off x="6464808" y="3639312"/>
            <a:ext cx="5029200" cy="2011680"/>
          </a:xfrm>
          <a:prstGeom prst="rect">
            <a:avLst/>
          </a:prstGeom>
          <a:noFill/>
        </p:spPr>
        <p:txBody>
          <a:bodyPr wrap="square" lIns="18288" rIns="18288" tIns="9144" bIns="9144" anchor="t"/>
          <a:lstStyle/>
          <a:p>
            <a:pPr>
              <a:lnSpc>
                <a:spcPct val="108000"/>
              </a:lnSpc>
              <a:spcAft>
                <a:spcPts val="400"/>
              </a:spcAft>
            </a:pPr>
            <a:r>
              <a:rPr sz="1000" b="0">
                <a:solidFill>
                  <a:srgbClr val="059669"/>
                </a:solidFill>
                <a:latin typeface="DM Sans"/>
              </a:rPr>
              <a:t>▪  </a:t>
            </a:r>
            <a:r>
              <a:rPr sz="1000" b="1">
                <a:solidFill>
                  <a:srgbClr val="0F172A"/>
                </a:solidFill>
                <a:latin typeface="DM Sans"/>
              </a:rPr>
              <a:t>Real files:  </a:t>
            </a:r>
            <a:r>
              <a:rPr sz="1000" b="0">
                <a:solidFill>
                  <a:srgbClr val="334155"/>
                </a:solidFill>
                <a:latin typeface="DM Sans"/>
              </a:rPr>
              <a:t>.SLDPRT .SLDASM .SLDDRW .STEP .kicad_sch .ino .dxf, dated in git since 14 Oct.</a:t>
            </a:r>
          </a:p>
          <a:p>
            <a:pPr>
              <a:lnSpc>
                <a:spcPct val="108000"/>
              </a:lnSpc>
              <a:spcAft>
                <a:spcPts val="400"/>
              </a:spcAft>
            </a:pPr>
            <a:r>
              <a:rPr sz="1000" b="0">
                <a:solidFill>
                  <a:srgbClr val="059669"/>
                </a:solidFill>
                <a:latin typeface="DM Sans"/>
              </a:rPr>
              <a:t>▪  </a:t>
            </a:r>
            <a:r>
              <a:rPr sz="1000" b="1">
                <a:solidFill>
                  <a:srgbClr val="0F172A"/>
                </a:solidFill>
                <a:latin typeface="DM Sans"/>
              </a:rPr>
              <a:t>Re-checkable:  </a:t>
            </a:r>
            <a:r>
              <a:rPr sz="1000" b="0">
                <a:solidFill>
                  <a:srgbClr val="334155"/>
                </a:solidFill>
                <a:latin typeface="DM Sans"/>
              </a:rPr>
              <a:t>one command re-runs each check shown on the left.</a:t>
            </a:r>
          </a:p>
          <a:p>
            <a:pPr>
              <a:lnSpc>
                <a:spcPct val="108000"/>
              </a:lnSpc>
              <a:spcAft>
                <a:spcPts val="400"/>
              </a:spcAft>
            </a:pPr>
            <a:r>
              <a:rPr sz="1000" b="0">
                <a:solidFill>
                  <a:srgbClr val="059669"/>
                </a:solidFill>
                <a:latin typeface="DM Sans"/>
              </a:rPr>
              <a:t>▪  </a:t>
            </a:r>
            <a:r>
              <a:rPr sz="1000" b="1">
                <a:solidFill>
                  <a:srgbClr val="0F172A"/>
                </a:solidFill>
                <a:latin typeface="DM Sans"/>
              </a:rPr>
              <a:t>How we work:  </a:t>
            </a:r>
            <a:r>
              <a:rPr sz="1000" b="0">
                <a:solidFill>
                  <a:srgbClr val="334155"/>
                </a:solidFill>
                <a:latin typeface="DM Sans"/>
              </a:rPr>
              <a:t>scripts written with AI assistance (Claude), directed by us, build the CAD, schematic and firmware; the physical build and tests are done by us, starting with E2.</a:t>
            </a:r>
          </a:p>
          <a:p>
            <a:pPr>
              <a:lnSpc>
                <a:spcPct val="108000"/>
              </a:lnSpc>
              <a:spcAft>
                <a:spcPts val="400"/>
              </a:spcAft>
            </a:pPr>
            <a:r>
              <a:rPr sz="1000" b="0">
                <a:solidFill>
                  <a:srgbClr val="059669"/>
                </a:solidFill>
                <a:latin typeface="DM Sans"/>
              </a:rPr>
              <a:t>▪  </a:t>
            </a:r>
            <a:r>
              <a:rPr sz="1000" b="1">
                <a:solidFill>
                  <a:srgbClr val="0F172A"/>
                </a:solidFill>
                <a:latin typeface="DM Sans"/>
              </a:rPr>
              <a:t>Photos:  </a:t>
            </a:r>
            <a:r>
              <a:rPr sz="1000" b="0">
                <a:solidFill>
                  <a:srgbClr val="334155"/>
                </a:solidFill>
                <a:latin typeface="DM Sans"/>
              </a:rPr>
              <a:t>never staged or generated.</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6" name="Shape 416"/>
        <p:cNvGrpSpPr/>
        <p:nvPr/>
      </p:nvGrpSpPr>
      <p:grpSpPr>
        <a:xfrm>
          <a:off x="0" y="0"/>
          <a:ext cx="0" cy="0"/>
          <a:chOff x="0" y="0"/>
          <a:chExt cx="0" cy="0"/>
        </a:xfrm>
      </p:grpSpPr>
      <p:pic>
        <p:nvPicPr>
          <p:cNvPr descr="image.png" id="417" name="Google Shape;417;p27"/>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418" name="Google Shape;418;p27"/>
          <p:cNvPicPr preferRelativeResize="0"/>
          <p:nvPr/>
        </p:nvPicPr>
        <p:blipFill rotWithShape="1">
          <a:blip r:embed="rId4">
            <a:alphaModFix/>
          </a:blip>
          <a:srcRect b="0" l="0" r="0" t="0"/>
          <a:stretch/>
        </p:blipFill>
        <p:spPr>
          <a:xfrm>
            <a:off x="533400" y="956220"/>
            <a:ext cx="11125200" cy="2212848"/>
          </a:xfrm>
          <a:prstGeom prst="rect">
            <a:avLst/>
          </a:prstGeom>
          <a:noFill/>
          <a:ln>
            <a:noFill/>
          </a:ln>
        </p:spPr>
      </p:pic>
      <p:pic>
        <p:nvPicPr>
          <p:cNvPr descr="image.png" id="419" name="Google Shape;419;p27"/>
          <p:cNvPicPr preferRelativeResize="0"/>
          <p:nvPr/>
        </p:nvPicPr>
        <p:blipFill rotWithShape="1">
          <a:blip r:embed="rId5">
            <a:alphaModFix/>
          </a:blip>
          <a:srcRect b="0" l="0" r="0" t="0"/>
          <a:stretch/>
        </p:blipFill>
        <p:spPr>
          <a:xfrm>
            <a:off x="533400" y="3310128"/>
            <a:ext cx="5429250" cy="2587752"/>
          </a:xfrm>
          <a:prstGeom prst="rect">
            <a:avLst/>
          </a:prstGeom>
          <a:noFill/>
          <a:ln>
            <a:noFill/>
          </a:ln>
        </p:spPr>
      </p:pic>
      <p:pic>
        <p:nvPicPr>
          <p:cNvPr descr="image.png" id="420" name="Google Shape;420;p27"/>
          <p:cNvPicPr preferRelativeResize="0"/>
          <p:nvPr/>
        </p:nvPicPr>
        <p:blipFill rotWithShape="1">
          <a:blip r:embed="rId6">
            <a:alphaModFix/>
          </a:blip>
          <a:srcRect b="0" l="0" r="0" t="0"/>
          <a:stretch/>
        </p:blipFill>
        <p:spPr>
          <a:xfrm>
            <a:off x="6229350" y="3310128"/>
            <a:ext cx="5429250" cy="2587752"/>
          </a:xfrm>
          <a:prstGeom prst="rect">
            <a:avLst/>
          </a:prstGeom>
          <a:noFill/>
          <a:ln>
            <a:noFill/>
          </a:ln>
        </p:spPr>
      </p:pic>
      <p:sp>
        <p:nvSpPr>
          <p:cNvPr id="421" name="Google Shape;421;p27"/>
          <p:cNvSpPr txBox="1"/>
          <p:nvPr/>
        </p:nvSpPr>
        <p:spPr>
          <a:xfrm>
            <a:off x="533400" y="438150"/>
            <a:ext cx="8595360" cy="308520"/>
          </a:xfrm>
          <a:prstGeom prst="rect">
            <a:avLst/>
          </a:prstGeom>
          <a:noFill/>
          <a:ln>
            <a:noFill/>
          </a:ln>
        </p:spPr>
        <p:txBody>
          <a:bodyPr anchorCtr="0" anchor="ctr" bIns="0" lIns="0" spcFirstLastPara="1" rIns="0" wrap="square" tIns="0">
            <a:spAutoFit/>
          </a:bodyPr>
          <a:lstStyle/>
          <a:p>
            <a:pPr indent="0" lvl="0" marL="0" marR="0" rtl="0" algn="l">
              <a:lnSpc>
                <a:spcPct val="119950"/>
              </a:lnSpc>
              <a:spcBef>
                <a:spcPts val="0"/>
              </a:spcBef>
              <a:spcAft>
                <a:spcPts val="0"/>
              </a:spcAft>
              <a:buNone/>
            </a:pPr>
            <a:r>
              <a:rPr sz="2025" b="0">
                <a:solidFill>
                  <a:srgbClr val="0F172A"/>
                </a:solidFill>
                <a:latin typeface="Poppins SemiBold"/>
              </a:rPr>
              <a:t>Safety &amp; Hazard Mitigation</a:t>
            </a:r>
            <a:endParaRPr/>
          </a:p>
        </p:txBody>
      </p:sp>
      <p:pic>
        <p:nvPicPr>
          <p:cNvPr descr="image.png" id="424" name="Google Shape;424;p27"/>
          <p:cNvPicPr preferRelativeResize="0"/>
          <p:nvPr/>
        </p:nvPicPr>
        <p:blipFill rotWithShape="1">
          <a:blip r:embed="rId8">
            <a:alphaModFix/>
          </a:blip>
          <a:srcRect b="0" l="0" r="0" t="0"/>
          <a:stretch/>
        </p:blipFill>
        <p:spPr>
          <a:xfrm>
            <a:off x="752475" y="1175295"/>
            <a:ext cx="154334" cy="152400"/>
          </a:xfrm>
          <a:prstGeom prst="rect">
            <a:avLst/>
          </a:prstGeom>
          <a:noFill/>
          <a:ln>
            <a:noFill/>
          </a:ln>
        </p:spPr>
      </p:pic>
      <p:sp>
        <p:nvSpPr>
          <p:cNvPr id="425" name="Google Shape;425;p27"/>
          <p:cNvSpPr txBox="1"/>
          <p:nvPr/>
        </p:nvSpPr>
        <p:spPr>
          <a:xfrm>
            <a:off x="1002059" y="1156245"/>
            <a:ext cx="694944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Design FMEA: top 5 of 15 failure modes (ratings estimated before tests)</a:t>
            </a:r>
            <a:endParaRPr/>
          </a:p>
        </p:txBody>
      </p:sp>
      <p:pic>
        <p:nvPicPr>
          <p:cNvPr descr="image.png" id="435" name="Google Shape;435;p27"/>
          <p:cNvPicPr preferRelativeResize="0"/>
          <p:nvPr/>
        </p:nvPicPr>
        <p:blipFill rotWithShape="1">
          <a:blip r:embed="rId9">
            <a:alphaModFix/>
          </a:blip>
          <a:srcRect b="0" l="0" r="0" t="0"/>
          <a:stretch/>
        </p:blipFill>
        <p:spPr>
          <a:xfrm>
            <a:off x="752475" y="3529584"/>
            <a:ext cx="154334" cy="152400"/>
          </a:xfrm>
          <a:prstGeom prst="rect">
            <a:avLst/>
          </a:prstGeom>
          <a:noFill/>
          <a:ln>
            <a:noFill/>
          </a:ln>
        </p:spPr>
      </p:pic>
      <p:sp>
        <p:nvSpPr>
          <p:cNvPr id="436" name="Google Shape;436;p27"/>
          <p:cNvSpPr txBox="1"/>
          <p:nvPr/>
        </p:nvSpPr>
        <p:spPr>
          <a:xfrm>
            <a:off x="1002059" y="3502152"/>
            <a:ext cx="484632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Fail-safes</a:t>
            </a:r>
            <a:endParaRPr/>
          </a:p>
        </p:txBody>
      </p:sp>
      <p:pic>
        <p:nvPicPr>
          <p:cNvPr descr="image.png" id="439" name="Google Shape;439;p27"/>
          <p:cNvPicPr preferRelativeResize="0"/>
          <p:nvPr/>
        </p:nvPicPr>
        <p:blipFill rotWithShape="1">
          <a:blip r:embed="rId10">
            <a:alphaModFix/>
          </a:blip>
          <a:srcRect b="0" l="0" r="0" t="0"/>
          <a:stretch/>
        </p:blipFill>
        <p:spPr>
          <a:xfrm>
            <a:off x="6448425" y="3529584"/>
            <a:ext cx="135284" cy="152400"/>
          </a:xfrm>
          <a:prstGeom prst="rect">
            <a:avLst/>
          </a:prstGeom>
          <a:noFill/>
          <a:ln>
            <a:noFill/>
          </a:ln>
        </p:spPr>
      </p:pic>
      <p:sp>
        <p:nvSpPr>
          <p:cNvPr id="440" name="Google Shape;440;p27"/>
          <p:cNvSpPr txBox="1"/>
          <p:nvPr/>
        </p:nvSpPr>
        <p:spPr>
          <a:xfrm>
            <a:off x="6678959" y="3502152"/>
            <a:ext cx="484632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Standards (considered, not claimed)</a:t>
            </a:r>
            <a:endParaRPr/>
          </a:p>
        </p:txBody>
      </p:sp>
      <p:pic>
        <p:nvPicPr>
          <p:cNvPr id="447" name="Google Shape;447;p27" title="MBF_Logo_2020.png"/>
          <p:cNvPicPr preferRelativeResize="0"/>
          <p:nvPr/>
        </p:nvPicPr>
        <p:blipFill>
          <a:blip r:embed="rId11">
            <a:alphaModFix/>
          </a:blip>
          <a:stretch>
            <a:fillRect/>
          </a:stretch>
        </p:blipFill>
        <p:spPr>
          <a:xfrm>
            <a:off x="11095194" y="6280800"/>
            <a:ext cx="1096806" cy="577200"/>
          </a:xfrm>
          <a:prstGeom prst="rect">
            <a:avLst/>
          </a:prstGeom>
          <a:noFill/>
          <a:ln>
            <a:noFill/>
          </a:ln>
        </p:spPr>
      </p:pic>
      <p:pic>
        <p:nvPicPr>
          <p:cNvPr id="448" name="Google Shape;448;p27" title="VK colored transparent logo.png"/>
          <p:cNvPicPr preferRelativeResize="0"/>
          <p:nvPr/>
        </p:nvPicPr>
        <p:blipFill rotWithShape="1">
          <a:blip r:embed="rId12">
            <a:alphaModFix/>
          </a:blip>
          <a:srcRect b="44466" l="14673" r="15820" t="33074"/>
          <a:stretch/>
        </p:blipFill>
        <p:spPr>
          <a:xfrm>
            <a:off x="0" y="6280800"/>
            <a:ext cx="1786280" cy="577200"/>
          </a:xfrm>
          <a:prstGeom prst="rect">
            <a:avLst/>
          </a:prstGeom>
          <a:noFill/>
          <a:ln>
            <a:noFill/>
          </a:ln>
        </p:spPr>
      </p:pic>
      <p:sp>
        <p:nvSpPr>
          <p:cNvPr id="449" name="Rounded Rectangle 448"/>
          <p:cNvSpPr/>
          <p:nvPr/>
        </p:nvSpPr>
        <p:spPr>
          <a:xfrm>
            <a:off x="9456724" y="457200"/>
            <a:ext cx="2201875" cy="246888"/>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B45309"/>
                </a:solidFill>
                <a:latin typeface="DM Sans"/>
              </a:rPr>
              <a:t>RISKS ESTIMATED · TESTS PLANNED</a:t>
            </a:r>
          </a:p>
        </p:txBody>
      </p:sp>
      <p:graphicFrame>
        <p:nvGraphicFramePr>
          <p:cNvPr id="450" name="Table 449"/>
          <p:cNvGraphicFramePr>
            <a:graphicFrameLocks noGrp="1"/>
          </p:cNvGraphicFramePr>
          <p:nvPr/>
        </p:nvGraphicFramePr>
        <p:xfrm>
          <a:off x="749808" y="1463040"/>
          <a:ext cx="7452358" cy="1645920"/>
        </p:xfrm>
        <a:graphic>
          <a:graphicData uri="http://schemas.openxmlformats.org/drawingml/2006/table">
            <a:tbl>
              <a:tblPr firstRow="0" bandRow="0">
                <a:tableStyleId>{2D5ABB26-0587-4C30-8999-92F81FD0307C}</a:tableStyleId>
              </a:tblPr>
              <a:tblGrid>
                <a:gridCol w="2245916"/>
                <a:gridCol w="1990698"/>
                <a:gridCol w="561479"/>
                <a:gridCol w="2654265"/>
              </a:tblGrid>
              <a:tr h="274320">
                <a:tc>
                  <a:txBody>
                    <a:bodyPr wrap="square"/>
                    <a:lstStyle/>
                    <a:p>
                      <a:r>
                        <a:rPr sz="900" b="1">
                          <a:solidFill>
                            <a:srgbClr val="0F172A"/>
                          </a:solidFill>
                          <a:latin typeface="DM Sans"/>
                        </a:rPr>
                        <a:t>Failure mode</a:t>
                      </a:r>
                    </a:p>
                  </a:txBody>
                  <a:tcPr marL="36576" marR="36576" marT="22860" marB="18288" anchor="ctr">
                    <a:noFill/>
                    <a:lnL w="12700">
                      <a:noFill/>
                    </a:lnL>
                    <a:lnR w="12700">
                      <a:noFill/>
                    </a:lnR>
                    <a:lnT w="12700">
                      <a:noFill/>
                    </a:lnT>
                    <a:lnB w="12700">
                      <a:solidFill>
                        <a:srgbClr val="CBD5E1"/>
                      </a:solidFill>
                    </a:lnB>
                  </a:tcPr>
                </a:tc>
                <a:tc>
                  <a:txBody>
                    <a:bodyPr wrap="square"/>
                    <a:lstStyle/>
                    <a:p>
                      <a:r>
                        <a:rPr sz="900" b="1">
                          <a:solidFill>
                            <a:srgbClr val="0F172A"/>
                          </a:solidFill>
                          <a:latin typeface="DM Sans"/>
                        </a:rPr>
                        <a:t>Effect</a:t>
                      </a:r>
                    </a:p>
                  </a:txBody>
                  <a:tcPr marL="36576" marR="36576" marT="22860" marB="18288" anchor="ctr">
                    <a:noFill/>
                    <a:lnL w="12700">
                      <a:noFill/>
                    </a:lnL>
                    <a:lnR w="12700">
                      <a:noFill/>
                    </a:lnR>
                    <a:lnT w="12700">
                      <a:noFill/>
                    </a:lnT>
                    <a:lnB w="12700">
                      <a:solidFill>
                        <a:srgbClr val="CBD5E1"/>
                      </a:solidFill>
                    </a:lnB>
                  </a:tcPr>
                </a:tc>
                <a:tc>
                  <a:txBody>
                    <a:bodyPr wrap="square"/>
                    <a:lstStyle/>
                    <a:p>
                      <a:r>
                        <a:rPr sz="900" b="1">
                          <a:solidFill>
                            <a:srgbClr val="0F172A"/>
                          </a:solidFill>
                          <a:latin typeface="DM Sans"/>
                        </a:rPr>
                        <a:t>RPN</a:t>
                      </a:r>
                    </a:p>
                  </a:txBody>
                  <a:tcPr marL="36576" marR="36576" marT="22860" marB="18288" anchor="ctr">
                    <a:noFill/>
                    <a:lnL w="12700">
                      <a:noFill/>
                    </a:lnL>
                    <a:lnR w="12700">
                      <a:noFill/>
                    </a:lnR>
                    <a:lnT w="12700">
                      <a:noFill/>
                    </a:lnT>
                    <a:lnB w="12700">
                      <a:solidFill>
                        <a:srgbClr val="CBD5E1"/>
                      </a:solidFill>
                    </a:lnB>
                  </a:tcPr>
                </a:tc>
                <a:tc>
                  <a:txBody>
                    <a:bodyPr wrap="square"/>
                    <a:lstStyle/>
                    <a:p>
                      <a:r>
                        <a:rPr sz="900" b="1">
                          <a:solidFill>
                            <a:srgbClr val="0F172A"/>
                          </a:solidFill>
                          <a:latin typeface="DM Sans"/>
                        </a:rPr>
                        <a:t>Fix / test</a:t>
                      </a:r>
                    </a:p>
                  </a:txBody>
                  <a:tcPr marL="36576" marR="36576" marT="22860" marB="18288" anchor="ctr">
                    <a:noFill/>
                    <a:lnL w="12700">
                      <a:noFill/>
                    </a:lnL>
                    <a:lnR w="12700">
                      <a:noFill/>
                    </a:lnR>
                    <a:lnT w="12700">
                      <a:noFill/>
                    </a:lnT>
                    <a:lnB w="12700">
                      <a:solidFill>
                        <a:srgbClr val="CBD5E1"/>
                      </a:solidFill>
                    </a:lnB>
                  </a:tcPr>
                </a:tc>
              </a:tr>
              <a:tr h="274320">
                <a:tc>
                  <a:txBody>
                    <a:bodyPr wrap="square"/>
                    <a:lstStyle/>
                    <a:p>
                      <a:r>
                        <a:rPr sz="940" b="1">
                          <a:solidFill>
                            <a:srgbClr val="0F172A"/>
                          </a:solidFill>
                          <a:latin typeface="DM Sans"/>
                        </a:rPr>
                        <a:t>F04 cracked sense lead</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zone reads 'dry' for ever</a:t>
                      </a:r>
                    </a:p>
                  </a:txBody>
                  <a:tcPr marL="36576" marR="36576" marT="22860" marB="18288" anchor="ctr">
                    <a:noFill/>
                    <a:lnL w="7620">
                      <a:noFill/>
                    </a:lnL>
                    <a:lnR w="7620">
                      <a:noFill/>
                    </a:lnR>
                    <a:lnT w="7620">
                      <a:noFill/>
                    </a:lnT>
                    <a:lnB w="7620">
                      <a:solidFill>
                        <a:srgbClr val="E2E8F0"/>
                      </a:solidFill>
                    </a:lnB>
                  </a:tcPr>
                </a:tc>
                <a:tc>
                  <a:txBody>
                    <a:bodyPr wrap="square"/>
                    <a:lstStyle/>
                    <a:p>
                      <a:r>
                        <a:rPr sz="940" b="1">
                          <a:solidFill>
                            <a:srgbClr val="DC2626"/>
                          </a:solidFill>
                          <a:latin typeface="DM Sans"/>
                        </a:rPr>
                        <a:t>224</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v0.2 loops each lead · T-MECH-01</a:t>
                      </a:r>
                    </a:p>
                  </a:txBody>
                  <a:tcPr marL="36576" marR="36576" marT="22860" marB="18288" anchor="ctr">
                    <a:noFill/>
                    <a:lnL w="7620">
                      <a:noFill/>
                    </a:lnL>
                    <a:lnR w="7620">
                      <a:noFill/>
                    </a:lnR>
                    <a:lnT w="7620">
                      <a:noFill/>
                    </a:lnT>
                    <a:lnB w="7620">
                      <a:solidFill>
                        <a:srgbClr val="E2E8F0"/>
                      </a:solidFill>
                    </a:lnB>
                  </a:tcPr>
                </a:tc>
              </a:tr>
              <a:tr h="274320">
                <a:tc>
                  <a:txBody>
                    <a:bodyPr wrap="square"/>
                    <a:lstStyle/>
                    <a:p>
                      <a:r>
                        <a:rPr sz="940" b="1">
                          <a:solidFill>
                            <a:srgbClr val="0F172A"/>
                          </a:solidFill>
                          <a:latin typeface="DM Sans"/>
                        </a:rPr>
                        <a:t>F07 front path differs</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CHANGE late or never</a:t>
                      </a:r>
                    </a:p>
                  </a:txBody>
                  <a:tcPr marL="36576" marR="36576" marT="22860" marB="18288" anchor="ctr">
                    <a:noFill/>
                    <a:lnL w="7620">
                      <a:noFill/>
                    </a:lnL>
                    <a:lnR w="7620">
                      <a:noFill/>
                    </a:lnR>
                    <a:lnT w="7620">
                      <a:noFill/>
                    </a:lnT>
                    <a:lnB w="7620">
                      <a:solidFill>
                        <a:srgbClr val="E2E8F0"/>
                      </a:solidFill>
                    </a:lnB>
                  </a:tcPr>
                </a:tc>
                <a:tc>
                  <a:txBody>
                    <a:bodyPr wrap="square"/>
                    <a:lstStyle/>
                    <a:p>
                      <a:r>
                        <a:rPr sz="940" b="1">
                          <a:solidFill>
                            <a:srgbClr val="DC2626"/>
                          </a:solidFill>
                          <a:latin typeface="DM Sans"/>
                        </a:rPr>
                        <a:t>210</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E4 on real foam dressings</a:t>
                      </a:r>
                    </a:p>
                  </a:txBody>
                  <a:tcPr marL="36576" marR="36576" marT="22860" marB="18288" anchor="ctr">
                    <a:noFill/>
                    <a:lnL w="7620">
                      <a:noFill/>
                    </a:lnL>
                    <a:lnR w="7620">
                      <a:noFill/>
                    </a:lnR>
                    <a:lnT w="7620">
                      <a:noFill/>
                    </a:lnT>
                    <a:lnB w="7620">
                      <a:solidFill>
                        <a:srgbClr val="E2E8F0"/>
                      </a:solidFill>
                    </a:lnB>
                  </a:tcPr>
                </a:tc>
              </a:tr>
              <a:tr h="274320">
                <a:tc>
                  <a:txBody>
                    <a:bodyPr wrap="square"/>
                    <a:lstStyle/>
                    <a:p>
                      <a:r>
                        <a:rPr sz="940" b="1">
                          <a:solidFill>
                            <a:srgbClr val="0F172A"/>
                          </a:solidFill>
                          <a:latin typeface="DM Sans"/>
                        </a:rPr>
                        <a:t>F08 humid dry baseline</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false 'wet'</a:t>
                      </a:r>
                    </a:p>
                  </a:txBody>
                  <a:tcPr marL="36576" marR="36576" marT="22860" marB="18288" anchor="ctr">
                    <a:noFill/>
                    <a:lnL w="7620">
                      <a:noFill/>
                    </a:lnL>
                    <a:lnR w="7620">
                      <a:noFill/>
                    </a:lnR>
                    <a:lnT w="7620">
                      <a:noFill/>
                    </a:lnT>
                    <a:lnB w="7620">
                      <a:solidFill>
                        <a:srgbClr val="E2E8F0"/>
                      </a:solidFill>
                    </a:lnB>
                  </a:tcPr>
                </a:tc>
                <a:tc>
                  <a:txBody>
                    <a:bodyPr wrap="square"/>
                    <a:lstStyle/>
                    <a:p>
                      <a:r>
                        <a:rPr sz="940" b="1">
                          <a:solidFill>
                            <a:srgbClr val="DC2626"/>
                          </a:solidFill>
                          <a:latin typeface="DM Sans"/>
                        </a:rPr>
                        <a:t>150</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measure baselines (E4)</a:t>
                      </a:r>
                    </a:p>
                  </a:txBody>
                  <a:tcPr marL="36576" marR="36576" marT="22860" marB="18288" anchor="ctr">
                    <a:noFill/>
                    <a:lnL w="7620">
                      <a:noFill/>
                    </a:lnL>
                    <a:lnR w="7620">
                      <a:noFill/>
                    </a:lnR>
                    <a:lnT w="7620">
                      <a:noFill/>
                    </a:lnT>
                    <a:lnB w="7620">
                      <a:solidFill>
                        <a:srgbClr val="E2E8F0"/>
                      </a:solidFill>
                    </a:lnB>
                  </a:tcPr>
                </a:tc>
              </a:tr>
              <a:tr h="274320">
                <a:tc>
                  <a:txBody>
                    <a:bodyPr wrap="square"/>
                    <a:lstStyle/>
                    <a:p>
                      <a:r>
                        <a:rPr sz="940" b="1">
                          <a:solidFill>
                            <a:srgbClr val="0F172A"/>
                          </a:solidFill>
                          <a:latin typeface="DM Sans"/>
                        </a:rPr>
                        <a:t>F01 weak carbon layer</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zones always 'dry'</a:t>
                      </a:r>
                    </a:p>
                  </a:txBody>
                  <a:tcPr marL="36576" marR="36576" marT="22860" marB="18288" anchor="ctr">
                    <a:noFill/>
                    <a:lnL w="7620">
                      <a:noFill/>
                    </a:lnL>
                    <a:lnR w="7620">
                      <a:noFill/>
                    </a:lnR>
                    <a:lnT w="7620">
                      <a:noFill/>
                    </a:lnT>
                    <a:lnB w="7620">
                      <a:solidFill>
                        <a:srgbClr val="E2E8F0"/>
                      </a:solidFill>
                    </a:lnB>
                  </a:tcPr>
                </a:tc>
                <a:tc>
                  <a:txBody>
                    <a:bodyPr wrap="square"/>
                    <a:lstStyle/>
                    <a:p>
                      <a:r>
                        <a:rPr sz="940" b="1">
                          <a:solidFill>
                            <a:srgbClr val="DC2626"/>
                          </a:solidFill>
                          <a:latin typeface="DM Sans"/>
                        </a:rPr>
                        <a:t>140</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E2 + per-strip QC record</a:t>
                      </a:r>
                    </a:p>
                  </a:txBody>
                  <a:tcPr marL="36576" marR="36576" marT="22860" marB="18288" anchor="ctr">
                    <a:noFill/>
                    <a:lnL w="7620">
                      <a:noFill/>
                    </a:lnL>
                    <a:lnR w="7620">
                      <a:noFill/>
                    </a:lnR>
                    <a:lnT w="7620">
                      <a:noFill/>
                    </a:lnT>
                    <a:lnB w="7620">
                      <a:solidFill>
                        <a:srgbClr val="E2E8F0"/>
                      </a:solidFill>
                    </a:lnB>
                  </a:tcPr>
                </a:tc>
              </a:tr>
              <a:tr h="274320">
                <a:tc>
                  <a:txBody>
                    <a:bodyPr wrap="square"/>
                    <a:lstStyle/>
                    <a:p>
                      <a:r>
                        <a:rPr sz="940" b="1">
                          <a:solidFill>
                            <a:srgbClr val="0F172A"/>
                          </a:solidFill>
                          <a:latin typeface="DM Sans"/>
                        </a:rPr>
                        <a:t>F05 pin contact on carbon</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readings drift high</a:t>
                      </a:r>
                    </a:p>
                  </a:txBody>
                  <a:tcPr marL="36576" marR="36576" marT="22860" marB="18288" anchor="ctr">
                    <a:noFill/>
                    <a:lnL w="7620">
                      <a:noFill/>
                    </a:lnL>
                    <a:lnR w="7620">
                      <a:noFill/>
                    </a:lnR>
                    <a:lnT w="7620">
                      <a:noFill/>
                    </a:lnT>
                    <a:lnB w="7620">
                      <a:solidFill>
                        <a:srgbClr val="E2E8F0"/>
                      </a:solidFill>
                    </a:lnB>
                  </a:tcPr>
                </a:tc>
                <a:tc>
                  <a:txBody>
                    <a:bodyPr wrap="square"/>
                    <a:lstStyle/>
                    <a:p>
                      <a:r>
                        <a:rPr sz="940" b="1">
                          <a:solidFill>
                            <a:srgbClr val="DC2626"/>
                          </a:solidFill>
                          <a:latin typeface="DM Sans"/>
                        </a:rPr>
                        <a:t>120</a:t>
                      </a:r>
                    </a:p>
                  </a:txBody>
                  <a:tcPr marL="36576" marR="36576" marT="22860" marB="18288" anchor="ctr">
                    <a:noFill/>
                    <a:lnL w="7620">
                      <a:noFill/>
                    </a:lnL>
                    <a:lnR w="7620">
                      <a:noFill/>
                    </a:lnR>
                    <a:lnT w="7620">
                      <a:noFill/>
                    </a:lnT>
                    <a:lnB w="7620">
                      <a:solidFill>
                        <a:srgbClr val="E2E8F0"/>
                      </a:solidFill>
                    </a:lnB>
                  </a:tcPr>
                </a:tc>
                <a:tc>
                  <a:txBody>
                    <a:bodyPr wrap="square"/>
                    <a:lstStyle/>
                    <a:p>
                      <a:r>
                        <a:rPr sz="940" b="0">
                          <a:solidFill>
                            <a:srgbClr val="334155"/>
                          </a:solidFill>
                          <a:latin typeface="DM Sans"/>
                        </a:rPr>
                        <a:t>rounded pins · T-CON-01</a:t>
                      </a:r>
                    </a:p>
                  </a:txBody>
                  <a:tcPr marL="36576" marR="36576" marT="22860" marB="18288" anchor="ctr">
                    <a:noFill/>
                    <a:lnL w="7620">
                      <a:noFill/>
                    </a:lnL>
                    <a:lnR w="7620">
                      <a:noFill/>
                    </a:lnR>
                    <a:lnT w="7620">
                      <a:noFill/>
                    </a:lnT>
                    <a:lnB w="7620">
                      <a:solidFill>
                        <a:srgbClr val="E2E8F0"/>
                      </a:solidFill>
                    </a:lnB>
                  </a:tcPr>
                </a:tc>
              </a:tr>
            </a:tbl>
          </a:graphicData>
        </a:graphic>
      </p:graphicFrame>
      <p:pic>
        <p:nvPicPr>
          <p:cNvPr id="451" name="Picture 450" descr="fig_fmea.png"/>
          <p:cNvPicPr>
            <a:picLocks noChangeAspect="1"/>
          </p:cNvPicPr>
          <p:nvPr/>
        </p:nvPicPr>
        <p:blipFill>
          <a:blip r:embed="rId13"/>
          <a:stretch>
            <a:fillRect/>
          </a:stretch>
        </p:blipFill>
        <p:spPr>
          <a:xfrm>
            <a:off x="8367078" y="1143000"/>
            <a:ext cx="3154042" cy="1883664"/>
          </a:xfrm>
          <a:prstGeom prst="rect">
            <a:avLst/>
          </a:prstGeom>
        </p:spPr>
      </p:pic>
      <p:sp>
        <p:nvSpPr>
          <p:cNvPr id="452" name="TextBox 451"/>
          <p:cNvSpPr txBox="1"/>
          <p:nvPr/>
        </p:nvSpPr>
        <p:spPr>
          <a:xfrm>
            <a:off x="768096" y="3858768"/>
            <a:ext cx="5029200" cy="2011680"/>
          </a:xfrm>
          <a:prstGeom prst="rect">
            <a:avLst/>
          </a:prstGeom>
          <a:noFill/>
        </p:spPr>
        <p:txBody>
          <a:bodyPr wrap="square" lIns="18288" rIns="18288" tIns="9144" bIns="9144" anchor="t"/>
          <a:lstStyle/>
          <a:p>
            <a:pPr>
              <a:lnSpc>
                <a:spcPct val="108000"/>
              </a:lnSpc>
              <a:spcAft>
                <a:spcPts val="700"/>
              </a:spcAft>
            </a:pPr>
            <a:r>
              <a:rPr sz="1100" b="0">
                <a:solidFill>
                  <a:srgbClr val="059669"/>
                </a:solidFill>
                <a:latin typeface="DM Sans"/>
              </a:rPr>
              <a:t>▪  </a:t>
            </a:r>
            <a:r>
              <a:rPr sz="1100" b="1">
                <a:solidFill>
                  <a:srgbClr val="0F172A"/>
                </a:solidFill>
                <a:latin typeface="DM Sans"/>
              </a:rPr>
              <a:t>Bench only:  </a:t>
            </a:r>
            <a:r>
              <a:rPr sz="1100" b="0">
                <a:solidFill>
                  <a:srgbClr val="334155"/>
                </a:solidFill>
                <a:latin typeface="DM Sans"/>
              </a:rPr>
              <a:t>USB reader, never on a person.</a:t>
            </a:r>
          </a:p>
          <a:p>
            <a:pPr>
              <a:lnSpc>
                <a:spcPct val="108000"/>
              </a:lnSpc>
              <a:spcAft>
                <a:spcPts val="700"/>
              </a:spcAft>
            </a:pPr>
            <a:r>
              <a:rPr sz="1100" b="0">
                <a:solidFill>
                  <a:srgbClr val="059669"/>
                </a:solidFill>
                <a:latin typeface="DM Sans"/>
              </a:rPr>
              <a:t>▪  </a:t>
            </a:r>
            <a:r>
              <a:rPr sz="1100" b="1">
                <a:solidFill>
                  <a:srgbClr val="0F172A"/>
                </a:solidFill>
                <a:latin typeface="DM Sans"/>
              </a:rPr>
              <a:t>No net DC:  </a:t>
            </a:r>
            <a:r>
              <a:rPr sz="1100" b="0">
                <a:solidFill>
                  <a:srgbClr val="334155"/>
                </a:solidFill>
                <a:latin typeface="DM Sans"/>
              </a:rPr>
              <a:t>bipolar drive, idle pins off; bench test T8 checks &lt; 5 mV.</a:t>
            </a:r>
          </a:p>
          <a:p>
            <a:pPr>
              <a:lnSpc>
                <a:spcPct val="108000"/>
              </a:lnSpc>
              <a:spcAft>
                <a:spcPts val="700"/>
              </a:spcAft>
            </a:pPr>
            <a:r>
              <a:rPr sz="1100" b="0">
                <a:solidFill>
                  <a:srgbClr val="059669"/>
                </a:solidFill>
                <a:latin typeface="DM Sans"/>
              </a:rPr>
              <a:t>▪  </a:t>
            </a:r>
            <a:r>
              <a:rPr sz="1100" b="1">
                <a:solidFill>
                  <a:srgbClr val="0F172A"/>
                </a:solidFill>
                <a:latin typeface="DM Sans"/>
              </a:rPr>
              <a:t>Self-check:  </a:t>
            </a:r>
            <a:r>
              <a:rPr sz="1100" b="0">
                <a:solidFill>
                  <a:srgbClr val="334155"/>
                </a:solidFill>
                <a:latin typeface="DM Sans"/>
              </a:rPr>
              <a:t>every scan, else FAULT.</a:t>
            </a:r>
          </a:p>
          <a:p>
            <a:pPr>
              <a:lnSpc>
                <a:spcPct val="108000"/>
              </a:lnSpc>
              <a:spcAft>
                <a:spcPts val="700"/>
              </a:spcAft>
            </a:pPr>
            <a:r>
              <a:rPr sz="1100" b="0">
                <a:solidFill>
                  <a:srgbClr val="059669"/>
                </a:solidFill>
                <a:latin typeface="DM Sans"/>
              </a:rPr>
              <a:t>▪  </a:t>
            </a:r>
            <a:r>
              <a:rPr sz="1100" b="1">
                <a:solidFill>
                  <a:srgbClr val="0F172A"/>
                </a:solidFill>
                <a:latin typeface="DM Sans"/>
              </a:rPr>
              <a:t>No wound contact:  </a:t>
            </a:r>
            <a:r>
              <a:rPr sz="1100" b="0">
                <a:solidFill>
                  <a:srgbClr val="334155"/>
                </a:solidFill>
                <a:latin typeface="DM Sans"/>
              </a:rPr>
              <a:t>strip on the pad's outer face, leads sealed.</a:t>
            </a:r>
          </a:p>
          <a:p>
            <a:pPr>
              <a:lnSpc>
                <a:spcPct val="108000"/>
              </a:lnSpc>
              <a:spcAft>
                <a:spcPts val="700"/>
              </a:spcAft>
            </a:pPr>
            <a:r>
              <a:rPr sz="1100" b="0">
                <a:solidFill>
                  <a:srgbClr val="059669"/>
                </a:solidFill>
                <a:latin typeface="DM Sans"/>
              </a:rPr>
              <a:t>▪  </a:t>
            </a:r>
            <a:r>
              <a:rPr sz="1100" b="1">
                <a:solidFill>
                  <a:srgbClr val="0F172A"/>
                </a:solidFill>
                <a:latin typeface="DM Sans"/>
              </a:rPr>
              <a:t>Laser work:  </a:t>
            </a:r>
            <a:r>
              <a:rPr sz="1100" b="0">
                <a:solidFill>
                  <a:srgbClr val="334155"/>
                </a:solidFill>
                <a:latin typeface="DM Sans"/>
              </a:rPr>
              <a:t>signed safety checklist every session.</a:t>
            </a:r>
          </a:p>
        </p:txBody>
      </p:sp>
      <p:sp>
        <p:nvSpPr>
          <p:cNvPr id="453" name="TextBox 452"/>
          <p:cNvSpPr txBox="1"/>
          <p:nvPr/>
        </p:nvSpPr>
        <p:spPr>
          <a:xfrm>
            <a:off x="6464808" y="3858768"/>
            <a:ext cx="5029200" cy="2011680"/>
          </a:xfrm>
          <a:prstGeom prst="rect">
            <a:avLst/>
          </a:prstGeom>
          <a:noFill/>
        </p:spPr>
        <p:txBody>
          <a:bodyPr wrap="square" lIns="18288" rIns="18288" tIns="9144" bIns="9144" anchor="t"/>
          <a:lstStyle/>
          <a:p>
            <a:pPr>
              <a:lnSpc>
                <a:spcPct val="108000"/>
              </a:lnSpc>
              <a:spcAft>
                <a:spcPts val="500"/>
              </a:spcAft>
            </a:pPr>
            <a:r>
              <a:rPr sz="1100" b="0">
                <a:solidFill>
                  <a:srgbClr val="059669"/>
                </a:solidFill>
                <a:latin typeface="DM Sans"/>
              </a:rPr>
              <a:t>▪  </a:t>
            </a:r>
            <a:r>
              <a:rPr sz="1100" b="1">
                <a:solidFill>
                  <a:srgbClr val="0F172A"/>
                </a:solidFill>
                <a:latin typeface="DM Sans"/>
              </a:rPr>
              <a:t>ISO 14971  </a:t>
            </a:r>
            <a:r>
              <a:rPr sz="1100" b="0">
                <a:solidFill>
                  <a:srgbClr val="334155"/>
                </a:solidFill>
                <a:latin typeface="DM Sans"/>
              </a:rPr>
              <a:t>risk management</a:t>
            </a:r>
          </a:p>
          <a:p>
            <a:pPr>
              <a:lnSpc>
                <a:spcPct val="108000"/>
              </a:lnSpc>
              <a:spcAft>
                <a:spcPts val="500"/>
              </a:spcAft>
            </a:pPr>
            <a:r>
              <a:rPr sz="1100" b="0">
                <a:solidFill>
                  <a:srgbClr val="059669"/>
                </a:solidFill>
                <a:latin typeface="DM Sans"/>
              </a:rPr>
              <a:t>▪  </a:t>
            </a:r>
            <a:r>
              <a:rPr sz="1100" b="1">
                <a:solidFill>
                  <a:srgbClr val="0F172A"/>
                </a:solidFill>
                <a:latin typeface="DM Sans"/>
              </a:rPr>
              <a:t>IEC 60601-1  </a:t>
            </a:r>
            <a:r>
              <a:rPr sz="1100" b="0">
                <a:solidFill>
                  <a:srgbClr val="334155"/>
                </a:solidFill>
                <a:latin typeface="DM Sans"/>
              </a:rPr>
              <a:t>future on-body reader</a:t>
            </a:r>
          </a:p>
          <a:p>
            <a:pPr>
              <a:lnSpc>
                <a:spcPct val="108000"/>
              </a:lnSpc>
              <a:spcAft>
                <a:spcPts val="500"/>
              </a:spcAft>
            </a:pPr>
            <a:r>
              <a:rPr sz="1100" b="0">
                <a:solidFill>
                  <a:srgbClr val="059669"/>
                </a:solidFill>
                <a:latin typeface="DM Sans"/>
              </a:rPr>
              <a:t>▪  </a:t>
            </a:r>
            <a:r>
              <a:rPr sz="1100" b="1">
                <a:solidFill>
                  <a:srgbClr val="0F172A"/>
                </a:solidFill>
                <a:latin typeface="DM Sans"/>
              </a:rPr>
              <a:t>ISO 10993-1  </a:t>
            </a:r>
            <a:r>
              <a:rPr sz="1100" b="0">
                <a:solidFill>
                  <a:srgbClr val="334155"/>
                </a:solidFill>
                <a:latin typeface="DM Sans"/>
              </a:rPr>
              <a:t>before any skin contact¹¹</a:t>
            </a:r>
          </a:p>
          <a:p>
            <a:pPr>
              <a:lnSpc>
                <a:spcPct val="108000"/>
              </a:lnSpc>
              <a:spcAft>
                <a:spcPts val="500"/>
              </a:spcAft>
            </a:pPr>
            <a:r>
              <a:rPr sz="1100" b="0">
                <a:solidFill>
                  <a:srgbClr val="059669"/>
                </a:solidFill>
                <a:latin typeface="DM Sans"/>
              </a:rPr>
              <a:t>▪  </a:t>
            </a:r>
            <a:r>
              <a:rPr sz="1100" b="1">
                <a:solidFill>
                  <a:srgbClr val="0F172A"/>
                </a:solidFill>
                <a:latin typeface="DM Sans"/>
              </a:rPr>
              <a:t>EN 13726  </a:t>
            </a:r>
            <a:r>
              <a:rPr sz="1100" b="0">
                <a:solidFill>
                  <a:srgbClr val="334155"/>
                </a:solidFill>
                <a:latin typeface="DM Sans"/>
              </a:rPr>
              <a:t>simulated exudate for tests¹⁰</a:t>
            </a:r>
          </a:p>
          <a:p>
            <a:pPr>
              <a:lnSpc>
                <a:spcPct val="108000"/>
              </a:lnSpc>
              <a:spcAft>
                <a:spcPts val="500"/>
              </a:spcAft>
            </a:pPr>
            <a:r>
              <a:rPr sz="1100" b="0">
                <a:solidFill>
                  <a:srgbClr val="059669"/>
                </a:solidFill>
                <a:latin typeface="DM Sans"/>
              </a:rPr>
              <a:t>▪  </a:t>
            </a:r>
            <a:r>
              <a:rPr sz="1100" b="1">
                <a:solidFill>
                  <a:srgbClr val="0F172A"/>
                </a:solidFill>
                <a:latin typeface="DM Sans"/>
              </a:rPr>
              <a:t>IEC 60825-1  </a:t>
            </a:r>
            <a:r>
              <a:rPr sz="1100" b="0">
                <a:solidFill>
                  <a:srgbClr val="334155"/>
                </a:solidFill>
                <a:latin typeface="DM Sans"/>
              </a:rPr>
              <a:t>laser work during fabrication</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6" name="Shape 476"/>
        <p:cNvGrpSpPr/>
        <p:nvPr/>
      </p:nvGrpSpPr>
      <p:grpSpPr>
        <a:xfrm>
          <a:off x="0" y="0"/>
          <a:ext cx="0" cy="0"/>
          <a:chOff x="0" y="0"/>
          <a:chExt cx="0" cy="0"/>
        </a:xfrm>
      </p:grpSpPr>
      <p:pic>
        <p:nvPicPr>
          <p:cNvPr descr="image.png" id="477" name="Google Shape;477;p30"/>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478" name="Google Shape;478;p30"/>
          <p:cNvPicPr preferRelativeResize="0"/>
          <p:nvPr/>
        </p:nvPicPr>
        <p:blipFill rotWithShape="1">
          <a:blip r:embed="rId4">
            <a:alphaModFix/>
          </a:blip>
          <a:srcRect b="0" l="0" r="0" t="0"/>
          <a:stretch/>
        </p:blipFill>
        <p:spPr>
          <a:xfrm>
            <a:off x="533400" y="5665754"/>
            <a:ext cx="11125200" cy="363140"/>
          </a:xfrm>
          <a:prstGeom prst="rect">
            <a:avLst/>
          </a:prstGeom>
          <a:noFill/>
          <a:ln>
            <a:noFill/>
          </a:ln>
        </p:spPr>
      </p:pic>
      <p:pic>
        <p:nvPicPr>
          <p:cNvPr descr="image.png" id="479" name="Google Shape;479;p30"/>
          <p:cNvPicPr preferRelativeResize="0"/>
          <p:nvPr/>
        </p:nvPicPr>
        <p:blipFill rotWithShape="1">
          <a:blip r:embed="rId5">
            <a:alphaModFix/>
          </a:blip>
          <a:srcRect b="0" l="0" r="0" t="0"/>
          <a:stretch/>
        </p:blipFill>
        <p:spPr>
          <a:xfrm>
            <a:off x="533400" y="956223"/>
            <a:ext cx="3568600" cy="2514600"/>
          </a:xfrm>
          <a:prstGeom prst="rect">
            <a:avLst/>
          </a:prstGeom>
          <a:noFill/>
          <a:ln>
            <a:noFill/>
          </a:ln>
        </p:spPr>
      </p:pic>
      <p:pic>
        <p:nvPicPr>
          <p:cNvPr descr="image.png" id="480" name="Google Shape;480;p30"/>
          <p:cNvPicPr preferRelativeResize="0"/>
          <p:nvPr/>
        </p:nvPicPr>
        <p:blipFill rotWithShape="1">
          <a:blip r:embed="rId6">
            <a:alphaModFix/>
          </a:blip>
          <a:srcRect b="0" l="0" r="0" t="0"/>
          <a:stretch/>
        </p:blipFill>
        <p:spPr>
          <a:xfrm>
            <a:off x="4311550" y="956223"/>
            <a:ext cx="3568749" cy="2514600"/>
          </a:xfrm>
          <a:prstGeom prst="rect">
            <a:avLst/>
          </a:prstGeom>
          <a:noFill/>
          <a:ln>
            <a:noFill/>
          </a:ln>
        </p:spPr>
      </p:pic>
      <p:pic>
        <p:nvPicPr>
          <p:cNvPr descr="image.png" id="481" name="Google Shape;481;p30"/>
          <p:cNvPicPr preferRelativeResize="0"/>
          <p:nvPr/>
        </p:nvPicPr>
        <p:blipFill rotWithShape="1">
          <a:blip r:embed="rId7">
            <a:alphaModFix/>
          </a:blip>
          <a:srcRect b="0" l="0" r="0" t="0"/>
          <a:stretch/>
        </p:blipFill>
        <p:spPr>
          <a:xfrm>
            <a:off x="8089850" y="956223"/>
            <a:ext cx="3568600" cy="2514600"/>
          </a:xfrm>
          <a:prstGeom prst="rect">
            <a:avLst/>
          </a:prstGeom>
          <a:noFill/>
          <a:ln>
            <a:noFill/>
          </a:ln>
        </p:spPr>
      </p:pic>
      <p:sp>
        <p:nvSpPr>
          <p:cNvPr id="482" name="Google Shape;482;p30"/>
          <p:cNvSpPr txBox="1"/>
          <p:nvPr/>
        </p:nvSpPr>
        <p:spPr>
          <a:xfrm>
            <a:off x="533400" y="438150"/>
            <a:ext cx="8595360" cy="308520"/>
          </a:xfrm>
          <a:prstGeom prst="rect">
            <a:avLst/>
          </a:prstGeom>
          <a:noFill/>
          <a:ln>
            <a:noFill/>
          </a:ln>
        </p:spPr>
        <p:txBody>
          <a:bodyPr anchorCtr="0" anchor="ctr" bIns="0" lIns="0" spcFirstLastPara="1" rIns="0" wrap="square" tIns="0">
            <a:spAutoFit/>
          </a:bodyPr>
          <a:lstStyle/>
          <a:p>
            <a:pPr indent="0" lvl="0" marL="0" marR="0" rtl="0" algn="l">
              <a:lnSpc>
                <a:spcPct val="119950"/>
              </a:lnSpc>
              <a:spcBef>
                <a:spcPts val="0"/>
              </a:spcBef>
              <a:spcAft>
                <a:spcPts val="0"/>
              </a:spcAft>
              <a:buNone/>
            </a:pPr>
            <a:r>
              <a:rPr sz="2025" b="0">
                <a:solidFill>
                  <a:srgbClr val="0F172A"/>
                </a:solidFill>
                <a:latin typeface="Poppins SemiBold"/>
              </a:rPr>
              <a:t>Technical Challenges &amp; Risks</a:t>
            </a:r>
            <a:endParaRPr/>
          </a:p>
        </p:txBody>
      </p:sp>
      <p:sp>
        <p:nvSpPr>
          <p:cNvPr id="484" name="Google Shape;484;p30"/>
          <p:cNvSpPr txBox="1"/>
          <p:nvPr/>
        </p:nvSpPr>
        <p:spPr>
          <a:xfrm>
            <a:off x="723900" y="5761004"/>
            <a:ext cx="10698480" cy="329184"/>
          </a:xfrm>
          <a:prstGeom prst="rect">
            <a:avLst/>
          </a:prstGeom>
          <a:noFill/>
          <a:ln>
            <a:noFill/>
          </a:ln>
        </p:spPr>
        <p:txBody>
          <a:bodyPr anchorCtr="0" anchor="t" bIns="0" lIns="0" spcFirstLastPara="1" rIns="0" wrap="square" tIns="0">
            <a:spAutoFit/>
          </a:bodyPr>
          <a:lstStyle/>
          <a:p>
            <a:pPr indent="0" lvl="0" marL="0" marR="0" rtl="0" algn="l">
              <a:lnSpc>
                <a:spcPct val="145037"/>
              </a:lnSpc>
              <a:spcBef>
                <a:spcPts val="0"/>
              </a:spcBef>
              <a:spcAft>
                <a:spcPts val="0"/>
              </a:spcAft>
              <a:buNone/>
            </a:pPr>
            <a:r>
              <a:rPr sz="960" b="1">
                <a:solidFill>
                  <a:srgbClr val="0F172A"/>
                </a:solidFill>
                <a:latin typeface="DM Sans"/>
              </a:rPr>
              <a:t>Also Caught: </a:t>
            </a:r>
            <a:r>
              <a:rPr sz="960" b="0">
                <a:solidFill>
                  <a:srgbClr val="334155"/>
                </a:solidFill>
                <a:latin typeface="DM Sans"/>
              </a:rPr>
              <a:t>STEP exported in cm (now mm); a drawing showed 0.13 for 0.125 mm (fixed).</a:t>
            </a:r>
            <a:endParaRPr/>
          </a:p>
        </p:txBody>
      </p:sp>
      <p:pic>
        <p:nvPicPr>
          <p:cNvPr descr="image.png" id="492" name="Google Shape;492;p30"/>
          <p:cNvPicPr preferRelativeResize="0"/>
          <p:nvPr/>
        </p:nvPicPr>
        <p:blipFill rotWithShape="1">
          <a:blip r:embed="rId9">
            <a:alphaModFix/>
          </a:blip>
          <a:srcRect b="0" l="0" r="0" t="0"/>
          <a:stretch/>
        </p:blipFill>
        <p:spPr>
          <a:xfrm>
            <a:off x="752475" y="1175295"/>
            <a:ext cx="192434" cy="152400"/>
          </a:xfrm>
          <a:prstGeom prst="rect">
            <a:avLst/>
          </a:prstGeom>
          <a:noFill/>
          <a:ln>
            <a:noFill/>
          </a:ln>
        </p:spPr>
      </p:pic>
      <p:sp>
        <p:nvSpPr>
          <p:cNvPr id="493" name="Google Shape;493;p30"/>
          <p:cNvSpPr txBox="1"/>
          <p:nvPr/>
        </p:nvSpPr>
        <p:spPr>
          <a:xfrm>
            <a:off x="1040159" y="1156245"/>
            <a:ext cx="306324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00" b="1">
                <a:solidFill>
                  <a:srgbClr val="0F172A"/>
                </a:solidFill>
                <a:latin typeface="DM Sans"/>
              </a:rPr>
              <a:t>Geometry: Seal Under Clamp</a:t>
            </a:r>
            <a:endParaRPr/>
          </a:p>
        </p:txBody>
      </p:sp>
      <p:pic>
        <p:nvPicPr>
          <p:cNvPr descr="image.png" id="494" name="Google Shape;494;p30"/>
          <p:cNvPicPr preferRelativeResize="0"/>
          <p:nvPr/>
        </p:nvPicPr>
        <p:blipFill rotWithShape="1">
          <a:blip r:embed="rId10">
            <a:alphaModFix/>
          </a:blip>
          <a:srcRect b="0" l="0" r="0" t="0"/>
          <a:stretch/>
        </p:blipFill>
        <p:spPr>
          <a:xfrm>
            <a:off x="4530625" y="1175295"/>
            <a:ext cx="173384" cy="152400"/>
          </a:xfrm>
          <a:prstGeom prst="rect">
            <a:avLst/>
          </a:prstGeom>
          <a:noFill/>
          <a:ln>
            <a:noFill/>
          </a:ln>
        </p:spPr>
      </p:pic>
      <p:sp>
        <p:nvSpPr>
          <p:cNvPr id="495" name="Google Shape;495;p30"/>
          <p:cNvSpPr txBox="1"/>
          <p:nvPr/>
        </p:nvSpPr>
        <p:spPr>
          <a:xfrm>
            <a:off x="4799260" y="1156245"/>
            <a:ext cx="306324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00" b="1">
                <a:solidFill>
                  <a:srgbClr val="0F172A"/>
                </a:solidFill>
                <a:latin typeface="DM Sans"/>
              </a:rPr>
              <a:t>Circuit: Hidden Lead Break</a:t>
            </a:r>
            <a:endParaRPr/>
          </a:p>
        </p:txBody>
      </p:sp>
      <p:pic>
        <p:nvPicPr>
          <p:cNvPr descr="image.png" id="496" name="Google Shape;496;p30"/>
          <p:cNvPicPr preferRelativeResize="0"/>
          <p:nvPr/>
        </p:nvPicPr>
        <p:blipFill rotWithShape="1">
          <a:blip r:embed="rId11">
            <a:alphaModFix/>
          </a:blip>
          <a:srcRect b="0" l="0" r="0" t="0"/>
          <a:stretch/>
        </p:blipFill>
        <p:spPr>
          <a:xfrm>
            <a:off x="8308925" y="1175295"/>
            <a:ext cx="154334" cy="152400"/>
          </a:xfrm>
          <a:prstGeom prst="rect">
            <a:avLst/>
          </a:prstGeom>
          <a:noFill/>
          <a:ln>
            <a:noFill/>
          </a:ln>
        </p:spPr>
      </p:pic>
      <p:sp>
        <p:nvSpPr>
          <p:cNvPr id="497" name="Google Shape;497;p30"/>
          <p:cNvSpPr txBox="1"/>
          <p:nvPr/>
        </p:nvSpPr>
        <p:spPr>
          <a:xfrm>
            <a:off x="8558510" y="1156245"/>
            <a:ext cx="306324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00" b="1">
                <a:solidFill>
                  <a:srgbClr val="0F172A"/>
                </a:solidFill>
                <a:latin typeface="DM Sans"/>
              </a:rPr>
              <a:t>Process: Unknown Laser Recipe</a:t>
            </a:r>
            <a:endParaRPr/>
          </a:p>
        </p:txBody>
      </p:sp>
      <p:pic>
        <p:nvPicPr>
          <p:cNvPr id="498" name="Google Shape;498;p30" title="MBF_Logo_2020.png"/>
          <p:cNvPicPr preferRelativeResize="0"/>
          <p:nvPr/>
        </p:nvPicPr>
        <p:blipFill>
          <a:blip r:embed="rId12">
            <a:alphaModFix/>
          </a:blip>
          <a:stretch>
            <a:fillRect/>
          </a:stretch>
        </p:blipFill>
        <p:spPr>
          <a:xfrm>
            <a:off x="11095194" y="6280800"/>
            <a:ext cx="1096806" cy="577200"/>
          </a:xfrm>
          <a:prstGeom prst="rect">
            <a:avLst/>
          </a:prstGeom>
          <a:noFill/>
          <a:ln>
            <a:noFill/>
          </a:ln>
        </p:spPr>
      </p:pic>
      <p:pic>
        <p:nvPicPr>
          <p:cNvPr id="499" name="Google Shape;499;p30" title="VK colored transparent logo.png"/>
          <p:cNvPicPr preferRelativeResize="0"/>
          <p:nvPr/>
        </p:nvPicPr>
        <p:blipFill rotWithShape="1">
          <a:blip r:embed="rId13">
            <a:alphaModFix/>
          </a:blip>
          <a:srcRect b="44466" l="14673" r="15820" t="33074"/>
          <a:stretch/>
        </p:blipFill>
        <p:spPr>
          <a:xfrm>
            <a:off x="0" y="6280800"/>
            <a:ext cx="1786280" cy="577200"/>
          </a:xfrm>
          <a:prstGeom prst="rect">
            <a:avLst/>
          </a:prstGeom>
          <a:noFill/>
          <a:ln>
            <a:noFill/>
          </a:ln>
        </p:spPr>
      </p:pic>
      <p:sp>
        <p:nvSpPr>
          <p:cNvPr id="500" name="Rounded Rectangle 499"/>
          <p:cNvSpPr/>
          <p:nvPr/>
        </p:nvSpPr>
        <p:spPr>
          <a:xfrm>
            <a:off x="9581083" y="457200"/>
            <a:ext cx="2077516" cy="246888"/>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0369A1"/>
                </a:solidFill>
                <a:latin typeface="DM Sans"/>
              </a:rPr>
              <a:t>FOUND IN OUR OWN VERIFICATION</a:t>
            </a:r>
          </a:p>
        </p:txBody>
      </p:sp>
      <p:sp>
        <p:nvSpPr>
          <p:cNvPr id="501" name="TextBox 500"/>
          <p:cNvSpPr txBox="1"/>
          <p:nvPr/>
        </p:nvSpPr>
        <p:spPr>
          <a:xfrm>
            <a:off x="749808" y="1517904"/>
            <a:ext cx="3154680" cy="1911095"/>
          </a:xfrm>
          <a:prstGeom prst="rect">
            <a:avLst/>
          </a:prstGeom>
          <a:noFill/>
        </p:spPr>
        <p:txBody>
          <a:bodyPr wrap="square" lIns="18288" rIns="18288" tIns="9144" bIns="9144" anchor="t"/>
          <a:lstStyle/>
          <a:p>
            <a:pPr>
              <a:lnSpc>
                <a:spcPct val="108000"/>
              </a:lnSpc>
              <a:spcAft>
                <a:spcPts val="900"/>
              </a:spcAft>
            </a:pPr>
            <a:r>
              <a:rPr sz="1100" b="1">
                <a:solidFill>
                  <a:srgbClr val="0F172A"/>
                </a:solidFill>
                <a:latin typeface="DM Sans"/>
              </a:rPr>
              <a:t>Found: </a:t>
            </a:r>
            <a:r>
              <a:rPr sz="1100" b="0">
                <a:solidFill>
                  <a:srgbClr val="334155"/>
                </a:solidFill>
                <a:latin typeface="DM Sans"/>
              </a:rPr>
              <a:t>seal tape overlapped the clamp (9.0 mm³).</a:t>
            </a:r>
          </a:p>
          <a:p>
            <a:pPr>
              <a:lnSpc>
                <a:spcPct val="108000"/>
              </a:lnSpc>
              <a:spcAft>
                <a:spcPts val="900"/>
              </a:spcAft>
            </a:pPr>
            <a:r>
              <a:rPr sz="1100" b="1">
                <a:solidFill>
                  <a:srgbClr val="0F172A"/>
                </a:solidFill>
                <a:latin typeface="DM Sans"/>
              </a:rPr>
              <a:t>Impact: </a:t>
            </a:r>
            <a:r>
              <a:rPr sz="1100" b="0">
                <a:solidFill>
                  <a:srgbClr val="334155"/>
                </a:solidFill>
                <a:latin typeface="DM Sans"/>
              </a:rPr>
              <a:t>would lift the strip off the pins.</a:t>
            </a:r>
          </a:p>
          <a:p>
            <a:pPr>
              <a:lnSpc>
                <a:spcPct val="108000"/>
              </a:lnSpc>
              <a:spcAft>
                <a:spcPts val="900"/>
              </a:spcAft>
            </a:pPr>
            <a:r>
              <a:rPr sz="1100" b="1">
                <a:solidFill>
                  <a:srgbClr val="0F172A"/>
                </a:solidFill>
                <a:latin typeface="DM Sans"/>
              </a:rPr>
              <a:t>How: </a:t>
            </a:r>
            <a:r>
              <a:rPr sz="1100" b="0">
                <a:solidFill>
                  <a:srgbClr val="334155"/>
                </a:solidFill>
                <a:latin typeface="DM Sans"/>
              </a:rPr>
              <a:t>automated clash check.</a:t>
            </a:r>
          </a:p>
        </p:txBody>
      </p:sp>
      <p:sp>
        <p:nvSpPr>
          <p:cNvPr id="502" name="TextBox 501"/>
          <p:cNvSpPr txBox="1"/>
          <p:nvPr/>
        </p:nvSpPr>
        <p:spPr>
          <a:xfrm>
            <a:off x="4526280" y="1517904"/>
            <a:ext cx="3154680" cy="1911095"/>
          </a:xfrm>
          <a:prstGeom prst="rect">
            <a:avLst/>
          </a:prstGeom>
          <a:noFill/>
        </p:spPr>
        <p:txBody>
          <a:bodyPr wrap="square" lIns="18288" rIns="18288" tIns="9144" bIns="9144" anchor="t"/>
          <a:lstStyle/>
          <a:p>
            <a:pPr>
              <a:lnSpc>
                <a:spcPct val="108000"/>
              </a:lnSpc>
              <a:spcAft>
                <a:spcPts val="900"/>
              </a:spcAft>
            </a:pPr>
            <a:r>
              <a:rPr sz="1100" b="1">
                <a:solidFill>
                  <a:srgbClr val="0F172A"/>
                </a:solidFill>
                <a:latin typeface="DM Sans"/>
              </a:rPr>
              <a:t>Found: </a:t>
            </a:r>
            <a:r>
              <a:rPr sz="1100" b="0">
                <a:solidFill>
                  <a:srgbClr val="334155"/>
                </a:solidFill>
                <a:latin typeface="DM Sans"/>
              </a:rPr>
              <a:t>a cracked sense lead reads 'dry'.</a:t>
            </a:r>
          </a:p>
          <a:p>
            <a:pPr>
              <a:lnSpc>
                <a:spcPct val="108000"/>
              </a:lnSpc>
              <a:spcAft>
                <a:spcPts val="900"/>
              </a:spcAft>
            </a:pPr>
            <a:r>
              <a:rPr sz="1100" b="1">
                <a:solidFill>
                  <a:srgbClr val="0F172A"/>
                </a:solidFill>
                <a:latin typeface="DM Sans"/>
              </a:rPr>
              <a:t>Impact: </a:t>
            </a:r>
            <a:r>
              <a:rPr sz="1100" b="0">
                <a:solidFill>
                  <a:srgbClr val="334155"/>
                </a:solidFill>
                <a:latin typeface="DM Sans"/>
              </a:rPr>
              <a:t>CHANGE never shown, no alarm.</a:t>
            </a:r>
          </a:p>
          <a:p>
            <a:pPr>
              <a:lnSpc>
                <a:spcPct val="108000"/>
              </a:lnSpc>
              <a:spcAft>
                <a:spcPts val="900"/>
              </a:spcAft>
            </a:pPr>
            <a:r>
              <a:rPr sz="1100" b="1">
                <a:solidFill>
                  <a:srgbClr val="0F172A"/>
                </a:solidFill>
                <a:latin typeface="DM Sans"/>
              </a:rPr>
              <a:t>How: </a:t>
            </a:r>
            <a:r>
              <a:rPr sz="1100" b="0">
                <a:solidFill>
                  <a:srgbClr val="334155"/>
                </a:solidFill>
                <a:latin typeface="DM Sans"/>
              </a:rPr>
              <a:t>design FMEA (RPN 224).</a:t>
            </a:r>
          </a:p>
        </p:txBody>
      </p:sp>
      <p:sp>
        <p:nvSpPr>
          <p:cNvPr id="503" name="TextBox 502"/>
          <p:cNvSpPr txBox="1"/>
          <p:nvPr/>
        </p:nvSpPr>
        <p:spPr>
          <a:xfrm>
            <a:off x="8311896" y="1517904"/>
            <a:ext cx="3154680" cy="1911095"/>
          </a:xfrm>
          <a:prstGeom prst="rect">
            <a:avLst/>
          </a:prstGeom>
          <a:noFill/>
        </p:spPr>
        <p:txBody>
          <a:bodyPr wrap="square" lIns="18288" rIns="18288" tIns="9144" bIns="9144" anchor="t"/>
          <a:lstStyle/>
          <a:p>
            <a:pPr>
              <a:lnSpc>
                <a:spcPct val="108000"/>
              </a:lnSpc>
              <a:spcAft>
                <a:spcPts val="900"/>
              </a:spcAft>
            </a:pPr>
            <a:r>
              <a:rPr sz="1100" b="1">
                <a:solidFill>
                  <a:srgbClr val="0F172A"/>
                </a:solidFill>
                <a:latin typeface="DM Sans"/>
              </a:rPr>
              <a:t>Found: </a:t>
            </a:r>
            <a:r>
              <a:rPr sz="1100" b="0">
                <a:solidFill>
                  <a:srgbClr val="334155"/>
                </a:solidFill>
                <a:latin typeface="DM Sans"/>
              </a:rPr>
              <a:t>'12' is likely a % command; tubes are unsteady at low power⁸.</a:t>
            </a:r>
          </a:p>
          <a:p>
            <a:pPr>
              <a:lnSpc>
                <a:spcPct val="108000"/>
              </a:lnSpc>
              <a:spcAft>
                <a:spcPts val="900"/>
              </a:spcAft>
            </a:pPr>
            <a:r>
              <a:rPr sz="1100" b="1">
                <a:solidFill>
                  <a:srgbClr val="0F172A"/>
                </a:solidFill>
                <a:latin typeface="DM Sans"/>
              </a:rPr>
              <a:t>Impact: </a:t>
            </a:r>
            <a:r>
              <a:rPr sz="1100" b="0">
                <a:solidFill>
                  <a:srgbClr val="334155"/>
                </a:solidFill>
                <a:latin typeface="DM Sans"/>
              </a:rPr>
              <a:t>every strip size is provisional.</a:t>
            </a:r>
          </a:p>
          <a:p>
            <a:pPr>
              <a:lnSpc>
                <a:spcPct val="108000"/>
              </a:lnSpc>
              <a:spcAft>
                <a:spcPts val="900"/>
              </a:spcAft>
            </a:pPr>
            <a:r>
              <a:rPr sz="1100" b="1">
                <a:solidFill>
                  <a:srgbClr val="0F172A"/>
                </a:solidFill>
                <a:latin typeface="DM Sans"/>
              </a:rPr>
              <a:t>How: </a:t>
            </a:r>
            <a:r>
              <a:rPr sz="1100" b="0">
                <a:solidFill>
                  <a:srgbClr val="334155"/>
                </a:solidFill>
                <a:latin typeface="DM Sans"/>
              </a:rPr>
              <a:t>LaserCAD config audit.</a:t>
            </a:r>
          </a:p>
        </p:txBody>
      </p:sp>
      <p:pic>
        <p:nvPicPr>
          <p:cNvPr id="504" name="Picture 503" descr="fig_challenges.png"/>
          <p:cNvPicPr>
            <a:picLocks noChangeAspect="1"/>
          </p:cNvPicPr>
          <p:nvPr/>
        </p:nvPicPr>
        <p:blipFill>
          <a:blip r:embed="rId14"/>
          <a:stretch>
            <a:fillRect/>
          </a:stretch>
        </p:blipFill>
        <p:spPr>
          <a:xfrm>
            <a:off x="566928" y="3867567"/>
            <a:ext cx="11064240" cy="1500305"/>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3" name="Shape 503"/>
        <p:cNvGrpSpPr/>
        <p:nvPr/>
      </p:nvGrpSpPr>
      <p:grpSpPr>
        <a:xfrm>
          <a:off x="0" y="0"/>
          <a:ext cx="0" cy="0"/>
          <a:chOff x="0" y="0"/>
          <a:chExt cx="0" cy="0"/>
        </a:xfrm>
      </p:grpSpPr>
      <p:sp>
        <p:nvSpPr>
          <p:cNvPr id="513" name="Google Shape;513;p31"/>
          <p:cNvSpPr txBox="1"/>
          <p:nvPr/>
        </p:nvSpPr>
        <p:spPr>
          <a:xfrm>
            <a:off x="571500" y="476250"/>
            <a:ext cx="11601600" cy="669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2025" b="0">
                <a:solidFill>
                  <a:srgbClr val="0F172A"/>
                </a:solidFill>
                <a:latin typeface="Poppins SemiBold"/>
              </a:rPr>
              <a:t>References &amp; Sources</a:t>
            </a:r>
            <a:endParaRPr b="1" sz="2550">
              <a:solidFill>
                <a:srgbClr val="1E3A8A"/>
              </a:solidFill>
              <a:latin typeface="Poppins"/>
              <a:ea typeface="Poppins"/>
              <a:cs typeface="Poppins"/>
              <a:sym typeface="Poppins"/>
            </a:endParaRPr>
          </a:p>
        </p:txBody>
      </p:sp>
      <p:pic>
        <p:nvPicPr>
          <p:cNvPr id="514" name="Google Shape;514;p31" title="MBF_Logo_2020.png"/>
          <p:cNvPicPr preferRelativeResize="0"/>
          <p:nvPr/>
        </p:nvPicPr>
        <p:blipFill>
          <a:blip r:embed="rId5">
            <a:alphaModFix/>
          </a:blip>
          <a:stretch>
            <a:fillRect/>
          </a:stretch>
        </p:blipFill>
        <p:spPr>
          <a:xfrm>
            <a:off x="11095194" y="6280800"/>
            <a:ext cx="1096806" cy="577200"/>
          </a:xfrm>
          <a:prstGeom prst="rect">
            <a:avLst/>
          </a:prstGeom>
          <a:noFill/>
          <a:ln>
            <a:noFill/>
          </a:ln>
        </p:spPr>
      </p:pic>
      <p:pic>
        <p:nvPicPr>
          <p:cNvPr id="515" name="Google Shape;515;p31" title="VK colored transparent logo.png"/>
          <p:cNvPicPr preferRelativeResize="0"/>
          <p:nvPr/>
        </p:nvPicPr>
        <p:blipFill rotWithShape="1">
          <a:blip r:embed="rId6">
            <a:alphaModFix/>
          </a:blip>
          <a:srcRect b="44466" l="14673" r="15820" t="33074"/>
          <a:stretch/>
        </p:blipFill>
        <p:spPr>
          <a:xfrm>
            <a:off x="0" y="6280800"/>
            <a:ext cx="1786280" cy="577200"/>
          </a:xfrm>
          <a:prstGeom prst="rect">
            <a:avLst/>
          </a:prstGeom>
          <a:noFill/>
          <a:ln>
            <a:noFill/>
          </a:ln>
        </p:spPr>
      </p:pic>
      <p:sp>
        <p:nvSpPr>
          <p:cNvPr id="516" name="Rounded Rectangle 515"/>
          <p:cNvSpPr/>
          <p:nvPr/>
        </p:nvSpPr>
        <p:spPr>
          <a:xfrm>
            <a:off x="9767620" y="457200"/>
            <a:ext cx="1890979" cy="246888"/>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0369A1"/>
                </a:solidFill>
                <a:latin typeface="DM Sans"/>
              </a:rPr>
              <a:t>SOURCES WITH READING DEPTH</a:t>
            </a:r>
          </a:p>
        </p:txBody>
      </p:sp>
      <p:sp>
        <p:nvSpPr>
          <p:cNvPr id="517" name="TextBox 516"/>
          <p:cNvSpPr txBox="1"/>
          <p:nvPr/>
        </p:nvSpPr>
        <p:spPr>
          <a:xfrm>
            <a:off x="566928" y="1005840"/>
            <a:ext cx="11064240" cy="274320"/>
          </a:xfrm>
          <a:prstGeom prst="rect">
            <a:avLst/>
          </a:prstGeom>
          <a:noFill/>
        </p:spPr>
        <p:txBody>
          <a:bodyPr wrap="square" lIns="18288" rIns="18288" tIns="9144" bIns="9144" anchor="t"/>
          <a:lstStyle/>
          <a:p>
            <a:pPr>
              <a:lnSpc>
                <a:spcPct val="108000"/>
              </a:lnSpc>
              <a:spcAft>
                <a:spcPts val="400"/>
              </a:spcAft>
            </a:pPr>
            <a:r>
              <a:rPr sz="880" b="0">
                <a:solidFill>
                  <a:srgbClr val="64748B"/>
                </a:solidFill>
                <a:latin typeface="DM Sans"/>
              </a:rPr>
              <a:t>Numbers match the superscripts on each slide. After each source we state how deeply it was read; nothing is labelled verified beyond that.</a:t>
            </a:r>
          </a:p>
        </p:txBody>
      </p:sp>
      <p:sp>
        <p:nvSpPr>
          <p:cNvPr id="518" name="TextBox 517"/>
          <p:cNvSpPr txBox="1"/>
          <p:nvPr/>
        </p:nvSpPr>
        <p:spPr>
          <a:xfrm>
            <a:off x="566928" y="1298448"/>
            <a:ext cx="11064240" cy="4846320"/>
          </a:xfrm>
          <a:prstGeom prst="rect">
            <a:avLst/>
          </a:prstGeom>
          <a:noFill/>
        </p:spPr>
        <p:txBody>
          <a:bodyPr wrap="square" lIns="18288" rIns="18288" tIns="9144" bIns="9144" anchor="t"/>
          <a:lstStyle/>
          <a:p>
            <a:pPr>
              <a:lnSpc>
                <a:spcPct val="108000"/>
              </a:lnSpc>
              <a:spcAft>
                <a:spcPts val="220"/>
              </a:spcAft>
            </a:pPr>
            <a:r>
              <a:rPr sz="860" b="1">
                <a:solidFill>
                  <a:srgbClr val="0F172A"/>
                </a:solidFill>
                <a:latin typeface="DM Sans"/>
              </a:rPr>
              <a:t>1. </a:t>
            </a:r>
            <a:r>
              <a:rPr sz="860" b="0">
                <a:solidFill>
                  <a:srgbClr val="334155"/>
                </a:solidFill>
                <a:latin typeface="DM Sans"/>
              </a:rPr>
              <a:t>Milne S.D. et al., A wearable wound moisture sensor as an indicator for wound dressing change, Int. Wound J. 13(6):1309–1314 (2016). doi:10.1111/iwj.12521 · full text read</a:t>
            </a:r>
          </a:p>
          <a:p>
            <a:pPr>
              <a:lnSpc>
                <a:spcPct val="108000"/>
              </a:lnSpc>
              <a:spcAft>
                <a:spcPts val="220"/>
              </a:spcAft>
            </a:pPr>
            <a:r>
              <a:rPr sz="860" b="1">
                <a:solidFill>
                  <a:srgbClr val="0F172A"/>
                </a:solidFill>
                <a:latin typeface="DM Sans"/>
              </a:rPr>
              <a:t>2. </a:t>
            </a:r>
            <a:r>
              <a:rPr sz="860" b="0">
                <a:solidFill>
                  <a:srgbClr val="334155"/>
                </a:solidFill>
                <a:latin typeface="DM Sans"/>
              </a:rPr>
              <a:t>Dressing instructions for use: some foam dressings say 'change when exudate approaches ~2 cm from the pad edge'; Mölnlycke Mepilex Border Flex brochure uses strike-through reaching 3 edges · manufacturer documents, read as excerpts</a:t>
            </a:r>
          </a:p>
          <a:p>
            <a:pPr>
              <a:lnSpc>
                <a:spcPct val="108000"/>
              </a:lnSpc>
              <a:spcAft>
                <a:spcPts val="220"/>
              </a:spcAft>
            </a:pPr>
            <a:r>
              <a:rPr sz="860" b="1">
                <a:solidFill>
                  <a:srgbClr val="0F172A"/>
                </a:solidFill>
                <a:latin typeface="DM Sans"/>
              </a:rPr>
              <a:t>3. </a:t>
            </a:r>
            <a:r>
              <a:rPr sz="860" b="0">
                <a:solidFill>
                  <a:srgbClr val="334155"/>
                </a:solidFill>
                <a:latin typeface="DM Sans"/>
              </a:rPr>
              <a:t>McColl D., Cartlidge B., Connolly P., Real-time monitoring of moisture levels in wound dressings in vitro, Int. J. Surg. 5(5):316–322 (2007). doi:10.1016/j.ijsu.2007.02.008 · abstract</a:t>
            </a:r>
          </a:p>
          <a:p>
            <a:pPr>
              <a:lnSpc>
                <a:spcPct val="108000"/>
              </a:lnSpc>
              <a:spcAft>
                <a:spcPts val="220"/>
              </a:spcAft>
            </a:pPr>
            <a:r>
              <a:rPr sz="860" b="1">
                <a:solidFill>
                  <a:srgbClr val="0F172A"/>
                </a:solidFill>
                <a:latin typeface="DM Sans"/>
              </a:rPr>
              <a:t>4. </a:t>
            </a:r>
            <a:r>
              <a:rPr sz="860" b="0">
                <a:solidFill>
                  <a:srgbClr val="334155"/>
                </a:solidFill>
                <a:latin typeface="DM Sans"/>
              </a:rPr>
              <a:t>US 5,469,145 and US 5,838,240 (wet diaper detector: detachable strip + clip-on detector); US 9,291,589; US 10,928,344 · patent summaries, claims not read</a:t>
            </a:r>
          </a:p>
          <a:p>
            <a:pPr>
              <a:lnSpc>
                <a:spcPct val="108000"/>
              </a:lnSpc>
              <a:spcAft>
                <a:spcPts val="220"/>
              </a:spcAft>
            </a:pPr>
            <a:r>
              <a:rPr sz="860" b="1">
                <a:solidFill>
                  <a:srgbClr val="0F172A"/>
                </a:solidFill>
                <a:latin typeface="DM Sans"/>
              </a:rPr>
              <a:t>5. </a:t>
            </a:r>
            <a:r>
              <a:rPr sz="860" b="0">
                <a:solidFill>
                  <a:srgbClr val="334155"/>
                </a:solidFill>
                <a:latin typeface="DM Sans"/>
              </a:rPr>
              <a:t>Jiang Y. et al., Wireless, closed-loop, smart bandage with integrated sensors and stimulators, Nat. Biotechnol. (2022). doi:10.1038/s41587-022-01528-3 · listing + coverage</a:t>
            </a:r>
          </a:p>
          <a:p>
            <a:pPr>
              <a:lnSpc>
                <a:spcPct val="108000"/>
              </a:lnSpc>
              <a:spcAft>
                <a:spcPts val="220"/>
              </a:spcAft>
            </a:pPr>
            <a:r>
              <a:rPr sz="860" b="1">
                <a:solidFill>
                  <a:srgbClr val="0F172A"/>
                </a:solidFill>
                <a:latin typeface="DM Sans"/>
              </a:rPr>
              <a:t>6. </a:t>
            </a:r>
            <a:r>
              <a:rPr sz="860" b="0">
                <a:solidFill>
                  <a:srgbClr val="334155"/>
                </a:solidFill>
                <a:latin typeface="DM Sans"/>
              </a:rPr>
              <a:t>Dealey C., Cameron J., Arrowsmith M., A study comparing two objective methods of quantifying the production of wound exudate, J. Wound Care 15(4):149–153 (2006) · abstract (methods disagree)</a:t>
            </a:r>
          </a:p>
          <a:p>
            <a:pPr>
              <a:lnSpc>
                <a:spcPct val="108000"/>
              </a:lnSpc>
              <a:spcAft>
                <a:spcPts val="220"/>
              </a:spcAft>
            </a:pPr>
            <a:r>
              <a:rPr sz="860" b="1">
                <a:solidFill>
                  <a:srgbClr val="0F172A"/>
                </a:solidFill>
                <a:latin typeface="DM Sans"/>
              </a:rPr>
              <a:t>7. </a:t>
            </a:r>
            <a:r>
              <a:rPr sz="860" b="0">
                <a:solidFill>
                  <a:srgbClr val="334155"/>
                </a:solidFill>
                <a:latin typeface="DM Sans"/>
              </a:rPr>
              <a:t>Lin J. et al., Laser-induced porous graphene films from commercial polymers, Nat. Commun. 5:5714 (2014). doi:10.1038/ncomms6714 · full text read</a:t>
            </a:r>
          </a:p>
          <a:p>
            <a:pPr>
              <a:lnSpc>
                <a:spcPct val="108000"/>
              </a:lnSpc>
              <a:spcAft>
                <a:spcPts val="220"/>
              </a:spcAft>
            </a:pPr>
            <a:r>
              <a:rPr sz="860" b="1">
                <a:solidFill>
                  <a:srgbClr val="0F172A"/>
                </a:solidFill>
                <a:latin typeface="DM Sans"/>
              </a:rPr>
              <a:t>8. </a:t>
            </a:r>
            <a:r>
              <a:rPr sz="860" b="0">
                <a:solidFill>
                  <a:srgbClr val="334155"/>
                </a:solidFill>
                <a:latin typeface="DM Sans"/>
              </a:rPr>
              <a:t>CO₂ laser tube current vs PWM setting, engineering measurements, softsolder.com (2022) · not peer-reviewed</a:t>
            </a:r>
          </a:p>
          <a:p>
            <a:pPr>
              <a:lnSpc>
                <a:spcPct val="108000"/>
              </a:lnSpc>
              <a:spcAft>
                <a:spcPts val="220"/>
              </a:spcAft>
            </a:pPr>
            <a:r>
              <a:rPr sz="860" b="1">
                <a:solidFill>
                  <a:srgbClr val="0F172A"/>
                </a:solidFill>
                <a:latin typeface="DM Sans"/>
              </a:rPr>
              <a:t>9. </a:t>
            </a:r>
            <a:r>
              <a:rPr sz="860" b="0">
                <a:solidFill>
                  <a:srgbClr val="334155"/>
                </a:solidFill>
                <a:latin typeface="DM Sans"/>
              </a:rPr>
              <a:t>Li Y. et al., Laser-induced graphene in controlled atmospheres: from superhydrophilic to superhydrophobic surfaces, Adv. Mater. 29:1700496 (2017). doi:10.1002/adma.201700496 · abstract</a:t>
            </a:r>
          </a:p>
          <a:p>
            <a:pPr>
              <a:lnSpc>
                <a:spcPct val="108000"/>
              </a:lnSpc>
              <a:spcAft>
                <a:spcPts val="220"/>
              </a:spcAft>
            </a:pPr>
            <a:r>
              <a:rPr sz="860" b="1">
                <a:solidFill>
                  <a:srgbClr val="0F172A"/>
                </a:solidFill>
                <a:latin typeface="DM Sans"/>
              </a:rPr>
              <a:t>10. </a:t>
            </a:r>
            <a:r>
              <a:rPr sz="860" b="0">
                <a:solidFill>
                  <a:srgbClr val="334155"/>
                </a:solidFill>
                <a:latin typeface="DM Sans"/>
              </a:rPr>
              <a:t>EN 13726-1:2002 / EN 13726:2023, Test methods for wound dressings (absorbency; 'Solution A') · catalogue entry; online link not reachable from our network</a:t>
            </a:r>
          </a:p>
          <a:p>
            <a:pPr>
              <a:lnSpc>
                <a:spcPct val="108000"/>
              </a:lnSpc>
              <a:spcAft>
                <a:spcPts val="220"/>
              </a:spcAft>
            </a:pPr>
            <a:r>
              <a:rPr sz="860" b="1">
                <a:solidFill>
                  <a:srgbClr val="0F172A"/>
                </a:solidFill>
                <a:latin typeface="DM Sans"/>
              </a:rPr>
              <a:t>11. </a:t>
            </a:r>
            <a:r>
              <a:rPr sz="860" b="0">
                <a:solidFill>
                  <a:srgbClr val="334155"/>
                </a:solidFill>
                <a:latin typeface="DM Sans"/>
              </a:rPr>
              <a:t>DuPont position statement on the use of DuPont materials in medical applications (Kapton caution) · web page</a:t>
            </a:r>
          </a:p>
          <a:p>
            <a:pPr>
              <a:lnSpc>
                <a:spcPct val="108000"/>
              </a:lnSpc>
              <a:spcAft>
                <a:spcPts val="220"/>
              </a:spcAft>
            </a:pPr>
            <a:r>
              <a:rPr sz="860" b="1">
                <a:solidFill>
                  <a:srgbClr val="0F172A"/>
                </a:solidFill>
                <a:latin typeface="DM Sans"/>
              </a:rPr>
              <a:t>12. </a:t>
            </a:r>
            <a:r>
              <a:rPr sz="860" b="0">
                <a:solidFill>
                  <a:srgbClr val="334155"/>
                </a:solidFill>
                <a:latin typeface="DM Sans"/>
              </a:rPr>
              <a:t>Texas Instruments ADS1115 datasheet (SBAS444); Espressif ESP32-C3 datasheet · vendor documents</a:t>
            </a:r>
          </a:p>
          <a:p>
            <a:pPr>
              <a:lnSpc>
                <a:spcPct val="108000"/>
              </a:lnSpc>
              <a:spcAft>
                <a:spcPts val="220"/>
              </a:spcAft>
            </a:pPr>
            <a:r>
              <a:rPr sz="860" b="1">
                <a:solidFill>
                  <a:srgbClr val="0F172A"/>
                </a:solidFill>
                <a:latin typeface="DM Sans"/>
              </a:rPr>
              <a:t>13. </a:t>
            </a:r>
            <a:r>
              <a:rPr sz="860" b="0">
                <a:solidFill>
                  <a:srgbClr val="334155"/>
                </a:solidFill>
                <a:latin typeface="DM Sans"/>
              </a:rPr>
              <a:t>Wounds UK news (22 Aug 2018) on a Mölnlycke-commissioned survey of &gt;200 UK patients with chronic wounds: average dressing time 18 min · patient-reported, industry-sponsored; web page read</a:t>
            </a:r>
          </a:p>
          <a:p>
            <a:pPr>
              <a:lnSpc>
                <a:spcPct val="108000"/>
              </a:lnSpc>
              <a:spcAft>
                <a:spcPts val="220"/>
              </a:spcAft>
            </a:pPr>
            <a:r>
              <a:rPr sz="860" b="1">
                <a:solidFill>
                  <a:srgbClr val="0F172A"/>
                </a:solidFill>
                <a:latin typeface="DM Sans"/>
              </a:rPr>
              <a:t>14. </a:t>
            </a:r>
            <a:r>
              <a:rPr sz="860" b="0">
                <a:solidFill>
                  <a:srgbClr val="334155"/>
                </a:solidFill>
                <a:latin typeface="DM Sans"/>
              </a:rPr>
              <a:t>Smith+Nephew, ALLEVYN LIFE product page: visual change indicator ('At 75%, it's time to change your dressing') · manufacturer web page, read 19 Oct 2026</a:t>
            </a:r>
          </a:p>
          <a:p>
            <a:pPr>
              <a:lnSpc>
                <a:spcPct val="108000"/>
              </a:lnSpc>
              <a:spcAft>
                <a:spcPts val="220"/>
              </a:spcAft>
            </a:pPr>
            <a:r>
              <a:rPr sz="860" b="1">
                <a:solidFill>
                  <a:srgbClr val="0F172A"/>
                </a:solidFill>
                <a:latin typeface="DM Sans"/>
              </a:rPr>
              <a:t>15. </a:t>
            </a:r>
            <a:r>
              <a:rPr sz="860" b="0">
                <a:solidFill>
                  <a:srgbClr val="334155"/>
                </a:solidFill>
                <a:latin typeface="DM Sans"/>
              </a:rPr>
              <a:t>Truemeds.in retail listings: Mepilex Lite 10 × 10 cm ₹242; Mepilex Border 10 × 10 cm ₹514 (pack size unclear) · retail pages, read 19 Oct 2026</a:t>
            </a:r>
          </a:p>
          <a:p>
            <a:pPr>
              <a:lnSpc>
                <a:spcPct val="108000"/>
              </a:lnSpc>
              <a:spcAft>
                <a:spcPts val="220"/>
              </a:spcAft>
            </a:pPr>
            <a:r>
              <a:rPr sz="860" b="1">
                <a:solidFill>
                  <a:srgbClr val="0F172A"/>
                </a:solidFill>
                <a:latin typeface="DM Sans"/>
              </a:rPr>
              <a:t>16. </a:t>
            </a:r>
            <a:r>
              <a:rPr sz="860" b="0">
                <a:solidFill>
                  <a:srgbClr val="334155"/>
                </a:solidFill>
                <a:latin typeface="DM Sans"/>
              </a:rPr>
              <a:t>Gupta N., Gupta S.K., Shukla V.K., Singh S.P., An Indian community-based epidemiological study of wounds, J. Wound Care 13(8):323–325 (2004). doi:10.12968/jowc.2004.13.8.26657 · abstract</a:t>
            </a:r>
          </a:p>
          <a:p>
            <a:pPr>
              <a:lnSpc>
                <a:spcPct val="108000"/>
              </a:lnSpc>
              <a:spcAft>
                <a:spcPts val="220"/>
              </a:spcAft>
            </a:pPr>
            <a:r>
              <a:rPr sz="860" b="1">
                <a:solidFill>
                  <a:srgbClr val="0F172A"/>
                </a:solidFill>
                <a:latin typeface="DM Sans"/>
              </a:rPr>
              <a:t>17. </a:t>
            </a:r>
            <a:r>
              <a:rPr sz="860" b="0">
                <a:solidFill>
                  <a:srgbClr val="334155"/>
                </a:solidFill>
                <a:latin typeface="DM Sans"/>
              </a:rPr>
              <a:t>Sharma A. et al., Epidemiological profile of chronic wounds in an Indian population, Cureus 16(9):e68684 (2024). doi:10.7759/cureus.68684 · full text</a:t>
            </a:r>
          </a:p>
          <a:p>
            <a:pPr>
              <a:lnSpc>
                <a:spcPct val="108000"/>
              </a:lnSpc>
              <a:spcAft>
                <a:spcPts val="220"/>
              </a:spcAft>
            </a:pPr>
            <a:r>
              <a:rPr sz="860" b="1">
                <a:solidFill>
                  <a:srgbClr val="0F172A"/>
                </a:solidFill>
                <a:latin typeface="DM Sans"/>
              </a:rPr>
              <a:t>18. </a:t>
            </a:r>
            <a:r>
              <a:rPr sz="860" b="0">
                <a:solidFill>
                  <a:srgbClr val="334155"/>
                </a:solidFill>
                <a:latin typeface="DM Sans"/>
              </a:rPr>
              <a:t>Anjana R.M. et al., ICMR-INDIAB national cross-sectional study (ICMR-INDIAB-17), Lancet Diabetes Endocrinol. 11(7):474–489 (2023) · abstract and summaries</a:t>
            </a:r>
          </a:p>
          <a:p>
            <a:pPr>
              <a:lnSpc>
                <a:spcPct val="108000"/>
              </a:lnSpc>
              <a:spcAft>
                <a:spcPts val="220"/>
              </a:spcAft>
            </a:pPr>
            <a:r>
              <a:rPr sz="860" b="1">
                <a:solidFill>
                  <a:srgbClr val="0F172A"/>
                </a:solidFill>
                <a:latin typeface="DM Sans"/>
              </a:rPr>
              <a:t>19. </a:t>
            </a:r>
            <a:r>
              <a:rPr sz="860" b="0">
                <a:solidFill>
                  <a:srgbClr val="334155"/>
                </a:solidFill>
                <a:latin typeface="DM Sans"/>
              </a:rPr>
              <a:t>Armstrong D.G., Boulton A.J.M., Bus S.A., Diabetic foot ulcers and their recurrence, N. Engl. J. Med. 376:2367–2375 (2017). doi:10.1056/NEJMra1615439 · summaries; range is an estimate and contested</a:t>
            </a:r>
          </a:p>
          <a:p>
            <a:pPr>
              <a:lnSpc>
                <a:spcPct val="108000"/>
              </a:lnSpc>
              <a:spcAft>
                <a:spcPts val="220"/>
              </a:spcAft>
            </a:pPr>
            <a:r>
              <a:rPr sz="860" b="1">
                <a:solidFill>
                  <a:srgbClr val="0F172A"/>
                </a:solidFill>
                <a:latin typeface="DM Sans"/>
              </a:rPr>
              <a:t>20. </a:t>
            </a:r>
            <a:r>
              <a:rPr sz="860" b="0">
                <a:solidFill>
                  <a:srgbClr val="334155"/>
                </a:solidFill>
                <a:latin typeface="DM Sans"/>
              </a:rPr>
              <a:t>Price P.E. et al., Dressing-related pain in patients with chronic wounds: an international patient perspective, Int. Wound J. 5(2):159–171 (2008). doi:10.1111/j.1742-481X.2008.00471.x · abstract</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0" name="Shape 520"/>
        <p:cNvGrpSpPr/>
        <p:nvPr/>
      </p:nvGrpSpPr>
      <p:grpSpPr>
        <a:xfrm>
          <a:off x="0" y="0"/>
          <a:ext cx="0" cy="0"/>
          <a:chOff x="0" y="0"/>
          <a:chExt cx="0" cy="0"/>
        </a:xfrm>
      </p:grpSpPr>
      <p:pic>
        <p:nvPicPr>
          <p:cNvPr descr="image.png" id="521" name="Google Shape;521;p3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22" name="Google Shape;522;p32"/>
          <p:cNvSpPr txBox="1"/>
          <p:nvPr/>
        </p:nvSpPr>
        <p:spPr>
          <a:xfrm>
            <a:off x="533400" y="438150"/>
            <a:ext cx="11658600" cy="308520"/>
          </a:xfrm>
          <a:prstGeom prst="rect">
            <a:avLst/>
          </a:prstGeom>
          <a:noFill/>
          <a:ln>
            <a:noFill/>
          </a:ln>
        </p:spPr>
        <p:txBody>
          <a:bodyPr anchorCtr="0" anchor="ctr" bIns="0" lIns="0" spcFirstLastPara="1" rIns="0" wrap="square" tIns="0">
            <a:spAutoFit/>
          </a:bodyPr>
          <a:lstStyle/>
          <a:p>
            <a:pPr indent="0" lvl="0" marL="0" marR="0" rtl="0" algn="l">
              <a:lnSpc>
                <a:spcPct val="119950"/>
              </a:lnSpc>
              <a:spcBef>
                <a:spcPts val="0"/>
              </a:spcBef>
              <a:spcAft>
                <a:spcPts val="0"/>
              </a:spcAft>
              <a:buNone/>
            </a:pPr>
            <a:r>
              <a:rPr b="1" i="0" lang="en-US" sz="2025" u="none" cap="none" strike="noStrike">
                <a:solidFill>
                  <a:srgbClr val="0F172A"/>
                </a:solidFill>
                <a:latin typeface="Poppins SemiBold"/>
                <a:ea typeface="Poppins SemiBold"/>
                <a:cs typeface="Poppins SemiBold"/>
                <a:sym typeface="Poppins SemiBold"/>
              </a:rPr>
              <a:t>Image Sources</a:t>
            </a:r>
            <a:endParaRPr/>
          </a:p>
        </p:txBody>
      </p:sp>
      <p:pic>
        <p:nvPicPr>
          <p:cNvPr id="551" name="Google Shape;551;p32" title="MBF_Logo_2020.png"/>
          <p:cNvPicPr preferRelativeResize="0"/>
          <p:nvPr/>
        </p:nvPicPr>
        <p:blipFill>
          <a:blip r:embed="rId10">
            <a:alphaModFix/>
          </a:blip>
          <a:stretch>
            <a:fillRect/>
          </a:stretch>
        </p:blipFill>
        <p:spPr>
          <a:xfrm>
            <a:off x="11095194" y="6280800"/>
            <a:ext cx="1096806" cy="577200"/>
          </a:xfrm>
          <a:prstGeom prst="rect">
            <a:avLst/>
          </a:prstGeom>
          <a:noFill/>
          <a:ln>
            <a:noFill/>
          </a:ln>
        </p:spPr>
      </p:pic>
      <p:pic>
        <p:nvPicPr>
          <p:cNvPr id="552" name="Google Shape;552;p32" title="VK colored transparent logo.png"/>
          <p:cNvPicPr preferRelativeResize="0"/>
          <p:nvPr/>
        </p:nvPicPr>
        <p:blipFill rotWithShape="1">
          <a:blip r:embed="rId11">
            <a:alphaModFix/>
          </a:blip>
          <a:srcRect b="44466" l="14673" r="15820" t="33074"/>
          <a:stretch/>
        </p:blipFill>
        <p:spPr>
          <a:xfrm>
            <a:off x="0" y="6280800"/>
            <a:ext cx="1786280" cy="577200"/>
          </a:xfrm>
          <a:prstGeom prst="rect">
            <a:avLst/>
          </a:prstGeom>
          <a:noFill/>
          <a:ln>
            <a:noFill/>
          </a:ln>
        </p:spPr>
      </p:pic>
      <p:sp>
        <p:nvSpPr>
          <p:cNvPr id="553" name="Rounded Rectangle 552"/>
          <p:cNvSpPr/>
          <p:nvPr/>
        </p:nvSpPr>
        <p:spPr>
          <a:xfrm>
            <a:off x="9829800" y="457200"/>
            <a:ext cx="1828800" cy="246888"/>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047857"/>
                </a:solidFill>
                <a:latin typeface="DM Sans"/>
              </a:rPr>
              <a:t>ALL IMAGES FROM OUR FILES</a:t>
            </a:r>
          </a:p>
        </p:txBody>
      </p:sp>
      <p:sp>
        <p:nvSpPr>
          <p:cNvPr id="554" name="TextBox 553"/>
          <p:cNvSpPr txBox="1"/>
          <p:nvPr/>
        </p:nvSpPr>
        <p:spPr>
          <a:xfrm>
            <a:off x="530352" y="932688"/>
            <a:ext cx="11128248" cy="411480"/>
          </a:xfrm>
          <a:prstGeom prst="rect">
            <a:avLst/>
          </a:prstGeom>
          <a:noFill/>
        </p:spPr>
        <p:txBody>
          <a:bodyPr wrap="square" lIns="18288" rIns="18288" tIns="9144" bIns="9144" anchor="t"/>
          <a:lstStyle/>
          <a:p>
            <a:pPr>
              <a:lnSpc>
                <a:spcPct val="108000"/>
              </a:lnSpc>
              <a:spcAft>
                <a:spcPts val="400"/>
              </a:spcAft>
            </a:pPr>
            <a:r>
              <a:rPr sz="950" b="0">
                <a:solidFill>
                  <a:srgbClr val="334155"/>
                </a:solidFill>
                <a:latin typeface="DM Sans"/>
              </a:rPr>
              <a:t>Every image comes from our own project files: SolidWorks renders and screenshots, the KiCad export, and plots drawn by our scripts (written with AI assistance). No stock photos and no AI image generators. Team photos (slide 12) are taken by the team.</a:t>
            </a:r>
          </a:p>
        </p:txBody>
      </p:sp>
      <p:pic>
        <p:nvPicPr>
          <p:cNvPr id="555" name="Picture 554" descr="fig_problem.png"/>
          <p:cNvPicPr>
            <a:picLocks noChangeAspect="1"/>
          </p:cNvPicPr>
          <p:nvPr/>
        </p:nvPicPr>
        <p:blipFill>
          <a:blip r:embed="rId12"/>
          <a:stretch>
            <a:fillRect/>
          </a:stretch>
        </p:blipFill>
        <p:spPr>
          <a:xfrm>
            <a:off x="538680" y="1517904"/>
            <a:ext cx="852022" cy="566928"/>
          </a:xfrm>
          <a:prstGeom prst="rect">
            <a:avLst/>
          </a:prstGeom>
        </p:spPr>
      </p:pic>
      <p:sp>
        <p:nvSpPr>
          <p:cNvPr id="556" name="TextBox 555"/>
          <p:cNvSpPr txBox="1"/>
          <p:nvPr/>
        </p:nvSpPr>
        <p:spPr>
          <a:xfrm>
            <a:off x="1472184" y="1517904"/>
            <a:ext cx="2743200" cy="731520"/>
          </a:xfrm>
          <a:prstGeom prst="rect">
            <a:avLst/>
          </a:prstGeom>
          <a:noFill/>
        </p:spPr>
        <p:txBody>
          <a:bodyPr wrap="square" lIns="18288" rIns="18288" tIns="9144" bIns="9144" anchor="t"/>
          <a:lstStyle/>
          <a:p>
            <a:pPr>
              <a:lnSpc>
                <a:spcPct val="108000"/>
              </a:lnSpc>
              <a:spcAft>
                <a:spcPts val="0"/>
              </a:spcAft>
            </a:pPr>
            <a:r>
              <a:rPr sz="740" b="1">
                <a:solidFill>
                  <a:srgbClr val="0F172A"/>
                </a:solidFill>
                <a:latin typeface="DM Sans"/>
              </a:rPr>
              <a:t>Problem illustration, drawn to scale</a:t>
            </a:r>
          </a:p>
          <a:p>
            <a:pPr>
              <a:lnSpc>
                <a:spcPct val="108000"/>
              </a:lnSpc>
              <a:spcAft>
                <a:spcPts val="0"/>
              </a:spcAft>
            </a:pPr>
            <a:r>
              <a:rPr sz="740" b="0">
                <a:solidFill>
                  <a:srgbClr val="64748B"/>
                </a:solidFill>
                <a:latin typeface="DM Sans"/>
              </a:rPr>
              <a:t>Source: </a:t>
            </a:r>
            <a:r>
              <a:rPr sz="740" b="0">
                <a:solidFill>
                  <a:srgbClr val="0369A1"/>
                </a:solidFill>
                <a:latin typeface="DM Sans"/>
              </a:rPr>
              <a:t>make_figures.py · strip_v0_1_geometry.json</a:t>
            </a:r>
          </a:p>
          <a:p>
            <a:pPr>
              <a:lnSpc>
                <a:spcPct val="108000"/>
              </a:lnSpc>
              <a:spcAft>
                <a:spcPts val="0"/>
              </a:spcAft>
            </a:pPr>
            <a:r>
              <a:rPr sz="740" b="0">
                <a:solidFill>
                  <a:srgbClr val="64748B"/>
                </a:solidFill>
                <a:latin typeface="DM Sans"/>
              </a:rPr>
              <a:t>1_presentation/figures/fig_problem.png</a:t>
            </a:r>
          </a:p>
        </p:txBody>
      </p:sp>
      <p:pic>
        <p:nvPicPr>
          <p:cNvPr id="557" name="Picture 556" descr="fig_howitworks.png"/>
          <p:cNvPicPr>
            <a:picLocks noChangeAspect="1"/>
          </p:cNvPicPr>
          <p:nvPr/>
        </p:nvPicPr>
        <p:blipFill>
          <a:blip r:embed="rId13"/>
          <a:stretch>
            <a:fillRect/>
          </a:stretch>
        </p:blipFill>
        <p:spPr>
          <a:xfrm>
            <a:off x="4317791" y="1517904"/>
            <a:ext cx="791880" cy="566928"/>
          </a:xfrm>
          <a:prstGeom prst="rect">
            <a:avLst/>
          </a:prstGeom>
        </p:spPr>
      </p:pic>
      <p:sp>
        <p:nvSpPr>
          <p:cNvPr id="558" name="TextBox 557"/>
          <p:cNvSpPr txBox="1"/>
          <p:nvPr/>
        </p:nvSpPr>
        <p:spPr>
          <a:xfrm>
            <a:off x="5221224" y="1517904"/>
            <a:ext cx="2743200" cy="731520"/>
          </a:xfrm>
          <a:prstGeom prst="rect">
            <a:avLst/>
          </a:prstGeom>
          <a:noFill/>
        </p:spPr>
        <p:txBody>
          <a:bodyPr wrap="square" lIns="18288" rIns="18288" tIns="9144" bIns="9144" anchor="t"/>
          <a:lstStyle/>
          <a:p>
            <a:pPr>
              <a:lnSpc>
                <a:spcPct val="108000"/>
              </a:lnSpc>
              <a:spcAft>
                <a:spcPts val="0"/>
              </a:spcAft>
            </a:pPr>
            <a:r>
              <a:rPr sz="740" b="1">
                <a:solidFill>
                  <a:srgbClr val="0F172A"/>
                </a:solidFill>
                <a:latin typeface="DM Sans"/>
              </a:rPr>
              <a:t>How it senses (concept)</a:t>
            </a:r>
          </a:p>
          <a:p>
            <a:pPr>
              <a:lnSpc>
                <a:spcPct val="108000"/>
              </a:lnSpc>
              <a:spcAft>
                <a:spcPts val="0"/>
              </a:spcAft>
            </a:pPr>
            <a:r>
              <a:rPr sz="740" b="0">
                <a:solidFill>
                  <a:srgbClr val="64748B"/>
                </a:solidFill>
                <a:latin typeface="DM Sans"/>
              </a:rPr>
              <a:t>Source: </a:t>
            </a:r>
            <a:r>
              <a:rPr sz="740" b="0">
                <a:solidFill>
                  <a:srgbClr val="0369A1"/>
                </a:solidFill>
                <a:latin typeface="DM Sans"/>
              </a:rPr>
              <a:t>make_figures.py · sensor_selection.md, calc_readout.py</a:t>
            </a:r>
          </a:p>
          <a:p>
            <a:pPr>
              <a:lnSpc>
                <a:spcPct val="108000"/>
              </a:lnSpc>
              <a:spcAft>
                <a:spcPts val="0"/>
              </a:spcAft>
            </a:pPr>
            <a:r>
              <a:rPr sz="740" b="0">
                <a:solidFill>
                  <a:srgbClr val="64748B"/>
                </a:solidFill>
                <a:latin typeface="DM Sans"/>
              </a:rPr>
              <a:t>1_presentation/figures/fig_howitworks.png</a:t>
            </a:r>
          </a:p>
        </p:txBody>
      </p:sp>
      <p:pic>
        <p:nvPicPr>
          <p:cNvPr id="559" name="Picture 558" descr="fig_dataflow.png"/>
          <p:cNvPicPr>
            <a:picLocks noChangeAspect="1"/>
          </p:cNvPicPr>
          <p:nvPr/>
        </p:nvPicPr>
        <p:blipFill>
          <a:blip r:embed="rId14"/>
          <a:stretch>
            <a:fillRect/>
          </a:stretch>
        </p:blipFill>
        <p:spPr>
          <a:xfrm>
            <a:off x="8066831" y="1517904"/>
            <a:ext cx="791880" cy="566928"/>
          </a:xfrm>
          <a:prstGeom prst="rect">
            <a:avLst/>
          </a:prstGeom>
        </p:spPr>
      </p:pic>
      <p:sp>
        <p:nvSpPr>
          <p:cNvPr id="560" name="TextBox 559"/>
          <p:cNvSpPr txBox="1"/>
          <p:nvPr/>
        </p:nvSpPr>
        <p:spPr>
          <a:xfrm>
            <a:off x="8970263" y="1517904"/>
            <a:ext cx="2743200" cy="731520"/>
          </a:xfrm>
          <a:prstGeom prst="rect">
            <a:avLst/>
          </a:prstGeom>
          <a:noFill/>
        </p:spPr>
        <p:txBody>
          <a:bodyPr wrap="square" lIns="18288" rIns="18288" tIns="9144" bIns="9144" anchor="t"/>
          <a:lstStyle/>
          <a:p>
            <a:pPr>
              <a:lnSpc>
                <a:spcPct val="108000"/>
              </a:lnSpc>
              <a:spcAft>
                <a:spcPts val="0"/>
              </a:spcAft>
            </a:pPr>
            <a:r>
              <a:rPr sz="740" b="1">
                <a:solidFill>
                  <a:srgbClr val="0F172A"/>
                </a:solidFill>
                <a:latin typeface="DM Sans"/>
              </a:rPr>
              <a:t>Firmware scan and state logic</a:t>
            </a:r>
          </a:p>
          <a:p>
            <a:pPr>
              <a:lnSpc>
                <a:spcPct val="108000"/>
              </a:lnSpc>
              <a:spcAft>
                <a:spcPts val="0"/>
              </a:spcAft>
            </a:pPr>
            <a:r>
              <a:rPr sz="740" b="0">
                <a:solidFill>
                  <a:srgbClr val="64748B"/>
                </a:solidFill>
                <a:latin typeface="DM Sans"/>
              </a:rPr>
              <a:t>Source: </a:t>
            </a:r>
            <a:r>
              <a:rPr sz="740" b="0">
                <a:solidFill>
                  <a:srgbClr val="0369A1"/>
                </a:solidFill>
                <a:latin typeface="DM Sans"/>
              </a:rPr>
              <a:t>make_figures.py · reader_v0_1 source</a:t>
            </a:r>
          </a:p>
          <a:p>
            <a:pPr>
              <a:lnSpc>
                <a:spcPct val="108000"/>
              </a:lnSpc>
              <a:spcAft>
                <a:spcPts val="0"/>
              </a:spcAft>
            </a:pPr>
            <a:r>
              <a:rPr sz="740" b="0">
                <a:solidFill>
                  <a:srgbClr val="64748B"/>
                </a:solidFill>
                <a:latin typeface="DM Sans"/>
              </a:rPr>
              <a:t>1_presentation/figures/fig_dataflow.png</a:t>
            </a:r>
          </a:p>
        </p:txBody>
      </p:sp>
      <p:pic>
        <p:nvPicPr>
          <p:cNvPr id="561" name="Picture 560" descr="fig_cad.png"/>
          <p:cNvPicPr>
            <a:picLocks noChangeAspect="1"/>
          </p:cNvPicPr>
          <p:nvPr/>
        </p:nvPicPr>
        <p:blipFill>
          <a:blip r:embed="rId15"/>
          <a:stretch>
            <a:fillRect/>
          </a:stretch>
        </p:blipFill>
        <p:spPr>
          <a:xfrm>
            <a:off x="568751" y="2386584"/>
            <a:ext cx="791880" cy="566928"/>
          </a:xfrm>
          <a:prstGeom prst="rect">
            <a:avLst/>
          </a:prstGeom>
        </p:spPr>
      </p:pic>
      <p:sp>
        <p:nvSpPr>
          <p:cNvPr id="562" name="TextBox 561"/>
          <p:cNvSpPr txBox="1"/>
          <p:nvPr/>
        </p:nvSpPr>
        <p:spPr>
          <a:xfrm>
            <a:off x="1472184" y="2386584"/>
            <a:ext cx="2743200" cy="731520"/>
          </a:xfrm>
          <a:prstGeom prst="rect">
            <a:avLst/>
          </a:prstGeom>
          <a:noFill/>
        </p:spPr>
        <p:txBody>
          <a:bodyPr wrap="square" lIns="18288" rIns="18288" tIns="9144" bIns="9144" anchor="t"/>
          <a:lstStyle/>
          <a:p>
            <a:pPr>
              <a:lnSpc>
                <a:spcPct val="108000"/>
              </a:lnSpc>
              <a:spcAft>
                <a:spcPts val="0"/>
              </a:spcAft>
            </a:pPr>
            <a:r>
              <a:rPr sz="740" b="1">
                <a:solidFill>
                  <a:srgbClr val="0F172A"/>
                </a:solidFill>
                <a:latin typeface="DM Sans"/>
              </a:rPr>
              <a:t>Annotated SolidWorks views</a:t>
            </a:r>
          </a:p>
          <a:p>
            <a:pPr>
              <a:lnSpc>
                <a:spcPct val="108000"/>
              </a:lnSpc>
              <a:spcAft>
                <a:spcPts val="0"/>
              </a:spcAft>
            </a:pPr>
            <a:r>
              <a:rPr sz="740" b="0">
                <a:solidFill>
                  <a:srgbClr val="64748B"/>
                </a:solidFill>
                <a:latin typeface="DM Sans"/>
              </a:rPr>
              <a:t>Source: </a:t>
            </a:r>
            <a:r>
              <a:rPr sz="740" b="0">
                <a:solidFill>
                  <a:srgbClr val="0369A1"/>
                </a:solidFill>
                <a:latin typeface="DM Sans"/>
              </a:rPr>
              <a:t>render_cad.py + make_figures.py · 5_cad/solidworks</a:t>
            </a:r>
          </a:p>
          <a:p>
            <a:pPr>
              <a:lnSpc>
                <a:spcPct val="108000"/>
              </a:lnSpc>
              <a:spcAft>
                <a:spcPts val="0"/>
              </a:spcAft>
            </a:pPr>
            <a:r>
              <a:rPr sz="740" b="0">
                <a:solidFill>
                  <a:srgbClr val="64748B"/>
                </a:solidFill>
                <a:latin typeface="DM Sans"/>
              </a:rPr>
              <a:t>1_presentation/figures/fig_cad.png</a:t>
            </a:r>
          </a:p>
        </p:txBody>
      </p:sp>
      <p:pic>
        <p:nvPicPr>
          <p:cNvPr id="563" name="Picture 562" descr="fig_strip.png"/>
          <p:cNvPicPr>
            <a:picLocks noChangeAspect="1"/>
          </p:cNvPicPr>
          <p:nvPr/>
        </p:nvPicPr>
        <p:blipFill>
          <a:blip r:embed="rId16"/>
          <a:stretch>
            <a:fillRect/>
          </a:stretch>
        </p:blipFill>
        <p:spPr>
          <a:xfrm>
            <a:off x="4317791" y="2386584"/>
            <a:ext cx="791880" cy="566928"/>
          </a:xfrm>
          <a:prstGeom prst="rect">
            <a:avLst/>
          </a:prstGeom>
        </p:spPr>
      </p:pic>
      <p:sp>
        <p:nvSpPr>
          <p:cNvPr id="564" name="TextBox 563"/>
          <p:cNvSpPr txBox="1"/>
          <p:nvPr/>
        </p:nvSpPr>
        <p:spPr>
          <a:xfrm>
            <a:off x="5221224" y="2386584"/>
            <a:ext cx="2743200" cy="731520"/>
          </a:xfrm>
          <a:prstGeom prst="rect">
            <a:avLst/>
          </a:prstGeom>
          <a:noFill/>
        </p:spPr>
        <p:txBody>
          <a:bodyPr wrap="square" lIns="18288" rIns="18288" tIns="9144" bIns="9144" anchor="t"/>
          <a:lstStyle/>
          <a:p>
            <a:pPr>
              <a:lnSpc>
                <a:spcPct val="108000"/>
              </a:lnSpc>
              <a:spcAft>
                <a:spcPts val="0"/>
              </a:spcAft>
            </a:pPr>
            <a:r>
              <a:rPr sz="740" b="1">
                <a:solidFill>
                  <a:srgbClr val="0F172A"/>
                </a:solidFill>
                <a:latin typeface="DM Sans"/>
              </a:rPr>
              <a:t>Strip and E2 coupon layers</a:t>
            </a:r>
          </a:p>
          <a:p>
            <a:pPr>
              <a:lnSpc>
                <a:spcPct val="108000"/>
              </a:lnSpc>
              <a:spcAft>
                <a:spcPts val="0"/>
              </a:spcAft>
            </a:pPr>
            <a:r>
              <a:rPr sz="740" b="0">
                <a:solidFill>
                  <a:srgbClr val="64748B"/>
                </a:solidFill>
                <a:latin typeface="DM Sans"/>
              </a:rPr>
              <a:t>Source: </a:t>
            </a:r>
            <a:r>
              <a:rPr sz="740" b="0">
                <a:solidFill>
                  <a:srgbClr val="0369A1"/>
                </a:solidFill>
                <a:latin typeface="DM Sans"/>
              </a:rPr>
              <a:t>make_figures.py · our DXF files</a:t>
            </a:r>
          </a:p>
          <a:p>
            <a:pPr>
              <a:lnSpc>
                <a:spcPct val="108000"/>
              </a:lnSpc>
              <a:spcAft>
                <a:spcPts val="0"/>
              </a:spcAft>
            </a:pPr>
            <a:r>
              <a:rPr sz="740" b="0">
                <a:solidFill>
                  <a:srgbClr val="64748B"/>
                </a:solidFill>
                <a:latin typeface="DM Sans"/>
              </a:rPr>
              <a:t>1_presentation/figures/fig_strip.png</a:t>
            </a:r>
          </a:p>
        </p:txBody>
      </p:sp>
      <p:pic>
        <p:nvPicPr>
          <p:cNvPr id="565" name="Picture 564" descr="fig_schematic.png"/>
          <p:cNvPicPr>
            <a:picLocks noChangeAspect="1"/>
          </p:cNvPicPr>
          <p:nvPr/>
        </p:nvPicPr>
        <p:blipFill>
          <a:blip r:embed="rId17"/>
          <a:stretch>
            <a:fillRect/>
          </a:stretch>
        </p:blipFill>
        <p:spPr>
          <a:xfrm>
            <a:off x="8066831" y="2386584"/>
            <a:ext cx="791880" cy="566928"/>
          </a:xfrm>
          <a:prstGeom prst="rect">
            <a:avLst/>
          </a:prstGeom>
        </p:spPr>
      </p:pic>
      <p:sp>
        <p:nvSpPr>
          <p:cNvPr id="566" name="TextBox 565"/>
          <p:cNvSpPr txBox="1"/>
          <p:nvPr/>
        </p:nvSpPr>
        <p:spPr>
          <a:xfrm>
            <a:off x="8970263" y="2386584"/>
            <a:ext cx="2743200" cy="731520"/>
          </a:xfrm>
          <a:prstGeom prst="rect">
            <a:avLst/>
          </a:prstGeom>
          <a:noFill/>
        </p:spPr>
        <p:txBody>
          <a:bodyPr wrap="square" lIns="18288" rIns="18288" tIns="9144" bIns="9144" anchor="t"/>
          <a:lstStyle/>
          <a:p>
            <a:pPr>
              <a:lnSpc>
                <a:spcPct val="108000"/>
              </a:lnSpc>
              <a:spcAft>
                <a:spcPts val="0"/>
              </a:spcAft>
            </a:pPr>
            <a:r>
              <a:rPr sz="740" b="1">
                <a:solidFill>
                  <a:srgbClr val="0F172A"/>
                </a:solidFill>
                <a:latin typeface="DM Sans"/>
              </a:rPr>
              <a:t>Measurement path + KiCad sheet</a:t>
            </a:r>
          </a:p>
          <a:p>
            <a:pPr>
              <a:lnSpc>
                <a:spcPct val="108000"/>
              </a:lnSpc>
              <a:spcAft>
                <a:spcPts val="0"/>
              </a:spcAft>
            </a:pPr>
            <a:r>
              <a:rPr sz="740" b="0">
                <a:solidFill>
                  <a:srgbClr val="64748B"/>
                </a:solidFill>
                <a:latin typeface="DM Sans"/>
              </a:rPr>
              <a:t>Source: </a:t>
            </a:r>
            <a:r>
              <a:rPr sz="740" b="0">
                <a:solidFill>
                  <a:srgbClr val="0369A1"/>
                </a:solidFill>
                <a:latin typeface="DM Sans"/>
              </a:rPr>
              <a:t>make_figures.py · reader_v0_1 netlist + KiCad PDF</a:t>
            </a:r>
          </a:p>
          <a:p>
            <a:pPr>
              <a:lnSpc>
                <a:spcPct val="108000"/>
              </a:lnSpc>
              <a:spcAft>
                <a:spcPts val="0"/>
              </a:spcAft>
            </a:pPr>
            <a:r>
              <a:rPr sz="740" b="0">
                <a:solidFill>
                  <a:srgbClr val="64748B"/>
                </a:solidFill>
                <a:latin typeface="DM Sans"/>
              </a:rPr>
              <a:t>1_presentation/figures/fig_schematic.png</a:t>
            </a:r>
          </a:p>
        </p:txBody>
      </p:sp>
      <p:pic>
        <p:nvPicPr>
          <p:cNvPr id="567" name="Picture 566" descr="fig_window.png"/>
          <p:cNvPicPr>
            <a:picLocks noChangeAspect="1"/>
          </p:cNvPicPr>
          <p:nvPr/>
        </p:nvPicPr>
        <p:blipFill>
          <a:blip r:embed="rId18"/>
          <a:stretch>
            <a:fillRect/>
          </a:stretch>
        </p:blipFill>
        <p:spPr>
          <a:xfrm>
            <a:off x="568751" y="3255263"/>
            <a:ext cx="791880" cy="566928"/>
          </a:xfrm>
          <a:prstGeom prst="rect">
            <a:avLst/>
          </a:prstGeom>
        </p:spPr>
      </p:pic>
      <p:sp>
        <p:nvSpPr>
          <p:cNvPr id="568" name="TextBox 567"/>
          <p:cNvSpPr txBox="1"/>
          <p:nvPr/>
        </p:nvSpPr>
        <p:spPr>
          <a:xfrm>
            <a:off x="1472184" y="3255263"/>
            <a:ext cx="2743200" cy="731520"/>
          </a:xfrm>
          <a:prstGeom prst="rect">
            <a:avLst/>
          </a:prstGeom>
          <a:noFill/>
        </p:spPr>
        <p:txBody>
          <a:bodyPr wrap="square" lIns="18288" rIns="18288" tIns="9144" bIns="9144" anchor="t"/>
          <a:lstStyle/>
          <a:p>
            <a:pPr>
              <a:lnSpc>
                <a:spcPct val="108000"/>
              </a:lnSpc>
              <a:spcAft>
                <a:spcPts val="0"/>
              </a:spcAft>
            </a:pPr>
            <a:r>
              <a:rPr sz="740" b="1">
                <a:solidFill>
                  <a:srgbClr val="0F172A"/>
                </a:solidFill>
                <a:latin typeface="DM Sans"/>
              </a:rPr>
              <a:t>Measurement window</a:t>
            </a:r>
          </a:p>
          <a:p>
            <a:pPr>
              <a:lnSpc>
                <a:spcPct val="108000"/>
              </a:lnSpc>
              <a:spcAft>
                <a:spcPts val="0"/>
              </a:spcAft>
            </a:pPr>
            <a:r>
              <a:rPr sz="740" b="0">
                <a:solidFill>
                  <a:srgbClr val="64748B"/>
                </a:solidFill>
                <a:latin typeface="DM Sans"/>
              </a:rPr>
              <a:t>Source: </a:t>
            </a:r>
            <a:r>
              <a:rPr sz="740" b="0">
                <a:solidFill>
                  <a:srgbClr val="0369A1"/>
                </a:solidFill>
                <a:latin typeface="DM Sans"/>
              </a:rPr>
              <a:t>make_figures.py · calc_readout.py</a:t>
            </a:r>
          </a:p>
          <a:p>
            <a:pPr>
              <a:lnSpc>
                <a:spcPct val="108000"/>
              </a:lnSpc>
              <a:spcAft>
                <a:spcPts val="0"/>
              </a:spcAft>
            </a:pPr>
            <a:r>
              <a:rPr sz="740" b="0">
                <a:solidFill>
                  <a:srgbClr val="64748B"/>
                </a:solidFill>
                <a:latin typeface="DM Sans"/>
              </a:rPr>
              <a:t>1_presentation/figures/fig_window.png</a:t>
            </a:r>
          </a:p>
        </p:txBody>
      </p:sp>
      <p:pic>
        <p:nvPicPr>
          <p:cNvPr id="569" name="Picture 568" descr="fig_maker.png"/>
          <p:cNvPicPr>
            <a:picLocks noChangeAspect="1"/>
          </p:cNvPicPr>
          <p:nvPr/>
        </p:nvPicPr>
        <p:blipFill>
          <a:blip r:embed="rId19"/>
          <a:stretch>
            <a:fillRect/>
          </a:stretch>
        </p:blipFill>
        <p:spPr>
          <a:xfrm>
            <a:off x="4317791" y="3255263"/>
            <a:ext cx="791880" cy="566928"/>
          </a:xfrm>
          <a:prstGeom prst="rect">
            <a:avLst/>
          </a:prstGeom>
        </p:spPr>
      </p:pic>
      <p:sp>
        <p:nvSpPr>
          <p:cNvPr id="570" name="TextBox 569"/>
          <p:cNvSpPr txBox="1"/>
          <p:nvPr/>
        </p:nvSpPr>
        <p:spPr>
          <a:xfrm>
            <a:off x="5221224" y="3255263"/>
            <a:ext cx="2743200" cy="731520"/>
          </a:xfrm>
          <a:prstGeom prst="rect">
            <a:avLst/>
          </a:prstGeom>
          <a:noFill/>
        </p:spPr>
        <p:txBody>
          <a:bodyPr wrap="square" lIns="18288" rIns="18288" tIns="9144" bIns="9144" anchor="t"/>
          <a:lstStyle/>
          <a:p>
            <a:pPr>
              <a:lnSpc>
                <a:spcPct val="108000"/>
              </a:lnSpc>
              <a:spcAft>
                <a:spcPts val="0"/>
              </a:spcAft>
            </a:pPr>
            <a:r>
              <a:rPr sz="740" b="1">
                <a:solidFill>
                  <a:srgbClr val="0F172A"/>
                </a:solidFill>
                <a:latin typeface="DM Sans"/>
              </a:rPr>
              <a:t>Evidence gallery + tool output</a:t>
            </a:r>
          </a:p>
          <a:p>
            <a:pPr>
              <a:lnSpc>
                <a:spcPct val="108000"/>
              </a:lnSpc>
              <a:spcAft>
                <a:spcPts val="0"/>
              </a:spcAft>
            </a:pPr>
            <a:r>
              <a:rPr sz="740" b="0">
                <a:solidFill>
                  <a:srgbClr val="64748B"/>
                </a:solidFill>
                <a:latin typeface="DM Sans"/>
              </a:rPr>
              <a:t>Source: </a:t>
            </a:r>
            <a:r>
              <a:rPr sz="740" b="0">
                <a:solidFill>
                  <a:srgbClr val="0369A1"/>
                </a:solidFill>
                <a:latin typeface="DM Sans"/>
              </a:rPr>
              <a:t>our files, screen capture, 19 Oct tool runs</a:t>
            </a:r>
          </a:p>
          <a:p>
            <a:pPr>
              <a:lnSpc>
                <a:spcPct val="108000"/>
              </a:lnSpc>
              <a:spcAft>
                <a:spcPts val="0"/>
              </a:spcAft>
            </a:pPr>
            <a:r>
              <a:rPr sz="740" b="0">
                <a:solidFill>
                  <a:srgbClr val="64748B"/>
                </a:solidFill>
                <a:latin typeface="DM Sans"/>
              </a:rPr>
              <a:t>1_presentation/figures/fig_maker.png</a:t>
            </a:r>
          </a:p>
        </p:txBody>
      </p:sp>
      <p:pic>
        <p:nvPicPr>
          <p:cNvPr id="571" name="Picture 570" descr="fig_decision.png"/>
          <p:cNvPicPr>
            <a:picLocks noChangeAspect="1"/>
          </p:cNvPicPr>
          <p:nvPr/>
        </p:nvPicPr>
        <p:blipFill>
          <a:blip r:embed="rId20"/>
          <a:stretch>
            <a:fillRect/>
          </a:stretch>
        </p:blipFill>
        <p:spPr>
          <a:xfrm>
            <a:off x="8066831" y="3255263"/>
            <a:ext cx="791880" cy="566928"/>
          </a:xfrm>
          <a:prstGeom prst="rect">
            <a:avLst/>
          </a:prstGeom>
        </p:spPr>
      </p:pic>
      <p:sp>
        <p:nvSpPr>
          <p:cNvPr id="572" name="TextBox 571"/>
          <p:cNvSpPr txBox="1"/>
          <p:nvPr/>
        </p:nvSpPr>
        <p:spPr>
          <a:xfrm>
            <a:off x="8970263" y="3255263"/>
            <a:ext cx="2743200" cy="731520"/>
          </a:xfrm>
          <a:prstGeom prst="rect">
            <a:avLst/>
          </a:prstGeom>
          <a:noFill/>
        </p:spPr>
        <p:txBody>
          <a:bodyPr wrap="square" lIns="18288" rIns="18288" tIns="9144" bIns="9144" anchor="t"/>
          <a:lstStyle/>
          <a:p>
            <a:pPr>
              <a:lnSpc>
                <a:spcPct val="108000"/>
              </a:lnSpc>
              <a:spcAft>
                <a:spcPts val="0"/>
              </a:spcAft>
            </a:pPr>
            <a:r>
              <a:rPr sz="740" b="1">
                <a:solidFill>
                  <a:srgbClr val="0F172A"/>
                </a:solidFill>
                <a:latin typeface="DM Sans"/>
              </a:rPr>
              <a:t>Decision matrix + iterations</a:t>
            </a:r>
          </a:p>
          <a:p>
            <a:pPr>
              <a:lnSpc>
                <a:spcPct val="108000"/>
              </a:lnSpc>
              <a:spcAft>
                <a:spcPts val="0"/>
              </a:spcAft>
            </a:pPr>
            <a:r>
              <a:rPr sz="740" b="0">
                <a:solidFill>
                  <a:srgbClr val="64748B"/>
                </a:solidFill>
                <a:latin typeface="DM Sans"/>
              </a:rPr>
              <a:t>Source: </a:t>
            </a:r>
            <a:r>
              <a:rPr sz="740" b="0">
                <a:solidFill>
                  <a:srgbClr val="0369A1"/>
                </a:solidFill>
                <a:latin typeface="DM Sans"/>
              </a:rPr>
              <a:t>make_figures.py · decision_matrix.md</a:t>
            </a:r>
          </a:p>
          <a:p>
            <a:pPr>
              <a:lnSpc>
                <a:spcPct val="108000"/>
              </a:lnSpc>
              <a:spcAft>
                <a:spcPts val="0"/>
              </a:spcAft>
            </a:pPr>
            <a:r>
              <a:rPr sz="740" b="0">
                <a:solidFill>
                  <a:srgbClr val="64748B"/>
                </a:solidFill>
                <a:latin typeface="DM Sans"/>
              </a:rPr>
              <a:t>1_presentation/figures/fig_decision.png</a:t>
            </a:r>
          </a:p>
        </p:txBody>
      </p:sp>
      <p:pic>
        <p:nvPicPr>
          <p:cNvPr id="573" name="Picture 572" descr="fig_fmea.png"/>
          <p:cNvPicPr>
            <a:picLocks noChangeAspect="1"/>
          </p:cNvPicPr>
          <p:nvPr/>
        </p:nvPicPr>
        <p:blipFill>
          <a:blip r:embed="rId21"/>
          <a:stretch>
            <a:fillRect/>
          </a:stretch>
        </p:blipFill>
        <p:spPr>
          <a:xfrm>
            <a:off x="530352" y="4148010"/>
            <a:ext cx="868680" cy="518795"/>
          </a:xfrm>
          <a:prstGeom prst="rect">
            <a:avLst/>
          </a:prstGeom>
        </p:spPr>
      </p:pic>
      <p:sp>
        <p:nvSpPr>
          <p:cNvPr id="574" name="TextBox 573"/>
          <p:cNvSpPr txBox="1"/>
          <p:nvPr/>
        </p:nvSpPr>
        <p:spPr>
          <a:xfrm>
            <a:off x="1472184" y="4123944"/>
            <a:ext cx="2743200" cy="731520"/>
          </a:xfrm>
          <a:prstGeom prst="rect">
            <a:avLst/>
          </a:prstGeom>
          <a:noFill/>
        </p:spPr>
        <p:txBody>
          <a:bodyPr wrap="square" lIns="18288" rIns="18288" tIns="9144" bIns="9144" anchor="t"/>
          <a:lstStyle/>
          <a:p>
            <a:pPr>
              <a:lnSpc>
                <a:spcPct val="108000"/>
              </a:lnSpc>
              <a:spcAft>
                <a:spcPts val="0"/>
              </a:spcAft>
            </a:pPr>
            <a:r>
              <a:rPr sz="740" b="1">
                <a:solidFill>
                  <a:srgbClr val="0F172A"/>
                </a:solidFill>
                <a:latin typeface="DM Sans"/>
              </a:rPr>
              <a:t>FMEA risk ranking</a:t>
            </a:r>
          </a:p>
          <a:p>
            <a:pPr>
              <a:lnSpc>
                <a:spcPct val="108000"/>
              </a:lnSpc>
              <a:spcAft>
                <a:spcPts val="0"/>
              </a:spcAft>
            </a:pPr>
            <a:r>
              <a:rPr sz="740" b="0">
                <a:solidFill>
                  <a:srgbClr val="64748B"/>
                </a:solidFill>
                <a:latin typeface="DM Sans"/>
              </a:rPr>
              <a:t>Source: </a:t>
            </a:r>
            <a:r>
              <a:rPr sz="740" b="0">
                <a:solidFill>
                  <a:srgbClr val="0369A1"/>
                </a:solidFill>
                <a:latin typeface="DM Sans"/>
              </a:rPr>
              <a:t>make_figures.py · fmea_v0_1.csv</a:t>
            </a:r>
          </a:p>
          <a:p>
            <a:pPr>
              <a:lnSpc>
                <a:spcPct val="108000"/>
              </a:lnSpc>
              <a:spcAft>
                <a:spcPts val="0"/>
              </a:spcAft>
            </a:pPr>
            <a:r>
              <a:rPr sz="740" b="0">
                <a:solidFill>
                  <a:srgbClr val="64748B"/>
                </a:solidFill>
                <a:latin typeface="DM Sans"/>
              </a:rPr>
              <a:t>1_presentation/figures/fig_fmea.png</a:t>
            </a:r>
          </a:p>
        </p:txBody>
      </p:sp>
      <p:pic>
        <p:nvPicPr>
          <p:cNvPr id="575" name="Picture 574" descr="fig_roadmap.png"/>
          <p:cNvPicPr>
            <a:picLocks noChangeAspect="1"/>
          </p:cNvPicPr>
          <p:nvPr/>
        </p:nvPicPr>
        <p:blipFill>
          <a:blip r:embed="rId22"/>
          <a:stretch>
            <a:fillRect/>
          </a:stretch>
        </p:blipFill>
        <p:spPr>
          <a:xfrm>
            <a:off x="4279392" y="4330664"/>
            <a:ext cx="868680" cy="153487"/>
          </a:xfrm>
          <a:prstGeom prst="rect">
            <a:avLst/>
          </a:prstGeom>
        </p:spPr>
      </p:pic>
      <p:sp>
        <p:nvSpPr>
          <p:cNvPr id="576" name="TextBox 575"/>
          <p:cNvSpPr txBox="1"/>
          <p:nvPr/>
        </p:nvSpPr>
        <p:spPr>
          <a:xfrm>
            <a:off x="5221224" y="4123944"/>
            <a:ext cx="2743200" cy="731520"/>
          </a:xfrm>
          <a:prstGeom prst="rect">
            <a:avLst/>
          </a:prstGeom>
          <a:noFill/>
        </p:spPr>
        <p:txBody>
          <a:bodyPr wrap="square" lIns="18288" rIns="18288" tIns="9144" bIns="9144" anchor="t"/>
          <a:lstStyle/>
          <a:p>
            <a:pPr>
              <a:lnSpc>
                <a:spcPct val="108000"/>
              </a:lnSpc>
              <a:spcAft>
                <a:spcPts val="0"/>
              </a:spcAft>
            </a:pPr>
            <a:r>
              <a:rPr sz="740" b="1">
                <a:solidFill>
                  <a:srgbClr val="0F172A"/>
                </a:solidFill>
                <a:latin typeface="DM Sans"/>
              </a:rPr>
              <a:t>4-month roadmap</a:t>
            </a:r>
          </a:p>
          <a:p>
            <a:pPr>
              <a:lnSpc>
                <a:spcPct val="108000"/>
              </a:lnSpc>
              <a:spcAft>
                <a:spcPts val="0"/>
              </a:spcAft>
            </a:pPr>
            <a:r>
              <a:rPr sz="740" b="0">
                <a:solidFill>
                  <a:srgbClr val="64748B"/>
                </a:solidFill>
                <a:latin typeface="DM Sans"/>
              </a:rPr>
              <a:t>Source: </a:t>
            </a:r>
            <a:r>
              <a:rPr sz="740" b="0">
                <a:solidFill>
                  <a:srgbClr val="0369A1"/>
                </a:solidFill>
                <a:latin typeface="DM Sans"/>
              </a:rPr>
              <a:t>make_figures.py · E2/bench/E4 plans</a:t>
            </a:r>
          </a:p>
          <a:p>
            <a:pPr>
              <a:lnSpc>
                <a:spcPct val="108000"/>
              </a:lnSpc>
              <a:spcAft>
                <a:spcPts val="0"/>
              </a:spcAft>
            </a:pPr>
            <a:r>
              <a:rPr sz="740" b="0">
                <a:solidFill>
                  <a:srgbClr val="64748B"/>
                </a:solidFill>
                <a:latin typeface="DM Sans"/>
              </a:rPr>
              <a:t>1_presentation/figures/fig_roadmap.png</a:t>
            </a:r>
          </a:p>
        </p:txBody>
      </p:sp>
      <p:pic>
        <p:nvPicPr>
          <p:cNvPr id="577" name="Picture 576" descr="fig_challenges.png"/>
          <p:cNvPicPr>
            <a:picLocks noChangeAspect="1"/>
          </p:cNvPicPr>
          <p:nvPr/>
        </p:nvPicPr>
        <p:blipFill>
          <a:blip r:embed="rId23"/>
          <a:stretch>
            <a:fillRect/>
          </a:stretch>
        </p:blipFill>
        <p:spPr>
          <a:xfrm>
            <a:off x="8028431" y="4348511"/>
            <a:ext cx="868680" cy="117792"/>
          </a:xfrm>
          <a:prstGeom prst="rect">
            <a:avLst/>
          </a:prstGeom>
        </p:spPr>
      </p:pic>
      <p:sp>
        <p:nvSpPr>
          <p:cNvPr id="578" name="TextBox 577"/>
          <p:cNvSpPr txBox="1"/>
          <p:nvPr/>
        </p:nvSpPr>
        <p:spPr>
          <a:xfrm>
            <a:off x="8970263" y="4123944"/>
            <a:ext cx="2743200" cy="731520"/>
          </a:xfrm>
          <a:prstGeom prst="rect">
            <a:avLst/>
          </a:prstGeom>
          <a:noFill/>
        </p:spPr>
        <p:txBody>
          <a:bodyPr wrap="square" lIns="18288" rIns="18288" tIns="9144" bIns="9144" anchor="t"/>
          <a:lstStyle/>
          <a:p>
            <a:pPr>
              <a:lnSpc>
                <a:spcPct val="108000"/>
              </a:lnSpc>
              <a:spcAft>
                <a:spcPts val="0"/>
              </a:spcAft>
            </a:pPr>
            <a:r>
              <a:rPr sz="740" b="1">
                <a:solidFill>
                  <a:srgbClr val="0F172A"/>
                </a:solidFill>
                <a:latin typeface="DM Sans"/>
              </a:rPr>
              <a:t>Seal clash + lead-break diagrams</a:t>
            </a:r>
          </a:p>
          <a:p>
            <a:pPr>
              <a:lnSpc>
                <a:spcPct val="108000"/>
              </a:lnSpc>
              <a:spcAft>
                <a:spcPts val="0"/>
              </a:spcAft>
            </a:pPr>
            <a:r>
              <a:rPr sz="740" b="0">
                <a:solidFill>
                  <a:srgbClr val="64748B"/>
                </a:solidFill>
                <a:latin typeface="DM Sans"/>
              </a:rPr>
              <a:t>Source: </a:t>
            </a:r>
            <a:r>
              <a:rPr sz="740" b="0">
                <a:solidFill>
                  <a:srgbClr val="0369A1"/>
                </a:solidFill>
                <a:latin typeface="DM Sans"/>
              </a:rPr>
              <a:t>make_figures.py · geometry + FMEA</a:t>
            </a:r>
          </a:p>
          <a:p>
            <a:pPr>
              <a:lnSpc>
                <a:spcPct val="108000"/>
              </a:lnSpc>
              <a:spcAft>
                <a:spcPts val="0"/>
              </a:spcAft>
            </a:pPr>
            <a:r>
              <a:rPr sz="740" b="0">
                <a:solidFill>
                  <a:srgbClr val="64748B"/>
                </a:solidFill>
                <a:latin typeface="DM Sans"/>
              </a:rPr>
              <a:t>1_presentation/figures/fig_challenges.png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descr="image.png" id="125" name="Google Shape;125;p16"/>
          <p:cNvPicPr preferRelativeResize="0"/>
          <p:nvPr/>
        </p:nvPicPr>
        <p:blipFill rotWithShape="1">
          <a:blip r:embed="rId6">
            <a:alphaModFix/>
          </a:blip>
          <a:srcRect b="0" l="0" r="0" t="0"/>
          <a:stretch/>
        </p:blipFill>
        <p:spPr>
          <a:xfrm>
            <a:off x="0" y="0"/>
            <a:ext cx="12192000" cy="6858000"/>
          </a:xfrm>
          <a:prstGeom prst="rect">
            <a:avLst/>
          </a:prstGeom>
          <a:noFill/>
          <a:ln>
            <a:noFill/>
          </a:ln>
        </p:spPr>
      </p:pic>
      <p:pic>
        <p:nvPicPr>
          <p:cNvPr descr="image.png" id="126" name="Google Shape;126;p16"/>
          <p:cNvPicPr preferRelativeResize="0"/>
          <p:nvPr/>
        </p:nvPicPr>
        <p:blipFill rotWithShape="1">
          <a:blip r:embed="rId7">
            <a:alphaModFix/>
          </a:blip>
          <a:srcRect b="0" l="0" r="0" t="0"/>
          <a:stretch/>
        </p:blipFill>
        <p:spPr>
          <a:xfrm>
            <a:off x="533400" y="5714641"/>
            <a:ext cx="11125200" cy="363140"/>
          </a:xfrm>
          <a:prstGeom prst="rect">
            <a:avLst/>
          </a:prstGeom>
          <a:noFill/>
          <a:ln>
            <a:noFill/>
          </a:ln>
        </p:spPr>
      </p:pic>
      <p:pic>
        <p:nvPicPr>
          <p:cNvPr descr="image.png" id="131" name="Google Shape;131;p16"/>
          <p:cNvPicPr preferRelativeResize="0"/>
          <p:nvPr/>
        </p:nvPicPr>
        <p:blipFill rotWithShape="1">
          <a:blip r:embed="rId13">
            <a:alphaModFix/>
          </a:blip>
          <a:srcRect b="0" l="0" r="0" t="0"/>
          <a:stretch/>
        </p:blipFill>
        <p:spPr>
          <a:xfrm>
            <a:off x="6229350" y="960120"/>
            <a:ext cx="5429250" cy="4590288"/>
          </a:xfrm>
          <a:prstGeom prst="rect">
            <a:avLst/>
          </a:prstGeom>
          <a:noFill/>
          <a:ln>
            <a:noFill/>
          </a:ln>
        </p:spPr>
      </p:pic>
      <p:pic>
        <p:nvPicPr>
          <p:cNvPr descr="image.png" id="132" name="Google Shape;132;p16"/>
          <p:cNvPicPr preferRelativeResize="0"/>
          <p:nvPr/>
        </p:nvPicPr>
        <p:blipFill rotWithShape="1">
          <a:blip r:embed="rId8">
            <a:alphaModFix/>
          </a:blip>
          <a:srcRect b="0" l="0" r="0" t="0"/>
          <a:stretch/>
        </p:blipFill>
        <p:spPr>
          <a:xfrm>
            <a:off x="533400" y="960120"/>
            <a:ext cx="5429250" cy="4590288"/>
          </a:xfrm>
          <a:prstGeom prst="rect">
            <a:avLst/>
          </a:prstGeom>
          <a:noFill/>
          <a:ln>
            <a:noFill/>
          </a:ln>
        </p:spPr>
      </p:pic>
      <p:sp>
        <p:nvSpPr>
          <p:cNvPr id="133" name="Google Shape;133;p16"/>
          <p:cNvSpPr txBox="1"/>
          <p:nvPr/>
        </p:nvSpPr>
        <p:spPr>
          <a:xfrm>
            <a:off x="533400" y="438150"/>
            <a:ext cx="8595360" cy="308520"/>
          </a:xfrm>
          <a:prstGeom prst="rect">
            <a:avLst/>
          </a:prstGeom>
          <a:noFill/>
          <a:ln>
            <a:noFill/>
          </a:ln>
        </p:spPr>
        <p:txBody>
          <a:bodyPr anchorCtr="0" anchor="ctr" bIns="0" lIns="0" spcFirstLastPara="1" rIns="0" wrap="square" tIns="0">
            <a:spAutoFit/>
          </a:bodyPr>
          <a:lstStyle/>
          <a:p>
            <a:pPr indent="0" lvl="0" marL="0" marR="0" rtl="0" algn="l">
              <a:lnSpc>
                <a:spcPct val="119950"/>
              </a:lnSpc>
              <a:spcBef>
                <a:spcPts val="0"/>
              </a:spcBef>
              <a:spcAft>
                <a:spcPts val="0"/>
              </a:spcAft>
              <a:buNone/>
            </a:pPr>
            <a:r>
              <a:rPr sz="2025" b="0">
                <a:solidFill>
                  <a:srgbClr val="0F172A"/>
                </a:solidFill>
                <a:latin typeface="Poppins SemiBold"/>
              </a:rPr>
              <a:t>Problem Context: What Exists Today and the Gap</a:t>
            </a:r>
            <a:endParaRPr/>
          </a:p>
        </p:txBody>
      </p:sp>
      <p:sp>
        <p:nvSpPr>
          <p:cNvPr id="135" name="Google Shape;135;p16"/>
          <p:cNvSpPr txBox="1"/>
          <p:nvPr/>
        </p:nvSpPr>
        <p:spPr>
          <a:xfrm>
            <a:off x="695325" y="5838653"/>
            <a:ext cx="10698480" cy="329184"/>
          </a:xfrm>
          <a:prstGeom prst="rect">
            <a:avLst/>
          </a:prstGeom>
          <a:noFill/>
          <a:ln>
            <a:noFill/>
          </a:ln>
        </p:spPr>
        <p:txBody>
          <a:bodyPr anchorCtr="0" anchor="t" bIns="0" lIns="0" spcFirstLastPara="1" rIns="0" wrap="square" tIns="0">
            <a:spAutoFit/>
          </a:bodyPr>
          <a:lstStyle/>
          <a:p>
            <a:pPr indent="0" lvl="0" marL="0" marR="0" rtl="0" algn="l">
              <a:lnSpc>
                <a:spcPct val="145037"/>
              </a:lnSpc>
              <a:spcBef>
                <a:spcPts val="0"/>
              </a:spcBef>
              <a:spcAft>
                <a:spcPts val="0"/>
              </a:spcAft>
              <a:buNone/>
            </a:pPr>
            <a:r>
              <a:rPr sz="960" b="1">
                <a:solidFill>
                  <a:srgbClr val="0F172A"/>
                </a:solidFill>
                <a:latin typeface="DM Sans"/>
              </a:rPr>
              <a:t>Design Question: </a:t>
            </a:r>
            <a:r>
              <a:rPr sz="960" b="0">
                <a:solidFill>
                  <a:srgbClr val="334155"/>
                </a:solidFill>
                <a:latin typeface="DM Sans"/>
              </a:rPr>
              <a:t>how might a carer know that a covered dressing is full, without lifting it?</a:t>
            </a:r>
            <a:endParaRPr/>
          </a:p>
        </p:txBody>
      </p:sp>
      <p:pic>
        <p:nvPicPr>
          <p:cNvPr descr="image.png" id="146" name="Google Shape;146;p16"/>
          <p:cNvPicPr preferRelativeResize="0"/>
          <p:nvPr/>
        </p:nvPicPr>
        <p:blipFill rotWithShape="1">
          <a:blip r:embed="rId5">
            <a:alphaModFix/>
          </a:blip>
          <a:srcRect b="0" l="0" r="0" t="0"/>
          <a:stretch/>
        </p:blipFill>
        <p:spPr>
          <a:xfrm>
            <a:off x="6448425" y="1170432"/>
            <a:ext cx="154334" cy="152400"/>
          </a:xfrm>
          <a:prstGeom prst="rect">
            <a:avLst/>
          </a:prstGeom>
          <a:noFill/>
          <a:ln>
            <a:noFill/>
          </a:ln>
        </p:spPr>
      </p:pic>
      <p:sp>
        <p:nvSpPr>
          <p:cNvPr id="147" name="Google Shape;147;p16"/>
          <p:cNvSpPr txBox="1"/>
          <p:nvPr/>
        </p:nvSpPr>
        <p:spPr>
          <a:xfrm>
            <a:off x="6698009" y="1152144"/>
            <a:ext cx="484632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Public Search Disclosure &amp; Our Focus</a:t>
            </a:r>
            <a:endParaRPr/>
          </a:p>
        </p:txBody>
      </p:sp>
      <p:pic>
        <p:nvPicPr>
          <p:cNvPr id="156" name="Google Shape;156;p16" title="MBF_Logo_2020.png"/>
          <p:cNvPicPr preferRelativeResize="0"/>
          <p:nvPr/>
        </p:nvPicPr>
        <p:blipFill>
          <a:blip r:embed="rId4">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9">
            <a:alphaModFix/>
          </a:blip>
          <a:srcRect b="44466" l="14673" r="15820" t="33074"/>
          <a:stretch/>
        </p:blipFill>
        <p:spPr>
          <a:xfrm>
            <a:off x="0" y="6280800"/>
            <a:ext cx="1786280" cy="577200"/>
          </a:xfrm>
          <a:prstGeom prst="rect">
            <a:avLst/>
          </a:prstGeom>
          <a:noFill/>
          <a:ln>
            <a:noFill/>
          </a:ln>
        </p:spPr>
      </p:pic>
      <p:sp>
        <p:nvSpPr>
          <p:cNvPr id="158" name="Rounded Rectangle 157"/>
          <p:cNvSpPr/>
          <p:nvPr/>
        </p:nvSpPr>
        <p:spPr>
          <a:xfrm>
            <a:off x="9518904" y="457200"/>
            <a:ext cx="2139696" cy="246888"/>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0369A1"/>
                </a:solidFill>
                <a:latin typeface="DM Sans"/>
              </a:rPr>
              <a:t>PUBLIC SEARCH · NOT EXHAUSTIVE</a:t>
            </a:r>
          </a:p>
        </p:txBody>
      </p:sp>
      <p:sp>
        <p:nvSpPr>
          <p:cNvPr id="159" name="TextBox 158"/>
          <p:cNvSpPr txBox="1"/>
          <p:nvPr/>
        </p:nvSpPr>
        <p:spPr>
          <a:xfrm>
            <a:off x="713232" y="1078992"/>
            <a:ext cx="5120640" cy="274320"/>
          </a:xfrm>
          <a:prstGeom prst="rect">
            <a:avLst/>
          </a:prstGeom>
          <a:noFill/>
        </p:spPr>
        <p:txBody>
          <a:bodyPr wrap="square" lIns="18288" rIns="18288" tIns="9144" bIns="9144" anchor="t"/>
          <a:lstStyle/>
          <a:p>
            <a:pPr>
              <a:lnSpc>
                <a:spcPct val="108000"/>
              </a:lnSpc>
              <a:spcAft>
                <a:spcPts val="400"/>
              </a:spcAft>
            </a:pPr>
            <a:r>
              <a:rPr sz="1150" b="1">
                <a:solidFill>
                  <a:srgbClr val="0F172A"/>
                </a:solidFill>
                <a:latin typeface="DM Sans"/>
              </a:rPr>
              <a:t>What a carer can use today, and what each option misses</a:t>
            </a:r>
          </a:p>
        </p:txBody>
      </p:sp>
      <p:graphicFrame>
        <p:nvGraphicFramePr>
          <p:cNvPr id="160" name="Table 159"/>
          <p:cNvGraphicFramePr>
            <a:graphicFrameLocks noGrp="1"/>
          </p:cNvGraphicFramePr>
          <p:nvPr/>
        </p:nvGraphicFramePr>
        <p:xfrm>
          <a:off x="658368" y="1463040"/>
          <a:ext cx="5175502" cy="3438144"/>
        </p:xfrm>
        <a:graphic>
          <a:graphicData uri="http://schemas.openxmlformats.org/drawingml/2006/table">
            <a:tbl>
              <a:tblPr firstRow="0" bandRow="0">
                <a:tableStyleId>{2D5ABB26-0587-4C30-8999-92F81FD0307C}</a:tableStyleId>
              </a:tblPr>
              <a:tblGrid>
                <a:gridCol w="1603032"/>
                <a:gridCol w="870217"/>
                <a:gridCol w="870217"/>
                <a:gridCol w="1832036"/>
              </a:tblGrid>
              <a:tr h="429768">
                <a:tc>
                  <a:txBody>
                    <a:bodyPr wrap="square"/>
                    <a:lstStyle/>
                    <a:p>
                      <a:r>
                        <a:rPr sz="860" b="1">
                          <a:solidFill>
                            <a:srgbClr val="0F172A"/>
                          </a:solidFill>
                          <a:latin typeface="DM Sans"/>
                        </a:rPr>
                        <a:t>Today's option</a:t>
                      </a:r>
                    </a:p>
                  </a:txBody>
                  <a:tcPr marL="36576" marR="36576" marT="22860" marB="18288" anchor="ctr">
                    <a:noFill/>
                    <a:lnL w="12700">
                      <a:noFill/>
                    </a:lnL>
                    <a:lnR w="12700">
                      <a:noFill/>
                    </a:lnR>
                    <a:lnT w="12700">
                      <a:noFill/>
                    </a:lnT>
                    <a:lnB w="12700">
                      <a:solidFill>
                        <a:srgbClr val="CBD5E1"/>
                      </a:solidFill>
                    </a:lnB>
                  </a:tcPr>
                </a:tc>
                <a:tc>
                  <a:txBody>
                    <a:bodyPr wrap="square"/>
                    <a:lstStyle/>
                    <a:p>
                      <a:r>
                        <a:rPr sz="860" b="1">
                          <a:solidFill>
                            <a:srgbClr val="0F172A"/>
                          </a:solidFill>
                          <a:latin typeface="DM Sans"/>
                        </a:rPr>
                        <a:t>Without lifting?</a:t>
                      </a:r>
                    </a:p>
                  </a:txBody>
                  <a:tcPr marL="36576" marR="36576" marT="22860" marB="18288" anchor="ctr">
                    <a:noFill/>
                    <a:lnL w="12700">
                      <a:noFill/>
                    </a:lnL>
                    <a:lnR w="12700">
                      <a:noFill/>
                    </a:lnR>
                    <a:lnT w="12700">
                      <a:noFill/>
                    </a:lnT>
                    <a:lnB w="12700">
                      <a:solidFill>
                        <a:srgbClr val="CBD5E1"/>
                      </a:solidFill>
                    </a:lnB>
                  </a:tcPr>
                </a:tc>
                <a:tc>
                  <a:txBody>
                    <a:bodyPr wrap="square"/>
                    <a:lstStyle/>
                    <a:p>
                      <a:r>
                        <a:rPr sz="860" b="1">
                          <a:solidFill>
                            <a:srgbClr val="0F172A"/>
                          </a:solidFill>
                          <a:latin typeface="DM Sans"/>
                        </a:rPr>
                        <a:t>Maker's rule?</a:t>
                      </a:r>
                    </a:p>
                  </a:txBody>
                  <a:tcPr marL="36576" marR="36576" marT="22860" marB="18288" anchor="ctr">
                    <a:noFill/>
                    <a:lnL w="12700">
                      <a:noFill/>
                    </a:lnL>
                    <a:lnR w="12700">
                      <a:noFill/>
                    </a:lnR>
                    <a:lnT w="12700">
                      <a:noFill/>
                    </a:lnT>
                    <a:lnB w="12700">
                      <a:solidFill>
                        <a:srgbClr val="CBD5E1"/>
                      </a:solidFill>
                    </a:lnB>
                  </a:tcPr>
                </a:tc>
                <a:tc>
                  <a:txBody>
                    <a:bodyPr wrap="square"/>
                    <a:lstStyle/>
                    <a:p>
                      <a:r>
                        <a:rPr sz="860" b="1">
                          <a:solidFill>
                            <a:srgbClr val="0F172A"/>
                          </a:solidFill>
                          <a:latin typeface="DM Sans"/>
                        </a:rPr>
                        <a:t>What limits it</a:t>
                      </a:r>
                    </a:p>
                  </a:txBody>
                  <a:tcPr marL="36576" marR="36576" marT="22860" marB="18288" anchor="ctr">
                    <a:noFill/>
                    <a:lnL w="12700">
                      <a:noFill/>
                    </a:lnL>
                    <a:lnR w="12700">
                      <a:noFill/>
                    </a:lnR>
                    <a:lnT w="12700">
                      <a:noFill/>
                    </a:lnT>
                    <a:lnB w="12700">
                      <a:solidFill>
                        <a:srgbClr val="CBD5E1"/>
                      </a:solidFill>
                    </a:lnB>
                  </a:tcPr>
                </a:tc>
              </a:tr>
              <a:tr h="429768">
                <a:tc>
                  <a:txBody>
                    <a:bodyPr wrap="square"/>
                    <a:lstStyle/>
                    <a:p>
                      <a:r>
                        <a:rPr sz="900" b="1">
                          <a:solidFill>
                            <a:srgbClr val="0F172A"/>
                          </a:solidFill>
                          <a:latin typeface="DM Sans"/>
                        </a:rPr>
                        <a:t>Fixed schedule (clock)</a:t>
                      </a:r>
                    </a:p>
                  </a:txBody>
                  <a:tcPr marL="36576" marR="36576" marT="22860" marB="18288" anchor="ctr">
                    <a:noFill/>
                    <a:lnL w="7620">
                      <a:noFill/>
                    </a:lnL>
                    <a:lnR w="7620">
                      <a:noFill/>
                    </a:lnR>
                    <a:lnT w="7620">
                      <a:noFill/>
                    </a:lnT>
                    <a:lnB w="7620">
                      <a:solidFill>
                        <a:srgbClr val="E2E8F0"/>
                      </a:solidFill>
                    </a:lnB>
                  </a:tcPr>
                </a:tc>
                <a:tc>
                  <a:txBody>
                    <a:bodyPr wrap="square"/>
                    <a:lstStyle/>
                    <a:p>
                      <a:r>
                        <a:rPr sz="900" b="1">
                          <a:solidFill>
                            <a:srgbClr val="DC2626"/>
                          </a:solidFill>
                          <a:latin typeface="DM Sans"/>
                        </a:rPr>
                        <a:t>✗</a:t>
                      </a:r>
                    </a:p>
                  </a:txBody>
                  <a:tcPr marL="36576" marR="36576" marT="22860" marB="18288" anchor="ctr">
                    <a:noFill/>
                    <a:lnL w="7620">
                      <a:noFill/>
                    </a:lnL>
                    <a:lnR w="7620">
                      <a:noFill/>
                    </a:lnR>
                    <a:lnT w="7620">
                      <a:noFill/>
                    </a:lnT>
                    <a:lnB w="7620">
                      <a:solidFill>
                        <a:srgbClr val="E2E8F0"/>
                      </a:solidFill>
                    </a:lnB>
                  </a:tcPr>
                </a:tc>
                <a:tc>
                  <a:txBody>
                    <a:bodyPr wrap="square"/>
                    <a:lstStyle/>
                    <a:p>
                      <a:r>
                        <a:rPr sz="900" b="1">
                          <a:solidFill>
                            <a:srgbClr val="DC2626"/>
                          </a:solidFill>
                          <a:latin typeface="DM Sans"/>
                        </a:rPr>
                        <a:t>✗</a:t>
                      </a:r>
                    </a:p>
                  </a:txBody>
                  <a:tcPr marL="36576" marR="36576" marT="22860" marB="18288" anchor="ctr">
                    <a:noFill/>
                    <a:lnL w="7620">
                      <a:noFill/>
                    </a:lnL>
                    <a:lnR w="7620">
                      <a:noFill/>
                    </a:lnR>
                    <a:lnT w="7620">
                      <a:noFill/>
                    </a:lnT>
                    <a:lnB w="7620">
                      <a:solidFill>
                        <a:srgbClr val="E2E8F0"/>
                      </a:solidFill>
                    </a:lnB>
                  </a:tcPr>
                </a:tc>
                <a:tc>
                  <a:txBody>
                    <a:bodyPr wrap="square"/>
                    <a:lstStyle/>
                    <a:p>
                      <a:r>
                        <a:rPr sz="900" b="0">
                          <a:solidFill>
                            <a:srgbClr val="334155"/>
                          </a:solidFill>
                          <a:latin typeface="DM Sans"/>
                        </a:rPr>
                        <a:t>a guess; exudate varies &gt; 10×⁶</a:t>
                      </a:r>
                    </a:p>
                  </a:txBody>
                  <a:tcPr marL="36576" marR="36576" marT="22860" marB="18288" anchor="ctr">
                    <a:noFill/>
                    <a:lnL w="7620">
                      <a:noFill/>
                    </a:lnL>
                    <a:lnR w="7620">
                      <a:noFill/>
                    </a:lnR>
                    <a:lnT w="7620">
                      <a:noFill/>
                    </a:lnT>
                    <a:lnB w="7620">
                      <a:solidFill>
                        <a:srgbClr val="E2E8F0"/>
                      </a:solidFill>
                    </a:lnB>
                  </a:tcPr>
                </a:tc>
              </a:tr>
              <a:tr h="429768">
                <a:tc>
                  <a:txBody>
                    <a:bodyPr wrap="square"/>
                    <a:lstStyle/>
                    <a:p>
                      <a:r>
                        <a:rPr sz="900" b="1">
                          <a:solidFill>
                            <a:srgbClr val="0F172A"/>
                          </a:solidFill>
                          <a:latin typeface="DM Sans"/>
                        </a:rPr>
                        <a:t>Lift and look</a:t>
                      </a:r>
                    </a:p>
                  </a:txBody>
                  <a:tcPr marL="36576" marR="36576" marT="22860" marB="18288" anchor="ctr">
                    <a:noFill/>
                    <a:lnL w="7620">
                      <a:noFill/>
                    </a:lnL>
                    <a:lnR w="7620">
                      <a:noFill/>
                    </a:lnR>
                    <a:lnT w="7620">
                      <a:noFill/>
                    </a:lnT>
                    <a:lnB w="7620">
                      <a:solidFill>
                        <a:srgbClr val="E2E8F0"/>
                      </a:solidFill>
                    </a:lnB>
                  </a:tcPr>
                </a:tc>
                <a:tc>
                  <a:txBody>
                    <a:bodyPr wrap="square"/>
                    <a:lstStyle/>
                    <a:p>
                      <a:r>
                        <a:rPr sz="900" b="1">
                          <a:solidFill>
                            <a:srgbClr val="DC2626"/>
                          </a:solidFill>
                          <a:latin typeface="DM Sans"/>
                        </a:rPr>
                        <a:t>✗</a:t>
                      </a:r>
                    </a:p>
                  </a:txBody>
                  <a:tcPr marL="36576" marR="36576" marT="22860" marB="18288" anchor="ctr">
                    <a:noFill/>
                    <a:lnL w="7620">
                      <a:noFill/>
                    </a:lnL>
                    <a:lnR w="7620">
                      <a:noFill/>
                    </a:lnR>
                    <a:lnT w="7620">
                      <a:noFill/>
                    </a:lnT>
                    <a:lnB w="7620">
                      <a:solidFill>
                        <a:srgbClr val="E2E8F0"/>
                      </a:solidFill>
                    </a:lnB>
                  </a:tcPr>
                </a:tc>
                <a:tc>
                  <a:txBody>
                    <a:bodyPr wrap="square"/>
                    <a:lstStyle/>
                    <a:p>
                      <a:r>
                        <a:rPr sz="900" b="1">
                          <a:solidFill>
                            <a:srgbClr val="059669"/>
                          </a:solidFill>
                          <a:latin typeface="DM Sans"/>
                        </a:rPr>
                        <a:t>✓</a:t>
                      </a:r>
                    </a:p>
                  </a:txBody>
                  <a:tcPr marL="36576" marR="36576" marT="22860" marB="18288" anchor="ctr">
                    <a:noFill/>
                    <a:lnL w="7620">
                      <a:noFill/>
                    </a:lnL>
                    <a:lnR w="7620">
                      <a:noFill/>
                    </a:lnR>
                    <a:lnT w="7620">
                      <a:noFill/>
                    </a:lnT>
                    <a:lnB w="7620">
                      <a:solidFill>
                        <a:srgbClr val="E2E8F0"/>
                      </a:solidFill>
                    </a:lnB>
                  </a:tcPr>
                </a:tc>
                <a:tc>
                  <a:txBody>
                    <a:bodyPr wrap="square"/>
                    <a:lstStyle/>
                    <a:p>
                      <a:r>
                        <a:rPr sz="900" b="0">
                          <a:solidFill>
                            <a:srgbClr val="334155"/>
                          </a:solidFill>
                          <a:latin typeface="DM Sans"/>
                        </a:rPr>
                        <a:t>disturbs the wound; removal hurts²⁰</a:t>
                      </a:r>
                    </a:p>
                  </a:txBody>
                  <a:tcPr marL="36576" marR="36576" marT="22860" marB="18288" anchor="ctr">
                    <a:noFill/>
                    <a:lnL w="7620">
                      <a:noFill/>
                    </a:lnL>
                    <a:lnR w="7620">
                      <a:noFill/>
                    </a:lnR>
                    <a:lnT w="7620">
                      <a:noFill/>
                    </a:lnT>
                    <a:lnB w="7620">
                      <a:solidFill>
                        <a:srgbClr val="E2E8F0"/>
                      </a:solidFill>
                    </a:lnB>
                  </a:tcPr>
                </a:tc>
              </a:tr>
              <a:tr h="429768">
                <a:tc>
                  <a:txBody>
                    <a:bodyPr wrap="square"/>
                    <a:lstStyle/>
                    <a:p>
                      <a:r>
                        <a:rPr sz="900" b="1">
                          <a:solidFill>
                            <a:srgbClr val="0F172A"/>
                          </a:solidFill>
                          <a:latin typeface="DM Sans"/>
                        </a:rPr>
                        <a:t>Visual change indicator¹⁴</a:t>
                      </a:r>
                    </a:p>
                  </a:txBody>
                  <a:tcPr marL="36576" marR="36576" marT="22860" marB="18288" anchor="ctr">
                    <a:noFill/>
                    <a:lnL w="7620">
                      <a:noFill/>
                    </a:lnL>
                    <a:lnR w="7620">
                      <a:noFill/>
                    </a:lnR>
                    <a:lnT w="7620">
                      <a:noFill/>
                    </a:lnT>
                    <a:lnB w="7620">
                      <a:solidFill>
                        <a:srgbClr val="E2E8F0"/>
                      </a:solidFill>
                    </a:lnB>
                  </a:tcPr>
                </a:tc>
                <a:tc>
                  <a:txBody>
                    <a:bodyPr wrap="square"/>
                    <a:lstStyle/>
                    <a:p>
                      <a:r>
                        <a:rPr sz="900" b="1">
                          <a:solidFill>
                            <a:srgbClr val="DC2626"/>
                          </a:solidFill>
                          <a:latin typeface="DM Sans"/>
                        </a:rPr>
                        <a:t>✗</a:t>
                      </a:r>
                    </a:p>
                  </a:txBody>
                  <a:tcPr marL="36576" marR="36576" marT="22860" marB="18288" anchor="ctr">
                    <a:noFill/>
                    <a:lnL w="7620">
                      <a:noFill/>
                    </a:lnL>
                    <a:lnR w="7620">
                      <a:noFill/>
                    </a:lnR>
                    <a:lnT w="7620">
                      <a:noFill/>
                    </a:lnT>
                    <a:lnB w="7620">
                      <a:solidFill>
                        <a:srgbClr val="E2E8F0"/>
                      </a:solidFill>
                    </a:lnB>
                  </a:tcPr>
                </a:tc>
                <a:tc>
                  <a:txBody>
                    <a:bodyPr wrap="square"/>
                    <a:lstStyle/>
                    <a:p>
                      <a:r>
                        <a:rPr sz="900" b="1">
                          <a:solidFill>
                            <a:srgbClr val="059669"/>
                          </a:solidFill>
                          <a:latin typeface="DM Sans"/>
                        </a:rPr>
                        <a:t>✓</a:t>
                      </a:r>
                    </a:p>
                  </a:txBody>
                  <a:tcPr marL="36576" marR="36576" marT="22860" marB="18288" anchor="ctr">
                    <a:noFill/>
                    <a:lnL w="7620">
                      <a:noFill/>
                    </a:lnL>
                    <a:lnR w="7620">
                      <a:noFill/>
                    </a:lnR>
                    <a:lnT w="7620">
                      <a:noFill/>
                    </a:lnT>
                    <a:lnB w="7620">
                      <a:solidFill>
                        <a:srgbClr val="E2E8F0"/>
                      </a:solidFill>
                    </a:lnB>
                  </a:tcPr>
                </a:tc>
                <a:tc>
                  <a:txBody>
                    <a:bodyPr wrap="square"/>
                    <a:lstStyle/>
                    <a:p>
                      <a:r>
                        <a:rPr sz="900" b="0">
                          <a:solidFill>
                            <a:srgbClr val="334155"/>
                          </a:solidFill>
                          <a:latin typeface="DM Sans"/>
                        </a:rPr>
                        <a:t>works only if the dressing is visible</a:t>
                      </a:r>
                    </a:p>
                  </a:txBody>
                  <a:tcPr marL="36576" marR="36576" marT="22860" marB="18288" anchor="ctr">
                    <a:noFill/>
                    <a:lnL w="7620">
                      <a:noFill/>
                    </a:lnL>
                    <a:lnR w="7620">
                      <a:noFill/>
                    </a:lnR>
                    <a:lnT w="7620">
                      <a:noFill/>
                    </a:lnT>
                    <a:lnB w="7620">
                      <a:solidFill>
                        <a:srgbClr val="E2E8F0"/>
                      </a:solidFill>
                    </a:lnB>
                  </a:tcPr>
                </a:tc>
              </a:tr>
              <a:tr h="429768">
                <a:tc>
                  <a:txBody>
                    <a:bodyPr wrap="square"/>
                    <a:lstStyle/>
                    <a:p>
                      <a:r>
                        <a:rPr sz="900" b="1">
                          <a:solidFill>
                            <a:srgbClr val="0F172A"/>
                          </a:solidFill>
                          <a:latin typeface="DM Sans"/>
                        </a:rPr>
                        <a:t>Single-point moisture sensor¹</a:t>
                      </a:r>
                    </a:p>
                  </a:txBody>
                  <a:tcPr marL="36576" marR="36576" marT="22860" marB="18288" anchor="ctr">
                    <a:noFill/>
                    <a:lnL w="7620">
                      <a:noFill/>
                    </a:lnL>
                    <a:lnR w="7620">
                      <a:noFill/>
                    </a:lnR>
                    <a:lnT w="7620">
                      <a:noFill/>
                    </a:lnT>
                    <a:lnB w="7620">
                      <a:solidFill>
                        <a:srgbClr val="E2E8F0"/>
                      </a:solidFill>
                    </a:lnB>
                  </a:tcPr>
                </a:tc>
                <a:tc>
                  <a:txBody>
                    <a:bodyPr wrap="square"/>
                    <a:lstStyle/>
                    <a:p>
                      <a:r>
                        <a:rPr sz="900" b="1">
                          <a:solidFill>
                            <a:srgbClr val="B45309"/>
                          </a:solidFill>
                          <a:latin typeface="DM Sans"/>
                        </a:rPr>
                        <a:t>◐</a:t>
                      </a:r>
                    </a:p>
                  </a:txBody>
                  <a:tcPr marL="36576" marR="36576" marT="22860" marB="18288" anchor="ctr">
                    <a:noFill/>
                    <a:lnL w="7620">
                      <a:noFill/>
                    </a:lnL>
                    <a:lnR w="7620">
                      <a:noFill/>
                    </a:lnR>
                    <a:lnT w="7620">
                      <a:noFill/>
                    </a:lnT>
                    <a:lnB w="7620">
                      <a:solidFill>
                        <a:srgbClr val="E2E8F0"/>
                      </a:solidFill>
                    </a:lnB>
                  </a:tcPr>
                </a:tc>
                <a:tc>
                  <a:txBody>
                    <a:bodyPr wrap="square"/>
                    <a:lstStyle/>
                    <a:p>
                      <a:r>
                        <a:rPr sz="900" b="1">
                          <a:solidFill>
                            <a:srgbClr val="DC2626"/>
                          </a:solidFill>
                          <a:latin typeface="DM Sans"/>
                        </a:rPr>
                        <a:t>✗</a:t>
                      </a:r>
                    </a:p>
                  </a:txBody>
                  <a:tcPr marL="36576" marR="36576" marT="22860" marB="18288" anchor="ctr">
                    <a:noFill/>
                    <a:lnL w="7620">
                      <a:noFill/>
                    </a:lnL>
                    <a:lnR w="7620">
                      <a:noFill/>
                    </a:lnR>
                    <a:lnT w="7620">
                      <a:noFill/>
                    </a:lnT>
                    <a:lnB w="7620">
                      <a:solidFill>
                        <a:srgbClr val="E2E8F0"/>
                      </a:solidFill>
                    </a:lnB>
                  </a:tcPr>
                </a:tc>
                <a:tc>
                  <a:txBody>
                    <a:bodyPr wrap="square"/>
                    <a:lstStyle/>
                    <a:p>
                      <a:r>
                        <a:rPr sz="900" b="0">
                          <a:solidFill>
                            <a:srgbClr val="334155"/>
                          </a:solidFill>
                          <a:latin typeface="DM Sans"/>
                        </a:rPr>
                        <a:t>spot check at one point</a:t>
                      </a:r>
                    </a:p>
                  </a:txBody>
                  <a:tcPr marL="36576" marR="36576" marT="22860" marB="18288" anchor="ctr">
                    <a:noFill/>
                    <a:lnL w="7620">
                      <a:noFill/>
                    </a:lnL>
                    <a:lnR w="7620">
                      <a:noFill/>
                    </a:lnR>
                    <a:lnT w="7620">
                      <a:noFill/>
                    </a:lnT>
                    <a:lnB w="7620">
                      <a:solidFill>
                        <a:srgbClr val="E2E8F0"/>
                      </a:solidFill>
                    </a:lnB>
                  </a:tcPr>
                </a:tc>
              </a:tr>
              <a:tr h="429768">
                <a:tc>
                  <a:txBody>
                    <a:bodyPr wrap="square"/>
                    <a:lstStyle/>
                    <a:p>
                      <a:r>
                        <a:rPr sz="900" b="1">
                          <a:solidFill>
                            <a:srgbClr val="0F172A"/>
                          </a:solidFill>
                          <a:latin typeface="DM Sans"/>
                        </a:rPr>
                        <a:t>Closed-loop smart bandage⁵</a:t>
                      </a:r>
                    </a:p>
                  </a:txBody>
                  <a:tcPr marL="36576" marR="36576" marT="22860" marB="18288" anchor="ctr">
                    <a:noFill/>
                    <a:lnL w="7620">
                      <a:noFill/>
                    </a:lnL>
                    <a:lnR w="7620">
                      <a:noFill/>
                    </a:lnR>
                    <a:lnT w="7620">
                      <a:noFill/>
                    </a:lnT>
                    <a:lnB w="7620">
                      <a:solidFill>
                        <a:srgbClr val="E2E8F0"/>
                      </a:solidFill>
                    </a:lnB>
                  </a:tcPr>
                </a:tc>
                <a:tc>
                  <a:txBody>
                    <a:bodyPr wrap="square"/>
                    <a:lstStyle/>
                    <a:p>
                      <a:r>
                        <a:rPr sz="900" b="1">
                          <a:solidFill>
                            <a:srgbClr val="059669"/>
                          </a:solidFill>
                          <a:latin typeface="DM Sans"/>
                        </a:rPr>
                        <a:t>✓</a:t>
                      </a:r>
                    </a:p>
                  </a:txBody>
                  <a:tcPr marL="36576" marR="36576" marT="22860" marB="18288" anchor="ctr">
                    <a:noFill/>
                    <a:lnL w="7620">
                      <a:noFill/>
                    </a:lnL>
                    <a:lnR w="7620">
                      <a:noFill/>
                    </a:lnR>
                    <a:lnT w="7620">
                      <a:noFill/>
                    </a:lnT>
                    <a:lnB w="7620">
                      <a:solidFill>
                        <a:srgbClr val="E2E8F0"/>
                      </a:solidFill>
                    </a:lnB>
                  </a:tcPr>
                </a:tc>
                <a:tc>
                  <a:txBody>
                    <a:bodyPr wrap="square"/>
                    <a:lstStyle/>
                    <a:p>
                      <a:r>
                        <a:rPr sz="900" b="1">
                          <a:solidFill>
                            <a:srgbClr val="DC2626"/>
                          </a:solidFill>
                          <a:latin typeface="DM Sans"/>
                        </a:rPr>
                        <a:t>✗</a:t>
                      </a:r>
                    </a:p>
                  </a:txBody>
                  <a:tcPr marL="36576" marR="36576" marT="22860" marB="18288" anchor="ctr">
                    <a:noFill/>
                    <a:lnL w="7620">
                      <a:noFill/>
                    </a:lnL>
                    <a:lnR w="7620">
                      <a:noFill/>
                    </a:lnR>
                    <a:lnT w="7620">
                      <a:noFill/>
                    </a:lnT>
                    <a:lnB w="7620">
                      <a:solidFill>
                        <a:srgbClr val="E2E8F0"/>
                      </a:solidFill>
                    </a:lnB>
                  </a:tcPr>
                </a:tc>
                <a:tc>
                  <a:txBody>
                    <a:bodyPr wrap="square"/>
                    <a:lstStyle/>
                    <a:p>
                      <a:r>
                        <a:rPr sz="900" b="0">
                          <a:solidFill>
                            <a:srgbClr val="334155"/>
                          </a:solidFill>
                          <a:latin typeface="DM Sans"/>
                        </a:rPr>
                        <a:t>lab research (mice); therapy device</a:t>
                      </a:r>
                    </a:p>
                  </a:txBody>
                  <a:tcPr marL="36576" marR="36576" marT="22860" marB="18288" anchor="ctr">
                    <a:noFill/>
                    <a:lnL w="7620">
                      <a:noFill/>
                    </a:lnL>
                    <a:lnR w="7620">
                      <a:noFill/>
                    </a:lnR>
                    <a:lnT w="7620">
                      <a:noFill/>
                    </a:lnT>
                    <a:lnB w="7620">
                      <a:solidFill>
                        <a:srgbClr val="E2E8F0"/>
                      </a:solidFill>
                    </a:lnB>
                  </a:tcPr>
                </a:tc>
              </a:tr>
              <a:tr h="429768">
                <a:tc>
                  <a:txBody>
                    <a:bodyPr wrap="square"/>
                    <a:lstStyle/>
                    <a:p>
                      <a:r>
                        <a:rPr sz="900" b="1">
                          <a:solidFill>
                            <a:srgbClr val="0F172A"/>
                          </a:solidFill>
                          <a:latin typeface="DM Sans"/>
                        </a:rPr>
                        <a:t>Diaper wetness strip⁴</a:t>
                      </a:r>
                    </a:p>
                  </a:txBody>
                  <a:tcPr marL="36576" marR="36576" marT="22860" marB="18288" anchor="ctr">
                    <a:noFill/>
                    <a:lnL w="7620">
                      <a:noFill/>
                    </a:lnL>
                    <a:lnR w="7620">
                      <a:noFill/>
                    </a:lnR>
                    <a:lnT w="7620">
                      <a:noFill/>
                    </a:lnT>
                    <a:lnB w="7620">
                      <a:solidFill>
                        <a:srgbClr val="E2E8F0"/>
                      </a:solidFill>
                    </a:lnB>
                  </a:tcPr>
                </a:tc>
                <a:tc>
                  <a:txBody>
                    <a:bodyPr wrap="square"/>
                    <a:lstStyle/>
                    <a:p>
                      <a:r>
                        <a:rPr sz="900" b="1">
                          <a:solidFill>
                            <a:srgbClr val="059669"/>
                          </a:solidFill>
                          <a:latin typeface="DM Sans"/>
                        </a:rPr>
                        <a:t>✓</a:t>
                      </a:r>
                    </a:p>
                  </a:txBody>
                  <a:tcPr marL="36576" marR="36576" marT="22860" marB="18288" anchor="ctr">
                    <a:noFill/>
                    <a:lnL w="7620">
                      <a:noFill/>
                    </a:lnL>
                    <a:lnR w="7620">
                      <a:noFill/>
                    </a:lnR>
                    <a:lnT w="7620">
                      <a:noFill/>
                    </a:lnT>
                    <a:lnB w="7620">
                      <a:solidFill>
                        <a:srgbClr val="E2E8F0"/>
                      </a:solidFill>
                    </a:lnB>
                  </a:tcPr>
                </a:tc>
                <a:tc>
                  <a:txBody>
                    <a:bodyPr wrap="square"/>
                    <a:lstStyle/>
                    <a:p>
                      <a:r>
                        <a:rPr sz="900" b="1">
                          <a:solidFill>
                            <a:srgbClr val="DC2626"/>
                          </a:solidFill>
                          <a:latin typeface="DM Sans"/>
                        </a:rPr>
                        <a:t>✗</a:t>
                      </a:r>
                    </a:p>
                  </a:txBody>
                  <a:tcPr marL="36576" marR="36576" marT="22860" marB="18288" anchor="ctr">
                    <a:noFill/>
                    <a:lnL w="7620">
                      <a:noFill/>
                    </a:lnL>
                    <a:lnR w="7620">
                      <a:noFill/>
                    </a:lnR>
                    <a:lnT w="7620">
                      <a:noFill/>
                    </a:lnT>
                    <a:lnB w="7620">
                      <a:solidFill>
                        <a:srgbClr val="E2E8F0"/>
                      </a:solidFill>
                    </a:lnB>
                  </a:tcPr>
                </a:tc>
                <a:tc>
                  <a:txBody>
                    <a:bodyPr wrap="square"/>
                    <a:lstStyle/>
                    <a:p>
                      <a:r>
                        <a:rPr sz="900" b="0">
                          <a:solidFill>
                            <a:srgbClr val="334155"/>
                          </a:solidFill>
                          <a:latin typeface="DM Sans"/>
                        </a:rPr>
                        <a:t>made for diapers, not dressings</a:t>
                      </a:r>
                    </a:p>
                  </a:txBody>
                  <a:tcPr marL="36576" marR="36576" marT="22860" marB="18288" anchor="ctr">
                    <a:noFill/>
                    <a:lnL w="7620">
                      <a:noFill/>
                    </a:lnL>
                    <a:lnR w="7620">
                      <a:noFill/>
                    </a:lnR>
                    <a:lnT w="7620">
                      <a:noFill/>
                    </a:lnT>
                    <a:lnB w="7620">
                      <a:solidFill>
                        <a:srgbClr val="E2E8F0"/>
                      </a:solidFill>
                    </a:lnB>
                  </a:tcPr>
                </a:tc>
              </a:tr>
              <a:tr h="429768">
                <a:tc>
                  <a:txBody>
                    <a:bodyPr wrap="square"/>
                    <a:lstStyle/>
                    <a:p>
                      <a:r>
                        <a:rPr sz="900" b="1">
                          <a:solidFill>
                            <a:srgbClr val="0F172A"/>
                          </a:solidFill>
                          <a:latin typeface="DM Sans"/>
                        </a:rPr>
                        <a:t>Dermasense (our target)</a:t>
                      </a:r>
                    </a:p>
                  </a:txBody>
                  <a:tcPr marL="36576" marR="36576" marT="22860" marB="18288" anchor="ctr">
                    <a:noFill/>
                    <a:lnL w="7620">
                      <a:noFill/>
                    </a:lnL>
                    <a:lnR w="7620">
                      <a:noFill/>
                    </a:lnR>
                    <a:lnT w="7620">
                      <a:noFill/>
                    </a:lnT>
                    <a:lnB w="7620">
                      <a:solidFill>
                        <a:srgbClr val="E2E8F0"/>
                      </a:solidFill>
                    </a:lnB>
                  </a:tcPr>
                </a:tc>
                <a:tc>
                  <a:txBody>
                    <a:bodyPr wrap="square"/>
                    <a:lstStyle/>
                    <a:p>
                      <a:r>
                        <a:rPr sz="900" b="1">
                          <a:solidFill>
                            <a:srgbClr val="059669"/>
                          </a:solidFill>
                          <a:latin typeface="DM Sans"/>
                        </a:rPr>
                        <a:t>✓</a:t>
                      </a:r>
                    </a:p>
                  </a:txBody>
                  <a:tcPr marL="36576" marR="36576" marT="22860" marB="18288" anchor="ctr">
                    <a:noFill/>
                    <a:lnL w="7620">
                      <a:noFill/>
                    </a:lnL>
                    <a:lnR w="7620">
                      <a:noFill/>
                    </a:lnR>
                    <a:lnT w="7620">
                      <a:noFill/>
                    </a:lnT>
                    <a:lnB w="7620">
                      <a:solidFill>
                        <a:srgbClr val="E2E8F0"/>
                      </a:solidFill>
                    </a:lnB>
                  </a:tcPr>
                </a:tc>
                <a:tc>
                  <a:txBody>
                    <a:bodyPr wrap="square"/>
                    <a:lstStyle/>
                    <a:p>
                      <a:r>
                        <a:rPr sz="900" b="1">
                          <a:solidFill>
                            <a:srgbClr val="059669"/>
                          </a:solidFill>
                          <a:latin typeface="DM Sans"/>
                        </a:rPr>
                        <a:t>✓</a:t>
                      </a:r>
                    </a:p>
                  </a:txBody>
                  <a:tcPr marL="36576" marR="36576" marT="22860" marB="18288" anchor="ctr">
                    <a:noFill/>
                    <a:lnL w="7620">
                      <a:noFill/>
                    </a:lnL>
                    <a:lnR w="7620">
                      <a:noFill/>
                    </a:lnR>
                    <a:lnT w="7620">
                      <a:noFill/>
                    </a:lnT>
                    <a:lnB w="7620">
                      <a:solidFill>
                        <a:srgbClr val="E2E8F0"/>
                      </a:solidFill>
                    </a:lnB>
                  </a:tcPr>
                </a:tc>
                <a:tc>
                  <a:txBody>
                    <a:bodyPr wrap="square"/>
                    <a:lstStyle/>
                    <a:p>
                      <a:r>
                        <a:rPr sz="900" b="1">
                          <a:solidFill>
                            <a:srgbClr val="B45309"/>
                          </a:solidFill>
                          <a:latin typeface="DM Sans"/>
                        </a:rPr>
                        <a:t>unproven: E2 and E4 test it</a:t>
                      </a:r>
                    </a:p>
                  </a:txBody>
                  <a:tcPr marL="36576" marR="36576" marT="22860" marB="18288" anchor="ctr">
                    <a:noFill/>
                    <a:lnL w="7620">
                      <a:noFill/>
                    </a:lnL>
                    <a:lnR w="7620">
                      <a:noFill/>
                    </a:lnR>
                    <a:lnT w="7620">
                      <a:noFill/>
                    </a:lnT>
                    <a:lnB w="7620">
                      <a:solidFill>
                        <a:srgbClr val="E2E8F0"/>
                      </a:solidFill>
                    </a:lnB>
                  </a:tcPr>
                </a:tc>
              </a:tr>
            </a:tbl>
          </a:graphicData>
        </a:graphic>
      </p:graphicFrame>
      <p:sp>
        <p:nvSpPr>
          <p:cNvPr id="161" name="TextBox 160"/>
          <p:cNvSpPr txBox="1"/>
          <p:nvPr/>
        </p:nvSpPr>
        <p:spPr>
          <a:xfrm>
            <a:off x="713232" y="4983480"/>
            <a:ext cx="5120640" cy="411480"/>
          </a:xfrm>
          <a:prstGeom prst="rect">
            <a:avLst/>
          </a:prstGeom>
          <a:noFill/>
        </p:spPr>
        <p:txBody>
          <a:bodyPr wrap="square" lIns="18288" rIns="18288" tIns="9144" bIns="9144" anchor="t"/>
          <a:lstStyle/>
          <a:p>
            <a:pPr>
              <a:lnSpc>
                <a:spcPct val="108000"/>
              </a:lnSpc>
              <a:spcAft>
                <a:spcPts val="400"/>
              </a:spcAft>
            </a:pPr>
            <a:r>
              <a:rPr sz="819" b="1">
                <a:solidFill>
                  <a:srgbClr val="64748B"/>
                </a:solidFill>
                <a:latin typeface="DM Sans"/>
              </a:rPr>
              <a:t>✓ yes   ✗ no   ◐ partly.   </a:t>
            </a:r>
            <a:r>
              <a:rPr sz="819" b="0">
                <a:solidFill>
                  <a:srgbClr val="64748B"/>
                </a:solidFill>
                <a:latin typeface="DM Sans"/>
              </a:rPr>
              <a:t>Our own non-exhaustive search of papers, patents and products.</a:t>
            </a:r>
          </a:p>
        </p:txBody>
      </p:sp>
      <p:sp>
        <p:nvSpPr>
          <p:cNvPr id="162" name="TextBox 161"/>
          <p:cNvSpPr txBox="1"/>
          <p:nvPr/>
        </p:nvSpPr>
        <p:spPr>
          <a:xfrm>
            <a:off x="6464808" y="1600200"/>
            <a:ext cx="5029200" cy="3840480"/>
          </a:xfrm>
          <a:prstGeom prst="rect">
            <a:avLst/>
          </a:prstGeom>
          <a:noFill/>
        </p:spPr>
        <p:txBody>
          <a:bodyPr wrap="square" lIns="18288" rIns="18288" tIns="9144" bIns="9144" anchor="t"/>
          <a:lstStyle/>
          <a:p>
            <a:pPr>
              <a:lnSpc>
                <a:spcPct val="108000"/>
              </a:lnSpc>
              <a:spcAft>
                <a:spcPts val="1100"/>
              </a:spcAft>
            </a:pPr>
            <a:r>
              <a:rPr sz="1150" b="0">
                <a:solidFill>
                  <a:srgbClr val="059669"/>
                </a:solidFill>
                <a:latin typeface="DM Sans"/>
              </a:rPr>
              <a:t>▪  </a:t>
            </a:r>
            <a:r>
              <a:rPr sz="1150" b="1">
                <a:solidFill>
                  <a:srgbClr val="0F172A"/>
                </a:solidFill>
                <a:latin typeface="DM Sans"/>
              </a:rPr>
              <a:t>Searched:  </a:t>
            </a:r>
            <a:r>
              <a:rPr sz="1150" b="0">
                <a:solidFill>
                  <a:srgbClr val="334155"/>
                </a:solidFill>
                <a:latin typeface="DM Sans"/>
              </a:rPr>
              <a:t>papers, patents and products¹⁴⁵¹⁴.</a:t>
            </a:r>
          </a:p>
          <a:p>
            <a:pPr>
              <a:lnSpc>
                <a:spcPct val="108000"/>
              </a:lnSpc>
              <a:spcAft>
                <a:spcPts val="1100"/>
              </a:spcAft>
            </a:pPr>
            <a:r>
              <a:rPr sz="1150" b="0">
                <a:solidFill>
                  <a:srgbClr val="059669"/>
                </a:solidFill>
                <a:latin typeface="DM Sans"/>
              </a:rPr>
              <a:t>▪  </a:t>
            </a:r>
            <a:r>
              <a:rPr sz="1150" b="1">
                <a:solidFill>
                  <a:srgbClr val="0F172A"/>
                </a:solidFill>
                <a:latin typeface="DM Sans"/>
              </a:rPr>
              <a:t>Found:  </a:t>
            </a:r>
            <a:r>
              <a:rPr sz="1150" b="0">
                <a:solidFill>
                  <a:srgbClr val="334155"/>
                </a:solidFill>
                <a:latin typeface="DM Sans"/>
              </a:rPr>
              <a:t>no low-cost sensor that reads a dressing's own change line (in our search).</a:t>
            </a:r>
          </a:p>
          <a:p>
            <a:pPr>
              <a:lnSpc>
                <a:spcPct val="108000"/>
              </a:lnSpc>
              <a:spcAft>
                <a:spcPts val="1100"/>
              </a:spcAft>
            </a:pPr>
            <a:r>
              <a:rPr sz="1150" b="0">
                <a:solidFill>
                  <a:srgbClr val="059669"/>
                </a:solidFill>
                <a:latin typeface="DM Sans"/>
              </a:rPr>
              <a:t>▪  </a:t>
            </a:r>
            <a:r>
              <a:rPr sz="1150" b="1">
                <a:solidFill>
                  <a:srgbClr val="0F172A"/>
                </a:solidFill>
                <a:latin typeface="DM Sans"/>
              </a:rPr>
              <a:t>Our focus:  </a:t>
            </a:r>
            <a:r>
              <a:rPr sz="1150" b="0">
                <a:solidFill>
                  <a:srgbClr val="334155"/>
                </a:solidFill>
                <a:latin typeface="DM Sans"/>
              </a:rPr>
              <a:t>tell the carer when exudate reaches that line, without lifting the dressing.</a:t>
            </a:r>
          </a:p>
          <a:p>
            <a:pPr>
              <a:lnSpc>
                <a:spcPct val="108000"/>
              </a:lnSpc>
              <a:spcAft>
                <a:spcPts val="1100"/>
              </a:spcAft>
            </a:pPr>
            <a:r>
              <a:rPr sz="1150" b="0">
                <a:solidFill>
                  <a:srgbClr val="059669"/>
                </a:solidFill>
                <a:latin typeface="DM Sans"/>
              </a:rPr>
              <a:t>▪  </a:t>
            </a:r>
            <a:r>
              <a:rPr sz="1150" b="1">
                <a:solidFill>
                  <a:srgbClr val="0F172A"/>
                </a:solidFill>
                <a:latin typeface="DM Sans"/>
              </a:rPr>
              <a:t>Why now:  </a:t>
            </a:r>
            <a:r>
              <a:rPr sz="1150" b="0">
                <a:solidFill>
                  <a:srgbClr val="334155"/>
                </a:solidFill>
                <a:latin typeface="DM Sans"/>
              </a:rPr>
              <a:t>carbon can be laser-written on polyimide in one pass⁷; makers already define 'full' by position²¹⁴.</a:t>
            </a:r>
          </a:p>
          <a:p>
            <a:pPr>
              <a:lnSpc>
                <a:spcPct val="108000"/>
              </a:lnSpc>
              <a:spcAft>
                <a:spcPts val="1100"/>
              </a:spcAft>
            </a:pPr>
            <a:r>
              <a:rPr sz="1150" b="0">
                <a:solidFill>
                  <a:srgbClr val="059669"/>
                </a:solidFill>
                <a:latin typeface="DM Sans"/>
              </a:rPr>
              <a:t>▪  </a:t>
            </a:r>
            <a:r>
              <a:rPr sz="1150" b="1">
                <a:solidFill>
                  <a:srgbClr val="0F172A"/>
                </a:solidFill>
                <a:latin typeface="DM Sans"/>
              </a:rPr>
              <a:t>Not our goal:  </a:t>
            </a:r>
            <a:r>
              <a:rPr sz="1150" b="0">
                <a:solidFill>
                  <a:srgbClr val="334155"/>
                </a:solidFill>
                <a:latin typeface="DM Sans"/>
              </a:rPr>
              <a:t>diagnosis or therapy; we only report how full the dressing is.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descr="image.png" id="125" name="Google Shape;125;p16"/>
          <p:cNvPicPr preferRelativeResize="0"/>
          <p:nvPr/>
        </p:nvPicPr>
        <p:blipFill rotWithShape="1">
          <a:blip r:embed="rId6">
            <a:alphaModFix/>
          </a:blip>
          <a:srcRect b="0" l="0" r="0" t="0"/>
          <a:stretch/>
        </p:blipFill>
        <p:spPr>
          <a:xfrm>
            <a:off x="0" y="0"/>
            <a:ext cx="12192000" cy="6858000"/>
          </a:xfrm>
          <a:prstGeom prst="rect">
            <a:avLst/>
          </a:prstGeom>
          <a:noFill/>
          <a:ln>
            <a:noFill/>
          </a:ln>
        </p:spPr>
      </p:pic>
      <p:pic>
        <p:nvPicPr>
          <p:cNvPr descr="image.png" id="126" name="Google Shape;126;p16"/>
          <p:cNvPicPr preferRelativeResize="0"/>
          <p:nvPr/>
        </p:nvPicPr>
        <p:blipFill rotWithShape="1">
          <a:blip r:embed="rId7">
            <a:alphaModFix/>
          </a:blip>
          <a:srcRect b="0" l="0" r="0" t="0"/>
          <a:stretch/>
        </p:blipFill>
        <p:spPr>
          <a:xfrm>
            <a:off x="533400" y="5714641"/>
            <a:ext cx="11125200" cy="363140"/>
          </a:xfrm>
          <a:prstGeom prst="rect">
            <a:avLst/>
          </a:prstGeom>
          <a:noFill/>
          <a:ln>
            <a:noFill/>
          </a:ln>
        </p:spPr>
      </p:pic>
      <p:pic>
        <p:nvPicPr>
          <p:cNvPr descr="image.png" id="127" name="Google Shape;127;p16"/>
          <p:cNvPicPr preferRelativeResize="0"/>
          <p:nvPr/>
        </p:nvPicPr>
        <p:blipFill rotWithShape="1">
          <a:blip r:embed="rId10">
            <a:alphaModFix/>
          </a:blip>
          <a:srcRect b="0" l="0" r="0" t="0"/>
          <a:stretch/>
        </p:blipFill>
        <p:spPr>
          <a:xfrm>
            <a:off x="533400" y="956220"/>
            <a:ext cx="2667000" cy="649485"/>
          </a:xfrm>
          <a:prstGeom prst="rect">
            <a:avLst/>
          </a:prstGeom>
          <a:noFill/>
          <a:ln>
            <a:noFill/>
          </a:ln>
        </p:spPr>
      </p:pic>
      <p:pic>
        <p:nvPicPr>
          <p:cNvPr descr="image.png" id="128" name="Google Shape;128;p16"/>
          <p:cNvPicPr preferRelativeResize="0"/>
          <p:nvPr/>
        </p:nvPicPr>
        <p:blipFill rotWithShape="1">
          <a:blip r:embed="rId11">
            <a:alphaModFix/>
          </a:blip>
          <a:srcRect b="0" l="0" r="0" t="0"/>
          <a:stretch/>
        </p:blipFill>
        <p:spPr>
          <a:xfrm>
            <a:off x="3352800" y="956220"/>
            <a:ext cx="2667000" cy="649485"/>
          </a:xfrm>
          <a:prstGeom prst="rect">
            <a:avLst/>
          </a:prstGeom>
          <a:noFill/>
          <a:ln>
            <a:noFill/>
          </a:ln>
        </p:spPr>
      </p:pic>
      <p:pic>
        <p:nvPicPr>
          <p:cNvPr descr="image.png" id="129" name="Google Shape;129;p16"/>
          <p:cNvPicPr preferRelativeResize="0"/>
          <p:nvPr/>
        </p:nvPicPr>
        <p:blipFill rotWithShape="1">
          <a:blip r:embed="rId12">
            <a:alphaModFix/>
          </a:blip>
          <a:srcRect b="0" l="0" r="0" t="0"/>
          <a:stretch/>
        </p:blipFill>
        <p:spPr>
          <a:xfrm>
            <a:off x="6172200" y="956220"/>
            <a:ext cx="2667000" cy="649485"/>
          </a:xfrm>
          <a:prstGeom prst="rect">
            <a:avLst/>
          </a:prstGeom>
          <a:noFill/>
          <a:ln>
            <a:noFill/>
          </a:ln>
        </p:spPr>
      </p:pic>
      <p:pic>
        <p:nvPicPr>
          <p:cNvPr descr="image.png" id="130" name="Google Shape;130;p16"/>
          <p:cNvPicPr preferRelativeResize="0"/>
          <p:nvPr/>
        </p:nvPicPr>
        <p:blipFill rotWithShape="1">
          <a:blip r:embed="rId12">
            <a:alphaModFix/>
          </a:blip>
          <a:srcRect b="0" l="0" r="0" t="0"/>
          <a:stretch/>
        </p:blipFill>
        <p:spPr>
          <a:xfrm>
            <a:off x="8991600" y="956220"/>
            <a:ext cx="2667000" cy="649485"/>
          </a:xfrm>
          <a:prstGeom prst="rect">
            <a:avLst/>
          </a:prstGeom>
          <a:noFill/>
          <a:ln>
            <a:noFill/>
          </a:ln>
        </p:spPr>
      </p:pic>
      <p:pic>
        <p:nvPicPr>
          <p:cNvPr descr="image.png" id="131" name="Google Shape;131;p16"/>
          <p:cNvPicPr preferRelativeResize="0"/>
          <p:nvPr/>
        </p:nvPicPr>
        <p:blipFill rotWithShape="1">
          <a:blip r:embed="rId13">
            <a:alphaModFix/>
          </a:blip>
          <a:srcRect b="0" l="0" r="0" t="0"/>
          <a:stretch/>
        </p:blipFill>
        <p:spPr>
          <a:xfrm>
            <a:off x="6229350" y="1737360"/>
            <a:ext cx="5429250" cy="3886200"/>
          </a:xfrm>
          <a:prstGeom prst="rect">
            <a:avLst/>
          </a:prstGeom>
          <a:noFill/>
          <a:ln>
            <a:noFill/>
          </a:ln>
        </p:spPr>
      </p:pic>
      <p:pic>
        <p:nvPicPr>
          <p:cNvPr descr="image.png" id="132" name="Google Shape;132;p16"/>
          <p:cNvPicPr preferRelativeResize="0"/>
          <p:nvPr/>
        </p:nvPicPr>
        <p:blipFill rotWithShape="1">
          <a:blip r:embed="rId8">
            <a:alphaModFix/>
          </a:blip>
          <a:srcRect b="0" l="0" r="0" t="0"/>
          <a:stretch/>
        </p:blipFill>
        <p:spPr>
          <a:xfrm>
            <a:off x="530352" y="1737360"/>
            <a:ext cx="5431536" cy="3611880"/>
          </a:xfrm>
          <a:prstGeom prst="rect">
            <a:avLst/>
          </a:prstGeom>
          <a:noFill/>
          <a:ln>
            <a:noFill/>
          </a:ln>
        </p:spPr>
      </p:pic>
      <p:sp>
        <p:nvSpPr>
          <p:cNvPr id="133" name="Google Shape;133;p16"/>
          <p:cNvSpPr txBox="1"/>
          <p:nvPr/>
        </p:nvSpPr>
        <p:spPr>
          <a:xfrm>
            <a:off x="533400" y="438150"/>
            <a:ext cx="8595360" cy="308520"/>
          </a:xfrm>
          <a:prstGeom prst="rect">
            <a:avLst/>
          </a:prstGeom>
          <a:noFill/>
          <a:ln>
            <a:noFill/>
          </a:ln>
        </p:spPr>
        <p:txBody>
          <a:bodyPr anchorCtr="0" anchor="ctr" bIns="0" lIns="0" spcFirstLastPara="1" rIns="0" wrap="square" tIns="0">
            <a:spAutoFit/>
          </a:bodyPr>
          <a:lstStyle/>
          <a:p>
            <a:pPr indent="0" lvl="0" marL="0" marR="0" rtl="0" algn="l">
              <a:lnSpc>
                <a:spcPct val="119950"/>
              </a:lnSpc>
              <a:spcBef>
                <a:spcPts val="0"/>
              </a:spcBef>
              <a:spcAft>
                <a:spcPts val="0"/>
              </a:spcAft>
              <a:buNone/>
            </a:pPr>
            <a:r>
              <a:rPr sz="2025" b="0">
                <a:solidFill>
                  <a:srgbClr val="0F172A"/>
                </a:solidFill>
                <a:latin typeface="Poppins SemiBold"/>
              </a:rPr>
              <a:t>User Journey: Before State</a:t>
            </a:r>
            <a:endParaRPr/>
          </a:p>
        </p:txBody>
      </p:sp>
      <p:sp>
        <p:nvSpPr>
          <p:cNvPr id="135" name="Google Shape;135;p16"/>
          <p:cNvSpPr txBox="1"/>
          <p:nvPr/>
        </p:nvSpPr>
        <p:spPr>
          <a:xfrm>
            <a:off x="695325" y="5838653"/>
            <a:ext cx="10698480" cy="329184"/>
          </a:xfrm>
          <a:prstGeom prst="rect">
            <a:avLst/>
          </a:prstGeom>
          <a:noFill/>
          <a:ln>
            <a:noFill/>
          </a:ln>
        </p:spPr>
        <p:txBody>
          <a:bodyPr anchorCtr="0" anchor="t" bIns="0" lIns="0" spcFirstLastPara="1" rIns="0" wrap="square" tIns="0">
            <a:spAutoFit/>
          </a:bodyPr>
          <a:lstStyle/>
          <a:p>
            <a:pPr indent="0" lvl="0" marL="0" marR="0" rtl="0" algn="l">
              <a:lnSpc>
                <a:spcPct val="145037"/>
              </a:lnSpc>
              <a:spcBef>
                <a:spcPts val="0"/>
              </a:spcBef>
              <a:spcAft>
                <a:spcPts val="0"/>
              </a:spcAft>
              <a:buNone/>
            </a:pPr>
            <a:r>
              <a:rPr sz="960" b="1">
                <a:solidFill>
                  <a:srgbClr val="0F172A"/>
                </a:solidFill>
                <a:latin typeface="DM Sans"/>
              </a:rPr>
              <a:t>Insight: </a:t>
            </a:r>
            <a:r>
              <a:rPr sz="960" b="0">
                <a:solidFill>
                  <a:srgbClr val="334155"/>
                </a:solidFill>
                <a:latin typeface="DM Sans"/>
              </a:rPr>
              <a:t>the dressing already 'knows' when it is full (its change line); the carer just cannot see it.</a:t>
            </a:r>
            <a:endParaRPr/>
          </a:p>
        </p:txBody>
      </p:sp>
      <p:sp>
        <p:nvSpPr>
          <p:cNvPr id="136" name="Google Shape;136;p16"/>
          <p:cNvSpPr txBox="1"/>
          <p:nvPr/>
        </p:nvSpPr>
        <p:spPr>
          <a:xfrm>
            <a:off x="695325" y="1024128"/>
            <a:ext cx="2343150" cy="301752"/>
          </a:xfrm>
          <a:prstGeom prst="rect">
            <a:avLst/>
          </a:prstGeom>
          <a:noFill/>
          <a:ln>
            <a:noFill/>
          </a:ln>
        </p:spPr>
        <p:txBody>
          <a:bodyPr anchorCtr="0" anchor="t" bIns="0" lIns="0" spcFirstLastPara="1" rIns="0" wrap="square" tIns="0">
            <a:spAutoFit/>
          </a:bodyPr>
          <a:lstStyle/>
          <a:p>
            <a:pPr indent="0" lvl="0" marL="0" marR="0" rtl="0" algn="ctr">
              <a:lnSpc>
                <a:spcPct val="109939"/>
              </a:lnSpc>
              <a:spcBef>
                <a:spcPts val="0"/>
              </a:spcBef>
              <a:spcAft>
                <a:spcPts val="0"/>
              </a:spcAft>
              <a:buNone/>
            </a:pPr>
            <a:r>
              <a:rPr sz="1300" b="0">
                <a:solidFill>
                  <a:srgbClr val="0369A1"/>
                </a:solidFill>
                <a:latin typeface="Poppins SemiBold"/>
              </a:rPr>
              <a:t>1.9–4.5 per 1,000</a:t>
            </a:r>
            <a:endParaRPr/>
          </a:p>
        </p:txBody>
      </p:sp>
      <p:sp>
        <p:nvSpPr>
          <p:cNvPr id="137" name="Google Shape;137;p16"/>
          <p:cNvSpPr txBox="1"/>
          <p:nvPr/>
        </p:nvSpPr>
        <p:spPr>
          <a:xfrm>
            <a:off x="695325" y="1344168"/>
            <a:ext cx="2343150" cy="219456"/>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sz="760" b="0">
                <a:solidFill>
                  <a:srgbClr val="64748B"/>
                </a:solidFill>
                <a:latin typeface="DM Sans Medium"/>
              </a:rPr>
              <a:t>HAVE A CHRONIC WOUND (INDIAN SURVEYS)¹⁶¹⁷</a:t>
            </a:r>
            <a:endParaRPr/>
          </a:p>
        </p:txBody>
      </p:sp>
      <p:sp>
        <p:nvSpPr>
          <p:cNvPr id="138" name="Google Shape;138;p16"/>
          <p:cNvSpPr txBox="1"/>
          <p:nvPr/>
        </p:nvSpPr>
        <p:spPr>
          <a:xfrm>
            <a:off x="3514725" y="1024128"/>
            <a:ext cx="2343150" cy="301752"/>
          </a:xfrm>
          <a:prstGeom prst="rect">
            <a:avLst/>
          </a:prstGeom>
          <a:noFill/>
          <a:ln>
            <a:noFill/>
          </a:ln>
        </p:spPr>
        <p:txBody>
          <a:bodyPr anchorCtr="0" anchor="t" bIns="0" lIns="0" spcFirstLastPara="1" rIns="0" wrap="square" tIns="0">
            <a:spAutoFit/>
          </a:bodyPr>
          <a:lstStyle/>
          <a:p>
            <a:pPr indent="0" lvl="0" marL="0" marR="0" rtl="0" algn="ctr">
              <a:lnSpc>
                <a:spcPct val="109939"/>
              </a:lnSpc>
              <a:spcBef>
                <a:spcPts val="0"/>
              </a:spcBef>
              <a:spcAft>
                <a:spcPts val="0"/>
              </a:spcAft>
              <a:buNone/>
            </a:pPr>
            <a:r>
              <a:rPr sz="1500" b="0">
                <a:solidFill>
                  <a:srgbClr val="0369A1"/>
                </a:solidFill>
                <a:latin typeface="Poppins SemiBold"/>
              </a:rPr>
              <a:t>101 million</a:t>
            </a:r>
            <a:endParaRPr/>
          </a:p>
        </p:txBody>
      </p:sp>
      <p:sp>
        <p:nvSpPr>
          <p:cNvPr id="139" name="Google Shape;139;p16"/>
          <p:cNvSpPr txBox="1"/>
          <p:nvPr/>
        </p:nvSpPr>
        <p:spPr>
          <a:xfrm>
            <a:off x="3514725" y="1344168"/>
            <a:ext cx="2343150" cy="219456"/>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sz="760" b="0">
                <a:solidFill>
                  <a:srgbClr val="64748B"/>
                </a:solidFill>
                <a:latin typeface="DM Sans Medium"/>
              </a:rPr>
              <a:t>INDIANS LIVING WITH DIABETES¹⁸</a:t>
            </a:r>
            <a:endParaRPr/>
          </a:p>
        </p:txBody>
      </p:sp>
      <p:sp>
        <p:nvSpPr>
          <p:cNvPr id="140" name="Google Shape;140;p16"/>
          <p:cNvSpPr txBox="1"/>
          <p:nvPr/>
        </p:nvSpPr>
        <p:spPr>
          <a:xfrm>
            <a:off x="6334125" y="1024128"/>
            <a:ext cx="2343150" cy="301752"/>
          </a:xfrm>
          <a:prstGeom prst="rect">
            <a:avLst/>
          </a:prstGeom>
          <a:noFill/>
          <a:ln>
            <a:noFill/>
          </a:ln>
        </p:spPr>
        <p:txBody>
          <a:bodyPr anchorCtr="0" anchor="t" bIns="0" lIns="0" spcFirstLastPara="1" rIns="0" wrap="square" tIns="0">
            <a:spAutoFit/>
          </a:bodyPr>
          <a:lstStyle/>
          <a:p>
            <a:pPr indent="0" lvl="0" marL="0" marR="0" rtl="0" algn="ctr">
              <a:lnSpc>
                <a:spcPct val="109939"/>
              </a:lnSpc>
              <a:spcBef>
                <a:spcPts val="0"/>
              </a:spcBef>
              <a:spcAft>
                <a:spcPts val="0"/>
              </a:spcAft>
              <a:buNone/>
            </a:pPr>
            <a:r>
              <a:rPr sz="1500" b="0">
                <a:solidFill>
                  <a:srgbClr val="0369A1"/>
                </a:solidFill>
                <a:latin typeface="Poppins SemiBold"/>
              </a:rPr>
              <a:t>19–34 %</a:t>
            </a:r>
            <a:endParaRPr/>
          </a:p>
        </p:txBody>
      </p:sp>
      <p:sp>
        <p:nvSpPr>
          <p:cNvPr id="141" name="Google Shape;141;p16"/>
          <p:cNvSpPr txBox="1"/>
          <p:nvPr/>
        </p:nvSpPr>
        <p:spPr>
          <a:xfrm>
            <a:off x="6334125" y="1344168"/>
            <a:ext cx="2343150" cy="219456"/>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sz="760" b="0">
                <a:solidFill>
                  <a:srgbClr val="64748B"/>
                </a:solidFill>
                <a:latin typeface="DM Sans Medium"/>
              </a:rPr>
              <a:t>LIFETIME FOOT-ULCER RISK IN DIABETES (EST.)¹⁹</a:t>
            </a:r>
            <a:endParaRPr/>
          </a:p>
        </p:txBody>
      </p:sp>
      <p:sp>
        <p:nvSpPr>
          <p:cNvPr id="142" name="Google Shape;142;p16"/>
          <p:cNvSpPr txBox="1"/>
          <p:nvPr/>
        </p:nvSpPr>
        <p:spPr>
          <a:xfrm>
            <a:off x="9153525" y="1024128"/>
            <a:ext cx="2343150" cy="301752"/>
          </a:xfrm>
          <a:prstGeom prst="rect">
            <a:avLst/>
          </a:prstGeom>
          <a:noFill/>
          <a:ln>
            <a:noFill/>
          </a:ln>
        </p:spPr>
        <p:txBody>
          <a:bodyPr anchorCtr="0" anchor="t" bIns="0" lIns="0" spcFirstLastPara="1" rIns="0" wrap="square" tIns="0">
            <a:spAutoFit/>
          </a:bodyPr>
          <a:lstStyle/>
          <a:p>
            <a:pPr indent="0" lvl="0" marL="0" marR="0" rtl="0" algn="ctr">
              <a:lnSpc>
                <a:spcPct val="109939"/>
              </a:lnSpc>
              <a:spcBef>
                <a:spcPts val="0"/>
              </a:spcBef>
              <a:spcAft>
                <a:spcPts val="0"/>
              </a:spcAft>
              <a:buNone/>
            </a:pPr>
            <a:r>
              <a:rPr sz="1500" b="0">
                <a:solidFill>
                  <a:srgbClr val="0369A1"/>
                </a:solidFill>
                <a:latin typeface="Poppins SemiBold"/>
              </a:rPr>
              <a:t>40.3 %</a:t>
            </a:r>
            <a:endParaRPr/>
          </a:p>
        </p:txBody>
      </p:sp>
      <p:sp>
        <p:nvSpPr>
          <p:cNvPr id="143" name="Google Shape;143;p16"/>
          <p:cNvSpPr txBox="1"/>
          <p:nvPr/>
        </p:nvSpPr>
        <p:spPr>
          <a:xfrm>
            <a:off x="9153525" y="1344168"/>
            <a:ext cx="2343150" cy="219456"/>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sz="760" b="0">
                <a:solidFill>
                  <a:srgbClr val="64748B"/>
                </a:solidFill>
                <a:latin typeface="DM Sans Medium"/>
              </a:rPr>
              <a:t>PATIENTS: CHANGE PAIN IS THE WORST PART²⁰</a:t>
            </a:r>
            <a:endParaRPr/>
          </a:p>
        </p:txBody>
      </p:sp>
      <p:sp>
        <p:nvSpPr>
          <p:cNvPr id="144" name="Google Shape;144;p16"/>
          <p:cNvSpPr txBox="1"/>
          <p:nvPr/>
        </p:nvSpPr>
        <p:spPr>
          <a:xfrm>
            <a:off x="533400" y="5394960"/>
            <a:ext cx="5429250" cy="201168"/>
          </a:xfrm>
          <a:prstGeom prst="rect">
            <a:avLst/>
          </a:prstGeom>
          <a:noFill/>
          <a:ln>
            <a:noFill/>
          </a:ln>
        </p:spPr>
        <p:txBody>
          <a:bodyPr anchorCtr="0" anchor="t" bIns="0" lIns="0" spcFirstLastPara="1" rIns="0" wrap="square" tIns="0">
            <a:spAutoFit/>
          </a:bodyPr>
          <a:lstStyle/>
          <a:p>
            <a:pPr indent="0" lvl="0" marL="0" marR="0" rtl="0" algn="r">
              <a:lnSpc>
                <a:spcPct val="145011"/>
              </a:lnSpc>
              <a:spcBef>
                <a:spcPts val="0"/>
              </a:spcBef>
              <a:spcAft>
                <a:spcPts val="0"/>
              </a:spcAft>
              <a:buNone/>
            </a:pPr>
            <a:r>
              <a:rPr sz="760" b="0">
                <a:solidFill>
                  <a:srgbClr val="64748B"/>
                </a:solidFill>
                <a:latin typeface="DM Sans"/>
              </a:rPr>
              <a:t>Figure: today's journey (design-thinking map; persona illustrative, numbers cited).</a:t>
            </a:r>
            <a:endParaRPr/>
          </a:p>
        </p:txBody>
      </p:sp>
      <p:pic>
        <p:nvPicPr>
          <p:cNvPr descr="image.png" id="146" name="Google Shape;146;p16"/>
          <p:cNvPicPr preferRelativeResize="0"/>
          <p:nvPr/>
        </p:nvPicPr>
        <p:blipFill rotWithShape="1">
          <a:blip r:embed="rId5">
            <a:alphaModFix/>
          </a:blip>
          <a:srcRect b="0" l="0" r="0" t="0"/>
          <a:stretch/>
        </p:blipFill>
        <p:spPr>
          <a:xfrm>
            <a:off x="6448425" y="1958131"/>
            <a:ext cx="154334" cy="152400"/>
          </a:xfrm>
          <a:prstGeom prst="rect">
            <a:avLst/>
          </a:prstGeom>
          <a:noFill/>
          <a:ln>
            <a:noFill/>
          </a:ln>
        </p:spPr>
      </p:pic>
      <p:sp>
        <p:nvSpPr>
          <p:cNvPr id="147" name="Google Shape;147;p16"/>
          <p:cNvSpPr txBox="1"/>
          <p:nvPr/>
        </p:nvSpPr>
        <p:spPr>
          <a:xfrm>
            <a:off x="6698009" y="1939081"/>
            <a:ext cx="484632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Quantified Inefficiency (published data)</a:t>
            </a:r>
            <a:endParaRPr/>
          </a:p>
        </p:txBody>
      </p:sp>
      <p:pic>
        <p:nvPicPr>
          <p:cNvPr id="156" name="Google Shape;156;p16" title="MBF_Logo_2020.png"/>
          <p:cNvPicPr preferRelativeResize="0"/>
          <p:nvPr/>
        </p:nvPicPr>
        <p:blipFill>
          <a:blip r:embed="rId4">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9">
            <a:alphaModFix/>
          </a:blip>
          <a:srcRect b="44466" l="14673" r="15820" t="33074"/>
          <a:stretch/>
        </p:blipFill>
        <p:spPr>
          <a:xfrm>
            <a:off x="0" y="6280800"/>
            <a:ext cx="1786280" cy="577200"/>
          </a:xfrm>
          <a:prstGeom prst="rect">
            <a:avLst/>
          </a:prstGeom>
          <a:noFill/>
          <a:ln>
            <a:noFill/>
          </a:ln>
        </p:spPr>
      </p:pic>
      <p:sp>
        <p:nvSpPr>
          <p:cNvPr id="158" name="Rounded Rectangle 157"/>
          <p:cNvSpPr/>
          <p:nvPr/>
        </p:nvSpPr>
        <p:spPr>
          <a:xfrm>
            <a:off x="10078516" y="457200"/>
            <a:ext cx="1580083" cy="246888"/>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0369A1"/>
                </a:solidFill>
                <a:latin typeface="DM Sans"/>
              </a:rPr>
              <a:t>CURRENT STATE · CITED</a:t>
            </a:r>
          </a:p>
        </p:txBody>
      </p:sp>
      <p:sp>
        <p:nvSpPr>
          <p:cNvPr id="160" name="TextBox 159"/>
          <p:cNvSpPr txBox="1"/>
          <p:nvPr/>
        </p:nvSpPr>
        <p:spPr>
          <a:xfrm>
            <a:off x="6464808" y="2395728"/>
            <a:ext cx="5029200" cy="3108960"/>
          </a:xfrm>
          <a:prstGeom prst="rect">
            <a:avLst/>
          </a:prstGeom>
          <a:noFill/>
        </p:spPr>
        <p:txBody>
          <a:bodyPr wrap="square" lIns="18288" rIns="18288" tIns="9144" bIns="9144" anchor="t"/>
          <a:lstStyle/>
          <a:p>
            <a:pPr>
              <a:lnSpc>
                <a:spcPct val="108000"/>
              </a:lnSpc>
              <a:spcAft>
                <a:spcPts val="1200"/>
              </a:spcAft>
            </a:pPr>
            <a:r>
              <a:rPr sz="1200" b="0">
                <a:solidFill>
                  <a:srgbClr val="059669"/>
                </a:solidFill>
                <a:latin typeface="DM Sans"/>
              </a:rPr>
              <a:t>▪  </a:t>
            </a:r>
            <a:r>
              <a:rPr sz="1200" b="1">
                <a:solidFill>
                  <a:srgbClr val="0F172A"/>
                </a:solidFill>
                <a:latin typeface="DM Sans"/>
              </a:rPr>
              <a:t>Time:  </a:t>
            </a:r>
            <a:r>
              <a:rPr sz="1200" b="0">
                <a:solidFill>
                  <a:srgbClr val="334155"/>
                </a:solidFill>
                <a:latin typeface="DM Sans"/>
              </a:rPr>
              <a:t>≈ 18 min per dressing visit, about 5 visits a week¹³ (UK, patient-reported).</a:t>
            </a:r>
          </a:p>
          <a:p>
            <a:pPr>
              <a:lnSpc>
                <a:spcPct val="108000"/>
              </a:lnSpc>
              <a:spcAft>
                <a:spcPts val="1200"/>
              </a:spcAft>
            </a:pPr>
            <a:r>
              <a:rPr sz="1200" b="0">
                <a:solidFill>
                  <a:srgbClr val="059669"/>
                </a:solidFill>
                <a:latin typeface="DM Sans"/>
              </a:rPr>
              <a:t>▪  </a:t>
            </a:r>
            <a:r>
              <a:rPr sz="1200" b="1">
                <a:solidFill>
                  <a:srgbClr val="0F172A"/>
                </a:solidFill>
                <a:latin typeface="DM Sans"/>
              </a:rPr>
              <a:t>Waste:  </a:t>
            </a:r>
            <a:r>
              <a:rPr sz="1200" b="0">
                <a:solidFill>
                  <a:srgbClr val="334155"/>
                </a:solidFill>
                <a:latin typeface="DM Sans"/>
              </a:rPr>
              <a:t>44.9 % of changes came while moisture was still optimal¹.</a:t>
            </a:r>
          </a:p>
          <a:p>
            <a:pPr>
              <a:lnSpc>
                <a:spcPct val="108000"/>
              </a:lnSpc>
              <a:spcAft>
                <a:spcPts val="1200"/>
              </a:spcAft>
            </a:pPr>
            <a:r>
              <a:rPr sz="1200" b="0">
                <a:solidFill>
                  <a:srgbClr val="059669"/>
                </a:solidFill>
                <a:latin typeface="DM Sans"/>
              </a:rPr>
              <a:t>▪  </a:t>
            </a:r>
            <a:r>
              <a:rPr sz="1200" b="1">
                <a:solidFill>
                  <a:srgbClr val="0F172A"/>
                </a:solidFill>
                <a:latin typeface="DM Sans"/>
              </a:rPr>
              <a:t>Cost:  </a:t>
            </a:r>
            <a:r>
              <a:rPr sz="1200" b="0">
                <a:solidFill>
                  <a:srgbClr val="334155"/>
                </a:solidFill>
                <a:latin typeface="DM Sans"/>
              </a:rPr>
              <a:t>₹240–510 for one 10 × 10 cm foam dressing¹⁵; each early change discards one.</a:t>
            </a:r>
          </a:p>
          <a:p>
            <a:pPr>
              <a:lnSpc>
                <a:spcPct val="108000"/>
              </a:lnSpc>
              <a:spcAft>
                <a:spcPts val="1200"/>
              </a:spcAft>
            </a:pPr>
            <a:r>
              <a:rPr sz="1200" b="0">
                <a:solidFill>
                  <a:srgbClr val="059669"/>
                </a:solidFill>
                <a:latin typeface="DM Sans"/>
              </a:rPr>
              <a:t>▪  </a:t>
            </a:r>
            <a:r>
              <a:rPr sz="1200" b="1">
                <a:solidFill>
                  <a:srgbClr val="0F172A"/>
                </a:solidFill>
                <a:latin typeface="DM Sans"/>
              </a:rPr>
              <a:t>Safety:  </a:t>
            </a:r>
            <a:r>
              <a:rPr sz="1200" b="0">
                <a:solidFill>
                  <a:srgbClr val="334155"/>
                </a:solidFill>
                <a:latin typeface="DM Sans"/>
              </a:rPr>
              <a:t>a late change can leak (wet skin); removal hurts²⁰.</a:t>
            </a:r>
          </a:p>
          <a:p>
            <a:pPr>
              <a:lnSpc>
                <a:spcPct val="108000"/>
              </a:lnSpc>
              <a:spcAft>
                <a:spcPts val="1200"/>
              </a:spcAft>
            </a:pPr>
            <a:r>
              <a:rPr sz="1200" b="0">
                <a:solidFill>
                  <a:srgbClr val="059669"/>
                </a:solidFill>
                <a:latin typeface="DM Sans"/>
              </a:rPr>
              <a:t>▪  </a:t>
            </a:r>
            <a:r>
              <a:rPr sz="1200" b="1">
                <a:solidFill>
                  <a:srgbClr val="0F172A"/>
                </a:solidFill>
                <a:latin typeface="DM Sans"/>
              </a:rPr>
              <a:t>Who carries it:  </a:t>
            </a:r>
            <a:r>
              <a:rPr sz="1200" b="0">
                <a:solidFill>
                  <a:srgbClr val="334155"/>
                </a:solidFill>
                <a:latin typeface="DM Sans"/>
              </a:rPr>
              <a:t>the patient, the family carer and the nurse.</a:t>
            </a:r>
          </a:p>
        </p:txBody>
      </p:sp>
      <p:sp>
        <p:nvSpPr>
          <p:cNvPr id="161" name="Rounded Rectangle 160"/>
          <p:cNvSpPr/>
          <p:nvPr/>
        </p:nvSpPr>
        <p:spPr>
          <a:xfrm>
            <a:off x="621792" y="1810512"/>
            <a:ext cx="5248656" cy="457200"/>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lnSpc>
                <a:spcPct val="100000"/>
              </a:lnSpc>
              <a:spcAft>
                <a:spcPts val="0"/>
              </a:spcAft>
            </a:pPr>
            <a:r>
              <a:rPr sz="860" b="0">
                <a:solidFill>
                  <a:srgbClr val="334155"/>
                </a:solidFill>
                <a:latin typeface="DM Sans"/>
              </a:rPr>
              <a:t>Persona (illustrative, from the cited data; not a real patient): a 60-year-old with a diabetic foot ulcer, cared for at home by family; a nurse visits to change the dressing.</a:t>
            </a:r>
          </a:p>
        </p:txBody>
      </p:sp>
      <p:sp>
        <p:nvSpPr>
          <p:cNvPr id="162" name="Rounded Rectangle 161"/>
          <p:cNvSpPr/>
          <p:nvPr/>
        </p:nvSpPr>
        <p:spPr>
          <a:xfrm>
            <a:off x="621792" y="2377440"/>
            <a:ext cx="512064" cy="5029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l">
              <a:lnSpc>
                <a:spcPct val="100000"/>
              </a:lnSpc>
              <a:spcAft>
                <a:spcPts val="0"/>
              </a:spcAft>
            </a:pPr>
            <a:r>
              <a:rPr sz="760" b="1">
                <a:solidFill>
                  <a:srgbClr val="64748B"/>
                </a:solidFill>
                <a:latin typeface="DM Sans"/>
              </a:rPr>
              <a:t>STAGE</a:t>
            </a:r>
          </a:p>
        </p:txBody>
      </p:sp>
      <p:sp>
        <p:nvSpPr>
          <p:cNvPr id="163" name="Rounded Rectangle 162"/>
          <p:cNvSpPr/>
          <p:nvPr/>
        </p:nvSpPr>
        <p:spPr>
          <a:xfrm>
            <a:off x="621792" y="2953512"/>
            <a:ext cx="512064" cy="1143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l">
              <a:lnSpc>
                <a:spcPct val="100000"/>
              </a:lnSpc>
              <a:spcAft>
                <a:spcPts val="0"/>
              </a:spcAft>
            </a:pPr>
            <a:r>
              <a:rPr sz="760" b="1">
                <a:solidFill>
                  <a:srgbClr val="64748B"/>
                </a:solidFill>
                <a:latin typeface="DM Sans"/>
              </a:rPr>
              <a:t>WHAT HAPPENS</a:t>
            </a:r>
          </a:p>
        </p:txBody>
      </p:sp>
      <p:sp>
        <p:nvSpPr>
          <p:cNvPr id="164" name="Rounded Rectangle 163"/>
          <p:cNvSpPr/>
          <p:nvPr/>
        </p:nvSpPr>
        <p:spPr>
          <a:xfrm>
            <a:off x="621792" y="4169664"/>
            <a:ext cx="512064"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l">
              <a:lnSpc>
                <a:spcPct val="100000"/>
              </a:lnSpc>
              <a:spcAft>
                <a:spcPts val="0"/>
              </a:spcAft>
            </a:pPr>
            <a:r>
              <a:rPr sz="760" b="1">
                <a:solidFill>
                  <a:srgbClr val="64748B"/>
                </a:solidFill>
                <a:latin typeface="DM Sans"/>
              </a:rPr>
              <a:t>PAIN POINT</a:t>
            </a:r>
          </a:p>
        </p:txBody>
      </p:sp>
      <p:sp>
        <p:nvSpPr>
          <p:cNvPr id="165" name="Rounded Rectangle 164"/>
          <p:cNvSpPr/>
          <p:nvPr/>
        </p:nvSpPr>
        <p:spPr>
          <a:xfrm>
            <a:off x="1188720" y="2377440"/>
            <a:ext cx="848563" cy="502920"/>
          </a:xfrm>
          <a:prstGeom prst="roundRect">
            <a:avLst>
              <a:gd name="adj" fmla="val 12000"/>
            </a:avLst>
          </a:prstGeom>
          <a:solidFill>
            <a:srgbClr val="EFF6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900" b="1">
                <a:solidFill>
                  <a:srgbClr val="0369A1"/>
                </a:solidFill>
                <a:latin typeface="DM Sans"/>
              </a:rPr>
              <a:t>1  </a:t>
            </a:r>
            <a:r>
              <a:rPr sz="900" b="1">
                <a:solidFill>
                  <a:srgbClr val="0F172A"/>
                </a:solidFill>
                <a:latin typeface="DM Sans"/>
              </a:rPr>
              <a:t>Dressing on</a:t>
            </a:r>
          </a:p>
        </p:txBody>
      </p:sp>
      <p:sp>
        <p:nvSpPr>
          <p:cNvPr id="166" name="Rounded Rectangle 165"/>
          <p:cNvSpPr/>
          <p:nvPr/>
        </p:nvSpPr>
        <p:spPr>
          <a:xfrm>
            <a:off x="1188720" y="2953512"/>
            <a:ext cx="848563" cy="1143000"/>
          </a:xfrm>
          <a:prstGeom prst="roundRect">
            <a:avLst>
              <a:gd name="adj" fmla="val 12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0">
                <a:solidFill>
                  <a:srgbClr val="334155"/>
                </a:solidFill>
                <a:latin typeface="DM Sans"/>
              </a:rPr>
              <a:t>foam dressing under a bandage or sock</a:t>
            </a:r>
          </a:p>
        </p:txBody>
      </p:sp>
      <p:sp>
        <p:nvSpPr>
          <p:cNvPr id="167" name="Rounded Rectangle 166"/>
          <p:cNvSpPr/>
          <p:nvPr/>
        </p:nvSpPr>
        <p:spPr>
          <a:xfrm>
            <a:off x="1188720" y="4169664"/>
            <a:ext cx="848563" cy="960120"/>
          </a:xfrm>
          <a:prstGeom prst="roundRect">
            <a:avLst>
              <a:gd name="adj" fmla="val 12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1">
                <a:solidFill>
                  <a:srgbClr val="0369A1"/>
                </a:solidFill>
                <a:latin typeface="DM Sans"/>
              </a:rPr>
              <a:t>the front is hidden</a:t>
            </a:r>
          </a:p>
        </p:txBody>
      </p:sp>
      <p:sp>
        <p:nvSpPr>
          <p:cNvPr id="168" name="Right Arrow 167"/>
          <p:cNvSpPr/>
          <p:nvPr/>
        </p:nvSpPr>
        <p:spPr>
          <a:xfrm>
            <a:off x="2018995" y="2537460"/>
            <a:ext cx="146304" cy="182880"/>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ounded Rectangle 168"/>
          <p:cNvSpPr/>
          <p:nvPr/>
        </p:nvSpPr>
        <p:spPr>
          <a:xfrm>
            <a:off x="2147011" y="2377440"/>
            <a:ext cx="848563" cy="502920"/>
          </a:xfrm>
          <a:prstGeom prst="roundRect">
            <a:avLst>
              <a:gd name="adj" fmla="val 12000"/>
            </a:avLst>
          </a:prstGeom>
          <a:solidFill>
            <a:srgbClr val="FEF2F2"/>
          </a:solidFill>
          <a:ln w="1651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900" b="1">
                <a:solidFill>
                  <a:srgbClr val="DC2626"/>
                </a:solidFill>
                <a:latin typeface="DM Sans"/>
              </a:rPr>
              <a:t>2  </a:t>
            </a:r>
            <a:r>
              <a:rPr sz="900" b="1">
                <a:solidFill>
                  <a:srgbClr val="0F172A"/>
                </a:solidFill>
                <a:latin typeface="DM Sans"/>
              </a:rPr>
              <a:t>Days pass</a:t>
            </a:r>
          </a:p>
        </p:txBody>
      </p:sp>
      <p:sp>
        <p:nvSpPr>
          <p:cNvPr id="170" name="Rounded Rectangle 169"/>
          <p:cNvSpPr/>
          <p:nvPr/>
        </p:nvSpPr>
        <p:spPr>
          <a:xfrm>
            <a:off x="2147011" y="2953512"/>
            <a:ext cx="848563" cy="1143000"/>
          </a:xfrm>
          <a:prstGeom prst="roundRect">
            <a:avLst>
              <a:gd name="adj" fmla="val 12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0">
                <a:solidFill>
                  <a:srgbClr val="334155"/>
                </a:solidFill>
                <a:latin typeface="DM Sans"/>
              </a:rPr>
              <a:t>exudate spreads, unseen</a:t>
            </a:r>
          </a:p>
        </p:txBody>
      </p:sp>
      <p:sp>
        <p:nvSpPr>
          <p:cNvPr id="171" name="Rounded Rectangle 170"/>
          <p:cNvSpPr/>
          <p:nvPr/>
        </p:nvSpPr>
        <p:spPr>
          <a:xfrm>
            <a:off x="2147011" y="4169664"/>
            <a:ext cx="848563" cy="960120"/>
          </a:xfrm>
          <a:prstGeom prst="roundRect">
            <a:avLst>
              <a:gd name="adj" fmla="val 12000"/>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1">
                <a:solidFill>
                  <a:srgbClr val="B91C1C"/>
                </a:solidFill>
                <a:latin typeface="DM Sans"/>
              </a:rPr>
              <a:t>no signal</a:t>
            </a:r>
          </a:p>
        </p:txBody>
      </p:sp>
      <p:sp>
        <p:nvSpPr>
          <p:cNvPr id="172" name="Right Arrow 171"/>
          <p:cNvSpPr/>
          <p:nvPr/>
        </p:nvSpPr>
        <p:spPr>
          <a:xfrm>
            <a:off x="2977286" y="2537460"/>
            <a:ext cx="146304" cy="182880"/>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ounded Rectangle 172"/>
          <p:cNvSpPr/>
          <p:nvPr/>
        </p:nvSpPr>
        <p:spPr>
          <a:xfrm>
            <a:off x="3105302" y="2377440"/>
            <a:ext cx="848563" cy="502920"/>
          </a:xfrm>
          <a:prstGeom prst="roundRect">
            <a:avLst>
              <a:gd name="adj" fmla="val 12000"/>
            </a:avLst>
          </a:prstGeom>
          <a:solidFill>
            <a:srgbClr val="FEF2F2"/>
          </a:solidFill>
          <a:ln w="1651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900" b="1">
                <a:solidFill>
                  <a:srgbClr val="DC2626"/>
                </a:solidFill>
                <a:latin typeface="DM Sans"/>
              </a:rPr>
              <a:t>3  </a:t>
            </a:r>
            <a:r>
              <a:rPr sz="900" b="1">
                <a:solidFill>
                  <a:srgbClr val="0F172A"/>
                </a:solidFill>
                <a:latin typeface="DM Sans"/>
              </a:rPr>
              <a:t>Decide</a:t>
            </a:r>
          </a:p>
        </p:txBody>
      </p:sp>
      <p:sp>
        <p:nvSpPr>
          <p:cNvPr id="174" name="Rounded Rectangle 173"/>
          <p:cNvSpPr/>
          <p:nvPr/>
        </p:nvSpPr>
        <p:spPr>
          <a:xfrm>
            <a:off x="3105302" y="2953512"/>
            <a:ext cx="848563" cy="1143000"/>
          </a:xfrm>
          <a:prstGeom prst="roundRect">
            <a:avLst>
              <a:gd name="adj" fmla="val 12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0">
                <a:solidFill>
                  <a:srgbClr val="334155"/>
                </a:solidFill>
                <a:latin typeface="DM Sans"/>
              </a:rPr>
              <a:t>clock, a peek, or wait for a leak</a:t>
            </a:r>
          </a:p>
        </p:txBody>
      </p:sp>
      <p:sp>
        <p:nvSpPr>
          <p:cNvPr id="175" name="Rounded Rectangle 174"/>
          <p:cNvSpPr/>
          <p:nvPr/>
        </p:nvSpPr>
        <p:spPr>
          <a:xfrm>
            <a:off x="3105302" y="4169664"/>
            <a:ext cx="848563" cy="960120"/>
          </a:xfrm>
          <a:prstGeom prst="roundRect">
            <a:avLst>
              <a:gd name="adj" fmla="val 12000"/>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1">
                <a:solidFill>
                  <a:srgbClr val="B91C1C"/>
                </a:solidFill>
                <a:latin typeface="DM Sans"/>
              </a:rPr>
              <a:t>a guess</a:t>
            </a:r>
          </a:p>
        </p:txBody>
      </p:sp>
      <p:sp>
        <p:nvSpPr>
          <p:cNvPr id="176" name="Right Arrow 175"/>
          <p:cNvSpPr/>
          <p:nvPr/>
        </p:nvSpPr>
        <p:spPr>
          <a:xfrm>
            <a:off x="3935577" y="2537460"/>
            <a:ext cx="146304" cy="182880"/>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ounded Rectangle 176"/>
          <p:cNvSpPr/>
          <p:nvPr/>
        </p:nvSpPr>
        <p:spPr>
          <a:xfrm>
            <a:off x="4063593" y="2377440"/>
            <a:ext cx="848563" cy="502920"/>
          </a:xfrm>
          <a:prstGeom prst="roundRect">
            <a:avLst>
              <a:gd name="adj" fmla="val 12000"/>
            </a:avLst>
          </a:prstGeom>
          <a:solidFill>
            <a:srgbClr val="FEF2F2"/>
          </a:solidFill>
          <a:ln w="1651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900" b="1">
                <a:solidFill>
                  <a:srgbClr val="DC2626"/>
                </a:solidFill>
                <a:latin typeface="DM Sans"/>
              </a:rPr>
              <a:t>4  </a:t>
            </a:r>
            <a:r>
              <a:rPr sz="900" b="1">
                <a:solidFill>
                  <a:srgbClr val="0F172A"/>
                </a:solidFill>
                <a:latin typeface="DM Sans"/>
              </a:rPr>
              <a:t>Change</a:t>
            </a:r>
          </a:p>
        </p:txBody>
      </p:sp>
      <p:sp>
        <p:nvSpPr>
          <p:cNvPr id="178" name="Rounded Rectangle 177"/>
          <p:cNvSpPr/>
          <p:nvPr/>
        </p:nvSpPr>
        <p:spPr>
          <a:xfrm>
            <a:off x="4063593" y="2953512"/>
            <a:ext cx="848563" cy="1143000"/>
          </a:xfrm>
          <a:prstGeom prst="roundRect">
            <a:avLst>
              <a:gd name="adj" fmla="val 12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0">
                <a:solidFill>
                  <a:srgbClr val="334155"/>
                </a:solidFill>
                <a:latin typeface="DM Sans"/>
              </a:rPr>
              <a:t>too early, or too late</a:t>
            </a:r>
          </a:p>
        </p:txBody>
      </p:sp>
      <p:sp>
        <p:nvSpPr>
          <p:cNvPr id="179" name="Rounded Rectangle 178"/>
          <p:cNvSpPr/>
          <p:nvPr/>
        </p:nvSpPr>
        <p:spPr>
          <a:xfrm>
            <a:off x="4063593" y="4169664"/>
            <a:ext cx="848563" cy="960120"/>
          </a:xfrm>
          <a:prstGeom prst="roundRect">
            <a:avLst>
              <a:gd name="adj" fmla="val 12000"/>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1">
                <a:solidFill>
                  <a:srgbClr val="B91C1C"/>
                </a:solidFill>
                <a:latin typeface="DM Sans"/>
              </a:rPr>
              <a:t>pain + waste, or wet skin</a:t>
            </a:r>
          </a:p>
        </p:txBody>
      </p:sp>
      <p:sp>
        <p:nvSpPr>
          <p:cNvPr id="180" name="Right Arrow 179"/>
          <p:cNvSpPr/>
          <p:nvPr/>
        </p:nvSpPr>
        <p:spPr>
          <a:xfrm>
            <a:off x="4893868" y="2537460"/>
            <a:ext cx="146304" cy="182880"/>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ounded Rectangle 180"/>
          <p:cNvSpPr/>
          <p:nvPr/>
        </p:nvSpPr>
        <p:spPr>
          <a:xfrm>
            <a:off x="5021884" y="2377440"/>
            <a:ext cx="848563" cy="502920"/>
          </a:xfrm>
          <a:prstGeom prst="roundRect">
            <a:avLst>
              <a:gd name="adj" fmla="val 12000"/>
            </a:avLst>
          </a:prstGeom>
          <a:solidFill>
            <a:srgbClr val="FEF2F2"/>
          </a:solidFill>
          <a:ln w="1651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900" b="1">
                <a:solidFill>
                  <a:srgbClr val="DC2626"/>
                </a:solidFill>
                <a:latin typeface="DM Sans"/>
              </a:rPr>
              <a:t>5  </a:t>
            </a:r>
            <a:r>
              <a:rPr sz="900" b="1">
                <a:solidFill>
                  <a:srgbClr val="0F172A"/>
                </a:solidFill>
                <a:latin typeface="DM Sans"/>
              </a:rPr>
              <a:t>Repeat</a:t>
            </a:r>
          </a:p>
        </p:txBody>
      </p:sp>
      <p:sp>
        <p:nvSpPr>
          <p:cNvPr id="182" name="Rounded Rectangle 181"/>
          <p:cNvSpPr/>
          <p:nvPr/>
        </p:nvSpPr>
        <p:spPr>
          <a:xfrm>
            <a:off x="5021884" y="2953512"/>
            <a:ext cx="848563" cy="1143000"/>
          </a:xfrm>
          <a:prstGeom prst="roundRect">
            <a:avLst>
              <a:gd name="adj" fmla="val 12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0">
                <a:solidFill>
                  <a:srgbClr val="334155"/>
                </a:solidFill>
                <a:latin typeface="DM Sans"/>
              </a:rPr>
              <a:t>about 5 times a week¹³</a:t>
            </a:r>
          </a:p>
        </p:txBody>
      </p:sp>
      <p:sp>
        <p:nvSpPr>
          <p:cNvPr id="183" name="Rounded Rectangle 182"/>
          <p:cNvSpPr/>
          <p:nvPr/>
        </p:nvSpPr>
        <p:spPr>
          <a:xfrm>
            <a:off x="5021884" y="4169664"/>
            <a:ext cx="848563" cy="960120"/>
          </a:xfrm>
          <a:prstGeom prst="roundRect">
            <a:avLst>
              <a:gd name="adj" fmla="val 12000"/>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1">
                <a:solidFill>
                  <a:srgbClr val="B91C1C"/>
                </a:solidFill>
                <a:latin typeface="DM Sans"/>
              </a:rPr>
              <a:t>≈ 18 min each time¹³</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descr="image.png" id="125" name="Google Shape;125;p16"/>
          <p:cNvPicPr preferRelativeResize="0"/>
          <p:nvPr/>
        </p:nvPicPr>
        <p:blipFill rotWithShape="1">
          <a:blip r:embed="rId6">
            <a:alphaModFix/>
          </a:blip>
          <a:srcRect b="0" l="0" r="0" t="0"/>
          <a:stretch/>
        </p:blipFill>
        <p:spPr>
          <a:xfrm>
            <a:off x="0" y="0"/>
            <a:ext cx="12192000" cy="6858000"/>
          </a:xfrm>
          <a:prstGeom prst="rect">
            <a:avLst/>
          </a:prstGeom>
          <a:noFill/>
          <a:ln>
            <a:noFill/>
          </a:ln>
        </p:spPr>
      </p:pic>
      <p:pic>
        <p:nvPicPr>
          <p:cNvPr descr="image.png" id="126" name="Google Shape;126;p16"/>
          <p:cNvPicPr preferRelativeResize="0"/>
          <p:nvPr/>
        </p:nvPicPr>
        <p:blipFill rotWithShape="1">
          <a:blip r:embed="rId7">
            <a:alphaModFix/>
          </a:blip>
          <a:srcRect b="0" l="0" r="0" t="0"/>
          <a:stretch/>
        </p:blipFill>
        <p:spPr>
          <a:xfrm>
            <a:off x="533400" y="5714641"/>
            <a:ext cx="11125200" cy="363140"/>
          </a:xfrm>
          <a:prstGeom prst="rect">
            <a:avLst/>
          </a:prstGeom>
          <a:noFill/>
          <a:ln>
            <a:noFill/>
          </a:ln>
        </p:spPr>
      </p:pic>
      <p:pic>
        <p:nvPicPr>
          <p:cNvPr descr="image.png" id="127" name="Google Shape;127;p16"/>
          <p:cNvPicPr preferRelativeResize="0"/>
          <p:nvPr/>
        </p:nvPicPr>
        <p:blipFill rotWithShape="1">
          <a:blip r:embed="rId10">
            <a:alphaModFix/>
          </a:blip>
          <a:srcRect b="0" l="0" r="0" t="0"/>
          <a:stretch/>
        </p:blipFill>
        <p:spPr>
          <a:xfrm>
            <a:off x="533400" y="956220"/>
            <a:ext cx="2667000" cy="649485"/>
          </a:xfrm>
          <a:prstGeom prst="rect">
            <a:avLst/>
          </a:prstGeom>
          <a:noFill/>
          <a:ln>
            <a:noFill/>
          </a:ln>
        </p:spPr>
      </p:pic>
      <p:pic>
        <p:nvPicPr>
          <p:cNvPr descr="image.png" id="128" name="Google Shape;128;p16"/>
          <p:cNvPicPr preferRelativeResize="0"/>
          <p:nvPr/>
        </p:nvPicPr>
        <p:blipFill rotWithShape="1">
          <a:blip r:embed="rId11">
            <a:alphaModFix/>
          </a:blip>
          <a:srcRect b="0" l="0" r="0" t="0"/>
          <a:stretch/>
        </p:blipFill>
        <p:spPr>
          <a:xfrm>
            <a:off x="3352800" y="956220"/>
            <a:ext cx="2667000" cy="649485"/>
          </a:xfrm>
          <a:prstGeom prst="rect">
            <a:avLst/>
          </a:prstGeom>
          <a:noFill/>
          <a:ln>
            <a:noFill/>
          </a:ln>
        </p:spPr>
      </p:pic>
      <p:pic>
        <p:nvPicPr>
          <p:cNvPr descr="image.png" id="129" name="Google Shape;129;p16"/>
          <p:cNvPicPr preferRelativeResize="0"/>
          <p:nvPr/>
        </p:nvPicPr>
        <p:blipFill rotWithShape="1">
          <a:blip r:embed="rId12">
            <a:alphaModFix/>
          </a:blip>
          <a:srcRect b="0" l="0" r="0" t="0"/>
          <a:stretch/>
        </p:blipFill>
        <p:spPr>
          <a:xfrm>
            <a:off x="6172200" y="956220"/>
            <a:ext cx="2667000" cy="649485"/>
          </a:xfrm>
          <a:prstGeom prst="rect">
            <a:avLst/>
          </a:prstGeom>
          <a:noFill/>
          <a:ln>
            <a:noFill/>
          </a:ln>
        </p:spPr>
      </p:pic>
      <p:pic>
        <p:nvPicPr>
          <p:cNvPr descr="image.png" id="130" name="Google Shape;130;p16"/>
          <p:cNvPicPr preferRelativeResize="0"/>
          <p:nvPr/>
        </p:nvPicPr>
        <p:blipFill rotWithShape="1">
          <a:blip r:embed="rId12">
            <a:alphaModFix/>
          </a:blip>
          <a:srcRect b="0" l="0" r="0" t="0"/>
          <a:stretch/>
        </p:blipFill>
        <p:spPr>
          <a:xfrm>
            <a:off x="8991600" y="956220"/>
            <a:ext cx="2667000" cy="649485"/>
          </a:xfrm>
          <a:prstGeom prst="rect">
            <a:avLst/>
          </a:prstGeom>
          <a:noFill/>
          <a:ln>
            <a:noFill/>
          </a:ln>
        </p:spPr>
      </p:pic>
      <p:pic>
        <p:nvPicPr>
          <p:cNvPr descr="image.png" id="131" name="Google Shape;131;p16"/>
          <p:cNvPicPr preferRelativeResize="0"/>
          <p:nvPr/>
        </p:nvPicPr>
        <p:blipFill rotWithShape="1">
          <a:blip r:embed="rId13">
            <a:alphaModFix/>
          </a:blip>
          <a:srcRect b="0" l="0" r="0" t="0"/>
          <a:stretch/>
        </p:blipFill>
        <p:spPr>
          <a:xfrm>
            <a:off x="6229350" y="1737360"/>
            <a:ext cx="5429250" cy="3886200"/>
          </a:xfrm>
          <a:prstGeom prst="rect">
            <a:avLst/>
          </a:prstGeom>
          <a:noFill/>
          <a:ln>
            <a:noFill/>
          </a:ln>
        </p:spPr>
      </p:pic>
      <p:pic>
        <p:nvPicPr>
          <p:cNvPr descr="image.png" id="132" name="Google Shape;132;p16"/>
          <p:cNvPicPr preferRelativeResize="0"/>
          <p:nvPr/>
        </p:nvPicPr>
        <p:blipFill rotWithShape="1">
          <a:blip r:embed="rId8">
            <a:alphaModFix/>
          </a:blip>
          <a:srcRect b="0" l="0" r="0" t="0"/>
          <a:stretch/>
        </p:blipFill>
        <p:spPr>
          <a:xfrm>
            <a:off x="530352" y="1737360"/>
            <a:ext cx="5431536" cy="3611880"/>
          </a:xfrm>
          <a:prstGeom prst="rect">
            <a:avLst/>
          </a:prstGeom>
          <a:noFill/>
          <a:ln>
            <a:noFill/>
          </a:ln>
        </p:spPr>
      </p:pic>
      <p:sp>
        <p:nvSpPr>
          <p:cNvPr id="133" name="Google Shape;133;p16"/>
          <p:cNvSpPr txBox="1"/>
          <p:nvPr/>
        </p:nvSpPr>
        <p:spPr>
          <a:xfrm>
            <a:off x="533400" y="438150"/>
            <a:ext cx="8595360" cy="308520"/>
          </a:xfrm>
          <a:prstGeom prst="rect">
            <a:avLst/>
          </a:prstGeom>
          <a:noFill/>
          <a:ln>
            <a:noFill/>
          </a:ln>
        </p:spPr>
        <p:txBody>
          <a:bodyPr anchorCtr="0" anchor="ctr" bIns="0" lIns="0" spcFirstLastPara="1" rIns="0" wrap="square" tIns="0">
            <a:spAutoFit/>
          </a:bodyPr>
          <a:lstStyle/>
          <a:p>
            <a:pPr indent="0" lvl="0" marL="0" marR="0" rtl="0" algn="l">
              <a:lnSpc>
                <a:spcPct val="119950"/>
              </a:lnSpc>
              <a:spcBef>
                <a:spcPts val="0"/>
              </a:spcBef>
              <a:spcAft>
                <a:spcPts val="0"/>
              </a:spcAft>
              <a:buNone/>
            </a:pPr>
            <a:r>
              <a:rPr sz="2025" b="0">
                <a:solidFill>
                  <a:srgbClr val="0F172A"/>
                </a:solidFill>
                <a:latin typeface="Poppins SemiBold"/>
              </a:rPr>
              <a:t>User Journey: After State (Intended)</a:t>
            </a:r>
            <a:endParaRPr/>
          </a:p>
        </p:txBody>
      </p:sp>
      <p:sp>
        <p:nvSpPr>
          <p:cNvPr id="135" name="Google Shape;135;p16"/>
          <p:cNvSpPr txBox="1"/>
          <p:nvPr/>
        </p:nvSpPr>
        <p:spPr>
          <a:xfrm>
            <a:off x="695325" y="5838653"/>
            <a:ext cx="10698480" cy="329184"/>
          </a:xfrm>
          <a:prstGeom prst="rect">
            <a:avLst/>
          </a:prstGeom>
          <a:noFill/>
          <a:ln>
            <a:noFill/>
          </a:ln>
        </p:spPr>
        <p:txBody>
          <a:bodyPr anchorCtr="0" anchor="t" bIns="0" lIns="0" spcFirstLastPara="1" rIns="0" wrap="square" tIns="0">
            <a:spAutoFit/>
          </a:bodyPr>
          <a:lstStyle/>
          <a:p>
            <a:pPr indent="0" lvl="0" marL="0" marR="0" rtl="0" algn="l">
              <a:lnSpc>
                <a:spcPct val="145037"/>
              </a:lnSpc>
              <a:spcBef>
                <a:spcPts val="0"/>
              </a:spcBef>
              <a:spcAft>
                <a:spcPts val="0"/>
              </a:spcAft>
              <a:buNone/>
            </a:pPr>
            <a:r>
              <a:rPr sz="960" b="1">
                <a:solidFill>
                  <a:srgbClr val="0F172A"/>
                </a:solidFill>
                <a:latin typeface="DM Sans"/>
              </a:rPr>
              <a:t>Design Principle: </a:t>
            </a:r>
            <a:r>
              <a:rPr sz="960" b="0">
                <a:solidFill>
                  <a:srgbClr val="334155"/>
                </a:solidFill>
                <a:latin typeface="DM Sans"/>
              </a:rPr>
              <a:t>same routine, nothing touches the wound, only film and carbon are disposable. Target: alert within ±10 % of the visible front (E4).</a:t>
            </a:r>
            <a:endParaRPr/>
          </a:p>
        </p:txBody>
      </p:sp>
      <p:sp>
        <p:nvSpPr>
          <p:cNvPr id="136" name="Google Shape;136;p16"/>
          <p:cNvSpPr txBox="1"/>
          <p:nvPr/>
        </p:nvSpPr>
        <p:spPr>
          <a:xfrm>
            <a:off x="695325" y="1024128"/>
            <a:ext cx="2343150" cy="301752"/>
          </a:xfrm>
          <a:prstGeom prst="rect">
            <a:avLst/>
          </a:prstGeom>
          <a:noFill/>
          <a:ln>
            <a:noFill/>
          </a:ln>
        </p:spPr>
        <p:txBody>
          <a:bodyPr anchorCtr="0" anchor="t" bIns="0" lIns="0" spcFirstLastPara="1" rIns="0" wrap="square" tIns="0">
            <a:spAutoFit/>
          </a:bodyPr>
          <a:lstStyle/>
          <a:p>
            <a:pPr indent="0" lvl="0" marL="0" marR="0" rtl="0" algn="ctr">
              <a:lnSpc>
                <a:spcPct val="109939"/>
              </a:lnSpc>
              <a:spcBef>
                <a:spcPts val="0"/>
              </a:spcBef>
              <a:spcAft>
                <a:spcPts val="0"/>
              </a:spcAft>
              <a:buNone/>
            </a:pPr>
            <a:r>
              <a:rPr sz="1500" b="0">
                <a:solidFill>
                  <a:srgbClr val="0369A1"/>
                </a:solidFill>
                <a:latin typeface="Poppins SemiBold"/>
              </a:rPr>
              <a:t>0 lifts</a:t>
            </a:r>
            <a:endParaRPr/>
          </a:p>
        </p:txBody>
      </p:sp>
      <p:sp>
        <p:nvSpPr>
          <p:cNvPr id="137" name="Google Shape;137;p16"/>
          <p:cNvSpPr txBox="1"/>
          <p:nvPr/>
        </p:nvSpPr>
        <p:spPr>
          <a:xfrm>
            <a:off x="695325" y="1344168"/>
            <a:ext cx="2343150" cy="219456"/>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sz="760" b="0">
                <a:solidFill>
                  <a:srgbClr val="64748B"/>
                </a:solidFill>
                <a:latin typeface="DM Sans Medium"/>
              </a:rPr>
              <a:t>NEEDED TO CHECK THE DRESSING (BY DESIGN)</a:t>
            </a:r>
            <a:endParaRPr/>
          </a:p>
        </p:txBody>
      </p:sp>
      <p:sp>
        <p:nvSpPr>
          <p:cNvPr id="138" name="Google Shape;138;p16"/>
          <p:cNvSpPr txBox="1"/>
          <p:nvPr/>
        </p:nvSpPr>
        <p:spPr>
          <a:xfrm>
            <a:off x="3514725" y="1024128"/>
            <a:ext cx="2343150" cy="301752"/>
          </a:xfrm>
          <a:prstGeom prst="rect">
            <a:avLst/>
          </a:prstGeom>
          <a:noFill/>
          <a:ln>
            <a:noFill/>
          </a:ln>
        </p:spPr>
        <p:txBody>
          <a:bodyPr anchorCtr="0" anchor="t" bIns="0" lIns="0" spcFirstLastPara="1" rIns="0" wrap="square" tIns="0">
            <a:spAutoFit/>
          </a:bodyPr>
          <a:lstStyle/>
          <a:p>
            <a:pPr indent="0" lvl="0" marL="0" marR="0" rtl="0" algn="ctr">
              <a:lnSpc>
                <a:spcPct val="109939"/>
              </a:lnSpc>
              <a:spcBef>
                <a:spcPts val="0"/>
              </a:spcBef>
              <a:spcAft>
                <a:spcPts val="0"/>
              </a:spcAft>
              <a:buNone/>
            </a:pPr>
            <a:r>
              <a:rPr sz="1300" b="0">
                <a:solidFill>
                  <a:srgbClr val="0369A1"/>
                </a:solidFill>
                <a:latin typeface="Poppins SemiBold"/>
              </a:rPr>
              <a:t>up to 44.9 %</a:t>
            </a:r>
            <a:endParaRPr/>
          </a:p>
        </p:txBody>
      </p:sp>
      <p:sp>
        <p:nvSpPr>
          <p:cNvPr id="139" name="Google Shape;139;p16"/>
          <p:cNvSpPr txBox="1"/>
          <p:nvPr/>
        </p:nvSpPr>
        <p:spPr>
          <a:xfrm>
            <a:off x="3514725" y="1344168"/>
            <a:ext cx="2343150" cy="219456"/>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sz="760" b="0">
                <a:solidFill>
                  <a:srgbClr val="64748B"/>
                </a:solidFill>
                <a:latin typeface="DM Sans Medium"/>
              </a:rPr>
              <a:t>EARLY CHANGES A RELIABLE ALERT COULD AVOID¹</a:t>
            </a:r>
            <a:endParaRPr/>
          </a:p>
        </p:txBody>
      </p:sp>
      <p:sp>
        <p:nvSpPr>
          <p:cNvPr id="140" name="Google Shape;140;p16"/>
          <p:cNvSpPr txBox="1"/>
          <p:nvPr/>
        </p:nvSpPr>
        <p:spPr>
          <a:xfrm>
            <a:off x="6334125" y="1024128"/>
            <a:ext cx="2343150" cy="301752"/>
          </a:xfrm>
          <a:prstGeom prst="rect">
            <a:avLst/>
          </a:prstGeom>
          <a:noFill/>
          <a:ln>
            <a:noFill/>
          </a:ln>
        </p:spPr>
        <p:txBody>
          <a:bodyPr anchorCtr="0" anchor="t" bIns="0" lIns="0" spcFirstLastPara="1" rIns="0" wrap="square" tIns="0">
            <a:spAutoFit/>
          </a:bodyPr>
          <a:lstStyle/>
          <a:p>
            <a:pPr indent="0" lvl="0" marL="0" marR="0" rtl="0" algn="ctr">
              <a:lnSpc>
                <a:spcPct val="109939"/>
              </a:lnSpc>
              <a:spcBef>
                <a:spcPts val="0"/>
              </a:spcBef>
              <a:spcAft>
                <a:spcPts val="0"/>
              </a:spcAft>
              <a:buNone/>
            </a:pPr>
            <a:r>
              <a:rPr sz="1500" b="0">
                <a:solidFill>
                  <a:srgbClr val="0369A1"/>
                </a:solidFill>
                <a:latin typeface="Poppins SemiBold"/>
              </a:rPr>
              <a:t>≤ ₹100</a:t>
            </a:r>
            <a:endParaRPr/>
          </a:p>
        </p:txBody>
      </p:sp>
      <p:sp>
        <p:nvSpPr>
          <p:cNvPr id="141" name="Google Shape;141;p16"/>
          <p:cNvSpPr txBox="1"/>
          <p:nvPr/>
        </p:nvSpPr>
        <p:spPr>
          <a:xfrm>
            <a:off x="6334125" y="1344168"/>
            <a:ext cx="2343150" cy="219456"/>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sz="760" b="0">
                <a:solidFill>
                  <a:srgbClr val="64748B"/>
                </a:solidFill>
                <a:latin typeface="DM Sans Medium"/>
              </a:rPr>
              <a:t>TARGET STRIP COST (ESTIMATE)</a:t>
            </a:r>
            <a:endParaRPr/>
          </a:p>
        </p:txBody>
      </p:sp>
      <p:sp>
        <p:nvSpPr>
          <p:cNvPr id="142" name="Google Shape;142;p16"/>
          <p:cNvSpPr txBox="1"/>
          <p:nvPr/>
        </p:nvSpPr>
        <p:spPr>
          <a:xfrm>
            <a:off x="9153525" y="1024128"/>
            <a:ext cx="2343150" cy="301752"/>
          </a:xfrm>
          <a:prstGeom prst="rect">
            <a:avLst/>
          </a:prstGeom>
          <a:noFill/>
          <a:ln>
            <a:noFill/>
          </a:ln>
        </p:spPr>
        <p:txBody>
          <a:bodyPr anchorCtr="0" anchor="t" bIns="0" lIns="0" spcFirstLastPara="1" rIns="0" wrap="square" tIns="0">
            <a:spAutoFit/>
          </a:bodyPr>
          <a:lstStyle/>
          <a:p>
            <a:pPr indent="0" lvl="0" marL="0" marR="0" rtl="0" algn="ctr">
              <a:lnSpc>
                <a:spcPct val="109939"/>
              </a:lnSpc>
              <a:spcBef>
                <a:spcPts val="0"/>
              </a:spcBef>
              <a:spcAft>
                <a:spcPts val="0"/>
              </a:spcAft>
              <a:buNone/>
            </a:pPr>
            <a:r>
              <a:rPr sz="1500" b="0">
                <a:solidFill>
                  <a:srgbClr val="0369A1"/>
                </a:solidFill>
                <a:latin typeface="Poppins SemiBold"/>
              </a:rPr>
              <a:t>1 in 2–5</a:t>
            </a:r>
            <a:endParaRPr/>
          </a:p>
        </p:txBody>
      </p:sp>
      <p:sp>
        <p:nvSpPr>
          <p:cNvPr id="143" name="Google Shape;143;p16"/>
          <p:cNvSpPr txBox="1"/>
          <p:nvPr/>
        </p:nvSpPr>
        <p:spPr>
          <a:xfrm>
            <a:off x="9153525" y="1344168"/>
            <a:ext cx="2343150" cy="219456"/>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sz="760" b="0">
                <a:solidFill>
                  <a:srgbClr val="64748B"/>
                </a:solidFill>
                <a:latin typeface="DM Sans Medium"/>
              </a:rPr>
              <a:t>AVOIDED CHANGES PAY FOR A STRIP (PROJ.)¹⁵</a:t>
            </a:r>
            <a:endParaRPr/>
          </a:p>
        </p:txBody>
      </p:sp>
      <p:sp>
        <p:nvSpPr>
          <p:cNvPr id="144" name="Google Shape;144;p16"/>
          <p:cNvSpPr txBox="1"/>
          <p:nvPr/>
        </p:nvSpPr>
        <p:spPr>
          <a:xfrm>
            <a:off x="533400" y="5394960"/>
            <a:ext cx="5429250" cy="201168"/>
          </a:xfrm>
          <a:prstGeom prst="rect">
            <a:avLst/>
          </a:prstGeom>
          <a:noFill/>
          <a:ln>
            <a:noFill/>
          </a:ln>
        </p:spPr>
        <p:txBody>
          <a:bodyPr anchorCtr="0" anchor="t" bIns="0" lIns="0" spcFirstLastPara="1" rIns="0" wrap="square" tIns="0">
            <a:spAutoFit/>
          </a:bodyPr>
          <a:lstStyle/>
          <a:p>
            <a:pPr indent="0" lvl="0" marL="0" marR="0" rtl="0" algn="r">
              <a:lnSpc>
                <a:spcPct val="145011"/>
              </a:lnSpc>
              <a:spcBef>
                <a:spcPts val="0"/>
              </a:spcBef>
              <a:spcAft>
                <a:spcPts val="0"/>
              </a:spcAft>
              <a:buNone/>
            </a:pPr>
            <a:r>
              <a:rPr sz="760" b="0">
                <a:solidFill>
                  <a:srgbClr val="64748B"/>
                </a:solidFill>
                <a:latin typeface="DM Sans"/>
              </a:rPr>
              <a:t>Figure: the intended journey (design-thinking map); tested on the bench first, not on patients.</a:t>
            </a:r>
            <a:endParaRPr/>
          </a:p>
        </p:txBody>
      </p:sp>
      <p:pic>
        <p:nvPicPr>
          <p:cNvPr descr="image.png" id="146" name="Google Shape;146;p16"/>
          <p:cNvPicPr preferRelativeResize="0"/>
          <p:nvPr/>
        </p:nvPicPr>
        <p:blipFill rotWithShape="1">
          <a:blip r:embed="rId5">
            <a:alphaModFix/>
          </a:blip>
          <a:srcRect b="0" l="0" r="0" t="0"/>
          <a:stretch/>
        </p:blipFill>
        <p:spPr>
          <a:xfrm>
            <a:off x="6448425" y="1958131"/>
            <a:ext cx="154334" cy="152400"/>
          </a:xfrm>
          <a:prstGeom prst="rect">
            <a:avLst/>
          </a:prstGeom>
          <a:noFill/>
          <a:ln>
            <a:noFill/>
          </a:ln>
        </p:spPr>
      </p:pic>
      <p:sp>
        <p:nvSpPr>
          <p:cNvPr id="147" name="Google Shape;147;p16"/>
          <p:cNvSpPr txBox="1"/>
          <p:nvPr/>
        </p:nvSpPr>
        <p:spPr>
          <a:xfrm>
            <a:off x="6698009" y="1939081"/>
            <a:ext cx="484632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How Each Person Is Helped (intended)</a:t>
            </a:r>
            <a:endParaRPr/>
          </a:p>
        </p:txBody>
      </p:sp>
      <p:pic>
        <p:nvPicPr>
          <p:cNvPr id="156" name="Google Shape;156;p16" title="MBF_Logo_2020.png"/>
          <p:cNvPicPr preferRelativeResize="0"/>
          <p:nvPr/>
        </p:nvPicPr>
        <p:blipFill>
          <a:blip r:embed="rId4">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9">
            <a:alphaModFix/>
          </a:blip>
          <a:srcRect b="44466" l="14673" r="15820" t="33074"/>
          <a:stretch/>
        </p:blipFill>
        <p:spPr>
          <a:xfrm>
            <a:off x="0" y="6280800"/>
            <a:ext cx="1786280" cy="577200"/>
          </a:xfrm>
          <a:prstGeom prst="rect">
            <a:avLst/>
          </a:prstGeom>
          <a:noFill/>
          <a:ln>
            <a:noFill/>
          </a:ln>
        </p:spPr>
      </p:pic>
      <p:sp>
        <p:nvSpPr>
          <p:cNvPr id="158" name="Rounded Rectangle 157"/>
          <p:cNvSpPr/>
          <p:nvPr/>
        </p:nvSpPr>
        <p:spPr>
          <a:xfrm>
            <a:off x="9208008" y="457200"/>
            <a:ext cx="2450592" cy="246888"/>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B45309"/>
                </a:solidFill>
                <a:latin typeface="DM Sans"/>
              </a:rPr>
              <a:t>INTENDED · NOT CLINICALLY VALIDATED</a:t>
            </a:r>
          </a:p>
        </p:txBody>
      </p:sp>
      <p:sp>
        <p:nvSpPr>
          <p:cNvPr id="160" name="TextBox 159"/>
          <p:cNvSpPr txBox="1"/>
          <p:nvPr/>
        </p:nvSpPr>
        <p:spPr>
          <a:xfrm>
            <a:off x="6464808" y="2395728"/>
            <a:ext cx="5029200" cy="3108960"/>
          </a:xfrm>
          <a:prstGeom prst="rect">
            <a:avLst/>
          </a:prstGeom>
          <a:noFill/>
        </p:spPr>
        <p:txBody>
          <a:bodyPr wrap="square" lIns="18288" rIns="18288" tIns="9144" bIns="9144" anchor="t"/>
          <a:lstStyle/>
          <a:p>
            <a:pPr>
              <a:lnSpc>
                <a:spcPct val="108000"/>
              </a:lnSpc>
              <a:spcAft>
                <a:spcPts val="1200"/>
              </a:spcAft>
            </a:pPr>
            <a:r>
              <a:rPr sz="1200" b="0">
                <a:solidFill>
                  <a:srgbClr val="059669"/>
                </a:solidFill>
                <a:latin typeface="DM Sans"/>
              </a:rPr>
              <a:t>▪  </a:t>
            </a:r>
            <a:r>
              <a:rPr sz="1200" b="1">
                <a:solidFill>
                  <a:srgbClr val="0F172A"/>
                </a:solidFill>
                <a:latin typeface="DM Sans"/>
              </a:rPr>
              <a:t>Patient:  </a:t>
            </a:r>
            <a:r>
              <a:rPr sz="1200" b="0">
                <a:solidFill>
                  <a:srgbClr val="334155"/>
                </a:solidFill>
                <a:latin typeface="DM Sans"/>
              </a:rPr>
              <a:t>fewer needless removals, the step patients find most painful²⁰.</a:t>
            </a:r>
          </a:p>
          <a:p>
            <a:pPr>
              <a:lnSpc>
                <a:spcPct val="108000"/>
              </a:lnSpc>
              <a:spcAft>
                <a:spcPts val="1200"/>
              </a:spcAft>
            </a:pPr>
            <a:r>
              <a:rPr sz="1200" b="0">
                <a:solidFill>
                  <a:srgbClr val="059669"/>
                </a:solidFill>
                <a:latin typeface="DM Sans"/>
              </a:rPr>
              <a:t>▪  </a:t>
            </a:r>
            <a:r>
              <a:rPr sz="1200" b="1">
                <a:solidFill>
                  <a:srgbClr val="0F172A"/>
                </a:solidFill>
                <a:latin typeface="DM Sans"/>
              </a:rPr>
              <a:t>Family carer:  </a:t>
            </a:r>
            <a:r>
              <a:rPr sz="1200" b="0">
                <a:solidFill>
                  <a:srgbClr val="334155"/>
                </a:solidFill>
                <a:latin typeface="DM Sans"/>
              </a:rPr>
              <a:t>a clear OK / CHANGE instead of a guess.</a:t>
            </a:r>
          </a:p>
          <a:p>
            <a:pPr>
              <a:lnSpc>
                <a:spcPct val="108000"/>
              </a:lnSpc>
              <a:spcAft>
                <a:spcPts val="1200"/>
              </a:spcAft>
            </a:pPr>
            <a:r>
              <a:rPr sz="1200" b="0">
                <a:solidFill>
                  <a:srgbClr val="059669"/>
                </a:solidFill>
                <a:latin typeface="DM Sans"/>
              </a:rPr>
              <a:t>▪  </a:t>
            </a:r>
            <a:r>
              <a:rPr sz="1200" b="1">
                <a:solidFill>
                  <a:srgbClr val="0F172A"/>
                </a:solidFill>
                <a:latin typeface="DM Sans"/>
              </a:rPr>
              <a:t>Nurse:  </a:t>
            </a:r>
            <a:r>
              <a:rPr sz="1200" b="0">
                <a:solidFill>
                  <a:srgbClr val="334155"/>
                </a:solidFill>
                <a:latin typeface="DM Sans"/>
              </a:rPr>
              <a:t>checks without unwrapping; every change has a logged reason.</a:t>
            </a:r>
          </a:p>
          <a:p>
            <a:pPr>
              <a:lnSpc>
                <a:spcPct val="108000"/>
              </a:lnSpc>
              <a:spcAft>
                <a:spcPts val="1200"/>
              </a:spcAft>
            </a:pPr>
            <a:r>
              <a:rPr sz="1200" b="0">
                <a:solidFill>
                  <a:srgbClr val="059669"/>
                </a:solidFill>
                <a:latin typeface="DM Sans"/>
              </a:rPr>
              <a:t>▪  </a:t>
            </a:r>
            <a:r>
              <a:rPr sz="1200" b="1">
                <a:solidFill>
                  <a:srgbClr val="0F172A"/>
                </a:solidFill>
                <a:latin typeface="DM Sans"/>
              </a:rPr>
              <a:t>Budget:  </a:t>
            </a:r>
            <a:r>
              <a:rPr sz="1200" b="0">
                <a:solidFill>
                  <a:srgbClr val="334155"/>
                </a:solidFill>
                <a:latin typeface="DM Sans"/>
              </a:rPr>
              <a:t>fewer wasted dressings; strip ≤ ₹100, reader reused (projection).</a:t>
            </a:r>
          </a:p>
        </p:txBody>
      </p:sp>
      <p:sp>
        <p:nvSpPr>
          <p:cNvPr id="161" name="Rounded Rectangle 160"/>
          <p:cNvSpPr/>
          <p:nvPr/>
        </p:nvSpPr>
        <p:spPr>
          <a:xfrm>
            <a:off x="621792" y="1810512"/>
            <a:ext cx="5248656" cy="457200"/>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lnSpc>
                <a:spcPct val="100000"/>
              </a:lnSpc>
              <a:spcAft>
                <a:spcPts val="0"/>
              </a:spcAft>
            </a:pPr>
            <a:r>
              <a:rPr sz="860" b="0">
                <a:solidFill>
                  <a:srgbClr val="334155"/>
                </a:solidFill>
                <a:latin typeface="DM Sans"/>
              </a:rPr>
              <a:t>Same persona with Dermasense (intended workflow; bench-testable, not clinically validated).</a:t>
            </a:r>
          </a:p>
        </p:txBody>
      </p:sp>
      <p:sp>
        <p:nvSpPr>
          <p:cNvPr id="162" name="Rounded Rectangle 161"/>
          <p:cNvSpPr/>
          <p:nvPr/>
        </p:nvSpPr>
        <p:spPr>
          <a:xfrm>
            <a:off x="621792" y="2377440"/>
            <a:ext cx="512064" cy="5029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l">
              <a:lnSpc>
                <a:spcPct val="100000"/>
              </a:lnSpc>
              <a:spcAft>
                <a:spcPts val="0"/>
              </a:spcAft>
            </a:pPr>
            <a:r>
              <a:rPr sz="760" b="1">
                <a:solidFill>
                  <a:srgbClr val="64748B"/>
                </a:solidFill>
                <a:latin typeface="DM Sans"/>
              </a:rPr>
              <a:t>STAGE</a:t>
            </a:r>
          </a:p>
        </p:txBody>
      </p:sp>
      <p:sp>
        <p:nvSpPr>
          <p:cNvPr id="163" name="Rounded Rectangle 162"/>
          <p:cNvSpPr/>
          <p:nvPr/>
        </p:nvSpPr>
        <p:spPr>
          <a:xfrm>
            <a:off x="621792" y="2953512"/>
            <a:ext cx="512064" cy="1143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l">
              <a:lnSpc>
                <a:spcPct val="100000"/>
              </a:lnSpc>
              <a:spcAft>
                <a:spcPts val="0"/>
              </a:spcAft>
            </a:pPr>
            <a:r>
              <a:rPr sz="760" b="1">
                <a:solidFill>
                  <a:srgbClr val="64748B"/>
                </a:solidFill>
                <a:latin typeface="DM Sans"/>
              </a:rPr>
              <a:t>WHAT HAPPENS</a:t>
            </a:r>
          </a:p>
        </p:txBody>
      </p:sp>
      <p:sp>
        <p:nvSpPr>
          <p:cNvPr id="164" name="Rounded Rectangle 163"/>
          <p:cNvSpPr/>
          <p:nvPr/>
        </p:nvSpPr>
        <p:spPr>
          <a:xfrm>
            <a:off x="621792" y="4169664"/>
            <a:ext cx="512064"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l">
              <a:lnSpc>
                <a:spcPct val="100000"/>
              </a:lnSpc>
              <a:spcAft>
                <a:spcPts val="0"/>
              </a:spcAft>
            </a:pPr>
            <a:r>
              <a:rPr sz="760" b="1">
                <a:solidFill>
                  <a:srgbClr val="64748B"/>
                </a:solidFill>
                <a:latin typeface="DM Sans"/>
              </a:rPr>
              <a:t>GAIN</a:t>
            </a:r>
          </a:p>
        </p:txBody>
      </p:sp>
      <p:sp>
        <p:nvSpPr>
          <p:cNvPr id="165" name="Rounded Rectangle 164"/>
          <p:cNvSpPr/>
          <p:nvPr/>
        </p:nvSpPr>
        <p:spPr>
          <a:xfrm>
            <a:off x="1188720" y="2377440"/>
            <a:ext cx="848563" cy="502920"/>
          </a:xfrm>
          <a:prstGeom prst="roundRect">
            <a:avLst>
              <a:gd name="adj" fmla="val 12000"/>
            </a:avLst>
          </a:prstGeom>
          <a:solidFill>
            <a:srgbClr val="EFF6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900" b="1">
                <a:solidFill>
                  <a:srgbClr val="0369A1"/>
                </a:solidFill>
                <a:latin typeface="DM Sans"/>
              </a:rPr>
              <a:t>1  </a:t>
            </a:r>
            <a:r>
              <a:rPr sz="900" b="1">
                <a:solidFill>
                  <a:srgbClr val="0F172A"/>
                </a:solidFill>
                <a:latin typeface="DM Sans"/>
              </a:rPr>
              <a:t>Strip on</a:t>
            </a:r>
          </a:p>
        </p:txBody>
      </p:sp>
      <p:sp>
        <p:nvSpPr>
          <p:cNvPr id="166" name="Rounded Rectangle 165"/>
          <p:cNvSpPr/>
          <p:nvPr/>
        </p:nvSpPr>
        <p:spPr>
          <a:xfrm>
            <a:off x="1188720" y="2953512"/>
            <a:ext cx="848563" cy="1143000"/>
          </a:xfrm>
          <a:prstGeom prst="roundRect">
            <a:avLst>
              <a:gd name="adj" fmla="val 12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0">
                <a:solidFill>
                  <a:srgbClr val="334155"/>
                </a:solidFill>
                <a:latin typeface="DM Sans"/>
              </a:rPr>
              <a:t>placed on the pad's outer face</a:t>
            </a:r>
          </a:p>
        </p:txBody>
      </p:sp>
      <p:sp>
        <p:nvSpPr>
          <p:cNvPr id="167" name="Rounded Rectangle 166"/>
          <p:cNvSpPr/>
          <p:nvPr/>
        </p:nvSpPr>
        <p:spPr>
          <a:xfrm>
            <a:off x="1188720" y="4169664"/>
            <a:ext cx="848563" cy="960120"/>
          </a:xfrm>
          <a:prstGeom prst="roundRect">
            <a:avLst>
              <a:gd name="adj" fmla="val 12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1">
                <a:solidFill>
                  <a:srgbClr val="047857"/>
                </a:solidFill>
                <a:latin typeface="DM Sans"/>
              </a:rPr>
              <a:t>nothing on the wound</a:t>
            </a:r>
          </a:p>
        </p:txBody>
      </p:sp>
      <p:sp>
        <p:nvSpPr>
          <p:cNvPr id="168" name="Right Arrow 167"/>
          <p:cNvSpPr/>
          <p:nvPr/>
        </p:nvSpPr>
        <p:spPr>
          <a:xfrm>
            <a:off x="2018995" y="2537460"/>
            <a:ext cx="146304" cy="182880"/>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ounded Rectangle 168"/>
          <p:cNvSpPr/>
          <p:nvPr/>
        </p:nvSpPr>
        <p:spPr>
          <a:xfrm>
            <a:off x="2147011" y="2377440"/>
            <a:ext cx="848563" cy="502920"/>
          </a:xfrm>
          <a:prstGeom prst="roundRect">
            <a:avLst>
              <a:gd name="adj" fmla="val 12000"/>
            </a:avLst>
          </a:prstGeom>
          <a:solidFill>
            <a:srgbClr val="EFF6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900" b="1">
                <a:solidFill>
                  <a:srgbClr val="0369A1"/>
                </a:solidFill>
                <a:latin typeface="DM Sans"/>
              </a:rPr>
              <a:t>2  </a:t>
            </a:r>
            <a:r>
              <a:rPr sz="900" b="1">
                <a:solidFill>
                  <a:srgbClr val="0F172A"/>
                </a:solidFill>
                <a:latin typeface="DM Sans"/>
              </a:rPr>
              <a:t>Reader on</a:t>
            </a:r>
          </a:p>
        </p:txBody>
      </p:sp>
      <p:sp>
        <p:nvSpPr>
          <p:cNvPr id="170" name="Rounded Rectangle 169"/>
          <p:cNvSpPr/>
          <p:nvPr/>
        </p:nvSpPr>
        <p:spPr>
          <a:xfrm>
            <a:off x="2147011" y="2953512"/>
            <a:ext cx="848563" cy="1143000"/>
          </a:xfrm>
          <a:prstGeom prst="roundRect">
            <a:avLst>
              <a:gd name="adj" fmla="val 12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0">
                <a:solidFill>
                  <a:srgbClr val="334155"/>
                </a:solidFill>
                <a:latin typeface="DM Sans"/>
              </a:rPr>
              <a:t>clips on: 4 pins, 2 dowels</a:t>
            </a:r>
          </a:p>
        </p:txBody>
      </p:sp>
      <p:sp>
        <p:nvSpPr>
          <p:cNvPr id="171" name="Rounded Rectangle 170"/>
          <p:cNvSpPr/>
          <p:nvPr/>
        </p:nvSpPr>
        <p:spPr>
          <a:xfrm>
            <a:off x="2147011" y="4169664"/>
            <a:ext cx="848563" cy="960120"/>
          </a:xfrm>
          <a:prstGeom prst="roundRect">
            <a:avLst>
              <a:gd name="adj" fmla="val 12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1">
                <a:solidFill>
                  <a:srgbClr val="047857"/>
                </a:solidFill>
                <a:latin typeface="DM Sans"/>
              </a:rPr>
              <a:t>same routine</a:t>
            </a:r>
          </a:p>
        </p:txBody>
      </p:sp>
      <p:sp>
        <p:nvSpPr>
          <p:cNvPr id="172" name="Right Arrow 171"/>
          <p:cNvSpPr/>
          <p:nvPr/>
        </p:nvSpPr>
        <p:spPr>
          <a:xfrm>
            <a:off x="2977286" y="2537460"/>
            <a:ext cx="146304" cy="182880"/>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ounded Rectangle 172"/>
          <p:cNvSpPr/>
          <p:nvPr/>
        </p:nvSpPr>
        <p:spPr>
          <a:xfrm>
            <a:off x="3105302" y="2377440"/>
            <a:ext cx="848563" cy="502920"/>
          </a:xfrm>
          <a:prstGeom prst="roundRect">
            <a:avLst>
              <a:gd name="adj" fmla="val 12000"/>
            </a:avLst>
          </a:prstGeom>
          <a:solidFill>
            <a:srgbClr val="ECFDF5"/>
          </a:solidFill>
          <a:ln w="1651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900" b="1">
                <a:solidFill>
                  <a:srgbClr val="059669"/>
                </a:solidFill>
                <a:latin typeface="DM Sans"/>
              </a:rPr>
              <a:t>3  </a:t>
            </a:r>
            <a:r>
              <a:rPr sz="900" b="1">
                <a:solidFill>
                  <a:srgbClr val="0F172A"/>
                </a:solidFill>
                <a:latin typeface="DM Sans"/>
              </a:rPr>
              <a:t>Glance</a:t>
            </a:r>
          </a:p>
        </p:txBody>
      </p:sp>
      <p:sp>
        <p:nvSpPr>
          <p:cNvPr id="174" name="Rounded Rectangle 173"/>
          <p:cNvSpPr/>
          <p:nvPr/>
        </p:nvSpPr>
        <p:spPr>
          <a:xfrm>
            <a:off x="3105302" y="2953512"/>
            <a:ext cx="848563" cy="1143000"/>
          </a:xfrm>
          <a:prstGeom prst="roundRect">
            <a:avLst>
              <a:gd name="adj" fmla="val 12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0">
                <a:solidFill>
                  <a:srgbClr val="334155"/>
                </a:solidFill>
                <a:latin typeface="DM Sans"/>
              </a:rPr>
              <a:t>green OK, without lifting</a:t>
            </a:r>
          </a:p>
        </p:txBody>
      </p:sp>
      <p:sp>
        <p:nvSpPr>
          <p:cNvPr id="175" name="Rounded Rectangle 174"/>
          <p:cNvSpPr/>
          <p:nvPr/>
        </p:nvSpPr>
        <p:spPr>
          <a:xfrm>
            <a:off x="3105302" y="4169664"/>
            <a:ext cx="848563" cy="960120"/>
          </a:xfrm>
          <a:prstGeom prst="roundRect">
            <a:avLst>
              <a:gd name="adj" fmla="val 12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1">
                <a:solidFill>
                  <a:srgbClr val="047857"/>
                </a:solidFill>
                <a:latin typeface="DM Sans"/>
              </a:rPr>
              <a:t>no guess, no pain</a:t>
            </a:r>
          </a:p>
        </p:txBody>
      </p:sp>
      <p:sp>
        <p:nvSpPr>
          <p:cNvPr id="176" name="Right Arrow 175"/>
          <p:cNvSpPr/>
          <p:nvPr/>
        </p:nvSpPr>
        <p:spPr>
          <a:xfrm>
            <a:off x="3935577" y="2537460"/>
            <a:ext cx="146304" cy="182880"/>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ounded Rectangle 176"/>
          <p:cNvSpPr/>
          <p:nvPr/>
        </p:nvSpPr>
        <p:spPr>
          <a:xfrm>
            <a:off x="4063593" y="2377440"/>
            <a:ext cx="848563" cy="502920"/>
          </a:xfrm>
          <a:prstGeom prst="roundRect">
            <a:avLst>
              <a:gd name="adj" fmla="val 12000"/>
            </a:avLst>
          </a:prstGeom>
          <a:solidFill>
            <a:srgbClr val="FFFBEB"/>
          </a:solidFill>
          <a:ln w="1651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900" b="1">
                <a:solidFill>
                  <a:srgbClr val="D97706"/>
                </a:solidFill>
                <a:latin typeface="DM Sans"/>
              </a:rPr>
              <a:t>4  </a:t>
            </a:r>
            <a:r>
              <a:rPr sz="900" b="1">
                <a:solidFill>
                  <a:srgbClr val="0F172A"/>
                </a:solidFill>
                <a:latin typeface="DM Sans"/>
              </a:rPr>
              <a:t>Line wet</a:t>
            </a:r>
          </a:p>
        </p:txBody>
      </p:sp>
      <p:sp>
        <p:nvSpPr>
          <p:cNvPr id="178" name="Rounded Rectangle 177"/>
          <p:cNvSpPr/>
          <p:nvPr/>
        </p:nvSpPr>
        <p:spPr>
          <a:xfrm>
            <a:off x="4063593" y="2953512"/>
            <a:ext cx="848563" cy="1143000"/>
          </a:xfrm>
          <a:prstGeom prst="roundRect">
            <a:avLst>
              <a:gd name="adj" fmla="val 12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0">
                <a:solidFill>
                  <a:srgbClr val="334155"/>
                </a:solidFill>
                <a:latin typeface="DM Sans"/>
              </a:rPr>
              <a:t>amber CHANGE; red CHECK if a leak</a:t>
            </a:r>
          </a:p>
        </p:txBody>
      </p:sp>
      <p:sp>
        <p:nvSpPr>
          <p:cNvPr id="179" name="Rounded Rectangle 178"/>
          <p:cNvSpPr/>
          <p:nvPr/>
        </p:nvSpPr>
        <p:spPr>
          <a:xfrm>
            <a:off x="4063593" y="4169664"/>
            <a:ext cx="848563" cy="960120"/>
          </a:xfrm>
          <a:prstGeom prst="roundRect">
            <a:avLst>
              <a:gd name="adj" fmla="val 12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1">
                <a:solidFill>
                  <a:srgbClr val="047857"/>
                </a:solidFill>
                <a:latin typeface="DM Sans"/>
              </a:rPr>
              <a:t>change on time</a:t>
            </a:r>
          </a:p>
        </p:txBody>
      </p:sp>
      <p:sp>
        <p:nvSpPr>
          <p:cNvPr id="180" name="Right Arrow 179"/>
          <p:cNvSpPr/>
          <p:nvPr/>
        </p:nvSpPr>
        <p:spPr>
          <a:xfrm>
            <a:off x="4893868" y="2537460"/>
            <a:ext cx="146304" cy="182880"/>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ounded Rectangle 180"/>
          <p:cNvSpPr/>
          <p:nvPr/>
        </p:nvSpPr>
        <p:spPr>
          <a:xfrm>
            <a:off x="5021884" y="2377440"/>
            <a:ext cx="848563" cy="502920"/>
          </a:xfrm>
          <a:prstGeom prst="roundRect">
            <a:avLst>
              <a:gd name="adj" fmla="val 12000"/>
            </a:avLst>
          </a:prstGeom>
          <a:solidFill>
            <a:srgbClr val="ECFDF5"/>
          </a:solidFill>
          <a:ln w="1651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900" b="1">
                <a:solidFill>
                  <a:srgbClr val="059669"/>
                </a:solidFill>
                <a:latin typeface="DM Sans"/>
              </a:rPr>
              <a:t>5  </a:t>
            </a:r>
            <a:r>
              <a:rPr sz="900" b="1">
                <a:solidFill>
                  <a:srgbClr val="0F172A"/>
                </a:solidFill>
                <a:latin typeface="DM Sans"/>
              </a:rPr>
              <a:t>Remote</a:t>
            </a:r>
          </a:p>
        </p:txBody>
      </p:sp>
      <p:sp>
        <p:nvSpPr>
          <p:cNvPr id="182" name="Rounded Rectangle 181"/>
          <p:cNvSpPr/>
          <p:nvPr/>
        </p:nvSpPr>
        <p:spPr>
          <a:xfrm>
            <a:off x="5021884" y="2953512"/>
            <a:ext cx="848563" cy="1143000"/>
          </a:xfrm>
          <a:prstGeom prst="roundRect">
            <a:avLst>
              <a:gd name="adj" fmla="val 12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0">
                <a:solidFill>
                  <a:srgbClr val="334155"/>
                </a:solidFill>
                <a:latin typeface="DM Sans"/>
              </a:rPr>
              <a:t>state on a nearby phone (Bluetooth, to be tested)</a:t>
            </a:r>
          </a:p>
        </p:txBody>
      </p:sp>
      <p:sp>
        <p:nvSpPr>
          <p:cNvPr id="183" name="Rounded Rectangle 182"/>
          <p:cNvSpPr/>
          <p:nvPr/>
        </p:nvSpPr>
        <p:spPr>
          <a:xfrm>
            <a:off x="5021884" y="4169664"/>
            <a:ext cx="848563" cy="960120"/>
          </a:xfrm>
          <a:prstGeom prst="roundRect">
            <a:avLst>
              <a:gd name="adj" fmla="val 12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0000"/>
              </a:lnSpc>
              <a:spcAft>
                <a:spcPts val="0"/>
              </a:spcAft>
            </a:pPr>
            <a:r>
              <a:rPr sz="840" b="1">
                <a:solidFill>
                  <a:srgbClr val="047857"/>
                </a:solidFill>
                <a:latin typeface="DM Sans"/>
              </a:rPr>
              <a:t>nurse sees it; reason logged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descr="image.png" id="234" name="Google Shape;234;p20"/>
          <p:cNvPicPr preferRelativeResize="0"/>
          <p:nvPr/>
        </p:nvPicPr>
        <p:blipFill rotWithShape="1">
          <a:blip r:embed="rId4">
            <a:alphaModFix/>
          </a:blip>
          <a:srcRect b="0" l="0" r="0" t="0"/>
          <a:stretch/>
        </p:blipFill>
        <p:spPr>
          <a:xfrm>
            <a:off x="0" y="0"/>
            <a:ext cx="12192000" cy="6858000"/>
          </a:xfrm>
          <a:prstGeom prst="rect">
            <a:avLst/>
          </a:prstGeom>
          <a:noFill/>
          <a:ln>
            <a:noFill/>
          </a:ln>
        </p:spPr>
      </p:pic>
      <p:pic>
        <p:nvPicPr>
          <p:cNvPr descr="image.png" id="235" name="Google Shape;235;p20"/>
          <p:cNvPicPr preferRelativeResize="0"/>
          <p:nvPr/>
        </p:nvPicPr>
        <p:blipFill rotWithShape="1">
          <a:blip r:embed="rId5">
            <a:alphaModFix/>
          </a:blip>
          <a:srcRect b="0" l="0" r="0" t="0"/>
          <a:stretch/>
        </p:blipFill>
        <p:spPr>
          <a:xfrm>
            <a:off x="533400" y="5551726"/>
            <a:ext cx="11125200" cy="363140"/>
          </a:xfrm>
          <a:prstGeom prst="rect">
            <a:avLst/>
          </a:prstGeom>
          <a:noFill/>
          <a:ln>
            <a:noFill/>
          </a:ln>
        </p:spPr>
      </p:pic>
      <p:pic>
        <p:nvPicPr>
          <p:cNvPr descr="image.png" id="236" name="Google Shape;236;p20"/>
          <p:cNvPicPr preferRelativeResize="0"/>
          <p:nvPr/>
        </p:nvPicPr>
        <p:blipFill rotWithShape="1">
          <a:blip r:embed="rId7">
            <a:alphaModFix/>
          </a:blip>
          <a:srcRect b="0" l="0" r="0" t="0"/>
          <a:stretch/>
        </p:blipFill>
        <p:spPr>
          <a:xfrm>
            <a:off x="6229350" y="956224"/>
            <a:ext cx="5429250" cy="4434840"/>
          </a:xfrm>
          <a:prstGeom prst="rect">
            <a:avLst/>
          </a:prstGeom>
          <a:noFill/>
          <a:ln>
            <a:noFill/>
          </a:ln>
        </p:spPr>
      </p:pic>
      <p:pic>
        <p:nvPicPr>
          <p:cNvPr descr="image.png" id="237" name="Google Shape;237;p20"/>
          <p:cNvPicPr preferRelativeResize="0"/>
          <p:nvPr/>
        </p:nvPicPr>
        <p:blipFill rotWithShape="1">
          <a:blip r:embed="rId8">
            <a:alphaModFix/>
          </a:blip>
          <a:srcRect b="0" l="0" r="0" t="0"/>
          <a:stretch/>
        </p:blipFill>
        <p:spPr>
          <a:xfrm>
            <a:off x="530352" y="960120"/>
            <a:ext cx="5431536" cy="3895344"/>
          </a:xfrm>
          <a:prstGeom prst="rect">
            <a:avLst/>
          </a:prstGeom>
          <a:noFill/>
          <a:ln>
            <a:noFill/>
          </a:ln>
        </p:spPr>
      </p:pic>
      <p:sp>
        <p:nvSpPr>
          <p:cNvPr id="238" name="Google Shape;238;p20"/>
          <p:cNvSpPr txBox="1"/>
          <p:nvPr/>
        </p:nvSpPr>
        <p:spPr>
          <a:xfrm>
            <a:off x="533400" y="438150"/>
            <a:ext cx="8595360" cy="308520"/>
          </a:xfrm>
          <a:prstGeom prst="rect">
            <a:avLst/>
          </a:prstGeom>
          <a:noFill/>
          <a:ln>
            <a:noFill/>
          </a:ln>
        </p:spPr>
        <p:txBody>
          <a:bodyPr anchorCtr="0" anchor="ctr" bIns="0" lIns="0" spcFirstLastPara="1" rIns="0" wrap="square" tIns="0">
            <a:spAutoFit/>
          </a:bodyPr>
          <a:lstStyle/>
          <a:p>
            <a:pPr indent="0" lvl="0" marL="0" marR="0" rtl="0" algn="l">
              <a:lnSpc>
                <a:spcPct val="119950"/>
              </a:lnSpc>
              <a:spcBef>
                <a:spcPts val="0"/>
              </a:spcBef>
              <a:spcAft>
                <a:spcPts val="0"/>
              </a:spcAft>
              <a:buNone/>
            </a:pPr>
            <a:r>
              <a:rPr sz="2025" b="0">
                <a:solidFill>
                  <a:srgbClr val="0F172A"/>
                </a:solidFill>
                <a:latin typeface="Poppins SemiBold"/>
              </a:rPr>
              <a:t>System Architecture &amp; Specs: Firmware &amp; Data Flow</a:t>
            </a:r>
            <a:endParaRPr/>
          </a:p>
        </p:txBody>
      </p:sp>
      <p:sp>
        <p:nvSpPr>
          <p:cNvPr id="240" name="Google Shape;240;p20"/>
          <p:cNvSpPr txBox="1"/>
          <p:nvPr/>
        </p:nvSpPr>
        <p:spPr>
          <a:xfrm>
            <a:off x="723900" y="5646976"/>
            <a:ext cx="10698480" cy="329184"/>
          </a:xfrm>
          <a:prstGeom prst="rect">
            <a:avLst/>
          </a:prstGeom>
          <a:noFill/>
          <a:ln>
            <a:noFill/>
          </a:ln>
        </p:spPr>
        <p:txBody>
          <a:bodyPr anchorCtr="0" anchor="t" bIns="0" lIns="0" spcFirstLastPara="1" rIns="0" wrap="square" tIns="0">
            <a:spAutoFit/>
          </a:bodyPr>
          <a:lstStyle/>
          <a:p>
            <a:pPr indent="0" lvl="0" marL="0" marR="0" rtl="0" algn="l">
              <a:lnSpc>
                <a:spcPct val="145037"/>
              </a:lnSpc>
              <a:spcBef>
                <a:spcPts val="0"/>
              </a:spcBef>
              <a:spcAft>
                <a:spcPts val="0"/>
              </a:spcAft>
              <a:buNone/>
            </a:pPr>
            <a:r>
              <a:rPr sz="960" b="1">
                <a:solidFill>
                  <a:srgbClr val="0F172A"/>
                </a:solidFill>
                <a:latin typeface="DM Sans"/>
              </a:rPr>
              <a:t>Software vs Hardware: </a:t>
            </a:r>
            <a:r>
              <a:rPr sz="960" b="0">
                <a:solidFill>
                  <a:srgbClr val="334155"/>
                </a:solidFill>
                <a:latin typeface="DM Sans"/>
              </a:rPr>
              <a:t>23 compile-time and 16 PC tests pass; not yet run on a wired board.</a:t>
            </a:r>
            <a:endParaRPr/>
          </a:p>
        </p:txBody>
      </p:sp>
      <p:sp>
        <p:nvSpPr>
          <p:cNvPr id="241" name="Google Shape;241;p20"/>
          <p:cNvSpPr txBox="1"/>
          <p:nvPr/>
        </p:nvSpPr>
        <p:spPr>
          <a:xfrm>
            <a:off x="533400" y="4901184"/>
            <a:ext cx="5429250" cy="201168"/>
          </a:xfrm>
          <a:prstGeom prst="rect">
            <a:avLst/>
          </a:prstGeom>
          <a:noFill/>
          <a:ln>
            <a:noFill/>
          </a:ln>
        </p:spPr>
        <p:txBody>
          <a:bodyPr anchorCtr="0" anchor="t" bIns="0" lIns="0" spcFirstLastPara="1" rIns="0" wrap="square" tIns="0">
            <a:spAutoFit/>
          </a:bodyPr>
          <a:lstStyle/>
          <a:p>
            <a:pPr indent="0" lvl="0" marL="0" marR="0" rtl="0" algn="r">
              <a:lnSpc>
                <a:spcPct val="145011"/>
              </a:lnSpc>
              <a:spcBef>
                <a:spcPts val="0"/>
              </a:spcBef>
              <a:spcAft>
                <a:spcPts val="0"/>
              </a:spcAft>
              <a:buNone/>
            </a:pPr>
            <a:r>
              <a:rPr sz="760" b="0">
                <a:solidFill>
                  <a:srgbClr val="64748B"/>
                </a:solidFill>
                <a:latin typeface="DM Sans"/>
              </a:rPr>
              <a:t>Figure: one reader scan, from measurement to state.</a:t>
            </a:r>
            <a:endParaRPr/>
          </a:p>
        </p:txBody>
      </p:sp>
      <p:pic>
        <p:nvPicPr>
          <p:cNvPr descr="image.png" id="243" name="Google Shape;243;p20"/>
          <p:cNvPicPr preferRelativeResize="0"/>
          <p:nvPr/>
        </p:nvPicPr>
        <p:blipFill rotWithShape="1">
          <a:blip r:embed="rId6">
            <a:alphaModFix/>
          </a:blip>
          <a:srcRect b="0" l="0" r="0" t="0"/>
          <a:stretch/>
        </p:blipFill>
        <p:spPr>
          <a:xfrm>
            <a:off x="6448425" y="1175295"/>
            <a:ext cx="154334" cy="152400"/>
          </a:xfrm>
          <a:prstGeom prst="rect">
            <a:avLst/>
          </a:prstGeom>
          <a:noFill/>
          <a:ln>
            <a:noFill/>
          </a:ln>
        </p:spPr>
      </p:pic>
      <p:sp>
        <p:nvSpPr>
          <p:cNvPr id="244" name="Google Shape;244;p20"/>
          <p:cNvSpPr txBox="1"/>
          <p:nvPr/>
        </p:nvSpPr>
        <p:spPr>
          <a:xfrm>
            <a:off x="6698009" y="1156245"/>
            <a:ext cx="484632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Firmware Logic &amp; Data Flow</a:t>
            </a:r>
            <a:endParaRPr/>
          </a:p>
        </p:txBody>
      </p:sp>
      <p:pic>
        <p:nvPicPr>
          <p:cNvPr id="255" name="Google Shape;255;p20" title="MBF_Logo_2020.png"/>
          <p:cNvPicPr preferRelativeResize="0"/>
          <p:nvPr/>
        </p:nvPicPr>
        <p:blipFill>
          <a:blip r:embed="rId3">
            <a:alphaModFix/>
          </a:blip>
          <a:stretch>
            <a:fillRect/>
          </a:stretch>
        </p:blipFill>
        <p:spPr>
          <a:xfrm>
            <a:off x="11095194" y="6280800"/>
            <a:ext cx="1096806" cy="577200"/>
          </a:xfrm>
          <a:prstGeom prst="rect">
            <a:avLst/>
          </a:prstGeom>
          <a:noFill/>
          <a:ln>
            <a:noFill/>
          </a:ln>
        </p:spPr>
      </p:pic>
      <p:pic>
        <p:nvPicPr>
          <p:cNvPr id="256" name="Google Shape;256;p20" title="VK colored transparent logo.png"/>
          <p:cNvPicPr preferRelativeResize="0"/>
          <p:nvPr/>
        </p:nvPicPr>
        <p:blipFill rotWithShape="1">
          <a:blip r:embed="rId2">
            <a:alphaModFix/>
          </a:blip>
          <a:srcRect b="44466" l="14673" r="15820" t="33074"/>
          <a:stretch/>
        </p:blipFill>
        <p:spPr>
          <a:xfrm>
            <a:off x="0" y="6280800"/>
            <a:ext cx="1786280" cy="577200"/>
          </a:xfrm>
          <a:prstGeom prst="rect">
            <a:avLst/>
          </a:prstGeom>
          <a:noFill/>
          <a:ln>
            <a:noFill/>
          </a:ln>
        </p:spPr>
      </p:pic>
      <p:sp>
        <p:nvSpPr>
          <p:cNvPr id="257" name="Rounded Rectangle 256"/>
          <p:cNvSpPr/>
          <p:nvPr/>
        </p:nvSpPr>
        <p:spPr>
          <a:xfrm>
            <a:off x="8959291" y="457200"/>
            <a:ext cx="2699308" cy="246888"/>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047857"/>
                </a:solidFill>
                <a:latin typeface="DM Sans"/>
              </a:rPr>
              <a:t>VERIFIED IN SOFTWARE · HARDWARE PENDING</a:t>
            </a:r>
          </a:p>
        </p:txBody>
      </p:sp>
      <p:pic>
        <p:nvPicPr>
          <p:cNvPr id="258" name="Picture 257" descr="fig_dataflow.png"/>
          <p:cNvPicPr>
            <a:picLocks noChangeAspect="1"/>
          </p:cNvPicPr>
          <p:nvPr/>
        </p:nvPicPr>
        <p:blipFill>
          <a:blip r:embed="rId11"/>
          <a:stretch>
            <a:fillRect/>
          </a:stretch>
        </p:blipFill>
        <p:spPr>
          <a:xfrm>
            <a:off x="539496" y="970048"/>
            <a:ext cx="5413248" cy="3875487"/>
          </a:xfrm>
          <a:prstGeom prst="rect">
            <a:avLst/>
          </a:prstGeom>
        </p:spPr>
      </p:pic>
      <p:sp>
        <p:nvSpPr>
          <p:cNvPr id="259" name="TextBox 258"/>
          <p:cNvSpPr txBox="1"/>
          <p:nvPr/>
        </p:nvSpPr>
        <p:spPr>
          <a:xfrm>
            <a:off x="6464808" y="1572768"/>
            <a:ext cx="5029200" cy="3657600"/>
          </a:xfrm>
          <a:prstGeom prst="rect">
            <a:avLst/>
          </a:prstGeom>
          <a:noFill/>
        </p:spPr>
        <p:txBody>
          <a:bodyPr wrap="square" lIns="18288" rIns="18288" tIns="9144" bIns="9144" anchor="t"/>
          <a:lstStyle/>
          <a:p>
            <a:pPr>
              <a:lnSpc>
                <a:spcPct val="108000"/>
              </a:lnSpc>
              <a:spcAft>
                <a:spcPts val="1400"/>
              </a:spcAft>
            </a:pPr>
            <a:r>
              <a:rPr sz="1200" b="0">
                <a:solidFill>
                  <a:srgbClr val="059669"/>
                </a:solidFill>
                <a:latin typeface="DM Sans"/>
              </a:rPr>
              <a:t>▪  </a:t>
            </a:r>
            <a:r>
              <a:rPr sz="1200" b="1">
                <a:solidFill>
                  <a:srgbClr val="0F172A"/>
                </a:solidFill>
                <a:latin typeface="DM Sans"/>
              </a:rPr>
              <a:t>Measure:  </a:t>
            </a:r>
            <a:r>
              <a:rPr sz="1200" b="0">
                <a:solidFill>
                  <a:srgbClr val="334155"/>
                </a:solidFill>
                <a:latin typeface="DM Sans"/>
              </a:rPr>
              <a:t>each zone driven both ways, so no net DC.</a:t>
            </a:r>
          </a:p>
          <a:p>
            <a:pPr>
              <a:lnSpc>
                <a:spcPct val="108000"/>
              </a:lnSpc>
              <a:spcAft>
                <a:spcPts val="1400"/>
              </a:spcAft>
            </a:pPr>
            <a:r>
              <a:rPr sz="1200" b="0">
                <a:solidFill>
                  <a:srgbClr val="059669"/>
                </a:solidFill>
                <a:latin typeface="DM Sans"/>
              </a:rPr>
              <a:t>▪  </a:t>
            </a:r>
            <a:r>
              <a:rPr sz="1200" b="1">
                <a:solidFill>
                  <a:srgbClr val="0F172A"/>
                </a:solidFill>
                <a:latin typeface="DM Sans"/>
              </a:rPr>
              <a:t>Read:  </a:t>
            </a:r>
            <a:r>
              <a:rPr sz="1200" b="0">
                <a:solidFill>
                  <a:srgbClr val="334155"/>
                </a:solidFill>
                <a:latin typeface="DM Sans"/>
              </a:rPr>
              <a:t>16-bit ADC, scaled to the 3V3 rail.</a:t>
            </a:r>
          </a:p>
          <a:p>
            <a:pPr>
              <a:lnSpc>
                <a:spcPct val="108000"/>
              </a:lnSpc>
              <a:spcAft>
                <a:spcPts val="1400"/>
              </a:spcAft>
            </a:pPr>
            <a:r>
              <a:rPr sz="1200" b="0">
                <a:solidFill>
                  <a:srgbClr val="059669"/>
                </a:solidFill>
                <a:latin typeface="DM Sans"/>
              </a:rPr>
              <a:t>▪  </a:t>
            </a:r>
            <a:r>
              <a:rPr sz="1200" b="1">
                <a:solidFill>
                  <a:srgbClr val="0F172A"/>
                </a:solidFill>
                <a:latin typeface="DM Sans"/>
              </a:rPr>
              <a:t>Decide:  </a:t>
            </a:r>
            <a:r>
              <a:rPr sz="1200" b="0">
                <a:solidFill>
                  <a:srgbClr val="334155"/>
                </a:solidFill>
                <a:latin typeface="DM Sans"/>
              </a:rPr>
              <a:t>wet &lt; 100 kΩ, dry &gt; 300 kΩ, 3 scans in a row.</a:t>
            </a:r>
          </a:p>
          <a:p>
            <a:pPr>
              <a:lnSpc>
                <a:spcPct val="108000"/>
              </a:lnSpc>
              <a:spcAft>
                <a:spcPts val="1400"/>
              </a:spcAft>
            </a:pPr>
            <a:r>
              <a:rPr sz="1200" b="0">
                <a:solidFill>
                  <a:srgbClr val="059669"/>
                </a:solidFill>
                <a:latin typeface="DM Sans"/>
              </a:rPr>
              <a:t>▪  </a:t>
            </a:r>
            <a:r>
              <a:rPr sz="1200" b="1">
                <a:solidFill>
                  <a:srgbClr val="0F172A"/>
                </a:solidFill>
                <a:latin typeface="DM Sans"/>
              </a:rPr>
              <a:t>Self-check:  </a:t>
            </a:r>
            <a:r>
              <a:rPr sz="1200" b="0">
                <a:solidFill>
                  <a:srgbClr val="334155"/>
                </a:solidFill>
                <a:latin typeface="DM Sans"/>
              </a:rPr>
              <a:t>a known 100 kΩ every scan, else FAULT.</a:t>
            </a:r>
          </a:p>
          <a:p>
            <a:pPr>
              <a:lnSpc>
                <a:spcPct val="108000"/>
              </a:lnSpc>
              <a:spcAft>
                <a:spcPts val="1400"/>
              </a:spcAft>
            </a:pPr>
            <a:r>
              <a:rPr sz="1200" b="0">
                <a:solidFill>
                  <a:srgbClr val="059669"/>
                </a:solidFill>
                <a:latin typeface="DM Sans"/>
              </a:rPr>
              <a:t>▪  </a:t>
            </a:r>
            <a:r>
              <a:rPr sz="1200" b="1">
                <a:solidFill>
                  <a:srgbClr val="0F172A"/>
                </a:solidFill>
                <a:latin typeface="DM Sans"/>
              </a:rPr>
              <a:t>Output:  </a:t>
            </a:r>
            <a:r>
              <a:rPr sz="1200" b="0">
                <a:solidFill>
                  <a:srgbClr val="334155"/>
                </a:solidFill>
                <a:latin typeface="DM Sans"/>
              </a:rPr>
              <a:t>LEDs; a CSV line over USB; a Bluetooth broadcast any scanner app can read (no custom app yet).</a:t>
            </a:r>
          </a:p>
          <a:p>
            <a:pPr>
              <a:lnSpc>
                <a:spcPct val="108000"/>
              </a:lnSpc>
              <a:spcAft>
                <a:spcPts val="1400"/>
              </a:spcAft>
            </a:pPr>
            <a:r>
              <a:rPr sz="1200" b="0">
                <a:solidFill>
                  <a:srgbClr val="059669"/>
                </a:solidFill>
                <a:latin typeface="DM Sans"/>
              </a:rPr>
              <a:t>▪  </a:t>
            </a:r>
            <a:r>
              <a:rPr sz="1200" b="1">
                <a:solidFill>
                  <a:srgbClr val="0F172A"/>
                </a:solidFill>
                <a:latin typeface="DM Sans"/>
              </a:rPr>
              <a:t>Why remote:  </a:t>
            </a:r>
            <a:r>
              <a:rPr sz="1200" b="0">
                <a:solidFill>
                  <a:srgbClr val="334155"/>
                </a:solidFill>
                <a:latin typeface="DM Sans"/>
              </a:rPr>
              <a:t>a carer nearby can see the state without unwrapping or plugging in (to be bench-tested).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descr="image.png" id="234" name="Google Shape;234;p20"/>
          <p:cNvPicPr preferRelativeResize="0"/>
          <p:nvPr/>
        </p:nvPicPr>
        <p:blipFill rotWithShape="1">
          <a:blip r:embed="rId4">
            <a:alphaModFix/>
          </a:blip>
          <a:srcRect b="0" l="0" r="0" t="0"/>
          <a:stretch/>
        </p:blipFill>
        <p:spPr>
          <a:xfrm>
            <a:off x="0" y="0"/>
            <a:ext cx="12192000" cy="6858000"/>
          </a:xfrm>
          <a:prstGeom prst="rect">
            <a:avLst/>
          </a:prstGeom>
          <a:noFill/>
          <a:ln>
            <a:noFill/>
          </a:ln>
        </p:spPr>
      </p:pic>
      <p:pic>
        <p:nvPicPr>
          <p:cNvPr descr="image.png" id="235" name="Google Shape;235;p20"/>
          <p:cNvPicPr preferRelativeResize="0"/>
          <p:nvPr/>
        </p:nvPicPr>
        <p:blipFill rotWithShape="1">
          <a:blip r:embed="rId5">
            <a:alphaModFix/>
          </a:blip>
          <a:srcRect b="0" l="0" r="0" t="0"/>
          <a:stretch/>
        </p:blipFill>
        <p:spPr>
          <a:xfrm>
            <a:off x="533400" y="5551726"/>
            <a:ext cx="11125200" cy="363140"/>
          </a:xfrm>
          <a:prstGeom prst="rect">
            <a:avLst/>
          </a:prstGeom>
          <a:noFill/>
          <a:ln>
            <a:noFill/>
          </a:ln>
        </p:spPr>
      </p:pic>
      <p:pic>
        <p:nvPicPr>
          <p:cNvPr descr="image.png" id="236" name="Google Shape;236;p20"/>
          <p:cNvPicPr preferRelativeResize="0"/>
          <p:nvPr/>
        </p:nvPicPr>
        <p:blipFill rotWithShape="1">
          <a:blip r:embed="rId7">
            <a:alphaModFix/>
          </a:blip>
          <a:srcRect b="0" l="0" r="0" t="0"/>
          <a:stretch/>
        </p:blipFill>
        <p:spPr>
          <a:xfrm>
            <a:off x="6229350" y="956224"/>
            <a:ext cx="5429250" cy="4434840"/>
          </a:xfrm>
          <a:prstGeom prst="rect">
            <a:avLst/>
          </a:prstGeom>
          <a:noFill/>
          <a:ln>
            <a:noFill/>
          </a:ln>
        </p:spPr>
      </p:pic>
      <p:pic>
        <p:nvPicPr>
          <p:cNvPr descr="image.png" id="237" name="Google Shape;237;p20"/>
          <p:cNvPicPr preferRelativeResize="0"/>
          <p:nvPr/>
        </p:nvPicPr>
        <p:blipFill rotWithShape="1">
          <a:blip r:embed="rId8">
            <a:alphaModFix/>
          </a:blip>
          <a:srcRect b="0" l="0" r="0" t="0"/>
          <a:stretch/>
        </p:blipFill>
        <p:spPr>
          <a:xfrm>
            <a:off x="530352" y="960120"/>
            <a:ext cx="5431536" cy="3895344"/>
          </a:xfrm>
          <a:prstGeom prst="rect">
            <a:avLst/>
          </a:prstGeom>
          <a:noFill/>
          <a:ln>
            <a:noFill/>
          </a:ln>
        </p:spPr>
      </p:pic>
      <p:sp>
        <p:nvSpPr>
          <p:cNvPr id="238" name="Google Shape;238;p20"/>
          <p:cNvSpPr txBox="1"/>
          <p:nvPr/>
        </p:nvSpPr>
        <p:spPr>
          <a:xfrm>
            <a:off x="533400" y="438150"/>
            <a:ext cx="8595360" cy="308520"/>
          </a:xfrm>
          <a:prstGeom prst="rect">
            <a:avLst/>
          </a:prstGeom>
          <a:noFill/>
          <a:ln>
            <a:noFill/>
          </a:ln>
        </p:spPr>
        <p:txBody>
          <a:bodyPr anchorCtr="0" anchor="ctr" bIns="0" lIns="0" spcFirstLastPara="1" rIns="0" wrap="square" tIns="0">
            <a:spAutoFit/>
          </a:bodyPr>
          <a:lstStyle/>
          <a:p>
            <a:pPr indent="0" lvl="0" marL="0" marR="0" rtl="0" algn="l">
              <a:lnSpc>
                <a:spcPct val="119950"/>
              </a:lnSpc>
              <a:spcBef>
                <a:spcPts val="0"/>
              </a:spcBef>
              <a:spcAft>
                <a:spcPts val="0"/>
              </a:spcAft>
              <a:buNone/>
            </a:pPr>
            <a:r>
              <a:rPr sz="2025" b="0">
                <a:solidFill>
                  <a:srgbClr val="0F172A"/>
                </a:solidFill>
                <a:latin typeface="Poppins SemiBold"/>
              </a:rPr>
              <a:t>CAD Design &amp; Mechanical Specs: Sensing Strip &amp; Laser Process</a:t>
            </a:r>
            <a:endParaRPr/>
          </a:p>
        </p:txBody>
      </p:sp>
      <p:sp>
        <p:nvSpPr>
          <p:cNvPr id="240" name="Google Shape;240;p20"/>
          <p:cNvSpPr txBox="1"/>
          <p:nvPr/>
        </p:nvSpPr>
        <p:spPr>
          <a:xfrm>
            <a:off x="723900" y="5646976"/>
            <a:ext cx="10698480" cy="329184"/>
          </a:xfrm>
          <a:prstGeom prst="rect">
            <a:avLst/>
          </a:prstGeom>
          <a:noFill/>
          <a:ln>
            <a:noFill/>
          </a:ln>
        </p:spPr>
        <p:txBody>
          <a:bodyPr anchorCtr="0" anchor="t" bIns="0" lIns="0" spcFirstLastPara="1" rIns="0" wrap="square" tIns="0">
            <a:spAutoFit/>
          </a:bodyPr>
          <a:lstStyle/>
          <a:p>
            <a:pPr indent="0" lvl="0" marL="0" marR="0" rtl="0" algn="l">
              <a:lnSpc>
                <a:spcPct val="145037"/>
              </a:lnSpc>
              <a:spcBef>
                <a:spcPts val="0"/>
              </a:spcBef>
              <a:spcAft>
                <a:spcPts val="0"/>
              </a:spcAft>
              <a:buNone/>
            </a:pPr>
            <a:r>
              <a:rPr sz="960" b="1">
                <a:solidFill>
                  <a:srgbClr val="0F172A"/>
                </a:solidFill>
                <a:latin typeface="DM Sans"/>
              </a:rPr>
              <a:t>Laser Files Checked: </a:t>
            </a:r>
            <a:r>
              <a:rPr sz="960" b="0">
                <a:solidFill>
                  <a:srgbClr val="334155"/>
                </a:solidFill>
                <a:latin typeface="DM Sans"/>
              </a:rPr>
              <a:t>35/35 file checks pass (files only; nothing lased yet). LaserCAD import is checked at the machine.</a:t>
            </a:r>
            <a:endParaRPr/>
          </a:p>
        </p:txBody>
      </p:sp>
      <p:sp>
        <p:nvSpPr>
          <p:cNvPr id="241" name="Google Shape;241;p20"/>
          <p:cNvSpPr txBox="1"/>
          <p:nvPr/>
        </p:nvSpPr>
        <p:spPr>
          <a:xfrm>
            <a:off x="533400" y="4901184"/>
            <a:ext cx="5429250" cy="201168"/>
          </a:xfrm>
          <a:prstGeom prst="rect">
            <a:avLst/>
          </a:prstGeom>
          <a:noFill/>
          <a:ln>
            <a:noFill/>
          </a:ln>
        </p:spPr>
        <p:txBody>
          <a:bodyPr anchorCtr="0" anchor="t" bIns="0" lIns="0" spcFirstLastPara="1" rIns="0" wrap="square" tIns="0">
            <a:spAutoFit/>
          </a:bodyPr>
          <a:lstStyle/>
          <a:p>
            <a:pPr indent="0" lvl="0" marL="0" marR="0" rtl="0" algn="r">
              <a:lnSpc>
                <a:spcPct val="145011"/>
              </a:lnSpc>
              <a:spcBef>
                <a:spcPts val="0"/>
              </a:spcBef>
              <a:spcAft>
                <a:spcPts val="0"/>
              </a:spcAft>
              <a:buNone/>
            </a:pPr>
            <a:r>
              <a:rPr sz="760" b="0">
                <a:solidFill>
                  <a:srgbClr val="64748B"/>
                </a:solidFill>
                <a:latin typeface="DM Sans"/>
              </a:rPr>
              <a:t>Figure: our laser files, drawn from the DXFs. Not yet lased.</a:t>
            </a:r>
            <a:endParaRPr/>
          </a:p>
        </p:txBody>
      </p:sp>
      <p:pic>
        <p:nvPicPr>
          <p:cNvPr descr="image.png" id="243" name="Google Shape;243;p20"/>
          <p:cNvPicPr preferRelativeResize="0"/>
          <p:nvPr/>
        </p:nvPicPr>
        <p:blipFill rotWithShape="1">
          <a:blip r:embed="rId6">
            <a:alphaModFix/>
          </a:blip>
          <a:srcRect b="0" l="0" r="0" t="0"/>
          <a:stretch/>
        </p:blipFill>
        <p:spPr>
          <a:xfrm>
            <a:off x="6448425" y="1175295"/>
            <a:ext cx="154334" cy="152400"/>
          </a:xfrm>
          <a:prstGeom prst="rect">
            <a:avLst/>
          </a:prstGeom>
          <a:noFill/>
          <a:ln>
            <a:noFill/>
          </a:ln>
        </p:spPr>
      </p:pic>
      <p:sp>
        <p:nvSpPr>
          <p:cNvPr id="244" name="Google Shape;244;p20"/>
          <p:cNvSpPr txBox="1"/>
          <p:nvPr/>
        </p:nvSpPr>
        <p:spPr>
          <a:xfrm>
            <a:off x="6698009" y="1156245"/>
            <a:ext cx="484632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Fabrication &amp; Process Validation (E2)</a:t>
            </a:r>
            <a:endParaRPr/>
          </a:p>
        </p:txBody>
      </p:sp>
      <p:pic>
        <p:nvPicPr>
          <p:cNvPr id="255" name="Google Shape;255;p20" title="MBF_Logo_2020.png"/>
          <p:cNvPicPr preferRelativeResize="0"/>
          <p:nvPr/>
        </p:nvPicPr>
        <p:blipFill>
          <a:blip r:embed="rId3">
            <a:alphaModFix/>
          </a:blip>
          <a:stretch>
            <a:fillRect/>
          </a:stretch>
        </p:blipFill>
        <p:spPr>
          <a:xfrm>
            <a:off x="11095194" y="6280800"/>
            <a:ext cx="1096806" cy="577200"/>
          </a:xfrm>
          <a:prstGeom prst="rect">
            <a:avLst/>
          </a:prstGeom>
          <a:noFill/>
          <a:ln>
            <a:noFill/>
          </a:ln>
        </p:spPr>
      </p:pic>
      <p:pic>
        <p:nvPicPr>
          <p:cNvPr id="256" name="Google Shape;256;p20" title="VK colored transparent logo.png"/>
          <p:cNvPicPr preferRelativeResize="0"/>
          <p:nvPr/>
        </p:nvPicPr>
        <p:blipFill rotWithShape="1">
          <a:blip r:embed="rId2">
            <a:alphaModFix/>
          </a:blip>
          <a:srcRect b="44466" l="14673" r="15820" t="33074"/>
          <a:stretch/>
        </p:blipFill>
        <p:spPr>
          <a:xfrm>
            <a:off x="0" y="6280800"/>
            <a:ext cx="1786280" cy="577200"/>
          </a:xfrm>
          <a:prstGeom prst="rect">
            <a:avLst/>
          </a:prstGeom>
          <a:noFill/>
          <a:ln>
            <a:noFill/>
          </a:ln>
        </p:spPr>
      </p:pic>
      <p:sp>
        <p:nvSpPr>
          <p:cNvPr id="257" name="Rounded Rectangle 256"/>
          <p:cNvSpPr/>
          <p:nvPr/>
        </p:nvSpPr>
        <p:spPr>
          <a:xfrm>
            <a:off x="9705441" y="457200"/>
            <a:ext cx="1953158" cy="246888"/>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B45309"/>
                </a:solidFill>
                <a:latin typeface="DM Sans"/>
              </a:rPr>
              <a:t>DESIGNED · LAB TEST PENDING</a:t>
            </a:r>
          </a:p>
        </p:txBody>
      </p:sp>
      <p:pic>
        <p:nvPicPr>
          <p:cNvPr id="258" name="Picture 257" descr="fig_strip.png"/>
          <p:cNvPicPr>
            <a:picLocks noChangeAspect="1"/>
          </p:cNvPicPr>
          <p:nvPr/>
        </p:nvPicPr>
        <p:blipFill>
          <a:blip r:embed="rId11"/>
          <a:stretch>
            <a:fillRect/>
          </a:stretch>
        </p:blipFill>
        <p:spPr>
          <a:xfrm>
            <a:off x="539496" y="970048"/>
            <a:ext cx="5413248" cy="3875487"/>
          </a:xfrm>
          <a:prstGeom prst="rect">
            <a:avLst/>
          </a:prstGeom>
        </p:spPr>
      </p:pic>
      <p:sp>
        <p:nvSpPr>
          <p:cNvPr id="259" name="TextBox 258"/>
          <p:cNvSpPr txBox="1"/>
          <p:nvPr/>
        </p:nvSpPr>
        <p:spPr>
          <a:xfrm>
            <a:off x="6464808" y="1572768"/>
            <a:ext cx="5029200" cy="3657600"/>
          </a:xfrm>
          <a:prstGeom prst="rect">
            <a:avLst/>
          </a:prstGeom>
          <a:noFill/>
        </p:spPr>
        <p:txBody>
          <a:bodyPr wrap="square" lIns="18288" rIns="18288" tIns="9144" bIns="9144" anchor="t"/>
          <a:lstStyle/>
          <a:p>
            <a:pPr>
              <a:lnSpc>
                <a:spcPct val="108000"/>
              </a:lnSpc>
              <a:spcAft>
                <a:spcPts val="1400"/>
              </a:spcAft>
            </a:pPr>
            <a:r>
              <a:rPr sz="1200" b="0">
                <a:solidFill>
                  <a:srgbClr val="059669"/>
                </a:solidFill>
                <a:latin typeface="DM Sans"/>
              </a:rPr>
              <a:t>▪  </a:t>
            </a:r>
            <a:r>
              <a:rPr sz="1200" b="1">
                <a:solidFill>
                  <a:srgbClr val="0F172A"/>
                </a:solidFill>
                <a:latin typeface="DM Sans"/>
              </a:rPr>
              <a:t>Material:  </a:t>
            </a:r>
            <a:r>
              <a:rPr sz="1200" b="0">
                <a:solidFill>
                  <a:srgbClr val="334155"/>
                </a:solidFill>
                <a:latin typeface="DM Sans"/>
              </a:rPr>
              <a:t>laser-carbonised, LIG-like layer on polyimide⁷.</a:t>
            </a:r>
          </a:p>
          <a:p>
            <a:pPr>
              <a:lnSpc>
                <a:spcPct val="108000"/>
              </a:lnSpc>
              <a:spcAft>
                <a:spcPts val="1400"/>
              </a:spcAft>
            </a:pPr>
            <a:r>
              <a:rPr sz="1200" b="0">
                <a:solidFill>
                  <a:srgbClr val="059669"/>
                </a:solidFill>
                <a:latin typeface="DM Sans"/>
              </a:rPr>
              <a:t>▪  </a:t>
            </a:r>
            <a:r>
              <a:rPr sz="1200" b="1">
                <a:solidFill>
                  <a:srgbClr val="0F172A"/>
                </a:solidFill>
                <a:latin typeface="DM Sans"/>
              </a:rPr>
              <a:t>Reference:  </a:t>
            </a:r>
            <a:r>
              <a:rPr sz="1200" b="0">
                <a:solidFill>
                  <a:srgbClr val="334155"/>
                </a:solidFill>
                <a:latin typeface="DM Sans"/>
              </a:rPr>
              <a:t>setting '12', most likely % PWM, not watts.</a:t>
            </a:r>
          </a:p>
          <a:p>
            <a:pPr>
              <a:lnSpc>
                <a:spcPct val="108000"/>
              </a:lnSpc>
              <a:spcAft>
                <a:spcPts val="1400"/>
              </a:spcAft>
            </a:pPr>
            <a:r>
              <a:rPr sz="1200" b="0">
                <a:solidFill>
                  <a:srgbClr val="059669"/>
                </a:solidFill>
                <a:latin typeface="DM Sans"/>
              </a:rPr>
              <a:t>▪  </a:t>
            </a:r>
            <a:r>
              <a:rPr sz="1200" b="1">
                <a:solidFill>
                  <a:srgbClr val="0F172A"/>
                </a:solidFill>
                <a:latin typeface="DM Sans"/>
              </a:rPr>
              <a:t>E2 plan:  </a:t>
            </a:r>
            <a:r>
              <a:rPr sz="1200" b="0">
                <a:solidFill>
                  <a:srgbClr val="334155"/>
                </a:solidFill>
                <a:latin typeface="DM Sans"/>
              </a:rPr>
              <a:t>7 coupons, 2 days, 72 pre-registered samples.</a:t>
            </a:r>
          </a:p>
          <a:p>
            <a:pPr>
              <a:lnSpc>
                <a:spcPct val="108000"/>
              </a:lnSpc>
              <a:spcAft>
                <a:spcPts val="1400"/>
              </a:spcAft>
            </a:pPr>
            <a:r>
              <a:rPr sz="1200" b="0">
                <a:solidFill>
                  <a:srgbClr val="059669"/>
                </a:solidFill>
                <a:latin typeface="DM Sans"/>
              </a:rPr>
              <a:t>▪  </a:t>
            </a:r>
            <a:r>
              <a:rPr sz="1200" b="1">
                <a:solidFill>
                  <a:srgbClr val="0F172A"/>
                </a:solidFill>
                <a:latin typeface="DM Sans"/>
              </a:rPr>
              <a:t>Pass rules:  </a:t>
            </a:r>
            <a:r>
              <a:rPr sz="1200" b="0">
                <a:solidFill>
                  <a:srgbClr val="334155"/>
                </a:solidFill>
                <a:latin typeface="DM Sans"/>
              </a:rPr>
              <a:t>CV ≤ 20 %, gaps &gt; 3 MΩ, fixed beforehand.</a:t>
            </a:r>
          </a:p>
          <a:p>
            <a:pPr>
              <a:lnSpc>
                <a:spcPct val="108000"/>
              </a:lnSpc>
              <a:spcAft>
                <a:spcPts val="1400"/>
              </a:spcAft>
            </a:pPr>
            <a:r>
              <a:rPr sz="1200" b="0">
                <a:solidFill>
                  <a:srgbClr val="059669"/>
                </a:solidFill>
                <a:latin typeface="DM Sans"/>
              </a:rPr>
              <a:t>▪  </a:t>
            </a:r>
            <a:r>
              <a:rPr sz="1200" b="1">
                <a:solidFill>
                  <a:srgbClr val="0F172A"/>
                </a:solidFill>
                <a:latin typeface="DM Sans"/>
              </a:rPr>
              <a:t>Sealed:  </a:t>
            </a:r>
            <a:r>
              <a:rPr sz="1200" b="0">
                <a:solidFill>
                  <a:srgbClr val="334155"/>
                </a:solidFill>
                <a:latin typeface="DM Sans"/>
              </a:rPr>
              <a:t>leads under tape; LIG made in air wets easily⁹.</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descr="image.png" id="277" name="Google Shape;277;p22"/>
          <p:cNvPicPr preferRelativeResize="0"/>
          <p:nvPr/>
        </p:nvPicPr>
        <p:blipFill rotWithShape="1">
          <a:blip r:embed="rId4">
            <a:alphaModFix/>
          </a:blip>
          <a:srcRect b="0" l="0" r="0" t="0"/>
          <a:stretch/>
        </p:blipFill>
        <p:spPr>
          <a:xfrm>
            <a:off x="0" y="0"/>
            <a:ext cx="12192000" cy="6858000"/>
          </a:xfrm>
          <a:prstGeom prst="rect">
            <a:avLst/>
          </a:prstGeom>
          <a:noFill/>
          <a:ln>
            <a:noFill/>
          </a:ln>
        </p:spPr>
      </p:pic>
      <p:pic>
        <p:nvPicPr>
          <p:cNvPr descr="image.png" id="278" name="Google Shape;278;p22"/>
          <p:cNvPicPr preferRelativeResize="0"/>
          <p:nvPr/>
        </p:nvPicPr>
        <p:blipFill rotWithShape="1">
          <a:blip r:embed="rId5">
            <a:alphaModFix/>
          </a:blip>
          <a:srcRect b="0" l="0" r="0" t="0"/>
          <a:stretch/>
        </p:blipFill>
        <p:spPr>
          <a:xfrm>
            <a:off x="533400" y="5749634"/>
            <a:ext cx="11125200" cy="363140"/>
          </a:xfrm>
          <a:prstGeom prst="rect">
            <a:avLst/>
          </a:prstGeom>
          <a:noFill/>
          <a:ln>
            <a:noFill/>
          </a:ln>
        </p:spPr>
      </p:pic>
      <p:pic>
        <p:nvPicPr>
          <p:cNvPr descr="image.png" id="279" name="Google Shape;279;p22"/>
          <p:cNvPicPr preferRelativeResize="0"/>
          <p:nvPr/>
        </p:nvPicPr>
        <p:blipFill rotWithShape="1">
          <a:blip r:embed="rId7">
            <a:alphaModFix/>
          </a:blip>
          <a:srcRect b="0" l="0" r="0" t="0"/>
          <a:stretch/>
        </p:blipFill>
        <p:spPr>
          <a:xfrm>
            <a:off x="6229350" y="956226"/>
            <a:ext cx="5429250" cy="4468100"/>
          </a:xfrm>
          <a:prstGeom prst="rect">
            <a:avLst/>
          </a:prstGeom>
          <a:noFill/>
          <a:ln>
            <a:noFill/>
          </a:ln>
        </p:spPr>
      </p:pic>
      <p:pic>
        <p:nvPicPr>
          <p:cNvPr descr="image.png" id="280" name="Google Shape;280;p22"/>
          <p:cNvPicPr preferRelativeResize="0"/>
          <p:nvPr/>
        </p:nvPicPr>
        <p:blipFill rotWithShape="1">
          <a:blip r:embed="rId8">
            <a:alphaModFix/>
          </a:blip>
          <a:srcRect b="0" l="0" r="0" t="0"/>
          <a:stretch/>
        </p:blipFill>
        <p:spPr>
          <a:xfrm>
            <a:off x="530352" y="960120"/>
            <a:ext cx="5431536" cy="3895344"/>
          </a:xfrm>
          <a:prstGeom prst="rect">
            <a:avLst/>
          </a:prstGeom>
          <a:noFill/>
          <a:ln>
            <a:noFill/>
          </a:ln>
        </p:spPr>
      </p:pic>
      <p:sp>
        <p:nvSpPr>
          <p:cNvPr id="281" name="Google Shape;281;p22"/>
          <p:cNvSpPr txBox="1"/>
          <p:nvPr/>
        </p:nvSpPr>
        <p:spPr>
          <a:xfrm>
            <a:off x="533400" y="438150"/>
            <a:ext cx="8595360" cy="308520"/>
          </a:xfrm>
          <a:prstGeom prst="rect">
            <a:avLst/>
          </a:prstGeom>
          <a:noFill/>
          <a:ln>
            <a:noFill/>
          </a:ln>
        </p:spPr>
        <p:txBody>
          <a:bodyPr anchorCtr="0" anchor="ctr" bIns="0" lIns="0" spcFirstLastPara="1" rIns="0" wrap="square" tIns="0">
            <a:spAutoFit/>
          </a:bodyPr>
          <a:lstStyle/>
          <a:p>
            <a:pPr indent="0" lvl="0" marL="0" marR="0" rtl="0" algn="l">
              <a:lnSpc>
                <a:spcPct val="119950"/>
              </a:lnSpc>
              <a:spcBef>
                <a:spcPts val="0"/>
              </a:spcBef>
              <a:spcAft>
                <a:spcPts val="0"/>
              </a:spcAft>
              <a:buNone/>
            </a:pPr>
            <a:r>
              <a:rPr sz="2025" b="0">
                <a:solidFill>
                  <a:srgbClr val="0F172A"/>
                </a:solidFill>
                <a:latin typeface="Poppins SemiBold"/>
              </a:rPr>
              <a:t>Electronics Schematics &amp; BOM: Bill of Materials</a:t>
            </a:r>
            <a:endParaRPr/>
          </a:p>
        </p:txBody>
      </p:sp>
      <p:sp>
        <p:nvSpPr>
          <p:cNvPr id="283" name="Google Shape;283;p22"/>
          <p:cNvSpPr txBox="1"/>
          <p:nvPr/>
        </p:nvSpPr>
        <p:spPr>
          <a:xfrm>
            <a:off x="723900" y="5844884"/>
            <a:ext cx="10698480" cy="353400"/>
          </a:xfrm>
          <a:prstGeom prst="rect">
            <a:avLst/>
          </a:prstGeom>
          <a:noFill/>
          <a:ln>
            <a:noFill/>
          </a:ln>
        </p:spPr>
        <p:txBody>
          <a:bodyPr anchorCtr="0" anchor="t" bIns="0" lIns="0" spcFirstLastPara="1" rIns="0" wrap="square" tIns="0">
            <a:spAutoFit/>
          </a:bodyPr>
          <a:lstStyle/>
          <a:p>
            <a:pPr indent="0" lvl="0" marL="0" marR="0" rtl="0" algn="l">
              <a:lnSpc>
                <a:spcPct val="145037"/>
              </a:lnSpc>
              <a:spcBef>
                <a:spcPts val="0"/>
              </a:spcBef>
              <a:spcAft>
                <a:spcPts val="0"/>
              </a:spcAft>
              <a:buNone/>
            </a:pPr>
            <a:r>
              <a:rPr sz="960" b="1">
                <a:solidFill>
                  <a:srgbClr val="0F172A"/>
                </a:solidFill>
                <a:latin typeface="DM Sans"/>
              </a:rPr>
              <a:t>Procurement Status: </a:t>
            </a:r>
            <a:r>
              <a:rPr sz="960" b="0">
                <a:solidFill>
                  <a:srgbClr val="334155"/>
                </a:solidFill>
                <a:latin typeface="DM Sans"/>
              </a:rPr>
              <a:t>reader parts and pins quoted 19 Oct, in stock in India; the rest are estimates. The reader is reused; only the strip is consumed.</a:t>
            </a:r>
            <a:endParaRPr/>
          </a:p>
        </p:txBody>
      </p:sp>
      <p:sp>
        <p:nvSpPr>
          <p:cNvPr id="284" name="Google Shape;284;p22"/>
          <p:cNvSpPr txBox="1"/>
          <p:nvPr/>
        </p:nvSpPr>
        <p:spPr>
          <a:xfrm>
            <a:off x="533400" y="4901184"/>
            <a:ext cx="5429250" cy="219456"/>
          </a:xfrm>
          <a:prstGeom prst="rect">
            <a:avLst/>
          </a:prstGeom>
          <a:noFill/>
          <a:ln>
            <a:noFill/>
          </a:ln>
        </p:spPr>
        <p:txBody>
          <a:bodyPr anchorCtr="0" anchor="t" bIns="0" lIns="0" spcFirstLastPara="1" rIns="0" wrap="square" tIns="0">
            <a:spAutoFit/>
          </a:bodyPr>
          <a:lstStyle/>
          <a:p>
            <a:pPr indent="0" lvl="0" marL="0" marR="0" rtl="0" algn="r">
              <a:lnSpc>
                <a:spcPct val="145011"/>
              </a:lnSpc>
              <a:spcBef>
                <a:spcPts val="0"/>
              </a:spcBef>
              <a:spcAft>
                <a:spcPts val="0"/>
              </a:spcAft>
              <a:buNone/>
            </a:pPr>
            <a:r>
              <a:rPr sz="760" b="0">
                <a:solidFill>
                  <a:srgbClr val="64748B"/>
                </a:solidFill>
                <a:latin typeface="DM Sans"/>
              </a:rPr>
              <a:t>Figure: why a 100 kΩ reference (calculated ranges).</a:t>
            </a:r>
            <a:endParaRPr/>
          </a:p>
        </p:txBody>
      </p:sp>
      <p:pic>
        <p:nvPicPr>
          <p:cNvPr descr="image.png" id="287" name="Google Shape;287;p22"/>
          <p:cNvPicPr preferRelativeResize="0"/>
          <p:nvPr/>
        </p:nvPicPr>
        <p:blipFill rotWithShape="1">
          <a:blip r:embed="rId6">
            <a:alphaModFix/>
          </a:blip>
          <a:srcRect b="0" l="0" r="0" t="0"/>
          <a:stretch/>
        </p:blipFill>
        <p:spPr>
          <a:xfrm>
            <a:off x="6448425" y="1175295"/>
            <a:ext cx="116234" cy="152400"/>
          </a:xfrm>
          <a:prstGeom prst="rect">
            <a:avLst/>
          </a:prstGeom>
          <a:noFill/>
          <a:ln>
            <a:noFill/>
          </a:ln>
        </p:spPr>
      </p:pic>
      <p:sp>
        <p:nvSpPr>
          <p:cNvPr id="288" name="Google Shape;288;p22"/>
          <p:cNvSpPr txBox="1"/>
          <p:nvPr/>
        </p:nvSpPr>
        <p:spPr>
          <a:xfrm>
            <a:off x="6659909" y="1156245"/>
            <a:ext cx="3051869"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Prototype Bill of Materials</a:t>
            </a:r>
            <a:endParaRPr/>
          </a:p>
        </p:txBody>
      </p:sp>
      <p:pic>
        <p:nvPicPr>
          <p:cNvPr id="324" name="Google Shape;324;p22" title="MBF_Logo_2020.png"/>
          <p:cNvPicPr preferRelativeResize="0"/>
          <p:nvPr/>
        </p:nvPicPr>
        <p:blipFill>
          <a:blip r:embed="rId3">
            <a:alphaModFix/>
          </a:blip>
          <a:stretch>
            <a:fillRect/>
          </a:stretch>
        </p:blipFill>
        <p:spPr>
          <a:xfrm>
            <a:off x="11095194" y="6280800"/>
            <a:ext cx="1096806" cy="577200"/>
          </a:xfrm>
          <a:prstGeom prst="rect">
            <a:avLst/>
          </a:prstGeom>
          <a:noFill/>
          <a:ln>
            <a:noFill/>
          </a:ln>
        </p:spPr>
      </p:pic>
      <p:pic>
        <p:nvPicPr>
          <p:cNvPr id="325" name="Google Shape;325;p22" title="VK colored transparent logo.png"/>
          <p:cNvPicPr preferRelativeResize="0"/>
          <p:nvPr/>
        </p:nvPicPr>
        <p:blipFill rotWithShape="1">
          <a:blip r:embed="rId2">
            <a:alphaModFix/>
          </a:blip>
          <a:srcRect b="44466" l="14673" r="15820" t="33074"/>
          <a:stretch/>
        </p:blipFill>
        <p:spPr>
          <a:xfrm>
            <a:off x="0" y="6280800"/>
            <a:ext cx="1786280" cy="577200"/>
          </a:xfrm>
          <a:prstGeom prst="rect">
            <a:avLst/>
          </a:prstGeom>
          <a:noFill/>
          <a:ln>
            <a:noFill/>
          </a:ln>
        </p:spPr>
      </p:pic>
      <p:sp>
        <p:nvSpPr>
          <p:cNvPr id="326" name="Rounded Rectangle 325"/>
          <p:cNvSpPr/>
          <p:nvPr/>
        </p:nvSpPr>
        <p:spPr>
          <a:xfrm>
            <a:off x="9332366" y="457200"/>
            <a:ext cx="2326233" cy="246888"/>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B45309"/>
                </a:solidFill>
                <a:latin typeface="DM Sans"/>
              </a:rPr>
              <a:t>3 PRICES QUOTED · NOTHING ORDERED</a:t>
            </a:r>
          </a:p>
        </p:txBody>
      </p:sp>
      <p:pic>
        <p:nvPicPr>
          <p:cNvPr id="327" name="Picture 326" descr="fig_window.png"/>
          <p:cNvPicPr>
            <a:picLocks noChangeAspect="1"/>
          </p:cNvPicPr>
          <p:nvPr/>
        </p:nvPicPr>
        <p:blipFill>
          <a:blip r:embed="rId11"/>
          <a:stretch>
            <a:fillRect/>
          </a:stretch>
        </p:blipFill>
        <p:spPr>
          <a:xfrm>
            <a:off x="539496" y="970048"/>
            <a:ext cx="5413248" cy="3875487"/>
          </a:xfrm>
          <a:prstGeom prst="rect">
            <a:avLst/>
          </a:prstGeom>
        </p:spPr>
      </p:pic>
      <p:graphicFrame>
        <p:nvGraphicFramePr>
          <p:cNvPr id="328" name="Table 327"/>
          <p:cNvGraphicFramePr>
            <a:graphicFrameLocks noGrp="1"/>
          </p:cNvGraphicFramePr>
          <p:nvPr/>
        </p:nvGraphicFramePr>
        <p:xfrm>
          <a:off x="6446520" y="1517904"/>
          <a:ext cx="5010912" cy="3374136"/>
        </p:xfrm>
        <a:graphic>
          <a:graphicData uri="http://schemas.openxmlformats.org/drawingml/2006/table">
            <a:tbl>
              <a:tblPr firstRow="0" bandRow="0">
                <a:tableStyleId>{2D5ABB26-0587-4C30-8999-92F81FD0307C}</a:tableStyleId>
              </a:tblPr>
              <a:tblGrid>
                <a:gridCol w="2103120"/>
                <a:gridCol w="411480"/>
                <a:gridCol w="1325880"/>
                <a:gridCol w="1170432"/>
              </a:tblGrid>
              <a:tr h="374904">
                <a:tc>
                  <a:txBody>
                    <a:bodyPr wrap="square"/>
                    <a:lstStyle/>
                    <a:p>
                      <a:r>
                        <a:rPr sz="919" b="1">
                          <a:solidFill>
                            <a:srgbClr val="0F172A"/>
                          </a:solidFill>
                          <a:latin typeface="DM Sans"/>
                        </a:rPr>
                        <a:t>Item</a:t>
                      </a:r>
                    </a:p>
                  </a:txBody>
                  <a:tcPr marL="36576" marR="36576" marT="22860" marB="18288" anchor="ctr">
                    <a:noFill/>
                    <a:lnL w="12700">
                      <a:noFill/>
                    </a:lnL>
                    <a:lnR w="12700">
                      <a:noFill/>
                    </a:lnR>
                    <a:lnT w="12700">
                      <a:noFill/>
                    </a:lnT>
                    <a:lnB w="12700">
                      <a:solidFill>
                        <a:srgbClr val="CBD5E1"/>
                      </a:solidFill>
                    </a:lnB>
                  </a:tcPr>
                </a:tc>
                <a:tc>
                  <a:txBody>
                    <a:bodyPr wrap="square"/>
                    <a:lstStyle/>
                    <a:p>
                      <a:r>
                        <a:rPr sz="919" b="1">
                          <a:solidFill>
                            <a:srgbClr val="0F172A"/>
                          </a:solidFill>
                          <a:latin typeface="DM Sans"/>
                        </a:rPr>
                        <a:t>Qty</a:t>
                      </a:r>
                    </a:p>
                  </a:txBody>
                  <a:tcPr marL="36576" marR="36576" marT="22860" marB="18288" anchor="ctr">
                    <a:noFill/>
                    <a:lnL w="12700">
                      <a:noFill/>
                    </a:lnL>
                    <a:lnR w="12700">
                      <a:noFill/>
                    </a:lnR>
                    <a:lnT w="12700">
                      <a:noFill/>
                    </a:lnT>
                    <a:lnB w="12700">
                      <a:solidFill>
                        <a:srgbClr val="CBD5E1"/>
                      </a:solidFill>
                    </a:lnB>
                  </a:tcPr>
                </a:tc>
                <a:tc>
                  <a:txBody>
                    <a:bodyPr wrap="square"/>
                    <a:lstStyle/>
                    <a:p>
                      <a:r>
                        <a:rPr sz="919" b="1">
                          <a:solidFill>
                            <a:srgbClr val="0F172A"/>
                          </a:solidFill>
                          <a:latin typeface="DM Sans"/>
                        </a:rPr>
                        <a:t>Source</a:t>
                      </a:r>
                    </a:p>
                  </a:txBody>
                  <a:tcPr marL="36576" marR="36576" marT="22860" marB="18288" anchor="ctr">
                    <a:noFill/>
                    <a:lnL w="12700">
                      <a:noFill/>
                    </a:lnL>
                    <a:lnR w="12700">
                      <a:noFill/>
                    </a:lnR>
                    <a:lnT w="12700">
                      <a:noFill/>
                    </a:lnT>
                    <a:lnB w="12700">
                      <a:solidFill>
                        <a:srgbClr val="CBD5E1"/>
                      </a:solidFill>
                    </a:lnB>
                  </a:tcPr>
                </a:tc>
                <a:tc>
                  <a:txBody>
                    <a:bodyPr wrap="square"/>
                    <a:lstStyle/>
                    <a:p>
                      <a:r>
                        <a:rPr sz="919" b="1">
                          <a:solidFill>
                            <a:srgbClr val="0F172A"/>
                          </a:solidFill>
                          <a:latin typeface="DM Sans"/>
                        </a:rPr>
                        <a:t>₹</a:t>
                      </a:r>
                    </a:p>
                  </a:txBody>
                  <a:tcPr marL="36576" marR="36576" marT="22860" marB="18288" anchor="ctr">
                    <a:noFill/>
                    <a:lnL w="12700">
                      <a:noFill/>
                    </a:lnL>
                    <a:lnR w="12700">
                      <a:noFill/>
                    </a:lnR>
                    <a:lnT w="12700">
                      <a:noFill/>
                    </a:lnT>
                    <a:lnB w="12700">
                      <a:solidFill>
                        <a:srgbClr val="CBD5E1"/>
                      </a:solidFill>
                    </a:lnB>
                  </a:tcPr>
                </a:tc>
              </a:tr>
              <a:tr h="374904">
                <a:tc>
                  <a:txBody>
                    <a:bodyPr wrap="square"/>
                    <a:lstStyle/>
                    <a:p>
                      <a:r>
                        <a:rPr sz="980" b="1">
                          <a:solidFill>
                            <a:srgbClr val="0F172A"/>
                          </a:solidFill>
                          <a:latin typeface="DM Sans"/>
                        </a:rPr>
                        <a:t>ESP32-C3 SuperMini (PRO4607)</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1</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Probots · quoted</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242</a:t>
                      </a:r>
                    </a:p>
                  </a:txBody>
                  <a:tcPr marL="36576" marR="36576" marT="22860" marB="18288" anchor="ctr">
                    <a:noFill/>
                    <a:lnL w="7620">
                      <a:noFill/>
                    </a:lnL>
                    <a:lnR w="7620">
                      <a:noFill/>
                    </a:lnR>
                    <a:lnT w="7620">
                      <a:noFill/>
                    </a:lnT>
                    <a:lnB w="7620">
                      <a:solidFill>
                        <a:srgbClr val="E2E8F0"/>
                      </a:solidFill>
                    </a:lnB>
                  </a:tcPr>
                </a:tc>
              </a:tr>
              <a:tr h="374904">
                <a:tc>
                  <a:txBody>
                    <a:bodyPr wrap="square"/>
                    <a:lstStyle/>
                    <a:p>
                      <a:r>
                        <a:rPr sz="980" b="1">
                          <a:solidFill>
                            <a:srgbClr val="0F172A"/>
                          </a:solidFill>
                          <a:latin typeface="DM Sans"/>
                        </a:rPr>
                        <a:t>ADS1115 module (PRO789)</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1</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Probots · quoted</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125</a:t>
                      </a:r>
                    </a:p>
                  </a:txBody>
                  <a:tcPr marL="36576" marR="36576" marT="22860" marB="18288" anchor="ctr">
                    <a:noFill/>
                    <a:lnL w="7620">
                      <a:noFill/>
                    </a:lnL>
                    <a:lnR w="7620">
                      <a:noFill/>
                    </a:lnR>
                    <a:lnT w="7620">
                      <a:noFill/>
                    </a:lnT>
                    <a:lnB w="7620">
                      <a:solidFill>
                        <a:srgbClr val="E2E8F0"/>
                      </a:solidFill>
                    </a:lnB>
                  </a:tcPr>
                </a:tc>
              </a:tr>
              <a:tr h="374904">
                <a:tc>
                  <a:txBody>
                    <a:bodyPr wrap="square"/>
                    <a:lstStyle/>
                    <a:p>
                      <a:r>
                        <a:rPr sz="980" b="1">
                          <a:solidFill>
                            <a:srgbClr val="0F172A"/>
                          </a:solidFill>
                          <a:latin typeface="DM Sans"/>
                        </a:rPr>
                        <a:t>P75-B1 pogo pins (05880)</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100</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Hubtronics · quoted</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354</a:t>
                      </a:r>
                    </a:p>
                  </a:txBody>
                  <a:tcPr marL="36576" marR="36576" marT="22860" marB="18288" anchor="ctr">
                    <a:noFill/>
                    <a:lnL w="7620">
                      <a:noFill/>
                    </a:lnL>
                    <a:lnR w="7620">
                      <a:noFill/>
                    </a:lnR>
                    <a:lnT w="7620">
                      <a:noFill/>
                    </a:lnT>
                    <a:lnB w="7620">
                      <a:solidFill>
                        <a:srgbClr val="E2E8F0"/>
                      </a:solidFill>
                    </a:lnB>
                  </a:tcPr>
                </a:tc>
              </a:tr>
              <a:tr h="374904">
                <a:tc>
                  <a:txBody>
                    <a:bodyPr wrap="square"/>
                    <a:lstStyle/>
                    <a:p>
                      <a:r>
                        <a:rPr sz="980" b="1">
                          <a:solidFill>
                            <a:srgbClr val="0F172A"/>
                          </a:solidFill>
                          <a:latin typeface="DM Sans"/>
                        </a:rPr>
                        <a:t>Resistors, C0G cap, LEDs, board</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set</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local / online</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158–421</a:t>
                      </a:r>
                    </a:p>
                  </a:txBody>
                  <a:tcPr marL="36576" marR="36576" marT="22860" marB="18288" anchor="ctr">
                    <a:noFill/>
                    <a:lnL w="7620">
                      <a:noFill/>
                    </a:lnL>
                    <a:lnR w="7620">
                      <a:noFill/>
                    </a:lnR>
                    <a:lnT w="7620">
                      <a:noFill/>
                    </a:lnT>
                    <a:lnB w="7620">
                      <a:solidFill>
                        <a:srgbClr val="E2E8F0"/>
                      </a:solidFill>
                    </a:lnB>
                  </a:tcPr>
                </a:tc>
              </a:tr>
              <a:tr h="374904">
                <a:tc>
                  <a:txBody>
                    <a:bodyPr wrap="square"/>
                    <a:lstStyle/>
                    <a:p>
                      <a:r>
                        <a:rPr sz="980" b="1">
                          <a:solidFill>
                            <a:srgbClr val="0F172A"/>
                          </a:solidFill>
                          <a:latin typeface="DM Sans"/>
                        </a:rPr>
                        <a:t>Clamp + bench rig</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set</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lab / local</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100–1,240</a:t>
                      </a:r>
                    </a:p>
                  </a:txBody>
                  <a:tcPr marL="36576" marR="36576" marT="22860" marB="18288" anchor="ctr">
                    <a:noFill/>
                    <a:lnL w="7620">
                      <a:noFill/>
                    </a:lnL>
                    <a:lnR w="7620">
                      <a:noFill/>
                    </a:lnR>
                    <a:lnT w="7620">
                      <a:noFill/>
                    </a:lnT>
                    <a:lnB w="7620">
                      <a:solidFill>
                        <a:srgbClr val="E2E8F0"/>
                      </a:solidFill>
                    </a:lnB>
                  </a:tcPr>
                </a:tc>
              </a:tr>
              <a:tr h="374904">
                <a:tc>
                  <a:txBody>
                    <a:bodyPr wrap="square"/>
                    <a:lstStyle/>
                    <a:p>
                      <a:r>
                        <a:rPr sz="980" b="1">
                          <a:solidFill>
                            <a:srgbClr val="0F172A"/>
                          </a:solidFill>
                          <a:latin typeface="DM Sans"/>
                        </a:rPr>
                        <a:t>Strip materials</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set</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lab / online</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800–3,500</a:t>
                      </a:r>
                    </a:p>
                  </a:txBody>
                  <a:tcPr marL="36576" marR="36576" marT="22860" marB="18288" anchor="ctr">
                    <a:noFill/>
                    <a:lnL w="7620">
                      <a:noFill/>
                    </a:lnL>
                    <a:lnR w="7620">
                      <a:noFill/>
                    </a:lnR>
                    <a:lnT w="7620">
                      <a:noFill/>
                    </a:lnT>
                    <a:lnB w="7620">
                      <a:solidFill>
                        <a:srgbClr val="E2E8F0"/>
                      </a:solidFill>
                    </a:lnB>
                  </a:tcPr>
                </a:tc>
              </a:tr>
              <a:tr h="374904">
                <a:tc>
                  <a:txBody>
                    <a:bodyPr wrap="square"/>
                    <a:lstStyle/>
                    <a:p>
                      <a:r>
                        <a:rPr sz="980" b="1">
                          <a:solidFill>
                            <a:srgbClr val="0F172A"/>
                          </a:solidFill>
                          <a:latin typeface="DM Sans"/>
                        </a:rPr>
                        <a:t>Test consumables</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set</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local</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480–1,060</a:t>
                      </a:r>
                    </a:p>
                  </a:txBody>
                  <a:tcPr marL="36576" marR="36576" marT="22860" marB="18288" anchor="ctr">
                    <a:noFill/>
                    <a:lnL w="7620">
                      <a:noFill/>
                    </a:lnL>
                    <a:lnR w="7620">
                      <a:noFill/>
                    </a:lnR>
                    <a:lnT w="7620">
                      <a:noFill/>
                    </a:lnT>
                    <a:lnB w="7620">
                      <a:solidFill>
                        <a:srgbClr val="E2E8F0"/>
                      </a:solidFill>
                    </a:lnB>
                  </a:tcPr>
                </a:tc>
              </a:tr>
              <a:tr h="374904">
                <a:tc>
                  <a:txBody>
                    <a:bodyPr wrap="square"/>
                    <a:lstStyle/>
                    <a:p>
                      <a:r>
                        <a:rPr sz="980" b="1">
                          <a:solidFill>
                            <a:srgbClr val="0F172A"/>
                          </a:solidFill>
                          <a:latin typeface="DM Sans"/>
                        </a:rPr>
                        <a:t>Total</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
                      </a:r>
                    </a:p>
                  </a:txBody>
                  <a:tcPr marL="36576" marR="36576" marT="22860" marB="18288" anchor="ctr">
                    <a:noFill/>
                    <a:lnL w="7620">
                      <a:noFill/>
                    </a:lnL>
                    <a:lnR w="7620">
                      <a:noFill/>
                    </a:lnR>
                    <a:lnT w="7620">
                      <a:noFill/>
                    </a:lnT>
                    <a:lnB w="7620">
                      <a:solidFill>
                        <a:srgbClr val="E2E8F0"/>
                      </a:solidFill>
                    </a:lnB>
                  </a:tcPr>
                </a:tc>
                <a:tc>
                  <a:txBody>
                    <a:bodyPr wrap="square"/>
                    <a:lstStyle/>
                    <a:p>
                      <a:r>
                        <a:rPr sz="980" b="0">
                          <a:solidFill>
                            <a:srgbClr val="334155"/>
                          </a:solidFill>
                          <a:latin typeface="DM Sans"/>
                        </a:rPr>
                        <a:t/>
                      </a:r>
                    </a:p>
                  </a:txBody>
                  <a:tcPr marL="36576" marR="36576" marT="22860" marB="18288" anchor="ctr">
                    <a:noFill/>
                    <a:lnL w="7620">
                      <a:noFill/>
                    </a:lnL>
                    <a:lnR w="7620">
                      <a:noFill/>
                    </a:lnR>
                    <a:lnT w="7620">
                      <a:noFill/>
                    </a:lnT>
                    <a:lnB w="7620">
                      <a:solidFill>
                        <a:srgbClr val="E2E8F0"/>
                      </a:solidFill>
                    </a:lnB>
                  </a:tcPr>
                </a:tc>
                <a:tc>
                  <a:txBody>
                    <a:bodyPr wrap="square"/>
                    <a:lstStyle/>
                    <a:p>
                      <a:r>
                        <a:rPr sz="980" b="1">
                          <a:solidFill>
                            <a:srgbClr val="0F172A"/>
                          </a:solidFill>
                          <a:latin typeface="DM Sans"/>
                        </a:rPr>
                        <a:t>≈ 2,259–6,942</a:t>
                      </a:r>
                    </a:p>
                  </a:txBody>
                  <a:tcPr marL="36576" marR="36576" marT="22860" marB="18288" anchor="ctr">
                    <a:noFill/>
                    <a:lnL w="7620">
                      <a:noFill/>
                    </a:lnL>
                    <a:lnR w="7620">
                      <a:noFill/>
                    </a:lnR>
                    <a:lnT w="7620">
                      <a:noFill/>
                    </a:lnT>
                    <a:lnB w="7620">
                      <a:solidFill>
                        <a:srgbClr val="E2E8F0"/>
                      </a:solidFill>
                    </a:lnB>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descr="image.png" id="362" name="Google Shape;362;p24"/>
          <p:cNvPicPr preferRelativeResize="0"/>
          <p:nvPr/>
        </p:nvPicPr>
        <p:blipFill rotWithShape="1">
          <a:blip r:embed="rId4">
            <a:alphaModFix/>
          </a:blip>
          <a:srcRect b="0" l="0" r="0" t="0"/>
          <a:stretch/>
        </p:blipFill>
        <p:spPr>
          <a:xfrm>
            <a:off x="0" y="0"/>
            <a:ext cx="12192000" cy="6858000"/>
          </a:xfrm>
          <a:prstGeom prst="rect">
            <a:avLst/>
          </a:prstGeom>
          <a:noFill/>
          <a:ln>
            <a:noFill/>
          </a:ln>
        </p:spPr>
      </p:pic>
      <p:pic>
        <p:nvPicPr>
          <p:cNvPr descr="image.png" id="363" name="Google Shape;363;p24"/>
          <p:cNvPicPr preferRelativeResize="0"/>
          <p:nvPr/>
        </p:nvPicPr>
        <p:blipFill rotWithShape="1">
          <a:blip r:embed="rId5">
            <a:alphaModFix/>
          </a:blip>
          <a:srcRect b="0" l="0" r="0" t="0"/>
          <a:stretch/>
        </p:blipFill>
        <p:spPr>
          <a:xfrm>
            <a:off x="533400" y="5665754"/>
            <a:ext cx="11125200" cy="363140"/>
          </a:xfrm>
          <a:prstGeom prst="rect">
            <a:avLst/>
          </a:prstGeom>
          <a:noFill/>
          <a:ln>
            <a:noFill/>
          </a:ln>
        </p:spPr>
      </p:pic>
      <p:pic>
        <p:nvPicPr>
          <p:cNvPr descr="image.png" id="364" name="Google Shape;364;p24"/>
          <p:cNvPicPr preferRelativeResize="0"/>
          <p:nvPr/>
        </p:nvPicPr>
        <p:blipFill rotWithShape="1">
          <a:blip r:embed="rId7">
            <a:alphaModFix/>
          </a:blip>
          <a:srcRect b="0" l="0" r="0" t="0"/>
          <a:stretch/>
        </p:blipFill>
        <p:spPr>
          <a:xfrm>
            <a:off x="6229350" y="956223"/>
            <a:ext cx="5429250" cy="4526280"/>
          </a:xfrm>
          <a:prstGeom prst="rect">
            <a:avLst/>
          </a:prstGeom>
          <a:noFill/>
          <a:ln>
            <a:noFill/>
          </a:ln>
        </p:spPr>
      </p:pic>
      <p:pic>
        <p:nvPicPr>
          <p:cNvPr descr="image.png" id="365" name="Google Shape;365;p24"/>
          <p:cNvPicPr preferRelativeResize="0"/>
          <p:nvPr/>
        </p:nvPicPr>
        <p:blipFill rotWithShape="1">
          <a:blip r:embed="rId8">
            <a:alphaModFix/>
          </a:blip>
          <a:srcRect b="0" l="0" r="0" t="0"/>
          <a:stretch/>
        </p:blipFill>
        <p:spPr>
          <a:xfrm>
            <a:off x="530352" y="960120"/>
            <a:ext cx="5431536" cy="3895344"/>
          </a:xfrm>
          <a:prstGeom prst="rect">
            <a:avLst/>
          </a:prstGeom>
          <a:noFill/>
          <a:ln>
            <a:noFill/>
          </a:ln>
        </p:spPr>
      </p:pic>
      <p:sp>
        <p:nvSpPr>
          <p:cNvPr id="366" name="Google Shape;366;p24"/>
          <p:cNvSpPr txBox="1"/>
          <p:nvPr/>
        </p:nvSpPr>
        <p:spPr>
          <a:xfrm>
            <a:off x="533400" y="438150"/>
            <a:ext cx="8595360" cy="311700"/>
          </a:xfrm>
          <a:prstGeom prst="rect">
            <a:avLst/>
          </a:prstGeom>
          <a:noFill/>
          <a:ln>
            <a:noFill/>
          </a:ln>
        </p:spPr>
        <p:txBody>
          <a:bodyPr anchorCtr="0" anchor="ctr" bIns="0" lIns="0" spcFirstLastPara="1" rIns="0" wrap="square" tIns="0">
            <a:spAutoFit/>
          </a:bodyPr>
          <a:lstStyle/>
          <a:p>
            <a:pPr indent="0" lvl="0" marL="0" marR="0" rtl="0" algn="l">
              <a:lnSpc>
                <a:spcPct val="119950"/>
              </a:lnSpc>
              <a:spcBef>
                <a:spcPts val="0"/>
              </a:spcBef>
              <a:spcAft>
                <a:spcPts val="0"/>
              </a:spcAft>
              <a:buNone/>
            </a:pPr>
            <a:r>
              <a:rPr sz="2025" b="0">
                <a:solidFill>
                  <a:srgbClr val="0F172A"/>
                </a:solidFill>
                <a:latin typeface="Poppins SemiBold"/>
              </a:rPr>
              <a:t>Maker Journey: Engineering Iterations</a:t>
            </a:r>
            <a:endParaRPr/>
          </a:p>
        </p:txBody>
      </p:sp>
      <p:sp>
        <p:nvSpPr>
          <p:cNvPr id="368" name="Google Shape;368;p24"/>
          <p:cNvSpPr txBox="1"/>
          <p:nvPr/>
        </p:nvSpPr>
        <p:spPr>
          <a:xfrm>
            <a:off x="723900" y="5761004"/>
            <a:ext cx="10698480" cy="329184"/>
          </a:xfrm>
          <a:prstGeom prst="rect">
            <a:avLst/>
          </a:prstGeom>
          <a:noFill/>
          <a:ln>
            <a:noFill/>
          </a:ln>
        </p:spPr>
        <p:txBody>
          <a:bodyPr anchorCtr="0" anchor="t" bIns="0" lIns="0" spcFirstLastPara="1" rIns="0" wrap="square" tIns="0">
            <a:spAutoFit/>
          </a:bodyPr>
          <a:lstStyle/>
          <a:p>
            <a:pPr indent="0" lvl="0" marL="0" marR="0" rtl="0" algn="l">
              <a:lnSpc>
                <a:spcPct val="145037"/>
              </a:lnSpc>
              <a:spcBef>
                <a:spcPts val="0"/>
              </a:spcBef>
              <a:spcAft>
                <a:spcPts val="0"/>
              </a:spcAft>
              <a:buNone/>
            </a:pPr>
            <a:r>
              <a:rPr sz="960" b="1">
                <a:solidFill>
                  <a:srgbClr val="0F172A"/>
                </a:solidFill>
                <a:latin typeface="DM Sans"/>
              </a:rPr>
              <a:t>Prior Art: </a:t>
            </a:r>
            <a:r>
              <a:rPr sz="960" b="0">
                <a:solidFill>
                  <a:srgbClr val="334155"/>
                </a:solidFill>
                <a:latin typeface="DM Sans"/>
              </a:rPr>
              <a:t>diaper strips⁴ and visual change indicators¹⁴ exist; our novelty is reading the change line electrically, with an order check.</a:t>
            </a:r>
            <a:endParaRPr/>
          </a:p>
        </p:txBody>
      </p:sp>
      <p:sp>
        <p:nvSpPr>
          <p:cNvPr id="369" name="Google Shape;369;p24"/>
          <p:cNvSpPr txBox="1"/>
          <p:nvPr/>
        </p:nvSpPr>
        <p:spPr>
          <a:xfrm>
            <a:off x="533400" y="4901184"/>
            <a:ext cx="5429250" cy="201168"/>
          </a:xfrm>
          <a:prstGeom prst="rect">
            <a:avLst/>
          </a:prstGeom>
          <a:noFill/>
          <a:ln>
            <a:noFill/>
          </a:ln>
        </p:spPr>
        <p:txBody>
          <a:bodyPr anchorCtr="0" anchor="t" bIns="0" lIns="0" spcFirstLastPara="1" rIns="0" wrap="square" tIns="0">
            <a:spAutoFit/>
          </a:bodyPr>
          <a:lstStyle/>
          <a:p>
            <a:pPr indent="0" lvl="0" marL="0" marR="0" rtl="0" algn="r">
              <a:lnSpc>
                <a:spcPct val="145011"/>
              </a:lnSpc>
              <a:spcBef>
                <a:spcPts val="0"/>
              </a:spcBef>
              <a:spcAft>
                <a:spcPts val="0"/>
              </a:spcAft>
              <a:buNone/>
            </a:pPr>
            <a:r>
              <a:rPr sz="760" b="0">
                <a:solidFill>
                  <a:srgbClr val="64748B"/>
                </a:solidFill>
                <a:latin typeface="DM Sans"/>
              </a:rPr>
              <a:t>Figure: concept scores and the iteration path (each a dated commit).</a:t>
            </a:r>
            <a:endParaRPr/>
          </a:p>
        </p:txBody>
      </p:sp>
      <p:pic>
        <p:nvPicPr>
          <p:cNvPr descr="image.png" id="371" name="Google Shape;371;p24"/>
          <p:cNvPicPr preferRelativeResize="0"/>
          <p:nvPr/>
        </p:nvPicPr>
        <p:blipFill rotWithShape="1">
          <a:blip r:embed="rId6">
            <a:alphaModFix/>
          </a:blip>
          <a:srcRect b="0" l="0" r="0" t="0"/>
          <a:stretch/>
        </p:blipFill>
        <p:spPr>
          <a:xfrm>
            <a:off x="6448425" y="1175295"/>
            <a:ext cx="173384" cy="152400"/>
          </a:xfrm>
          <a:prstGeom prst="rect">
            <a:avLst/>
          </a:prstGeom>
          <a:noFill/>
          <a:ln>
            <a:noFill/>
          </a:ln>
        </p:spPr>
      </p:pic>
      <p:sp>
        <p:nvSpPr>
          <p:cNvPr id="372" name="Google Shape;372;p24"/>
          <p:cNvSpPr txBox="1"/>
          <p:nvPr/>
        </p:nvSpPr>
        <p:spPr>
          <a:xfrm>
            <a:off x="6717059" y="1156245"/>
            <a:ext cx="484632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Stage 1 to Stage 2 Iterations</a:t>
            </a:r>
            <a:endParaRPr/>
          </a:p>
        </p:txBody>
      </p:sp>
      <p:pic>
        <p:nvPicPr>
          <p:cNvPr id="381" name="Google Shape;381;p24" title="MBF_Logo_2020.png"/>
          <p:cNvPicPr preferRelativeResize="0"/>
          <p:nvPr/>
        </p:nvPicPr>
        <p:blipFill>
          <a:blip r:embed="rId3">
            <a:alphaModFix/>
          </a:blip>
          <a:stretch>
            <a:fillRect/>
          </a:stretch>
        </p:blipFill>
        <p:spPr>
          <a:xfrm>
            <a:off x="11095194" y="6280800"/>
            <a:ext cx="1096806" cy="577200"/>
          </a:xfrm>
          <a:prstGeom prst="rect">
            <a:avLst/>
          </a:prstGeom>
          <a:noFill/>
          <a:ln>
            <a:noFill/>
          </a:ln>
        </p:spPr>
      </p:pic>
      <p:pic>
        <p:nvPicPr>
          <p:cNvPr id="382" name="Google Shape;382;p24" title="VK colored transparent logo.png"/>
          <p:cNvPicPr preferRelativeResize="0"/>
          <p:nvPr/>
        </p:nvPicPr>
        <p:blipFill rotWithShape="1">
          <a:blip r:embed="rId2">
            <a:alphaModFix/>
          </a:blip>
          <a:srcRect b="44466" l="14673" r="15820" t="33074"/>
          <a:stretch/>
        </p:blipFill>
        <p:spPr>
          <a:xfrm>
            <a:off x="0" y="6280800"/>
            <a:ext cx="1786280" cy="577200"/>
          </a:xfrm>
          <a:prstGeom prst="rect">
            <a:avLst/>
          </a:prstGeom>
          <a:noFill/>
          <a:ln>
            <a:noFill/>
          </a:ln>
        </p:spPr>
      </p:pic>
      <p:sp>
        <p:nvSpPr>
          <p:cNvPr id="383" name="Rounded Rectangle 382"/>
          <p:cNvSpPr/>
          <p:nvPr/>
        </p:nvSpPr>
        <p:spPr>
          <a:xfrm>
            <a:off x="10140696" y="457200"/>
            <a:ext cx="1517904" cy="246888"/>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0369A1"/>
                </a:solidFill>
                <a:latin typeface="DM Sans"/>
              </a:rPr>
              <a:t>DOCUMENTED DECISIONS</a:t>
            </a:r>
          </a:p>
        </p:txBody>
      </p:sp>
      <p:pic>
        <p:nvPicPr>
          <p:cNvPr id="384" name="Picture 383" descr="fig_decision.png"/>
          <p:cNvPicPr>
            <a:picLocks noChangeAspect="1"/>
          </p:cNvPicPr>
          <p:nvPr/>
        </p:nvPicPr>
        <p:blipFill>
          <a:blip r:embed="rId11"/>
          <a:stretch>
            <a:fillRect/>
          </a:stretch>
        </p:blipFill>
        <p:spPr>
          <a:xfrm>
            <a:off x="539496" y="970048"/>
            <a:ext cx="5413248" cy="3875487"/>
          </a:xfrm>
          <a:prstGeom prst="rect">
            <a:avLst/>
          </a:prstGeom>
        </p:spPr>
      </p:pic>
      <p:sp>
        <p:nvSpPr>
          <p:cNvPr id="385" name="TextBox 384"/>
          <p:cNvSpPr txBox="1"/>
          <p:nvPr/>
        </p:nvSpPr>
        <p:spPr>
          <a:xfrm>
            <a:off x="6464808" y="1572768"/>
            <a:ext cx="5029200" cy="3840480"/>
          </a:xfrm>
          <a:prstGeom prst="rect">
            <a:avLst/>
          </a:prstGeom>
          <a:noFill/>
        </p:spPr>
        <p:txBody>
          <a:bodyPr wrap="square" lIns="18288" rIns="18288" tIns="9144" bIns="9144" anchor="t"/>
          <a:lstStyle/>
          <a:p>
            <a:pPr>
              <a:lnSpc>
                <a:spcPct val="108000"/>
              </a:lnSpc>
              <a:spcAft>
                <a:spcPts val="1400"/>
              </a:spcAft>
            </a:pPr>
            <a:r>
              <a:rPr sz="1200" b="0">
                <a:solidFill>
                  <a:srgbClr val="059669"/>
                </a:solidFill>
                <a:latin typeface="DM Sans"/>
              </a:rPr>
              <a:t>▪  </a:t>
            </a:r>
            <a:r>
              <a:rPr sz="1200" b="1">
                <a:solidFill>
                  <a:srgbClr val="0F172A"/>
                </a:solidFill>
                <a:latin typeface="DM Sans"/>
              </a:rPr>
              <a:t>Pivot:  </a:t>
            </a:r>
            <a:r>
              <a:rPr sz="1200" b="0">
                <a:solidFill>
                  <a:srgbClr val="334155"/>
                </a:solidFill>
                <a:latin typeface="DM Sans"/>
              </a:rPr>
              <a:t>therapy bandage (already shown in labs⁵) → one job: is it full?</a:t>
            </a:r>
          </a:p>
          <a:p>
            <a:pPr>
              <a:lnSpc>
                <a:spcPct val="108000"/>
              </a:lnSpc>
              <a:spcAft>
                <a:spcPts val="1400"/>
              </a:spcAft>
            </a:pPr>
            <a:r>
              <a:rPr sz="1200" b="0">
                <a:solidFill>
                  <a:srgbClr val="059669"/>
                </a:solidFill>
                <a:latin typeface="DM Sans"/>
              </a:rPr>
              <a:t>▪  </a:t>
            </a:r>
            <a:r>
              <a:rPr sz="1200" b="1">
                <a:solidFill>
                  <a:srgbClr val="0F172A"/>
                </a:solidFill>
                <a:latin typeface="DM Sans"/>
              </a:rPr>
              <a:t>Choice:  </a:t>
            </a:r>
            <a:r>
              <a:rPr sz="1200" b="0">
                <a:solidFill>
                  <a:srgbClr val="334155"/>
                </a:solidFill>
                <a:latin typeface="DM Sans"/>
              </a:rPr>
              <a:t>two-zone strip (4.36) beat one zone (4.29): it spots leaks.</a:t>
            </a:r>
          </a:p>
          <a:p>
            <a:pPr>
              <a:lnSpc>
                <a:spcPct val="108000"/>
              </a:lnSpc>
              <a:spcAft>
                <a:spcPts val="1400"/>
              </a:spcAft>
            </a:pPr>
            <a:r>
              <a:rPr sz="1200" b="0">
                <a:solidFill>
                  <a:srgbClr val="059669"/>
                </a:solidFill>
                <a:latin typeface="DM Sans"/>
              </a:rPr>
              <a:t>▪  </a:t>
            </a:r>
            <a:r>
              <a:rPr sz="1200" b="1">
                <a:solidFill>
                  <a:srgbClr val="0F172A"/>
                </a:solidFill>
                <a:latin typeface="DM Sans"/>
              </a:rPr>
              <a:t>Kept:  </a:t>
            </a:r>
            <a:r>
              <a:rPr sz="1200" b="0">
                <a:solidFill>
                  <a:srgbClr val="334155"/>
                </a:solidFill>
                <a:latin typeface="DM Sans"/>
              </a:rPr>
              <a:t>Stage 1's Bluetooth telemetry, now a state broadcast (compiled; hardware test pending).</a:t>
            </a:r>
          </a:p>
          <a:p>
            <a:pPr>
              <a:lnSpc>
                <a:spcPct val="108000"/>
              </a:lnSpc>
              <a:spcAft>
                <a:spcPts val="1400"/>
              </a:spcAft>
            </a:pPr>
            <a:r>
              <a:rPr sz="1200" b="0">
                <a:solidFill>
                  <a:srgbClr val="059669"/>
                </a:solidFill>
                <a:latin typeface="DM Sans"/>
              </a:rPr>
              <a:t>▪  </a:t>
            </a:r>
            <a:r>
              <a:rPr sz="1200" b="1">
                <a:solidFill>
                  <a:srgbClr val="0F172A"/>
                </a:solidFill>
                <a:latin typeface="DM Sans"/>
              </a:rPr>
              <a:t>Corrected:  </a:t>
            </a:r>
            <a:r>
              <a:rPr sz="1200" b="0">
                <a:solidFill>
                  <a:srgbClr val="334155"/>
                </a:solidFill>
                <a:latin typeface="DM Sans"/>
              </a:rPr>
              <a:t>Stage 1 called Kapton 'medical-grade'; DuPont cautions otherwise¹¹.</a:t>
            </a:r>
          </a:p>
          <a:p>
            <a:pPr>
              <a:lnSpc>
                <a:spcPct val="108000"/>
              </a:lnSpc>
              <a:spcAft>
                <a:spcPts val="1400"/>
              </a:spcAft>
            </a:pPr>
            <a:r>
              <a:rPr sz="1200" b="0">
                <a:solidFill>
                  <a:srgbClr val="059669"/>
                </a:solidFill>
                <a:latin typeface="DM Sans"/>
              </a:rPr>
              <a:t>▪  </a:t>
            </a:r>
            <a:r>
              <a:rPr sz="1200" b="1">
                <a:solidFill>
                  <a:srgbClr val="0F172A"/>
                </a:solidFill>
                <a:latin typeface="DM Sans"/>
              </a:rPr>
              <a:t>Redesign:  </a:t>
            </a:r>
            <a:r>
              <a:rPr sz="1200" b="0">
                <a:solidFill>
                  <a:srgbClr val="334155"/>
                </a:solidFill>
                <a:latin typeface="DM Sans"/>
              </a:rPr>
              <a:t>FMEA risk → v0.2 loops each sense lead.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descr="image.png" id="417" name="Google Shape;417;p27"/>
          <p:cNvPicPr preferRelativeResize="0"/>
          <p:nvPr/>
        </p:nvPicPr>
        <p:blipFill rotWithShape="1">
          <a:blip r:embed="rId5">
            <a:alphaModFix/>
          </a:blip>
          <a:srcRect b="0" l="0" r="0" t="0"/>
          <a:stretch/>
        </p:blipFill>
        <p:spPr>
          <a:xfrm>
            <a:off x="0" y="0"/>
            <a:ext cx="12192000" cy="6858000"/>
          </a:xfrm>
          <a:prstGeom prst="rect">
            <a:avLst/>
          </a:prstGeom>
          <a:noFill/>
          <a:ln>
            <a:noFill/>
          </a:ln>
        </p:spPr>
      </p:pic>
      <p:pic>
        <p:nvPicPr>
          <p:cNvPr descr="image.png" id="418" name="Google Shape;418;p27"/>
          <p:cNvPicPr preferRelativeResize="0"/>
          <p:nvPr/>
        </p:nvPicPr>
        <p:blipFill rotWithShape="1">
          <a:blip r:embed="rId6">
            <a:alphaModFix/>
          </a:blip>
          <a:srcRect b="0" l="0" r="0" t="0"/>
          <a:stretch/>
        </p:blipFill>
        <p:spPr>
          <a:xfrm>
            <a:off x="533400" y="956220"/>
            <a:ext cx="11125200" cy="2395728"/>
          </a:xfrm>
          <a:prstGeom prst="rect">
            <a:avLst/>
          </a:prstGeom>
          <a:noFill/>
          <a:ln>
            <a:noFill/>
          </a:ln>
        </p:spPr>
      </p:pic>
      <p:pic>
        <p:nvPicPr>
          <p:cNvPr descr="image.png" id="419" name="Google Shape;419;p27"/>
          <p:cNvPicPr preferRelativeResize="0"/>
          <p:nvPr/>
        </p:nvPicPr>
        <p:blipFill rotWithShape="1">
          <a:blip r:embed="rId8">
            <a:alphaModFix/>
          </a:blip>
          <a:srcRect b="0" l="0" r="0" t="0"/>
          <a:stretch/>
        </p:blipFill>
        <p:spPr>
          <a:xfrm>
            <a:off x="533400" y="3493008"/>
            <a:ext cx="5429250" cy="2395728"/>
          </a:xfrm>
          <a:prstGeom prst="rect">
            <a:avLst/>
          </a:prstGeom>
          <a:noFill/>
          <a:ln>
            <a:noFill/>
          </a:ln>
        </p:spPr>
      </p:pic>
      <p:pic>
        <p:nvPicPr>
          <p:cNvPr descr="image.png" id="420" name="Google Shape;420;p27"/>
          <p:cNvPicPr preferRelativeResize="0"/>
          <p:nvPr/>
        </p:nvPicPr>
        <p:blipFill rotWithShape="1">
          <a:blip r:embed="rId9">
            <a:alphaModFix/>
          </a:blip>
          <a:srcRect b="0" l="0" r="0" t="0"/>
          <a:stretch/>
        </p:blipFill>
        <p:spPr>
          <a:xfrm>
            <a:off x="6229350" y="3493008"/>
            <a:ext cx="5429250" cy="2395728"/>
          </a:xfrm>
          <a:prstGeom prst="rect">
            <a:avLst/>
          </a:prstGeom>
          <a:noFill/>
          <a:ln>
            <a:noFill/>
          </a:ln>
        </p:spPr>
      </p:pic>
      <p:sp>
        <p:nvSpPr>
          <p:cNvPr id="421" name="Google Shape;421;p27"/>
          <p:cNvSpPr txBox="1"/>
          <p:nvPr/>
        </p:nvSpPr>
        <p:spPr>
          <a:xfrm>
            <a:off x="533400" y="438150"/>
            <a:ext cx="8595360" cy="308520"/>
          </a:xfrm>
          <a:prstGeom prst="rect">
            <a:avLst/>
          </a:prstGeom>
          <a:noFill/>
          <a:ln>
            <a:noFill/>
          </a:ln>
        </p:spPr>
        <p:txBody>
          <a:bodyPr anchorCtr="0" anchor="ctr" bIns="0" lIns="0" spcFirstLastPara="1" rIns="0" wrap="square" tIns="0">
            <a:spAutoFit/>
          </a:bodyPr>
          <a:lstStyle/>
          <a:p>
            <a:pPr indent="0" lvl="0" marL="0" marR="0" rtl="0" algn="l">
              <a:lnSpc>
                <a:spcPct val="119950"/>
              </a:lnSpc>
              <a:spcBef>
                <a:spcPts val="0"/>
              </a:spcBef>
              <a:spcAft>
                <a:spcPts val="0"/>
              </a:spcAft>
              <a:buNone/>
            </a:pPr>
            <a:r>
              <a:rPr sz="2025" b="0">
                <a:solidFill>
                  <a:srgbClr val="0F172A"/>
                </a:solidFill>
                <a:latin typeface="Poppins SemiBold"/>
              </a:rPr>
              <a:t>Roadmap</a:t>
            </a:r>
            <a:endParaRPr/>
          </a:p>
        </p:txBody>
      </p:sp>
      <p:pic>
        <p:nvPicPr>
          <p:cNvPr descr="image.png" id="424" name="Google Shape;424;p27"/>
          <p:cNvPicPr preferRelativeResize="0"/>
          <p:nvPr/>
        </p:nvPicPr>
        <p:blipFill rotWithShape="1">
          <a:blip r:embed="rId11">
            <a:alphaModFix/>
          </a:blip>
          <a:srcRect b="0" l="0" r="0" t="0"/>
          <a:stretch/>
        </p:blipFill>
        <p:spPr>
          <a:xfrm>
            <a:off x="752475" y="1175295"/>
            <a:ext cx="154334" cy="152400"/>
          </a:xfrm>
          <a:prstGeom prst="rect">
            <a:avLst/>
          </a:prstGeom>
          <a:noFill/>
          <a:ln>
            <a:noFill/>
          </a:ln>
        </p:spPr>
      </p:pic>
      <p:sp>
        <p:nvSpPr>
          <p:cNvPr id="425" name="Google Shape;425;p27"/>
          <p:cNvSpPr txBox="1"/>
          <p:nvPr/>
        </p:nvSpPr>
        <p:spPr>
          <a:xfrm>
            <a:off x="1002059" y="1156245"/>
            <a:ext cx="822960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4-Month Plan on the programme's own dates: each gate must pass first</a:t>
            </a:r>
            <a:endParaRPr/>
          </a:p>
        </p:txBody>
      </p:sp>
      <p:pic>
        <p:nvPicPr>
          <p:cNvPr descr="image.png" id="435" name="Google Shape;435;p27"/>
          <p:cNvPicPr preferRelativeResize="0"/>
          <p:nvPr/>
        </p:nvPicPr>
        <p:blipFill rotWithShape="1">
          <a:blip r:embed="rId7">
            <a:alphaModFix/>
          </a:blip>
          <a:srcRect b="0" l="0" r="0" t="0"/>
          <a:stretch/>
        </p:blipFill>
        <p:spPr>
          <a:xfrm>
            <a:off x="752475" y="3712463"/>
            <a:ext cx="154334" cy="152400"/>
          </a:xfrm>
          <a:prstGeom prst="rect">
            <a:avLst/>
          </a:prstGeom>
          <a:noFill/>
          <a:ln>
            <a:noFill/>
          </a:ln>
        </p:spPr>
      </p:pic>
      <p:sp>
        <p:nvSpPr>
          <p:cNvPr id="436" name="Google Shape;436;p27"/>
          <p:cNvSpPr txBox="1"/>
          <p:nvPr/>
        </p:nvSpPr>
        <p:spPr>
          <a:xfrm>
            <a:off x="1002059" y="3685032"/>
            <a:ext cx="484632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Build &amp; Bench (Months 1 - 2)</a:t>
            </a:r>
            <a:endParaRPr/>
          </a:p>
        </p:txBody>
      </p:sp>
      <p:pic>
        <p:nvPicPr>
          <p:cNvPr descr="image.png" id="439" name="Google Shape;439;p27"/>
          <p:cNvPicPr preferRelativeResize="0"/>
          <p:nvPr/>
        </p:nvPicPr>
        <p:blipFill rotWithShape="1">
          <a:blip r:embed="rId3">
            <a:alphaModFix/>
          </a:blip>
          <a:srcRect b="0" l="0" r="0" t="0"/>
          <a:stretch/>
        </p:blipFill>
        <p:spPr>
          <a:xfrm>
            <a:off x="6448425" y="3712463"/>
            <a:ext cx="135284" cy="152400"/>
          </a:xfrm>
          <a:prstGeom prst="rect">
            <a:avLst/>
          </a:prstGeom>
          <a:noFill/>
          <a:ln>
            <a:noFill/>
          </a:ln>
        </p:spPr>
      </p:pic>
      <p:sp>
        <p:nvSpPr>
          <p:cNvPr id="440" name="Google Shape;440;p27"/>
          <p:cNvSpPr txBox="1"/>
          <p:nvPr/>
        </p:nvSpPr>
        <p:spPr>
          <a:xfrm>
            <a:off x="6678959" y="3685032"/>
            <a:ext cx="484632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50" b="1">
                <a:solidFill>
                  <a:srgbClr val="0F172A"/>
                </a:solidFill>
                <a:latin typeface="DM Sans"/>
              </a:rPr>
              <a:t>Validate &amp; Demo (Months 3 - 4)</a:t>
            </a:r>
            <a:endParaRPr/>
          </a:p>
        </p:txBody>
      </p:sp>
      <p:pic>
        <p:nvPicPr>
          <p:cNvPr id="447" name="Google Shape;447;p27" title="MBF_Logo_2020.png"/>
          <p:cNvPicPr preferRelativeResize="0"/>
          <p:nvPr/>
        </p:nvPicPr>
        <p:blipFill>
          <a:blip r:embed="rId2">
            <a:alphaModFix/>
          </a:blip>
          <a:stretch>
            <a:fillRect/>
          </a:stretch>
        </p:blipFill>
        <p:spPr>
          <a:xfrm>
            <a:off x="11095194" y="6280800"/>
            <a:ext cx="1096806" cy="577200"/>
          </a:xfrm>
          <a:prstGeom prst="rect">
            <a:avLst/>
          </a:prstGeom>
          <a:noFill/>
          <a:ln>
            <a:noFill/>
          </a:ln>
        </p:spPr>
      </p:pic>
      <p:pic>
        <p:nvPicPr>
          <p:cNvPr id="448" name="Google Shape;448;p27" title="VK colored transparent logo.png"/>
          <p:cNvPicPr preferRelativeResize="0"/>
          <p:nvPr/>
        </p:nvPicPr>
        <p:blipFill rotWithShape="1">
          <a:blip r:embed="rId4">
            <a:alphaModFix/>
          </a:blip>
          <a:srcRect b="44466" l="14673" r="15820" t="33074"/>
          <a:stretch/>
        </p:blipFill>
        <p:spPr>
          <a:xfrm>
            <a:off x="0" y="6280800"/>
            <a:ext cx="1786280" cy="577200"/>
          </a:xfrm>
          <a:prstGeom prst="rect">
            <a:avLst/>
          </a:prstGeom>
          <a:noFill/>
          <a:ln>
            <a:noFill/>
          </a:ln>
        </p:spPr>
      </p:pic>
      <p:sp>
        <p:nvSpPr>
          <p:cNvPr id="449" name="Rounded Rectangle 448"/>
          <p:cNvSpPr/>
          <p:nvPr/>
        </p:nvSpPr>
        <p:spPr>
          <a:xfrm>
            <a:off x="9829800" y="457200"/>
            <a:ext cx="1828800" cy="24688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475569"/>
                </a:solidFill>
                <a:latin typeface="DM Sans"/>
              </a:rPr>
              <a:t>FUTURE SCOPE · GATED PLAN</a:t>
            </a:r>
          </a:p>
        </p:txBody>
      </p:sp>
      <p:pic>
        <p:nvPicPr>
          <p:cNvPr id="450" name="Picture 449" descr="fig_roadmap.png"/>
          <p:cNvPicPr>
            <a:picLocks noChangeAspect="1"/>
          </p:cNvPicPr>
          <p:nvPr/>
        </p:nvPicPr>
        <p:blipFill>
          <a:blip r:embed="rId12"/>
          <a:stretch>
            <a:fillRect/>
          </a:stretch>
        </p:blipFill>
        <p:spPr>
          <a:xfrm>
            <a:off x="794513" y="1417320"/>
            <a:ext cx="10609069" cy="1874519"/>
          </a:xfrm>
          <a:prstGeom prst="rect">
            <a:avLst/>
          </a:prstGeom>
        </p:spPr>
      </p:pic>
      <p:sp>
        <p:nvSpPr>
          <p:cNvPr id="451" name="TextBox 450"/>
          <p:cNvSpPr txBox="1"/>
          <p:nvPr/>
        </p:nvSpPr>
        <p:spPr>
          <a:xfrm>
            <a:off x="768096" y="4041648"/>
            <a:ext cx="5029200" cy="1737360"/>
          </a:xfrm>
          <a:prstGeom prst="rect">
            <a:avLst/>
          </a:prstGeom>
          <a:noFill/>
        </p:spPr>
        <p:txBody>
          <a:bodyPr wrap="square" lIns="18288" rIns="18288" tIns="9144" bIns="9144" anchor="t"/>
          <a:lstStyle/>
          <a:p>
            <a:pPr>
              <a:lnSpc>
                <a:spcPct val="108000"/>
              </a:lnSpc>
              <a:spcAft>
                <a:spcPts val="1000"/>
              </a:spcAft>
            </a:pPr>
            <a:r>
              <a:rPr sz="1150" b="0">
                <a:solidFill>
                  <a:srgbClr val="059669"/>
                </a:solidFill>
                <a:latin typeface="DM Sans"/>
              </a:rPr>
              <a:t>▪  </a:t>
            </a:r>
            <a:r>
              <a:rPr sz="1150" b="1">
                <a:solidFill>
                  <a:srgbClr val="0F172A"/>
                </a:solidFill>
                <a:latin typeface="DM Sans"/>
              </a:rPr>
              <a:t>Nov:  </a:t>
            </a:r>
            <a:r>
              <a:rPr sz="1150" b="0">
                <a:solidFill>
                  <a:srgbClr val="334155"/>
                </a:solidFill>
                <a:latin typeface="DM Sans"/>
              </a:rPr>
              <a:t>E2 laser tests (G1); build and bench-test the reader (G2).</a:t>
            </a:r>
          </a:p>
          <a:p>
            <a:pPr>
              <a:lnSpc>
                <a:spcPct val="108000"/>
              </a:lnSpc>
              <a:spcAft>
                <a:spcPts val="1000"/>
              </a:spcAft>
            </a:pPr>
            <a:r>
              <a:rPr sz="1150" b="0">
                <a:solidFill>
                  <a:srgbClr val="059669"/>
                </a:solidFill>
                <a:latin typeface="DM Sans"/>
              </a:rPr>
              <a:t>▪  </a:t>
            </a:r>
            <a:r>
              <a:rPr sz="1150" b="1">
                <a:solidFill>
                  <a:srgbClr val="0F172A"/>
                </a:solidFill>
                <a:latin typeface="DM Sans"/>
              </a:rPr>
              <a:t>Early Dec:  </a:t>
            </a:r>
            <a:r>
              <a:rPr sz="1150" b="0">
                <a:solidFill>
                  <a:srgbClr val="334155"/>
                </a:solidFill>
                <a:latin typeface="DM Sans"/>
              </a:rPr>
              <a:t>first strips on a dressing; 3-min prototype video.</a:t>
            </a:r>
          </a:p>
        </p:txBody>
      </p:sp>
      <p:sp>
        <p:nvSpPr>
          <p:cNvPr id="452" name="TextBox 451"/>
          <p:cNvSpPr txBox="1"/>
          <p:nvPr/>
        </p:nvSpPr>
        <p:spPr>
          <a:xfrm>
            <a:off x="6464808" y="4041648"/>
            <a:ext cx="5029200" cy="1737360"/>
          </a:xfrm>
          <a:prstGeom prst="rect">
            <a:avLst/>
          </a:prstGeom>
          <a:noFill/>
        </p:spPr>
        <p:txBody>
          <a:bodyPr wrap="square" lIns="18288" rIns="18288" tIns="9144" bIns="9144" anchor="t"/>
          <a:lstStyle/>
          <a:p>
            <a:pPr>
              <a:lnSpc>
                <a:spcPct val="108000"/>
              </a:lnSpc>
              <a:spcAft>
                <a:spcPts val="1000"/>
              </a:spcAft>
            </a:pPr>
            <a:r>
              <a:rPr sz="1150" b="0">
                <a:solidFill>
                  <a:srgbClr val="059669"/>
                </a:solidFill>
                <a:latin typeface="DM Sans"/>
              </a:rPr>
              <a:t>▪  </a:t>
            </a:r>
            <a:r>
              <a:rPr sz="1150" b="1">
                <a:solidFill>
                  <a:srgbClr val="0F172A"/>
                </a:solidFill>
                <a:latin typeface="DM Sans"/>
              </a:rPr>
              <a:t>Dec:  </a:t>
            </a:r>
            <a:r>
              <a:rPr sz="1150" b="0">
                <a:solidFill>
                  <a:srgbClr val="334155"/>
                </a:solidFill>
                <a:latin typeface="DM Sans"/>
              </a:rPr>
              <a:t>strip v0.2 + printed clamp; E4 wet tests (G3).</a:t>
            </a:r>
          </a:p>
          <a:p>
            <a:pPr>
              <a:lnSpc>
                <a:spcPct val="108000"/>
              </a:lnSpc>
              <a:spcAft>
                <a:spcPts val="1000"/>
              </a:spcAft>
            </a:pPr>
            <a:r>
              <a:rPr sz="1150" b="0">
                <a:solidFill>
                  <a:srgbClr val="059669"/>
                </a:solidFill>
                <a:latin typeface="DM Sans"/>
              </a:rPr>
              <a:t>▪  </a:t>
            </a:r>
            <a:r>
              <a:rPr sz="1150" b="1">
                <a:solidFill>
                  <a:srgbClr val="0F172A"/>
                </a:solidFill>
                <a:latin typeface="DM Sans"/>
              </a:rPr>
              <a:t>Jan:  </a:t>
            </a:r>
            <a:r>
              <a:rPr sz="1150" b="0">
                <a:solidFill>
                  <a:srgbClr val="334155"/>
                </a:solidFill>
                <a:latin typeface="DM Sans"/>
              </a:rPr>
              <a:t>repeatability; virtual semi-final with a live demo.</a:t>
            </a:r>
          </a:p>
          <a:p>
            <a:pPr>
              <a:lnSpc>
                <a:spcPct val="108000"/>
              </a:lnSpc>
              <a:spcAft>
                <a:spcPts val="1000"/>
              </a:spcAft>
            </a:pPr>
            <a:r>
              <a:rPr sz="1150" b="0">
                <a:solidFill>
                  <a:srgbClr val="059669"/>
                </a:solidFill>
                <a:latin typeface="DM Sans"/>
              </a:rPr>
              <a:t>▪  </a:t>
            </a:r>
            <a:r>
              <a:rPr sz="1150" b="1">
                <a:solidFill>
                  <a:srgbClr val="0F172A"/>
                </a:solidFill>
                <a:latin typeface="DM Sans"/>
              </a:rPr>
              <a:t>Stage 3:  </a:t>
            </a:r>
            <a:r>
              <a:rPr sz="1150" b="0">
                <a:solidFill>
                  <a:srgbClr val="334155"/>
                </a:solidFill>
                <a:latin typeface="DM Sans"/>
              </a:rPr>
              <a:t>working strip + reader: OK → CHANGE live on a dressing, raw data logged.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descr="image.png" id="477" name="Google Shape;477;p30"/>
          <p:cNvPicPr preferRelativeResize="0"/>
          <p:nvPr/>
        </p:nvPicPr>
        <p:blipFill rotWithShape="1">
          <a:blip r:embed="rId6">
            <a:alphaModFix/>
          </a:blip>
          <a:srcRect b="0" l="0" r="0" t="0"/>
          <a:stretch/>
        </p:blipFill>
        <p:spPr>
          <a:xfrm>
            <a:off x="0" y="0"/>
            <a:ext cx="12192000" cy="6858000"/>
          </a:xfrm>
          <a:prstGeom prst="rect">
            <a:avLst/>
          </a:prstGeom>
          <a:noFill/>
          <a:ln>
            <a:noFill/>
          </a:ln>
        </p:spPr>
      </p:pic>
      <p:pic>
        <p:nvPicPr>
          <p:cNvPr descr="image.png" id="478" name="Google Shape;478;p30"/>
          <p:cNvPicPr preferRelativeResize="0"/>
          <p:nvPr/>
        </p:nvPicPr>
        <p:blipFill rotWithShape="1">
          <a:blip r:embed="rId7">
            <a:alphaModFix/>
          </a:blip>
          <a:srcRect b="0" l="0" r="0" t="0"/>
          <a:stretch/>
        </p:blipFill>
        <p:spPr>
          <a:xfrm>
            <a:off x="533400" y="5665754"/>
            <a:ext cx="11125200" cy="363140"/>
          </a:xfrm>
          <a:prstGeom prst="rect">
            <a:avLst/>
          </a:prstGeom>
          <a:noFill/>
          <a:ln>
            <a:noFill/>
          </a:ln>
        </p:spPr>
      </p:pic>
      <p:pic>
        <p:nvPicPr>
          <p:cNvPr descr="image.png" id="479" name="Google Shape;479;p30"/>
          <p:cNvPicPr preferRelativeResize="0"/>
          <p:nvPr/>
        </p:nvPicPr>
        <p:blipFill rotWithShape="1">
          <a:blip r:embed="rId9">
            <a:alphaModFix/>
          </a:blip>
          <a:srcRect b="0" l="0" r="0" t="0"/>
          <a:stretch/>
        </p:blipFill>
        <p:spPr>
          <a:xfrm>
            <a:off x="533400" y="956223"/>
            <a:ext cx="3568600" cy="2240280"/>
          </a:xfrm>
          <a:prstGeom prst="rect">
            <a:avLst/>
          </a:prstGeom>
          <a:noFill/>
          <a:ln>
            <a:noFill/>
          </a:ln>
        </p:spPr>
      </p:pic>
      <p:pic>
        <p:nvPicPr>
          <p:cNvPr descr="image.png" id="480" name="Google Shape;480;p30"/>
          <p:cNvPicPr preferRelativeResize="0"/>
          <p:nvPr/>
        </p:nvPicPr>
        <p:blipFill rotWithShape="1">
          <a:blip r:embed="rId10">
            <a:alphaModFix/>
          </a:blip>
          <a:srcRect b="0" l="0" r="0" t="0"/>
          <a:stretch/>
        </p:blipFill>
        <p:spPr>
          <a:xfrm>
            <a:off x="4311550" y="956223"/>
            <a:ext cx="3568749" cy="2240280"/>
          </a:xfrm>
          <a:prstGeom prst="rect">
            <a:avLst/>
          </a:prstGeom>
          <a:noFill/>
          <a:ln>
            <a:noFill/>
          </a:ln>
        </p:spPr>
      </p:pic>
      <p:pic>
        <p:nvPicPr>
          <p:cNvPr descr="image.png" id="481" name="Google Shape;481;p30"/>
          <p:cNvPicPr preferRelativeResize="0"/>
          <p:nvPr/>
        </p:nvPicPr>
        <p:blipFill rotWithShape="1">
          <a:blip r:embed="rId11">
            <a:alphaModFix/>
          </a:blip>
          <a:srcRect b="0" l="0" r="0" t="0"/>
          <a:stretch/>
        </p:blipFill>
        <p:spPr>
          <a:xfrm>
            <a:off x="8089850" y="956223"/>
            <a:ext cx="3568600" cy="2240280"/>
          </a:xfrm>
          <a:prstGeom prst="rect">
            <a:avLst/>
          </a:prstGeom>
          <a:noFill/>
          <a:ln>
            <a:noFill/>
          </a:ln>
        </p:spPr>
      </p:pic>
      <p:sp>
        <p:nvSpPr>
          <p:cNvPr id="482" name="Google Shape;482;p30"/>
          <p:cNvSpPr txBox="1"/>
          <p:nvPr/>
        </p:nvSpPr>
        <p:spPr>
          <a:xfrm>
            <a:off x="533400" y="438150"/>
            <a:ext cx="8595360" cy="308520"/>
          </a:xfrm>
          <a:prstGeom prst="rect">
            <a:avLst/>
          </a:prstGeom>
          <a:noFill/>
          <a:ln>
            <a:noFill/>
          </a:ln>
        </p:spPr>
        <p:txBody>
          <a:bodyPr anchorCtr="0" anchor="ctr" bIns="0" lIns="0" spcFirstLastPara="1" rIns="0" wrap="square" tIns="0">
            <a:spAutoFit/>
          </a:bodyPr>
          <a:lstStyle/>
          <a:p>
            <a:pPr indent="0" lvl="0" marL="0" marR="0" rtl="0" algn="l">
              <a:lnSpc>
                <a:spcPct val="119950"/>
              </a:lnSpc>
              <a:spcBef>
                <a:spcPts val="0"/>
              </a:spcBef>
              <a:spcAft>
                <a:spcPts val="0"/>
              </a:spcAft>
              <a:buNone/>
            </a:pPr>
            <a:r>
              <a:rPr sz="2025" b="0">
                <a:solidFill>
                  <a:srgbClr val="0F172A"/>
                </a:solidFill>
                <a:latin typeface="Poppins SemiBold"/>
              </a:rPr>
              <a:t>Potential Solutions &amp; Risk Mitigation</a:t>
            </a:r>
            <a:endParaRPr/>
          </a:p>
        </p:txBody>
      </p:sp>
      <p:sp>
        <p:nvSpPr>
          <p:cNvPr id="484" name="Google Shape;484;p30"/>
          <p:cNvSpPr txBox="1"/>
          <p:nvPr/>
        </p:nvSpPr>
        <p:spPr>
          <a:xfrm>
            <a:off x="723900" y="5761004"/>
            <a:ext cx="10698480" cy="329184"/>
          </a:xfrm>
          <a:prstGeom prst="rect">
            <a:avLst/>
          </a:prstGeom>
          <a:noFill/>
          <a:ln>
            <a:noFill/>
          </a:ln>
        </p:spPr>
        <p:txBody>
          <a:bodyPr anchorCtr="0" anchor="t" bIns="0" lIns="0" spcFirstLastPara="1" rIns="0" wrap="square" tIns="0">
            <a:spAutoFit/>
          </a:bodyPr>
          <a:lstStyle/>
          <a:p>
            <a:pPr indent="0" lvl="0" marL="0" marR="0" rtl="0" algn="l">
              <a:lnSpc>
                <a:spcPct val="145037"/>
              </a:lnSpc>
              <a:spcBef>
                <a:spcPts val="0"/>
              </a:spcBef>
              <a:spcAft>
                <a:spcPts val="0"/>
              </a:spcAft>
              <a:buNone/>
            </a:pPr>
            <a:r>
              <a:rPr sz="960" b="1">
                <a:solidFill>
                  <a:srgbClr val="0F172A"/>
                </a:solidFill>
                <a:latin typeface="DM Sans"/>
              </a:rPr>
              <a:t>Rule We Keep: </a:t>
            </a:r>
            <a:r>
              <a:rPr sz="960" b="0">
                <a:solidFill>
                  <a:srgbClr val="334155"/>
                </a:solidFill>
                <a:latin typeface="DM Sans"/>
              </a:rPr>
              <a:t>no performance, graphene or clinical claim until it is measured.</a:t>
            </a:r>
            <a:endParaRPr/>
          </a:p>
        </p:txBody>
      </p:sp>
      <p:pic>
        <p:nvPicPr>
          <p:cNvPr descr="image.png" id="492" name="Google Shape;492;p30"/>
          <p:cNvPicPr preferRelativeResize="0"/>
          <p:nvPr/>
        </p:nvPicPr>
        <p:blipFill rotWithShape="1">
          <a:blip r:embed="rId8">
            <a:alphaModFix/>
          </a:blip>
          <a:srcRect b="0" l="0" r="0" t="0"/>
          <a:stretch/>
        </p:blipFill>
        <p:spPr>
          <a:xfrm>
            <a:off x="752475" y="1175295"/>
            <a:ext cx="192434" cy="152400"/>
          </a:xfrm>
          <a:prstGeom prst="rect">
            <a:avLst/>
          </a:prstGeom>
          <a:noFill/>
          <a:ln>
            <a:noFill/>
          </a:ln>
        </p:spPr>
      </p:pic>
      <p:sp>
        <p:nvSpPr>
          <p:cNvPr id="493" name="Google Shape;493;p30"/>
          <p:cNvSpPr txBox="1"/>
          <p:nvPr/>
        </p:nvSpPr>
        <p:spPr>
          <a:xfrm>
            <a:off x="1040159" y="1156245"/>
            <a:ext cx="306324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00" b="1">
                <a:solidFill>
                  <a:srgbClr val="0F172A"/>
                </a:solidFill>
                <a:latin typeface="DM Sans"/>
              </a:rPr>
              <a:t>Fixed &amp; Verified</a:t>
            </a:r>
            <a:endParaRPr/>
          </a:p>
        </p:txBody>
      </p:sp>
      <p:pic>
        <p:nvPicPr>
          <p:cNvPr descr="image.png" id="494" name="Google Shape;494;p30"/>
          <p:cNvPicPr preferRelativeResize="0"/>
          <p:nvPr/>
        </p:nvPicPr>
        <p:blipFill rotWithShape="1">
          <a:blip r:embed="rId3">
            <a:alphaModFix/>
          </a:blip>
          <a:srcRect b="0" l="0" r="0" t="0"/>
          <a:stretch/>
        </p:blipFill>
        <p:spPr>
          <a:xfrm>
            <a:off x="4530625" y="1175295"/>
            <a:ext cx="173384" cy="152400"/>
          </a:xfrm>
          <a:prstGeom prst="rect">
            <a:avLst/>
          </a:prstGeom>
          <a:noFill/>
          <a:ln>
            <a:noFill/>
          </a:ln>
        </p:spPr>
      </p:pic>
      <p:sp>
        <p:nvSpPr>
          <p:cNvPr id="495" name="Google Shape;495;p30"/>
          <p:cNvSpPr txBox="1"/>
          <p:nvPr/>
        </p:nvSpPr>
        <p:spPr>
          <a:xfrm>
            <a:off x="4799260" y="1156245"/>
            <a:ext cx="306324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00" b="1">
                <a:solidFill>
                  <a:srgbClr val="0F172A"/>
                </a:solidFill>
                <a:latin typeface="DM Sans"/>
              </a:rPr>
              <a:t>Designed, to Prove</a:t>
            </a:r>
            <a:endParaRPr/>
          </a:p>
        </p:txBody>
      </p:sp>
      <p:pic>
        <p:nvPicPr>
          <p:cNvPr descr="image.png" id="496" name="Google Shape;496;p30"/>
          <p:cNvPicPr preferRelativeResize="0"/>
          <p:nvPr/>
        </p:nvPicPr>
        <p:blipFill rotWithShape="1">
          <a:blip r:embed="rId2">
            <a:alphaModFix/>
          </a:blip>
          <a:srcRect b="0" l="0" r="0" t="0"/>
          <a:stretch/>
        </p:blipFill>
        <p:spPr>
          <a:xfrm>
            <a:off x="8308925" y="1175295"/>
            <a:ext cx="154334" cy="152400"/>
          </a:xfrm>
          <a:prstGeom prst="rect">
            <a:avLst/>
          </a:prstGeom>
          <a:noFill/>
          <a:ln>
            <a:noFill/>
          </a:ln>
        </p:spPr>
      </p:pic>
      <p:sp>
        <p:nvSpPr>
          <p:cNvPr id="497" name="Google Shape;497;p30"/>
          <p:cNvSpPr txBox="1"/>
          <p:nvPr/>
        </p:nvSpPr>
        <p:spPr>
          <a:xfrm>
            <a:off x="8558510" y="1156245"/>
            <a:ext cx="3063240" cy="190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sz="1100" b="1">
                <a:solidFill>
                  <a:srgbClr val="0F172A"/>
                </a:solidFill>
                <a:latin typeface="DM Sans"/>
              </a:rPr>
              <a:t>Fallbacks</a:t>
            </a:r>
            <a:endParaRPr/>
          </a:p>
        </p:txBody>
      </p:sp>
      <p:pic>
        <p:nvPicPr>
          <p:cNvPr id="498" name="Google Shape;498;p30" title="MBF_Logo_2020.png"/>
          <p:cNvPicPr preferRelativeResize="0"/>
          <p:nvPr/>
        </p:nvPicPr>
        <p:blipFill>
          <a:blip r:embed="rId5">
            <a:alphaModFix/>
          </a:blip>
          <a:stretch>
            <a:fillRect/>
          </a:stretch>
        </p:blipFill>
        <p:spPr>
          <a:xfrm>
            <a:off x="11095194" y="6280800"/>
            <a:ext cx="1096806" cy="577200"/>
          </a:xfrm>
          <a:prstGeom prst="rect">
            <a:avLst/>
          </a:prstGeom>
          <a:noFill/>
          <a:ln>
            <a:noFill/>
          </a:ln>
        </p:spPr>
      </p:pic>
      <p:pic>
        <p:nvPicPr>
          <p:cNvPr id="499" name="Google Shape;499;p30" title="VK colored transparent logo.png"/>
          <p:cNvPicPr preferRelativeResize="0"/>
          <p:nvPr/>
        </p:nvPicPr>
        <p:blipFill rotWithShape="1">
          <a:blip r:embed="rId4">
            <a:alphaModFix/>
          </a:blip>
          <a:srcRect b="44466" l="14673" r="15820" t="33074"/>
          <a:stretch/>
        </p:blipFill>
        <p:spPr>
          <a:xfrm>
            <a:off x="0" y="6280800"/>
            <a:ext cx="1786280" cy="577200"/>
          </a:xfrm>
          <a:prstGeom prst="rect">
            <a:avLst/>
          </a:prstGeom>
          <a:noFill/>
          <a:ln>
            <a:noFill/>
          </a:ln>
        </p:spPr>
      </p:pic>
      <p:sp>
        <p:nvSpPr>
          <p:cNvPr id="500" name="Rounded Rectangle 499"/>
          <p:cNvSpPr/>
          <p:nvPr/>
        </p:nvSpPr>
        <p:spPr>
          <a:xfrm>
            <a:off x="9829800" y="457200"/>
            <a:ext cx="1828800" cy="24688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50" b="1">
                <a:solidFill>
                  <a:srgbClr val="475569"/>
                </a:solidFill>
                <a:latin typeface="DM Sans"/>
              </a:rPr>
              <a:t>FIXED · DESIGNED · FUTURE</a:t>
            </a:r>
          </a:p>
        </p:txBody>
      </p:sp>
      <p:sp>
        <p:nvSpPr>
          <p:cNvPr id="501" name="TextBox 500"/>
          <p:cNvSpPr txBox="1"/>
          <p:nvPr/>
        </p:nvSpPr>
        <p:spPr>
          <a:xfrm>
            <a:off x="749808" y="1517904"/>
            <a:ext cx="3154680" cy="1636776"/>
          </a:xfrm>
          <a:prstGeom prst="rect">
            <a:avLst/>
          </a:prstGeom>
          <a:noFill/>
        </p:spPr>
        <p:txBody>
          <a:bodyPr wrap="square" lIns="18288" rIns="18288" tIns="9144" bIns="9144" anchor="t"/>
          <a:lstStyle/>
          <a:p>
            <a:pPr>
              <a:lnSpc>
                <a:spcPct val="108000"/>
              </a:lnSpc>
              <a:spcAft>
                <a:spcPts val="900"/>
              </a:spcAft>
            </a:pPr>
            <a:r>
              <a:rPr sz="1100" b="1">
                <a:solidFill>
                  <a:srgbClr val="0F172A"/>
                </a:solidFill>
                <a:latin typeface="DM Sans"/>
              </a:rPr>
              <a:t>Seal: </a:t>
            </a:r>
            <a:r>
              <a:rPr sz="1100" b="0">
                <a:solidFill>
                  <a:srgbClr val="334155"/>
                </a:solidFill>
                <a:latin typeface="DM Sans"/>
              </a:rPr>
              <a:t>starts at x = 23 mm; 0 clash.</a:t>
            </a:r>
          </a:p>
          <a:p>
            <a:pPr>
              <a:lnSpc>
                <a:spcPct val="108000"/>
              </a:lnSpc>
              <a:spcAft>
                <a:spcPts val="900"/>
              </a:spcAft>
            </a:pPr>
            <a:r>
              <a:rPr sz="1100" b="1">
                <a:solidFill>
                  <a:srgbClr val="0F172A"/>
                </a:solidFill>
                <a:latin typeface="DM Sans"/>
              </a:rPr>
              <a:t>Units: </a:t>
            </a:r>
            <a:r>
              <a:rPr sz="1100" b="0">
                <a:solidFill>
                  <a:srgbClr val="334155"/>
                </a:solidFill>
                <a:latin typeface="DM Sans"/>
              </a:rPr>
              <a:t>all STEP files in mm.</a:t>
            </a:r>
          </a:p>
          <a:p>
            <a:pPr>
              <a:lnSpc>
                <a:spcPct val="108000"/>
              </a:lnSpc>
              <a:spcAft>
                <a:spcPts val="900"/>
              </a:spcAft>
            </a:pPr>
            <a:r>
              <a:rPr sz="1100" b="1">
                <a:solidFill>
                  <a:srgbClr val="0F172A"/>
                </a:solidFill>
                <a:latin typeface="DM Sans"/>
              </a:rPr>
              <a:t>Checks: </a:t>
            </a:r>
            <a:r>
              <a:rPr sz="1100" b="0">
                <a:solidFill>
                  <a:srgbClr val="334155"/>
                </a:solidFill>
                <a:latin typeface="DM Sans"/>
              </a:rPr>
              <a:t>99 CAD checks pass.</a:t>
            </a:r>
          </a:p>
        </p:txBody>
      </p:sp>
      <p:sp>
        <p:nvSpPr>
          <p:cNvPr id="502" name="TextBox 501"/>
          <p:cNvSpPr txBox="1"/>
          <p:nvPr/>
        </p:nvSpPr>
        <p:spPr>
          <a:xfrm>
            <a:off x="4526280" y="1517904"/>
            <a:ext cx="3154680" cy="1636776"/>
          </a:xfrm>
          <a:prstGeom prst="rect">
            <a:avLst/>
          </a:prstGeom>
          <a:noFill/>
        </p:spPr>
        <p:txBody>
          <a:bodyPr wrap="square" lIns="18288" rIns="18288" tIns="9144" bIns="9144" anchor="t"/>
          <a:lstStyle/>
          <a:p>
            <a:pPr>
              <a:lnSpc>
                <a:spcPct val="108000"/>
              </a:lnSpc>
              <a:spcAft>
                <a:spcPts val="900"/>
              </a:spcAft>
            </a:pPr>
            <a:r>
              <a:rPr sz="1100" b="1">
                <a:solidFill>
                  <a:srgbClr val="0F172A"/>
                </a:solidFill>
                <a:latin typeface="DM Sans"/>
              </a:rPr>
              <a:t>v0.2 strip: </a:t>
            </a:r>
            <a:r>
              <a:rPr sz="1100" b="0">
                <a:solidFill>
                  <a:srgbClr val="334155"/>
                </a:solidFill>
                <a:latin typeface="DM Sans"/>
              </a:rPr>
              <a:t>every sense lead looped.</a:t>
            </a:r>
          </a:p>
          <a:p>
            <a:pPr>
              <a:lnSpc>
                <a:spcPct val="108000"/>
              </a:lnSpc>
              <a:spcAft>
                <a:spcPts val="900"/>
              </a:spcAft>
            </a:pPr>
            <a:r>
              <a:rPr sz="1100" b="1">
                <a:solidFill>
                  <a:srgbClr val="0F172A"/>
                </a:solidFill>
                <a:latin typeface="DM Sans"/>
              </a:rPr>
              <a:t>Contact: </a:t>
            </a:r>
            <a:r>
              <a:rPr sz="1100" b="0">
                <a:solidFill>
                  <a:srgbClr val="334155"/>
                </a:solidFill>
                <a:latin typeface="DM Sans"/>
              </a:rPr>
              <a:t>silver pads, rounded pins.</a:t>
            </a:r>
          </a:p>
          <a:p>
            <a:pPr>
              <a:lnSpc>
                <a:spcPct val="108000"/>
              </a:lnSpc>
              <a:spcAft>
                <a:spcPts val="900"/>
              </a:spcAft>
            </a:pPr>
            <a:r>
              <a:rPr sz="1100" b="1">
                <a:solidFill>
                  <a:srgbClr val="0F172A"/>
                </a:solidFill>
                <a:latin typeface="DM Sans"/>
              </a:rPr>
              <a:t>Self-test: </a:t>
            </a:r>
            <a:r>
              <a:rPr sz="1100" b="0">
                <a:solidFill>
                  <a:srgbClr val="334155"/>
                </a:solidFill>
                <a:latin typeface="DM Sans"/>
              </a:rPr>
              <a:t>check resistor → FAULT.</a:t>
            </a:r>
          </a:p>
        </p:txBody>
      </p:sp>
      <p:sp>
        <p:nvSpPr>
          <p:cNvPr id="503" name="TextBox 502"/>
          <p:cNvSpPr txBox="1"/>
          <p:nvPr/>
        </p:nvSpPr>
        <p:spPr>
          <a:xfrm>
            <a:off x="8311896" y="1517904"/>
            <a:ext cx="3154680" cy="1636776"/>
          </a:xfrm>
          <a:prstGeom prst="rect">
            <a:avLst/>
          </a:prstGeom>
          <a:noFill/>
        </p:spPr>
        <p:txBody>
          <a:bodyPr wrap="square" lIns="18288" rIns="18288" tIns="9144" bIns="9144" anchor="t"/>
          <a:lstStyle/>
          <a:p>
            <a:pPr>
              <a:lnSpc>
                <a:spcPct val="108000"/>
              </a:lnSpc>
              <a:spcAft>
                <a:spcPts val="900"/>
              </a:spcAft>
            </a:pPr>
            <a:r>
              <a:rPr sz="1100" b="1">
                <a:solidFill>
                  <a:srgbClr val="0F172A"/>
                </a:solidFill>
                <a:latin typeface="DM Sans"/>
              </a:rPr>
              <a:t>Wider lines: </a:t>
            </a:r>
            <a:r>
              <a:rPr sz="1100" b="0">
                <a:solidFill>
                  <a:srgbClr val="334155"/>
                </a:solidFill>
                <a:latin typeface="DM Sans"/>
              </a:rPr>
              <a:t>if E2 says so.</a:t>
            </a:r>
          </a:p>
          <a:p>
            <a:pPr>
              <a:lnSpc>
                <a:spcPct val="108000"/>
              </a:lnSpc>
              <a:spcAft>
                <a:spcPts val="900"/>
              </a:spcAft>
            </a:pPr>
            <a:r>
              <a:rPr sz="1100" b="1">
                <a:solidFill>
                  <a:srgbClr val="0F172A"/>
                </a:solidFill>
                <a:latin typeface="DM Sans"/>
              </a:rPr>
              <a:t>Process: </a:t>
            </a:r>
            <a:r>
              <a:rPr sz="1100" b="0">
                <a:solidFill>
                  <a:srgbClr val="334155"/>
                </a:solidFill>
                <a:latin typeface="DM Sans"/>
              </a:rPr>
              <a:t>slower passes, log current.</a:t>
            </a:r>
          </a:p>
          <a:p>
            <a:pPr>
              <a:lnSpc>
                <a:spcPct val="108000"/>
              </a:lnSpc>
              <a:spcAft>
                <a:spcPts val="900"/>
              </a:spcAft>
            </a:pPr>
            <a:r>
              <a:rPr sz="1100" b="1">
                <a:solidFill>
                  <a:srgbClr val="0F172A"/>
                </a:solidFill>
                <a:latin typeface="DM Sans"/>
              </a:rPr>
              <a:t>Concept: </a:t>
            </a:r>
            <a:r>
              <a:rPr sz="1100" b="0">
                <a:solidFill>
                  <a:srgbClr val="334155"/>
                </a:solidFill>
                <a:latin typeface="DM Sans"/>
              </a:rPr>
              <a:t>one-zone strip (score 4.29).</a:t>
            </a:r>
          </a:p>
        </p:txBody>
      </p:sp>
      <p:sp>
        <p:nvSpPr>
          <p:cNvPr id="504" name="Rounded Rectangle 503"/>
          <p:cNvSpPr/>
          <p:nvPr/>
        </p:nvSpPr>
        <p:spPr>
          <a:xfrm>
            <a:off x="530352" y="3364992"/>
            <a:ext cx="11128248" cy="2176272"/>
          </a:xfrm>
          <a:prstGeom prst="roundRect">
            <a:avLst>
              <a:gd name="adj" fmla="val 6000"/>
            </a:avLst>
          </a:prstGeom>
          <a:solidFill>
            <a:srgbClr val="F8FAFC"/>
          </a:solidFill>
          <a:ln>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TextBox 504"/>
          <p:cNvSpPr txBox="1"/>
          <p:nvPr/>
        </p:nvSpPr>
        <p:spPr>
          <a:xfrm>
            <a:off x="749808" y="3474720"/>
            <a:ext cx="10698480" cy="274320"/>
          </a:xfrm>
          <a:prstGeom prst="rect">
            <a:avLst/>
          </a:prstGeom>
          <a:noFill/>
        </p:spPr>
        <p:txBody>
          <a:bodyPr wrap="square" lIns="18288" rIns="18288" tIns="9144" bIns="9144" anchor="t"/>
          <a:lstStyle/>
          <a:p>
            <a:pPr>
              <a:lnSpc>
                <a:spcPct val="108000"/>
              </a:lnSpc>
              <a:spcAft>
                <a:spcPts val="400"/>
              </a:spcAft>
            </a:pPr>
            <a:r>
              <a:rPr sz="1150" b="1">
                <a:solidFill>
                  <a:srgbClr val="0F172A"/>
                </a:solidFill>
                <a:latin typeface="DM Sans"/>
              </a:rPr>
              <a:t>Future Scope &amp; Validation Plan</a:t>
            </a:r>
          </a:p>
        </p:txBody>
      </p:sp>
      <p:sp>
        <p:nvSpPr>
          <p:cNvPr id="506" name="TextBox 505"/>
          <p:cNvSpPr txBox="1"/>
          <p:nvPr/>
        </p:nvSpPr>
        <p:spPr>
          <a:xfrm>
            <a:off x="749808" y="3886200"/>
            <a:ext cx="5257800" cy="1554480"/>
          </a:xfrm>
          <a:prstGeom prst="rect">
            <a:avLst/>
          </a:prstGeom>
          <a:noFill/>
        </p:spPr>
        <p:txBody>
          <a:bodyPr wrap="square" lIns="18288" rIns="18288" tIns="9144" bIns="9144" anchor="t"/>
          <a:lstStyle/>
          <a:p>
            <a:pPr>
              <a:lnSpc>
                <a:spcPct val="108000"/>
              </a:lnSpc>
              <a:spcAft>
                <a:spcPts val="800"/>
              </a:spcAft>
            </a:pPr>
            <a:r>
              <a:rPr sz="1100" b="0">
                <a:solidFill>
                  <a:srgbClr val="059669"/>
                </a:solidFill>
                <a:latin typeface="DM Sans"/>
              </a:rPr>
              <a:t>▪  </a:t>
            </a:r>
            <a:r>
              <a:rPr sz="1100" b="1">
                <a:solidFill>
                  <a:srgbClr val="0F172A"/>
                </a:solidFill>
                <a:latin typeface="DM Sans"/>
              </a:rPr>
              <a:t>Experiments:  </a:t>
            </a:r>
            <a:r>
              <a:rPr sz="1100" b="0">
                <a:solidFill>
                  <a:srgbClr val="334155"/>
                </a:solidFill>
                <a:latin typeface="DM Sans"/>
              </a:rPr>
              <a:t>E2 laser, reader bench test, E4 wet tests.</a:t>
            </a:r>
          </a:p>
          <a:p>
            <a:pPr>
              <a:lnSpc>
                <a:spcPct val="108000"/>
              </a:lnSpc>
              <a:spcAft>
                <a:spcPts val="800"/>
              </a:spcAft>
            </a:pPr>
            <a:r>
              <a:rPr sz="1100" b="0">
                <a:solidFill>
                  <a:srgbClr val="059669"/>
                </a:solidFill>
                <a:latin typeface="DM Sans"/>
              </a:rPr>
              <a:t>▪  </a:t>
            </a:r>
            <a:r>
              <a:rPr sz="1100" b="1">
                <a:solidFill>
                  <a:srgbClr val="0F172A"/>
                </a:solidFill>
                <a:latin typeface="DM Sans"/>
              </a:rPr>
              <a:t>Material:  </a:t>
            </a:r>
            <a:r>
              <a:rPr sz="1100" b="0">
                <a:solidFill>
                  <a:srgbClr val="334155"/>
                </a:solidFill>
                <a:latin typeface="DM Sans"/>
              </a:rPr>
              <a:t>Raman and SEM before any 'graphene' claim.</a:t>
            </a:r>
          </a:p>
          <a:p>
            <a:pPr>
              <a:lnSpc>
                <a:spcPct val="108000"/>
              </a:lnSpc>
              <a:spcAft>
                <a:spcPts val="800"/>
              </a:spcAft>
            </a:pPr>
            <a:r>
              <a:rPr sz="1100" b="0">
                <a:solidFill>
                  <a:srgbClr val="059669"/>
                </a:solidFill>
                <a:latin typeface="DM Sans"/>
              </a:rPr>
              <a:t>▪  </a:t>
            </a:r>
            <a:r>
              <a:rPr sz="1100" b="1">
                <a:solidFill>
                  <a:srgbClr val="0F172A"/>
                </a:solidFill>
                <a:latin typeface="DM Sans"/>
              </a:rPr>
              <a:t>Reliability:  </a:t>
            </a:r>
            <a:r>
              <a:rPr sz="1100" b="0">
                <a:solidFill>
                  <a:srgbClr val="334155"/>
                </a:solidFill>
                <a:latin typeface="DM Sans"/>
              </a:rPr>
              <a:t>bending, contact cycling, humidity drift.</a:t>
            </a:r>
          </a:p>
        </p:txBody>
      </p:sp>
      <p:sp>
        <p:nvSpPr>
          <p:cNvPr id="507" name="TextBox 506"/>
          <p:cNvSpPr txBox="1"/>
          <p:nvPr/>
        </p:nvSpPr>
        <p:spPr>
          <a:xfrm>
            <a:off x="6263640" y="3886200"/>
            <a:ext cx="5257800" cy="1554480"/>
          </a:xfrm>
          <a:prstGeom prst="rect">
            <a:avLst/>
          </a:prstGeom>
          <a:noFill/>
        </p:spPr>
        <p:txBody>
          <a:bodyPr wrap="square" lIns="18288" rIns="18288" tIns="9144" bIns="9144" anchor="t"/>
          <a:lstStyle/>
          <a:p>
            <a:pPr>
              <a:lnSpc>
                <a:spcPct val="108000"/>
              </a:lnSpc>
              <a:spcAft>
                <a:spcPts val="800"/>
              </a:spcAft>
            </a:pPr>
            <a:r>
              <a:rPr sz="1100" b="0">
                <a:solidFill>
                  <a:srgbClr val="059669"/>
                </a:solidFill>
                <a:latin typeface="DM Sans"/>
              </a:rPr>
              <a:t>▪  </a:t>
            </a:r>
            <a:r>
              <a:rPr sz="1100" b="1">
                <a:solidFill>
                  <a:srgbClr val="0F172A"/>
                </a:solidFill>
                <a:latin typeface="DM Sans"/>
              </a:rPr>
              <a:t>Product:  </a:t>
            </a:r>
            <a:r>
              <a:rPr sz="1100" b="0">
                <a:solidFill>
                  <a:srgbClr val="334155"/>
                </a:solidFill>
                <a:latin typeface="DM Sans"/>
              </a:rPr>
              <a:t>battery pod; phone app on the BLE broadcast; strips per dressing.</a:t>
            </a:r>
          </a:p>
          <a:p>
            <a:pPr>
              <a:lnSpc>
                <a:spcPct val="108000"/>
              </a:lnSpc>
              <a:spcAft>
                <a:spcPts val="800"/>
              </a:spcAft>
            </a:pPr>
            <a:r>
              <a:rPr sz="1100" b="0">
                <a:solidFill>
                  <a:srgbClr val="059669"/>
                </a:solidFill>
                <a:latin typeface="DM Sans"/>
              </a:rPr>
              <a:t>▪  </a:t>
            </a:r>
            <a:r>
              <a:rPr sz="1100" b="1">
                <a:solidFill>
                  <a:srgbClr val="0F172A"/>
                </a:solidFill>
                <a:latin typeface="DM Sans"/>
              </a:rPr>
              <a:t>Before patients:  </a:t>
            </a:r>
            <a:r>
              <a:rPr sz="1100" b="0">
                <a:solidFill>
                  <a:srgbClr val="334155"/>
                </a:solidFill>
                <a:latin typeface="DM Sans"/>
              </a:rPr>
              <a:t>ISO 10993, IEC 60601-1, ethics approval.</a:t>
            </a:r>
          </a:p>
          <a:p>
            <a:pPr>
              <a:lnSpc>
                <a:spcPct val="108000"/>
              </a:lnSpc>
              <a:spcAft>
                <a:spcPts val="800"/>
              </a:spcAft>
            </a:pPr>
            <a:r>
              <a:rPr sz="1100" b="0">
                <a:solidFill>
                  <a:srgbClr val="059669"/>
                </a:solidFill>
                <a:latin typeface="DM Sans"/>
              </a:rPr>
              <a:t>▪  </a:t>
            </a:r>
            <a:r>
              <a:rPr sz="1100" b="1">
                <a:solidFill>
                  <a:srgbClr val="0F172A"/>
                </a:solidFill>
                <a:latin typeface="DM Sans"/>
              </a:rPr>
              <a:t>Not claimed:  </a:t>
            </a:r>
            <a:r>
              <a:rPr sz="1100" b="0">
                <a:solidFill>
                  <a:srgbClr val="334155"/>
                </a:solidFill>
                <a:latin typeface="DM Sans"/>
              </a:rPr>
              <a:t>sensing performance, graphene, clinical benefit.</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