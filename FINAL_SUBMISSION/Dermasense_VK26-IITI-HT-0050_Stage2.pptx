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Bold" charset="1" panose="00000800000000000000"/>
      <p:regular r:id="rId28"/>
    </p:embeddedFont>
    <p:embeddedFont>
      <p:font typeface="Poppins" charset="1" panose="00000500000000000000"/>
      <p:regular r:id="rId29"/>
    </p:embeddedFont>
    <p:embeddedFont>
      <p:font typeface="DM Sans Bold" charset="1" panose="00000000000000000000"/>
      <p:regular r:id="rId31"/>
    </p:embeddedFont>
    <p:embeddedFont>
      <p:font typeface="DM Sans" charset="1" panose="00000000000000000000"/>
      <p:regular r:id="rId32"/>
    </p:embeddedFont>
    <p:embeddedFont>
      <p:font typeface="Arial Bold" charset="1" panose="020B070402020202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theme" Target="theme/theme2.xml"/><Relationship Id="rId27" Type="http://schemas.openxmlformats.org/officeDocument/2006/relationships/notesSlide" Target="notesSlides/notesSlide1.xml"/><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notesSlide" Target="notesSlides/notesSlide2.xml"/><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notesSlide" Target="notesSlides/notesSlide3.xml"/><Relationship Id="rId34" Type="http://schemas.openxmlformats.org/officeDocument/2006/relationships/font" Target="fonts/font34.fntdata"/><Relationship Id="rId35" Type="http://schemas.openxmlformats.org/officeDocument/2006/relationships/notesSlide" Target="notesSlides/notesSlide4.xml"/><Relationship Id="rId36" Type="http://schemas.openxmlformats.org/officeDocument/2006/relationships/notesSlide" Target="notesSlides/notesSlide5.xml"/><Relationship Id="rId37" Type="http://schemas.openxmlformats.org/officeDocument/2006/relationships/notesSlide" Target="notesSlides/notesSlide6.xml"/><Relationship Id="rId38" Type="http://schemas.openxmlformats.org/officeDocument/2006/relationships/notesSlide" Target="notesSlides/notesSlide7.xml"/><Relationship Id="rId39" Type="http://schemas.openxmlformats.org/officeDocument/2006/relationships/notesSlide" Target="notesSlides/notesSlide8.xml"/><Relationship Id="rId40" Type="http://schemas.openxmlformats.org/officeDocument/2006/relationships/notesSlide" Target="notesSlides/notesSlide9.xml"/><Relationship Id="rId41" Type="http://schemas.openxmlformats.org/officeDocument/2006/relationships/notesSlide" Target="notesSlides/notesSlide10.xml"/><Relationship Id="rId42" Type="http://schemas.openxmlformats.org/officeDocument/2006/relationships/notesSlide" Target="notesSlides/notesSlide11.xml"/><Relationship Id="rId43" Type="http://schemas.openxmlformats.org/officeDocument/2006/relationships/notesSlide" Target="notesSlides/notesSlide12.xml"/><Relationship Id="rId44" Type="http://schemas.openxmlformats.org/officeDocument/2006/relationships/notesSlide" Target="notesSlides/notesSlide13.xml"/><Relationship Id="rId45" Type="http://schemas.openxmlformats.org/officeDocument/2006/relationships/notesSlide" Target="notesSlides/notesSlide14.xml"/><Relationship Id="rId46" Type="http://schemas.openxmlformats.org/officeDocument/2006/relationships/notesSlide" Target="notesSlides/notesSlide15.xml"/><Relationship Id="rId47" Type="http://schemas.openxmlformats.org/officeDocument/2006/relationships/notesSlide" Target="notesSlides/notesSlide16.xml"/><Relationship Id="rId48" Type="http://schemas.openxmlformats.org/officeDocument/2006/relationships/notesSlide" Target="notesSlides/notesSlide17.xml"/><Relationship Id="rId49" Type="http://schemas.openxmlformats.org/officeDocument/2006/relationships/notesSlide" Target="notesSlides/notesSlide18.xml"/><Relationship Id="rId50" Type="http://schemas.openxmlformats.org/officeDocument/2006/relationships/notesSlide" Target="notesSlides/not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Template page 1 asks only for the Vishwakarma Application ID; team names added. Project title, track and core innovation are in the Project Overview bar on slide 2 (as in the template's example page 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Milne 2016 [1]: 264 of 588 changes at optimal moisture (WoundSense spot readings). Change rules: some foam dressings ~2 cm from the pad edge [2]; ALLEVYN LIFE 'At 75%, it's time to change' [14]. Exudate 0.10-1.3 g/cm2/day by two methods [6]. Template page 2: Project Overview + Problem Statement.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Ticks are our reading of each source: WoundSense readings in Milne 2016 [1] were spot checks at dressing change; Jiang 2022 [5] is a mouse-model closed-loop bandage; diaper patents [4] use a strip plus clip-on detector; ALLEVYN LIFE [14] has a visual change indicator. Source: 2_research/research_gap.md.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WHO: Gupta 2004 [16] 31 chronic wounds in 6,917 people (4.5/1,000); Sharma 2024 [17] 19 in 10,003 (1.9/1,000), diabetic foot ulcers 36.8 % of them; ICMR-INDIAB [18] 101 million (11.4 %); Armstrong 2017 [19] 19-34 % lifetime (review estimate; upper bound contested); Price 2008 [20] 790 of 2,018 patients. Persona is illustrative, built from these data; not a real patient or interview. Quantified: Mölnlycke survey [13], Milne [1], Truemeds [15].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Targets and projections, not results. 'Up to 44.9 %' assumes every change waits for CHANGE; some changes have other clinical reasons. Payback: strip &lt;= Rs 100 (estimate) / dressing Rs 242-514 [15] = 0.19-0.41. Bluetooth: compiled and tested in software only (bench test T11 pending); no phone app yet.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Electrode lines/gaps 1.0 mm (provisional until E2). Windows 6 x 3.9 mm. Expected wet 4.2-14.8 kOhm, dry &gt;= 1 MOhm (calc_readout.py). Self-check: 100 kOhm 0.1 % resistor (+/-5 %) and COM loop -&gt; FAULT. BLE: one 13-byte advertisement per scan (ble_beacon.h), compiled, not run on hardware. Sources: config.h, strip_v0_1_geometry.json.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ADS1115 single-shot 128 SPS, auto-range; A1 reads the 3V3 rail. Rx from both phases, averaged, scaled by the check resistor (+/-5 % else FAULT), minus 2 kOhm protection. Idle pins high-Z; zones frozen during FAULT. Compiles for ESP32-C3 with 0 warnings (650,349 bytes, 49 % of flash, with Bluetooth). BLE payload: state, wet flags, scan number, both zone resistances; unencrypted, test company ID 0xFFFF, bench only. Decoder: 7_firmware/tools/decode_beacon.py.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Hand calculations: 5_cad/calc_mechanical_report.md (pin rate 0.49 N/mm from the P75-B1 listing; 1.48 mm compression; lid 4.0 mm PETG, span 35.7 mm, simply supported; tolerance stack worst case 0.49 mm, RSS 0.25 mm; t/2R strain; 10 N tug at the dowels). No FEA: loads are under 3 N, so stresses are far below PETG limits; SolidWorks Simulation is available if the judges want plots. CAD checks: 5_cad/verify_cad_report.md.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Graphene not confirmed until Raman. Machine (LaserCAD config): 1200 x 900 mm bed, 20 kHz PWM, 98 % cap. Logged per layer: min/max power, speed, 0.1 mm interval, passes, scan direction, focus, tube current. E2 = 4 bracket coupons (power 10/12/14, speed x0.67/1/1.5) + 3 resolution coupons.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pin map: 7_firmware/WIRING.md (generated from the netlist). I2C on GPIO6/7 (ADS1115 0x48); A1 = 3V3 rail; LEDs on GPIO0/1/21; strapping pins GPIO2/8/9 unused.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Line items: 6_electronics/bom_v0_1.csv (23 lines, each traced to the file that needs it). First order: silver paint, 1 % resistor set, 0.1 % 100 kOhm resistors, ADS1115, ESP32-C3. Quoted 19 Oct 2026 incl. GST: Probots PRO4607 ESP32-C3 SuperMini Rs 242; Probots PRO789 ADS1115 Rs 125; Hubtronics 05880 P75-B1 pack of 100 Rs 354. Total leaves out the borrowed meter, USB cable and E4 dressings. Ranges = sum of min/max estimates.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TO DO: replace the two photo placeholders (right-click &gt; Change Picture, or put team.jpg and lab1.jpg in Stage2_Review_Output_2026-10-20/team_photos/ and rebuild), and the roles. Template page 11: lab photos of team members with institutional ID badges; joint photo with a faculty mentor only if one is attached. Every commit since 14 Oct carries a Co-Authored-By: Claude line.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concepts scored on 13 weighted criteria (3_decisions/decision_matrix.md). Verification fixes: seal moved off the clamp; STEP was in cm, now mm; drawings rebuilt first-angle. FMEA F04 (cracked sense lead reads dry, RPN 224). 4 zones were cut to 2 until E2 proves finer lines. Stage 1 also estimated '60 % fewer changes'; we dropped that number (no source). IP: concept and files are the team's own; no patent filed yet.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FMEA: 3_decisions/fmea_v0_1.md (15 modes). Laser safety: signed checklist each session (4_sensor_strip/e2_experiment/E2_safety_checklist.md). Bench test T8 checks average DC &lt; 5 mV.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Gates: G1 E2 Rs CV &lt;= 20 %; G2 reader bench test T0-T11; G3 E4 alert within +/-10 %; G4 live demo with logged raw data. Programme dates (vishwakarma-awards.org and the Internshala listing, read 19 Oct 2026): prototype video + updated PPT in December (listing: 4 Dec 2026); Health Tech semi-final interviews in January; IIT Indore bootcamp and finale 26 Jan - 1 Feb 2027. No patient use. Raman/SEM via a partner lab if access is granted.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5_cad/verify_cad_report.md (interference), 3_decisions/fmea_v0_1.md, 4_sensor_strip/machine_record.md.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Future scope details: 4_sensor_strip/e2_experiment/E2_measurements_and_unknowns.md.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list: 2_research/literature.csv and research_matrix.csv (41 + 16 entries); refs 16-20 added 20 Oct (Stage2_Review_Output_2026-10-20/new_sources.csv).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Generators: 1_presentation/render_cad.py and make_figures.py. Photos: 1_presentation/team_photos/.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3.png"/><Relationship Id="rId12" Type="http://schemas.openxmlformats.org/officeDocument/2006/relationships/image" Target="../media/image4.png"/><Relationship Id="rId1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4.jpe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4.jpeg"/><Relationship Id="rId11" Type="http://schemas.openxmlformats.org/officeDocument/2006/relationships/image" Target="../media/image12.png"/><Relationship Id="rId12" Type="http://schemas.openxmlformats.org/officeDocument/2006/relationships/image" Target="../media/image3.png"/><Relationship Id="rId1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4.jpeg"/><Relationship Id="rId11" Type="http://schemas.openxmlformats.org/officeDocument/2006/relationships/image" Target="../media/image12.png"/><Relationship Id="rId12" Type="http://schemas.openxmlformats.org/officeDocument/2006/relationships/image" Target="../media/image3.png"/><Relationship Id="rId1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17.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19.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19.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19.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23.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23.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26.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7.png"/><Relationship Id="rId12" Type="http://schemas.openxmlformats.org/officeDocument/2006/relationships/image" Target="../media/image28.jpeg"/><Relationship Id="rId13" Type="http://schemas.openxmlformats.org/officeDocument/2006/relationships/hyperlink" Target="https://github.com/soham0777/dermasense-vishwakarma-2026" TargetMode="External"/><Relationship Id="rId14" Type="http://schemas.openxmlformats.org/officeDocument/2006/relationships/image" Target="../media/image46.jpg"/><Relationship Id="rId15" Type="http://schemas.openxmlformats.org/officeDocument/2006/relationships/image" Target="../media/image4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jpeg"/><Relationship Id="rId8" Type="http://schemas.openxmlformats.org/officeDocument/2006/relationships/image" Target="../media/image26.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14.jpe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png"/><Relationship Id="rId12" Type="http://schemas.openxmlformats.org/officeDocument/2006/relationships/image" Target="../media/image4.png"/><Relationship Id="rId13"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14.jpe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png"/><Relationship Id="rId12" Type="http://schemas.openxmlformats.org/officeDocument/2006/relationships/image" Target="../media/image4.png"/><Relationship Id="rId13"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14.jpe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14.jpe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3.png"/><Relationship Id="rId1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5.png"/><Relationship Id="rId4" Type="http://schemas.openxmlformats.org/officeDocument/2006/relationships/image" Target="../media/image14.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18.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7.png"/><Relationship Id="rId15" Type="http://schemas.openxmlformats.org/officeDocument/2006/relationships/image" Target="../media/image29.png"/><Relationship Id="rId16" Type="http://schemas.openxmlformats.org/officeDocument/2006/relationships/image" Target="../media/image36.png"/><Relationship Id="rId17" Type="http://schemas.openxmlformats.org/officeDocument/2006/relationships/image" Target="../media/image37.png"/><Relationship Id="rId18" Type="http://schemas.openxmlformats.org/officeDocument/2006/relationships/image" Target="../media/image44.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sp>
        <p:nvSpPr>
          <p:cNvPr name="TextBox 4" id="4"/>
          <p:cNvSpPr txBox="true"/>
          <p:nvPr/>
        </p:nvSpPr>
        <p:spPr>
          <a:xfrm rot="0">
            <a:off x="6772611" y="4726305"/>
            <a:ext cx="4742855" cy="904875"/>
          </a:xfrm>
          <a:prstGeom prst="rect">
            <a:avLst/>
          </a:prstGeom>
        </p:spPr>
        <p:txBody>
          <a:bodyPr anchor="t" rtlCol="false" tIns="0" lIns="0" bIns="0" rIns="0">
            <a:spAutoFit/>
          </a:bodyPr>
          <a:lstStyle/>
          <a:p>
            <a:pPr algn="ctr" marL="0" indent="0" lvl="0">
              <a:lnSpc>
                <a:spcPts val="6750"/>
              </a:lnSpc>
              <a:spcBef>
                <a:spcPct val="0"/>
              </a:spcBef>
            </a:pPr>
            <a:r>
              <a:rPr lang="en-US" b="true" sz="5625" strike="noStrike" u="none">
                <a:solidFill>
                  <a:srgbClr val="0F172A"/>
                </a:solidFill>
                <a:latin typeface="Poppins Bold"/>
                <a:ea typeface="Poppins Bold"/>
                <a:cs typeface="Poppins Bold"/>
                <a:sym typeface="Poppins Bold"/>
              </a:rPr>
              <a:t>DERMASENSE</a:t>
            </a:r>
          </a:p>
        </p:txBody>
      </p:sp>
      <p:sp>
        <p:nvSpPr>
          <p:cNvPr name="TextBox 5" id="5"/>
          <p:cNvSpPr txBox="true"/>
          <p:nvPr/>
        </p:nvSpPr>
        <p:spPr>
          <a:xfrm rot="0">
            <a:off x="3017520" y="5631180"/>
            <a:ext cx="12248388" cy="855345"/>
          </a:xfrm>
          <a:prstGeom prst="rect">
            <a:avLst/>
          </a:prstGeom>
        </p:spPr>
        <p:txBody>
          <a:bodyPr anchor="t" rtlCol="false" tIns="0" lIns="0" bIns="0" rIns="0">
            <a:spAutoFit/>
          </a:bodyPr>
          <a:lstStyle/>
          <a:p>
            <a:pPr algn="ctr">
              <a:lnSpc>
                <a:spcPts val="7020"/>
              </a:lnSpc>
            </a:pPr>
            <a:r>
              <a:rPr lang="en-US" sz="3900">
                <a:solidFill>
                  <a:srgbClr val="0369A1"/>
                </a:solidFill>
                <a:latin typeface="Poppins"/>
                <a:ea typeface="Poppins"/>
                <a:cs typeface="Poppins"/>
                <a:sym typeface="Poppins"/>
              </a:rPr>
              <a:t>VK26-IITI-HT-0050</a:t>
            </a:r>
          </a:p>
        </p:txBody>
      </p:sp>
      <p:grpSp>
        <p:nvGrpSpPr>
          <p:cNvPr name="Group 6" id="6"/>
          <p:cNvGrpSpPr/>
          <p:nvPr/>
        </p:nvGrpSpPr>
        <p:grpSpPr>
          <a:xfrm rot="0">
            <a:off x="4755318" y="3402311"/>
            <a:ext cx="8777421" cy="865803"/>
            <a:chOff x="0" y="0"/>
            <a:chExt cx="11703228" cy="1154405"/>
          </a:xfrm>
        </p:grpSpPr>
        <p:sp>
          <p:nvSpPr>
            <p:cNvPr name="Freeform 7" id="7" descr="image.png"/>
            <p:cNvSpPr/>
            <p:nvPr/>
          </p:nvSpPr>
          <p:spPr>
            <a:xfrm flipH="false" flipV="false" rot="0">
              <a:off x="0" y="0"/>
              <a:ext cx="11703177" cy="1154430"/>
            </a:xfrm>
            <a:custGeom>
              <a:avLst/>
              <a:gdLst/>
              <a:ahLst/>
              <a:cxnLst/>
              <a:rect r="r" b="b" t="t" l="l"/>
              <a:pathLst>
                <a:path h="1154430" w="11703177">
                  <a:moveTo>
                    <a:pt x="0" y="0"/>
                  </a:moveTo>
                  <a:lnTo>
                    <a:pt x="11703177" y="0"/>
                  </a:lnTo>
                  <a:lnTo>
                    <a:pt x="11703177" y="1154430"/>
                  </a:lnTo>
                  <a:lnTo>
                    <a:pt x="0" y="1154430"/>
                  </a:lnTo>
                  <a:lnTo>
                    <a:pt x="0" y="0"/>
                  </a:lnTo>
                  <a:close/>
                </a:path>
              </a:pathLst>
            </a:custGeom>
            <a:blipFill>
              <a:blip r:embed="rId4"/>
              <a:stretch>
                <a:fillRect l="0" t="0" r="0" b="-3445"/>
              </a:stretch>
            </a:blipFill>
          </p:spPr>
          <p:txBody>
            <a:bodyPr/>
            <a:p/>
          </p:txBody>
        </p:sp>
      </p:grpSp>
      <p:grpSp>
        <p:nvGrpSpPr>
          <p:cNvPr name="Group 8" id="8"/>
          <p:cNvGrpSpPr/>
          <p:nvPr/>
        </p:nvGrpSpPr>
        <p:grpSpPr>
          <a:xfrm rot="0">
            <a:off x="16051006" y="121234"/>
            <a:ext cx="2236994" cy="1177233"/>
            <a:chOff x="0" y="0"/>
            <a:chExt cx="2982658" cy="1569644"/>
          </a:xfrm>
        </p:grpSpPr>
        <p:sp>
          <p:nvSpPr>
            <p:cNvPr name="Freeform 9" id="9"/>
            <p:cNvSpPr/>
            <p:nvPr/>
          </p:nvSpPr>
          <p:spPr>
            <a:xfrm flipH="false" flipV="false" rot="0">
              <a:off x="0" y="0"/>
              <a:ext cx="2982722" cy="1569593"/>
            </a:xfrm>
            <a:custGeom>
              <a:avLst/>
              <a:gdLst/>
              <a:ahLst/>
              <a:cxnLst/>
              <a:rect r="r" b="b" t="t" l="l"/>
              <a:pathLst>
                <a:path h="1569593" w="2982722">
                  <a:moveTo>
                    <a:pt x="0" y="0"/>
                  </a:moveTo>
                  <a:lnTo>
                    <a:pt x="2982722" y="0"/>
                  </a:lnTo>
                  <a:lnTo>
                    <a:pt x="2982722" y="1569593"/>
                  </a:lnTo>
                  <a:lnTo>
                    <a:pt x="0" y="1569593"/>
                  </a:lnTo>
                  <a:lnTo>
                    <a:pt x="0" y="0"/>
                  </a:lnTo>
                  <a:close/>
                </a:path>
              </a:pathLst>
            </a:custGeom>
            <a:blipFill>
              <a:blip r:embed="rId5"/>
              <a:stretch>
                <a:fillRect l="0" t="0" r="1" b="-3"/>
              </a:stretch>
            </a:blipFill>
          </p:spPr>
          <p:txBody>
            <a:bodyPr/>
            <a:p/>
          </p:txBody>
        </p:sp>
      </p:grpSp>
      <p:grpSp>
        <p:nvGrpSpPr>
          <p:cNvPr name="Group 10" id="10"/>
          <p:cNvGrpSpPr/>
          <p:nvPr/>
        </p:nvGrpSpPr>
        <p:grpSpPr>
          <a:xfrm rot="0">
            <a:off x="0" y="121234"/>
            <a:ext cx="3643236" cy="1177233"/>
            <a:chOff x="0" y="0"/>
            <a:chExt cx="4857648" cy="1569644"/>
          </a:xfrm>
        </p:grpSpPr>
        <p:sp>
          <p:nvSpPr>
            <p:cNvPr name="Freeform 11" id="11"/>
            <p:cNvSpPr/>
            <p:nvPr/>
          </p:nvSpPr>
          <p:spPr>
            <a:xfrm flipH="false" flipV="false" rot="0">
              <a:off x="0" y="0"/>
              <a:ext cx="4857623" cy="1569593"/>
            </a:xfrm>
            <a:custGeom>
              <a:avLst/>
              <a:gdLst/>
              <a:ahLst/>
              <a:cxnLst/>
              <a:rect r="r" b="b" t="t" l="l"/>
              <a:pathLst>
                <a:path h="1569593" w="4857623">
                  <a:moveTo>
                    <a:pt x="0" y="0"/>
                  </a:moveTo>
                  <a:lnTo>
                    <a:pt x="4857623" y="0"/>
                  </a:lnTo>
                  <a:lnTo>
                    <a:pt x="4857623" y="1569593"/>
                  </a:lnTo>
                  <a:lnTo>
                    <a:pt x="0" y="1569593"/>
                  </a:lnTo>
                  <a:lnTo>
                    <a:pt x="0" y="0"/>
                  </a:lnTo>
                  <a:close/>
                </a:path>
              </a:pathLst>
            </a:custGeom>
            <a:blipFill>
              <a:blip r:embed="rId6"/>
              <a:stretch>
                <a:fillRect l="-21110" t="-147264" r="-22761" b="-197992"/>
              </a:stretch>
            </a:blipFill>
          </p:spPr>
          <p:txBody>
            <a:bodyPr/>
            <a:p/>
          </p:txBody>
        </p:sp>
      </p:grpSp>
      <p:sp>
        <p:nvSpPr>
          <p:cNvPr name="TextBox 12" id="12"/>
          <p:cNvSpPr txBox="true"/>
          <p:nvPr/>
        </p:nvSpPr>
        <p:spPr>
          <a:xfrm rot="0">
            <a:off x="1938528" y="7034784"/>
            <a:ext cx="14406372" cy="637032"/>
          </a:xfrm>
          <a:prstGeom prst="rect">
            <a:avLst/>
          </a:prstGeom>
        </p:spPr>
        <p:txBody>
          <a:bodyPr anchor="t" rtlCol="false" tIns="0" lIns="0" bIns="0" rIns="0">
            <a:spAutoFit/>
          </a:bodyPr>
          <a:lstStyle/>
          <a:p>
            <a:pPr algn="ctr">
              <a:lnSpc>
                <a:spcPts val="2721"/>
              </a:lnSpc>
            </a:pPr>
            <a:r>
              <a:rPr lang="en-US" sz="2100">
                <a:solidFill>
                  <a:srgbClr val="0F172A"/>
                </a:solidFill>
                <a:latin typeface="Poppins"/>
                <a:ea typeface="Poppins"/>
                <a:cs typeface="Poppins"/>
                <a:sym typeface="Poppins"/>
              </a:rPr>
              <a:t>Team: Soham Prabhakar Kadu · Bhakti Ajay Kadam</a:t>
            </a:r>
          </a:p>
        </p:txBody>
      </p:sp>
      <p:sp>
        <p:nvSpPr>
          <p:cNvPr id="13" name="TextBox 12"/>
          <p:cNvSpPr txBox="1"/>
          <p:nvPr/>
        </p:nvSpPr>
        <p:spPr>
          <a:xfrm>
            <a:off x="1938528" y="6492240"/>
            <a:ext cx="14410944" cy="475488"/>
          </a:xfrm>
          <a:prstGeom prst="rect">
            <a:avLst/>
          </a:prstGeom>
          <a:noFill/>
        </p:spPr>
        <p:txBody>
          <a:bodyPr wrap="none">
            <a:spAutoFit/>
          </a:bodyPr>
          <a:lstStyle/>
          <a:p>
            <a:pPr algn="ctr"/>
            <a:r>
              <a:rPr sz="1600">
                <a:solidFill>
                  <a:srgbClr val="047857"/>
                </a:solidFill>
                <a:latin typeface="Poppins"/>
              </a:rPr>
              <a:t>Health Tech · Emergency Response &amp; Remote Monitoring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txBody>
            <a:bodyPr/>
            <a:p/>
          </p:txBody>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txBody>
            <a:bodyPr/>
            <a:p/>
          </p:txBody>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txBody>
            <a:bodyPr/>
            <a:p/>
          </p:txBody>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txBody>
            <a:bodyPr/>
            <a:p/>
          </p:txBody>
        </p:sp>
      </p:grpSp>
      <p:grpSp>
        <p:nvGrpSpPr>
          <p:cNvPr name="Group 18" id="18"/>
          <p:cNvGrpSpPr/>
          <p:nvPr/>
        </p:nvGrpSpPr>
        <p:grpSpPr>
          <a:xfrm rot="0">
            <a:off x="800100" y="657225"/>
            <a:ext cx="12893040" cy="626444"/>
            <a:chOff x="0" y="0"/>
            <a:chExt cx="17190720" cy="835259"/>
          </a:xfrm>
        </p:grpSpPr>
        <p:sp>
          <p:nvSpPr>
            <p:cNvPr name="Freeform 19" id="19"/>
            <p:cNvSpPr/>
            <p:nvPr/>
          </p:nvSpPr>
          <p:spPr>
            <a:xfrm flipH="false" flipV="false" rot="0">
              <a:off x="0" y="0"/>
              <a:ext cx="17190720" cy="835256"/>
            </a:xfrm>
            <a:custGeom>
              <a:avLst/>
              <a:gdLst/>
              <a:ahLst/>
              <a:cxnLst/>
              <a:rect r="r" b="b" t="t" l="l"/>
              <a:pathLst>
                <a:path h="835256" w="17190720">
                  <a:moveTo>
                    <a:pt x="0" y="0"/>
                  </a:moveTo>
                  <a:lnTo>
                    <a:pt x="17190720" y="0"/>
                  </a:lnTo>
                  <a:lnTo>
                    <a:pt x="17190720" y="835256"/>
                  </a:lnTo>
                  <a:lnTo>
                    <a:pt x="0" y="835256"/>
                  </a:lnTo>
                  <a:close/>
                </a:path>
              </a:pathLst>
            </a:custGeom>
            <a:solidFill>
              <a:srgbClr val="FFFFFF"/>
            </a:solidFill>
          </p:spPr>
          <p:txBody>
            <a:bodyPr/>
            <a:p/>
          </p:txBody>
        </p:sp>
        <p:sp>
          <p:nvSpPr>
            <p:cNvPr name="TextBox 20" id="20"/>
            <p:cNvSpPr txBox="true"/>
            <p:nvPr/>
          </p:nvSpPr>
          <p:spPr>
            <a:xfrm>
              <a:off x="0" y="-85725"/>
              <a:ext cx="17190720" cy="920984"/>
            </a:xfrm>
            <a:prstGeom prst="rect">
              <a:avLst/>
            </a:prstGeom>
          </p:spPr>
          <p:txBody>
            <a:bodyPr anchor="ctr" rtlCol="false" tIns="0" lIns="0" bIns="0" rIns="0"/>
            <a:lstStyle/>
            <a:p>
              <a:pPr algn="just">
                <a:lnSpc>
                  <a:spcPts val="3670"/>
                </a:lnSpc>
              </a:pPr>
              <a:r>
                <a:rPr lang="en-US" b="true" sz="2550">
                  <a:solidFill>
                    <a:srgbClr val="0F172A"/>
                  </a:solidFill>
                  <a:latin typeface="Poppins Bold"/>
                  <a:ea typeface="Poppins Bold"/>
                  <a:cs typeface="Poppins Bold"/>
                  <a:sym typeface="Poppins Bold"/>
                </a:rPr>
                <a:t>PROBLEM CONTEXT</a:t>
              </a:r>
            </a:p>
          </p:txBody>
        </p:sp>
      </p:grpSp>
      <p:sp>
        <p:nvSpPr>
          <p:cNvPr name="TextBox 21" id="21"/>
          <p:cNvSpPr txBox="true"/>
          <p:nvPr/>
        </p:nvSpPr>
        <p:spPr>
          <a:xfrm rot="0">
            <a:off x="1042988" y="8700830"/>
            <a:ext cx="16047720" cy="252301"/>
          </a:xfrm>
          <a:prstGeom prst="rect">
            <a:avLst/>
          </a:prstGeom>
        </p:spPr>
        <p:txBody>
          <a:bodyPr anchor="t" rtlCol="false" tIns="0" lIns="0" bIns="0" rIns="0">
            <a:spAutoFit/>
          </a:bodyPr>
          <a:lstStyle/>
          <a:p>
            <a:pPr algn="l">
              <a:lnSpc>
                <a:spcPts val="2297"/>
              </a:lnSpc>
            </a:pPr>
            <a:r>
              <a:rPr lang="en-US" b="true" sz="1320">
                <a:solidFill>
                  <a:srgbClr val="0F172A"/>
                </a:solidFill>
                <a:latin typeface="DM Sans Bold"/>
                <a:ea typeface="DM Sans Bold"/>
                <a:cs typeface="DM Sans Bold"/>
                <a:sym typeface="DM Sans Bold"/>
              </a:rPr>
              <a:t>Project at a glance: </a:t>
            </a:r>
            <a:r>
              <a:rPr lang="en-US" b="true" sz="1320">
                <a:solidFill>
                  <a:srgbClr val="334155"/>
                </a:solidFill>
                <a:latin typeface="DM Sans Bold"/>
                <a:ea typeface="DM Sans Bold"/>
                <a:cs typeface="DM Sans Bold"/>
                <a:sym typeface="DM Sans Bold"/>
              </a:rPr>
              <a:t>Dermasense · Team VK26-IITI-HT-0050 · Health Tech: Emergency Response &amp; Remote Monitoring · Our idea: read a dressing’s change line from outside, without lifting it.</a:t>
            </a:r>
          </a:p>
        </p:txBody>
      </p:sp>
      <p:sp>
        <p:nvSpPr>
          <p:cNvPr name="TextBox 22" id="22"/>
          <p:cNvSpPr txBox="true"/>
          <p:nvPr/>
        </p:nvSpPr>
        <p:spPr>
          <a:xfrm rot="0">
            <a:off x="10429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44.9 %</a:t>
            </a:r>
          </a:p>
        </p:txBody>
      </p:sp>
      <p:sp>
        <p:nvSpPr>
          <p:cNvPr name="TextBox 23" id="23"/>
          <p:cNvSpPr txBox="true"/>
          <p:nvPr/>
        </p:nvSpPr>
        <p:spPr>
          <a:xfrm rot="0">
            <a:off x="10429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DRESSING CHANGES MADE WHILE MOISTURE WAS OPTIMAL¹</a:t>
            </a:r>
          </a:p>
        </p:txBody>
      </p:sp>
      <p:sp>
        <p:nvSpPr>
          <p:cNvPr name="TextBox 24" id="24"/>
          <p:cNvSpPr txBox="true"/>
          <p:nvPr/>
        </p:nvSpPr>
        <p:spPr>
          <a:xfrm rot="0">
            <a:off x="5272088" y="1498092"/>
            <a:ext cx="3514725" cy="490728"/>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 2 cm · 75 %</a:t>
            </a:r>
          </a:p>
        </p:txBody>
      </p:sp>
      <p:sp>
        <p:nvSpPr>
          <p:cNvPr name="TextBox 25" id="25"/>
          <p:cNvSpPr txBox="true"/>
          <p:nvPr/>
        </p:nvSpPr>
        <p:spPr>
          <a:xfrm rot="0">
            <a:off x="5272088" y="2016252"/>
            <a:ext cx="3514725" cy="342900"/>
          </a:xfrm>
          <a:prstGeom prst="rect">
            <a:avLst/>
          </a:prstGeom>
        </p:spPr>
        <p:txBody>
          <a:bodyPr anchor="t" rtlCol="false" tIns="0" lIns="0" bIns="0" rIns="0">
            <a:spAutoFit/>
          </a:bodyPr>
          <a:lstStyle/>
          <a:p>
            <a:pPr algn="ctr" marL="0" indent="0" lvl="0">
              <a:lnSpc>
                <a:spcPts val="1367"/>
              </a:lnSpc>
              <a:spcBef>
                <a:spcPct val="0"/>
              </a:spcBef>
            </a:pPr>
            <a:r>
              <a:rPr lang="en-US" sz="1139" strike="noStrike" u="none">
                <a:solidFill>
                  <a:srgbClr val="64748B"/>
                </a:solidFill>
                <a:latin typeface="DM Sans"/>
                <a:ea typeface="DM Sans"/>
                <a:cs typeface="DM Sans"/>
                <a:sym typeface="DM Sans"/>
              </a:rPr>
              <a:t>SOME DRESSINGS SHOW WHEN IT IS TIME TO CHANGE [2, 14]</a:t>
            </a:r>
          </a:p>
        </p:txBody>
      </p:sp>
      <p:sp>
        <p:nvSpPr>
          <p:cNvPr name="TextBox 26" id="26"/>
          <p:cNvSpPr txBox="true"/>
          <p:nvPr/>
        </p:nvSpPr>
        <p:spPr>
          <a:xfrm rot="0">
            <a:off x="95011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 point</a:t>
            </a:r>
          </a:p>
        </p:txBody>
      </p:sp>
      <p:sp>
        <p:nvSpPr>
          <p:cNvPr name="TextBox 27" id="27"/>
          <p:cNvSpPr txBox="true"/>
          <p:nvPr/>
        </p:nvSpPr>
        <p:spPr>
          <a:xfrm rot="0">
            <a:off x="95011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ONE EXISTING SENSOR TAKES A SINGLE-POINT READING¹</a:t>
            </a:r>
          </a:p>
        </p:txBody>
      </p:sp>
      <p:sp>
        <p:nvSpPr>
          <p:cNvPr name="TextBox 28" id="28"/>
          <p:cNvSpPr txBox="true"/>
          <p:nvPr/>
        </p:nvSpPr>
        <p:spPr>
          <a:xfrm rot="0">
            <a:off x="137302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&gt; 10×</a:t>
            </a:r>
          </a:p>
        </p:txBody>
      </p:sp>
      <p:sp>
        <p:nvSpPr>
          <p:cNvPr name="TextBox 29" id="29"/>
          <p:cNvSpPr txBox="true"/>
          <p:nvPr/>
        </p:nvSpPr>
        <p:spPr>
          <a:xfrm rot="0">
            <a:off x="137302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REPORTED EXUDATE AMOUNTS VARY BY &gt;10×⁶</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Our illustration shows why the change line can be hidden under a cover (drawn to scale from our strip design).</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0"/>
              <a:stretch>
                <a:fillRect l="0" t="0" r="-20" b="-1270"/>
              </a:stretch>
            </a:blipFill>
          </p:spPr>
          <p:txBody>
            <a:bodyPr/>
            <a:p/>
          </p:txBody>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The problem and who we designed for</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1"/>
              <a:stretch>
                <a:fillRect l="0" t="0" r="2" b="2"/>
              </a:stretch>
            </a:blipFill>
          </p:spPr>
          <p:txBody>
            <a:bodyPr/>
            <a:p/>
          </p:txBody>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2"/>
              <a:stretch>
                <a:fillRect l="-21110" t="-147255" r="-22761" b="-197973"/>
              </a:stretch>
            </a:blipFill>
          </p:spPr>
          <p:txBody>
            <a:bodyPr/>
            <a:p/>
          </p:txBody>
        </p:sp>
      </p:grpSp>
      <p:grpSp>
        <p:nvGrpSpPr>
          <p:cNvPr name="Group 38" id="38"/>
          <p:cNvGrpSpPr/>
          <p:nvPr/>
        </p:nvGrpSpPr>
        <p:grpSpPr>
          <a:xfrm rot="0">
            <a:off x="14651431" y="685800"/>
            <a:ext cx="2836469" cy="370332"/>
            <a:chOff x="0" y="0"/>
            <a:chExt cx="3781958" cy="493776"/>
          </a:xfrm>
        </p:grpSpPr>
        <p:sp>
          <p:nvSpPr>
            <p:cNvPr name="Freeform 39" id="39"/>
            <p:cNvSpPr/>
            <p:nvPr/>
          </p:nvSpPr>
          <p:spPr>
            <a:xfrm flipH="false" flipV="false" rot="0">
              <a:off x="0" y="0"/>
              <a:ext cx="3781933" cy="493776"/>
            </a:xfrm>
            <a:custGeom>
              <a:avLst/>
              <a:gdLst/>
              <a:ahLst/>
              <a:cxnLst/>
              <a:rect r="r" b="b" t="t" l="l"/>
              <a:pathLst>
                <a:path h="493776" w="3781933">
                  <a:moveTo>
                    <a:pt x="0" y="246888"/>
                  </a:moveTo>
                  <a:cubicBezTo>
                    <a:pt x="0" y="110490"/>
                    <a:pt x="110490" y="0"/>
                    <a:pt x="246888" y="0"/>
                  </a:cubicBezTo>
                  <a:lnTo>
                    <a:pt x="3535045" y="0"/>
                  </a:lnTo>
                  <a:cubicBezTo>
                    <a:pt x="3671443" y="0"/>
                    <a:pt x="3781933" y="110490"/>
                    <a:pt x="3781933" y="246888"/>
                  </a:cubicBezTo>
                  <a:cubicBezTo>
                    <a:pt x="3781933" y="383286"/>
                    <a:pt x="3671443" y="493776"/>
                    <a:pt x="3535045" y="493776"/>
                  </a:cubicBezTo>
                  <a:lnTo>
                    <a:pt x="246888" y="493776"/>
                  </a:lnTo>
                  <a:cubicBezTo>
                    <a:pt x="110490" y="493776"/>
                    <a:pt x="0" y="383286"/>
                    <a:pt x="0" y="246888"/>
                  </a:cubicBezTo>
                  <a:close/>
                </a:path>
              </a:pathLst>
            </a:custGeom>
            <a:solidFill>
              <a:srgbClr val="E0F2FE"/>
            </a:solidFill>
          </p:spPr>
          <p:txBody>
            <a:bodyPr/>
            <a:p/>
          </p:txBody>
        </p:sp>
        <p:sp>
          <p:nvSpPr>
            <p:cNvPr name="TextBox 40" id="40"/>
            <p:cNvSpPr txBox="true"/>
            <p:nvPr/>
          </p:nvSpPr>
          <p:spPr>
            <a:xfrm>
              <a:off x="0" y="0"/>
              <a:ext cx="3781958"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EVIDENCE FROM PUBLISHED SOURCES</a:t>
              </a:r>
            </a:p>
          </p:txBody>
        </p:sp>
      </p:grpSp>
      <p:grpSp>
        <p:nvGrpSpPr>
          <p:cNvPr name="Group 41" id="41"/>
          <p:cNvGrpSpPr/>
          <p:nvPr/>
        </p:nvGrpSpPr>
        <p:grpSpPr>
          <a:xfrm rot="0">
            <a:off x="818636" y="2619756"/>
            <a:ext cx="8101089" cy="5390388"/>
            <a:chOff x="0" y="0"/>
            <a:chExt cx="10801452" cy="7187184"/>
          </a:xfrm>
        </p:grpSpPr>
        <p:sp>
          <p:nvSpPr>
            <p:cNvPr name="Freeform 42" id="42" descr="fig_problem.png"/>
            <p:cNvSpPr/>
            <p:nvPr/>
          </p:nvSpPr>
          <p:spPr>
            <a:xfrm flipH="false" flipV="false" rot="0">
              <a:off x="0" y="0"/>
              <a:ext cx="10801477" cy="7187184"/>
            </a:xfrm>
            <a:custGeom>
              <a:avLst/>
              <a:gdLst/>
              <a:ahLst/>
              <a:cxnLst/>
              <a:rect r="r" b="b" t="t" l="l"/>
              <a:pathLst>
                <a:path h="7187184" w="10801477">
                  <a:moveTo>
                    <a:pt x="0" y="0"/>
                  </a:moveTo>
                  <a:lnTo>
                    <a:pt x="10801477" y="0"/>
                  </a:lnTo>
                  <a:lnTo>
                    <a:pt x="10801477" y="7187184"/>
                  </a:lnTo>
                  <a:lnTo>
                    <a:pt x="0" y="7187184"/>
                  </a:lnTo>
                  <a:lnTo>
                    <a:pt x="0" y="0"/>
                  </a:lnTo>
                  <a:close/>
                </a:path>
              </a:pathLst>
            </a:custGeom>
            <a:blipFill>
              <a:blip r:embed="rId13"/>
              <a:stretch>
                <a:fillRect l="0" t="0" r="0" b="0"/>
              </a:stretch>
            </a:blipFill>
          </p:spPr>
          <p:txBody>
            <a:bodyPr/>
            <a:p/>
          </p:txBody>
        </p:sp>
      </p:grpSp>
      <p:sp>
        <p:nvSpPr>
          <p:cNvPr name="TextBox 43" id="43"/>
          <p:cNvSpPr txBox="true"/>
          <p:nvPr/>
        </p:nvSpPr>
        <p:spPr>
          <a:xfrm rot="0">
            <a:off x="9715500" y="3583686"/>
            <a:ext cx="7507224" cy="2949854"/>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Problem:  a carer cannot see whether a covered foam dressing has reached its maker’s change line.</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Result:  early changes mean needless pain and waste; late changes risk strike-through leakage [2] and periwound maceration (moisture-damaged skin) [21].</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Who:  nurses and family carers supporting people with draining chronic wounds, including diabetic foot, leg and pressure ulcers.</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We will:  show when that change line is reached, from outside, without lifting the dressing.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40180"/>
            <a:ext cx="8143875" cy="6885432"/>
            <a:chOff x="0" y="0"/>
            <a:chExt cx="10858500" cy="9180576"/>
          </a:xfrm>
        </p:grpSpPr>
        <p:sp>
          <p:nvSpPr>
            <p:cNvPr name="Freeform 7" id="7" descr="image.png"/>
            <p:cNvSpPr/>
            <p:nvPr/>
          </p:nvSpPr>
          <p:spPr>
            <a:xfrm flipH="false" flipV="false" rot="0">
              <a:off x="0" y="0"/>
              <a:ext cx="10858500" cy="9180576"/>
            </a:xfrm>
            <a:custGeom>
              <a:avLst/>
              <a:gdLst/>
              <a:ahLst/>
              <a:cxnLst/>
              <a:rect r="r" b="b" t="t" l="l"/>
              <a:pathLst>
                <a:path h="9180576" w="10858500">
                  <a:moveTo>
                    <a:pt x="0" y="0"/>
                  </a:moveTo>
                  <a:lnTo>
                    <a:pt x="10858500" y="0"/>
                  </a:lnTo>
                  <a:lnTo>
                    <a:pt x="10858500" y="9180576"/>
                  </a:lnTo>
                  <a:lnTo>
                    <a:pt x="0" y="9180576"/>
                  </a:lnTo>
                  <a:lnTo>
                    <a:pt x="0" y="0"/>
                  </a:lnTo>
                  <a:close/>
                </a:path>
              </a:pathLst>
            </a:custGeom>
            <a:blipFill>
              <a:blip r:embed="rId5"/>
              <a:stretch>
                <a:fillRect l="0" t="0" r="-9031" b="0"/>
              </a:stretch>
            </a:blipFill>
          </p:spPr>
          <p:txBody>
            <a:bodyPr/>
            <a:p/>
          </p:txBody>
        </p:sp>
      </p:grpSp>
      <p:grpSp>
        <p:nvGrpSpPr>
          <p:cNvPr name="Group 8" id="8"/>
          <p:cNvGrpSpPr/>
          <p:nvPr/>
        </p:nvGrpSpPr>
        <p:grpSpPr>
          <a:xfrm rot="0">
            <a:off x="800100" y="1440180"/>
            <a:ext cx="8143875" cy="6885432"/>
            <a:chOff x="0" y="0"/>
            <a:chExt cx="10858500" cy="9180576"/>
          </a:xfrm>
        </p:grpSpPr>
        <p:sp>
          <p:nvSpPr>
            <p:cNvPr name="Freeform 9" id="9" descr="image.png"/>
            <p:cNvSpPr/>
            <p:nvPr/>
          </p:nvSpPr>
          <p:spPr>
            <a:xfrm flipH="false" flipV="false" rot="0">
              <a:off x="0" y="0"/>
              <a:ext cx="10858500" cy="9180576"/>
            </a:xfrm>
            <a:custGeom>
              <a:avLst/>
              <a:gdLst/>
              <a:ahLst/>
              <a:cxnLst/>
              <a:rect r="r" b="b" t="t" l="l"/>
              <a:pathLst>
                <a:path h="9180576" w="10858500">
                  <a:moveTo>
                    <a:pt x="0" y="0"/>
                  </a:moveTo>
                  <a:lnTo>
                    <a:pt x="10858500" y="0"/>
                  </a:lnTo>
                  <a:lnTo>
                    <a:pt x="10858500" y="9180576"/>
                  </a:lnTo>
                  <a:lnTo>
                    <a:pt x="0" y="9180576"/>
                  </a:lnTo>
                  <a:lnTo>
                    <a:pt x="0" y="0"/>
                  </a:lnTo>
                  <a:close/>
                </a:path>
              </a:pathLst>
            </a:custGeom>
            <a:blipFill>
              <a:blip r:embed="rId6"/>
              <a:stretch>
                <a:fillRect l="0" t="0" r="-88249" b="0"/>
              </a:stretch>
            </a:blipFill>
          </p:spPr>
          <p:txBody>
            <a:bodyPr/>
            <a:p/>
          </p:txBody>
        </p:sp>
      </p:grpSp>
      <p:grpSp>
        <p:nvGrpSpPr>
          <p:cNvPr name="Group 10" id="10"/>
          <p:cNvGrpSpPr/>
          <p:nvPr/>
        </p:nvGrpSpPr>
        <p:grpSpPr>
          <a:xfrm rot="0">
            <a:off x="800100" y="657225"/>
            <a:ext cx="12893040" cy="754049"/>
            <a:chOff x="0" y="0"/>
            <a:chExt cx="17190720" cy="1005399"/>
          </a:xfrm>
        </p:grpSpPr>
        <p:sp>
          <p:nvSpPr>
            <p:cNvPr name="Freeform 11" id="11"/>
            <p:cNvSpPr/>
            <p:nvPr/>
          </p:nvSpPr>
          <p:spPr>
            <a:xfrm flipH="false" flipV="false" rot="0">
              <a:off x="0" y="0"/>
              <a:ext cx="17190720" cy="1005396"/>
            </a:xfrm>
            <a:custGeom>
              <a:avLst/>
              <a:gdLst/>
              <a:ahLst/>
              <a:cxnLst/>
              <a:rect r="r" b="b" t="t" l="l"/>
              <a:pathLst>
                <a:path h="1005396" w="17190720">
                  <a:moveTo>
                    <a:pt x="0" y="0"/>
                  </a:moveTo>
                  <a:lnTo>
                    <a:pt x="17190720" y="0"/>
                  </a:lnTo>
                  <a:lnTo>
                    <a:pt x="17190720" y="1005396"/>
                  </a:lnTo>
                  <a:lnTo>
                    <a:pt x="0" y="1005396"/>
                  </a:lnTo>
                  <a:close/>
                </a:path>
              </a:pathLst>
            </a:custGeom>
            <a:blipFill>
              <a:blip r:embed="rId7">
                <a:alphaModFix amt="0"/>
              </a:blip>
              <a:stretch>
                <a:fillRect l="0" t="-302477" r="0" b="-263850"/>
              </a:stretch>
            </a:blipFill>
          </p:spPr>
          <p:txBody>
            <a:bodyPr/>
            <a:p/>
          </p:txBody>
        </p:sp>
        <p:sp>
          <p:nvSpPr>
            <p:cNvPr name="TextBox 12" id="12"/>
            <p:cNvSpPr txBox="true"/>
            <p:nvPr/>
          </p:nvSpPr>
          <p:spPr>
            <a:xfrm>
              <a:off x="0" y="-104775"/>
              <a:ext cx="17190720" cy="1110174"/>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What carers can use today — and what is still missing</a:t>
              </a:r>
            </a:p>
          </p:txBody>
        </p:sp>
      </p:grpSp>
      <p:sp>
        <p:nvSpPr>
          <p:cNvPr name="TextBox 13" id="13"/>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Question we are trying to answer: </a:t>
            </a:r>
            <a:r>
              <a:rPr lang="en-US" b="true" sz="1439">
                <a:solidFill>
                  <a:srgbClr val="334155"/>
                </a:solidFill>
                <a:latin typeface="DM Sans Bold"/>
                <a:ea typeface="DM Sans Bold"/>
                <a:cs typeface="DM Sans Bold"/>
                <a:sym typeface="DM Sans Bold"/>
              </a:rPr>
              <a:t>How can a carer tell when a covered dressing needs changing without lifting it?</a:t>
            </a:r>
          </a:p>
        </p:txBody>
      </p:sp>
      <p:grpSp>
        <p:nvGrpSpPr>
          <p:cNvPr name="Group 14" id="14"/>
          <p:cNvGrpSpPr/>
          <p:nvPr/>
        </p:nvGrpSpPr>
        <p:grpSpPr>
          <a:xfrm rot="0">
            <a:off x="9672638" y="1755648"/>
            <a:ext cx="231505" cy="228600"/>
            <a:chOff x="0" y="0"/>
            <a:chExt cx="308674" cy="304800"/>
          </a:xfrm>
        </p:grpSpPr>
        <p:sp>
          <p:nvSpPr>
            <p:cNvPr name="Freeform 15" id="15"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6" id="16"/>
          <p:cNvSpPr txBox="true"/>
          <p:nvPr/>
        </p:nvSpPr>
        <p:spPr>
          <a:xfrm rot="0">
            <a:off x="10047018" y="1737741"/>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we searched and what we are testing</a:t>
            </a:r>
          </a:p>
        </p:txBody>
      </p:sp>
      <p:grpSp>
        <p:nvGrpSpPr>
          <p:cNvPr name="Group 17" id="17"/>
          <p:cNvGrpSpPr/>
          <p:nvPr/>
        </p:nvGrpSpPr>
        <p:grpSpPr>
          <a:xfrm rot="0">
            <a:off x="16642794" y="9421197"/>
            <a:ext cx="1645206" cy="865803"/>
            <a:chOff x="0" y="0"/>
            <a:chExt cx="2193608" cy="1154405"/>
          </a:xfrm>
        </p:grpSpPr>
        <p:sp>
          <p:nvSpPr>
            <p:cNvPr name="Freeform 18" id="18"/>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19" id="19"/>
          <p:cNvGrpSpPr/>
          <p:nvPr/>
        </p:nvGrpSpPr>
        <p:grpSpPr>
          <a:xfrm rot="0">
            <a:off x="0" y="9421197"/>
            <a:ext cx="2679421" cy="865803"/>
            <a:chOff x="0" y="0"/>
            <a:chExt cx="3572561" cy="1154405"/>
          </a:xfrm>
        </p:grpSpPr>
        <p:sp>
          <p:nvSpPr>
            <p:cNvPr name="Freeform 20" id="20"/>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1" id="21"/>
          <p:cNvGrpSpPr/>
          <p:nvPr/>
        </p:nvGrpSpPr>
        <p:grpSpPr>
          <a:xfrm rot="0">
            <a:off x="14278356" y="685800"/>
            <a:ext cx="3209544" cy="370332"/>
            <a:chOff x="0" y="0"/>
            <a:chExt cx="4279392" cy="493776"/>
          </a:xfrm>
        </p:grpSpPr>
        <p:sp>
          <p:nvSpPr>
            <p:cNvPr name="Freeform 22" id="22"/>
            <p:cNvSpPr/>
            <p:nvPr/>
          </p:nvSpPr>
          <p:spPr>
            <a:xfrm flipH="false" flipV="false" rot="0">
              <a:off x="0" y="0"/>
              <a:ext cx="4279392" cy="493776"/>
            </a:xfrm>
            <a:custGeom>
              <a:avLst/>
              <a:gdLst/>
              <a:ahLst/>
              <a:cxnLst/>
              <a:rect r="r" b="b" t="t" l="l"/>
              <a:pathLst>
                <a:path h="493776" w="4279392">
                  <a:moveTo>
                    <a:pt x="0" y="246888"/>
                  </a:moveTo>
                  <a:cubicBezTo>
                    <a:pt x="0" y="110490"/>
                    <a:pt x="110490" y="0"/>
                    <a:pt x="246888" y="0"/>
                  </a:cubicBezTo>
                  <a:lnTo>
                    <a:pt x="4032504" y="0"/>
                  </a:lnTo>
                  <a:cubicBezTo>
                    <a:pt x="4168902" y="0"/>
                    <a:pt x="4279392" y="110490"/>
                    <a:pt x="4279392" y="246888"/>
                  </a:cubicBezTo>
                  <a:cubicBezTo>
                    <a:pt x="4279392" y="383286"/>
                    <a:pt x="4168902" y="493776"/>
                    <a:pt x="4032504" y="493776"/>
                  </a:cubicBezTo>
                  <a:lnTo>
                    <a:pt x="246888" y="493776"/>
                  </a:lnTo>
                  <a:cubicBezTo>
                    <a:pt x="110490" y="493776"/>
                    <a:pt x="0" y="383286"/>
                    <a:pt x="0" y="246888"/>
                  </a:cubicBezTo>
                  <a:close/>
                </a:path>
              </a:pathLst>
            </a:custGeom>
            <a:solidFill>
              <a:srgbClr val="E0F2FE"/>
            </a:solidFill>
          </p:spPr>
          <p:txBody>
            <a:bodyPr/>
            <a:p/>
          </p:txBody>
        </p:sp>
        <p:sp>
          <p:nvSpPr>
            <p:cNvPr name="TextBox 23" id="23"/>
            <p:cNvSpPr txBox="true"/>
            <p:nvPr/>
          </p:nvSpPr>
          <p:spPr>
            <a:xfrm>
              <a:off x="0" y="0"/>
              <a:ext cx="4279392"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EARLY SEARCH · NOT EXHAUSTIVE</a:t>
              </a:r>
            </a:p>
          </p:txBody>
        </p:sp>
      </p:grpSp>
      <p:sp>
        <p:nvSpPr>
          <p:cNvPr name="TextBox 24" id="24"/>
          <p:cNvSpPr txBox="true"/>
          <p:nvPr/>
        </p:nvSpPr>
        <p:spPr>
          <a:xfrm rot="0">
            <a:off x="1088136" y="1618107"/>
            <a:ext cx="7644384" cy="264719"/>
          </a:xfrm>
          <a:prstGeom prst="rect">
            <a:avLst/>
          </a:prstGeom>
        </p:spPr>
        <p:txBody>
          <a:bodyPr anchor="t" rtlCol="false" tIns="0" lIns="0" bIns="0" rIns="0">
            <a:spAutoFit/>
          </a:bodyPr>
          <a:lstStyle/>
          <a:p>
            <a:pPr algn="l">
              <a:lnSpc>
                <a:spcPts val="2235"/>
              </a:lnSpc>
            </a:pPr>
            <a:r>
              <a:rPr lang="en-US" sz="1725" b="true">
                <a:solidFill>
                  <a:srgbClr val="0F172A"/>
                </a:solidFill>
                <a:latin typeface="DM Sans Bold"/>
                <a:ea typeface="DM Sans Bold"/>
                <a:cs typeface="DM Sans Bold"/>
                <a:sym typeface="DM Sans Bold"/>
              </a:rPr>
              <a:t>Current options and their limits</a:t>
            </a:r>
          </a:p>
        </p:txBody>
      </p:sp>
      <p:graphicFrame>
        <p:nvGraphicFramePr>
          <p:cNvPr name="Table 25" id="25"/>
          <p:cNvGraphicFramePr>
            <a:graphicFrameLocks noGrp="true"/>
          </p:cNvGraphicFramePr>
          <p:nvPr/>
        </p:nvGraphicFramePr>
        <p:xfrm>
          <a:off x="987552" y="2194560"/>
          <a:ext cx="7734300" cy="5029200"/>
        </p:xfrm>
        <a:graphic>
          <a:graphicData uri="http://schemas.openxmlformats.org/drawingml/2006/table">
            <a:tbl>
              <a:tblPr/>
              <a:tblGrid>
                <a:gridCol w="2386685"/>
                <a:gridCol w="1312647"/>
                <a:gridCol w="1312647"/>
                <a:gridCol w="2722321"/>
              </a:tblGrid>
              <a:tr h="641173">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Today's option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Without lifting?</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Maker's rule?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What limits it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Fixed schedule (clock)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hard to predict because fluid amounts vary &gt;10×⁶</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Lift and look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requires removing the dressing; removal can hurt²⁰</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Visual change indicator¹⁴</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only works when the indicator is visible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Single-point moisture sensor¹</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B4530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measures moisture at one point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Closed-loop smart bandage⁵</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marL="0" indent="0" lvl="0">
                        <a:lnSpc>
                          <a:spcPts val="1620"/>
                        </a:lnSpc>
                        <a:spcBef>
                          <a:spcPct val="0"/>
                        </a:spcBef>
                        <a:defRPr/>
                      </a:pPr>
                      <a:r>
                        <a:rPr lang="en-US" sz="1350" strike="noStrike" u="none">
                          <a:solidFill>
                            <a:srgbClr val="334155"/>
                          </a:solidFill>
                          <a:latin typeface="DM Sans"/>
                          <a:ea typeface="DM Sans"/>
                          <a:cs typeface="DM Sans"/>
                          <a:sym typeface="DM Sans"/>
                        </a:rPr>
                        <a:t>tested in mice; active therapy adds cost and a regulatory burden [5]</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Diaper wetness strip⁴</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designed for diapers, not wound dressings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Dermasense (proposed)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B45309"/>
                          </a:solidFill>
                          <a:latin typeface="DM Sans Bold"/>
                          <a:ea typeface="DM Sans Bold"/>
                          <a:cs typeface="DM Sans Bold"/>
                          <a:sym typeface="DM Sans Bold"/>
                        </a:rPr>
                        <a:t>not yet tested; E2 and E4 will evaluate it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
        <p:nvSpPr>
          <p:cNvPr name="TextBox 26" id="26"/>
          <p:cNvSpPr txBox="true"/>
          <p:nvPr/>
        </p:nvSpPr>
        <p:spPr>
          <a:xfrm rot="0">
            <a:off x="1088136" y="7474839"/>
            <a:ext cx="7644384" cy="194572"/>
          </a:xfrm>
          <a:prstGeom prst="rect">
            <a:avLst/>
          </a:prstGeom>
        </p:spPr>
        <p:txBody>
          <a:bodyPr anchor="t" rtlCol="false" tIns="0" lIns="0" bIns="0" rIns="0">
            <a:spAutoFit/>
          </a:bodyPr>
          <a:lstStyle/>
          <a:p>
            <a:pPr algn="l">
              <a:lnSpc>
                <a:spcPts val="1592"/>
              </a:lnSpc>
            </a:pPr>
            <a:r>
              <a:rPr lang="en-US" sz="1228" b="true">
                <a:solidFill>
                  <a:srgbClr val="64748B"/>
                </a:solidFill>
                <a:latin typeface="DM Sans Bold"/>
                <a:ea typeface="DM Sans Bold"/>
                <a:cs typeface="DM Sans Bold"/>
                <a:sym typeface="DM Sans Bold"/>
              </a:rPr>
              <a:t>✓ yes   ✗ no   ◐ partly.   Our search of papers, patents and products was not exhaustive.</a:t>
            </a:r>
          </a:p>
        </p:txBody>
      </p:sp>
      <p:sp>
        <p:nvSpPr>
          <p:cNvPr name="TextBox 27" id="27"/>
          <p:cNvSpPr txBox="true"/>
          <p:nvPr/>
        </p:nvSpPr>
        <p:spPr>
          <a:xfrm rot="0">
            <a:off x="9715500" y="2399919"/>
            <a:ext cx="7507224" cy="2474519"/>
          </a:xfrm>
          <a:prstGeom prst="rect">
            <a:avLst/>
          </a:prstGeom>
        </p:spPr>
        <p:txBody>
          <a:bodyPr anchor="t" rtlCol="false" tIns="0" lIns="0" bIns="0" rIns="0">
            <a:spAutoFit/>
          </a:bodyPr>
          <a:lstStyle/>
          <a:p>
            <a:pPr algn="l" marL="0" indent="0" lvl="0">
              <a:lnSpc>
                <a:spcPts val="2235"/>
              </a:lnSpc>
              <a:spcBef>
                <a:spcPct val="0"/>
              </a:spcBef>
            </a:pPr>
            <a:r>
              <a:rPr lang="en-US" sz="1725" strike="noStrike" u="none">
                <a:solidFill>
                  <a:srgbClr val="059669"/>
                </a:solidFill>
                <a:latin typeface="DM Sans"/>
                <a:ea typeface="DM Sans"/>
                <a:cs typeface="DM Sans"/>
                <a:sym typeface="DM Sans"/>
              </a:rPr>
              <a:t>▪  Searched:  papers, patents and products [1, 4, 5, 14].</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Found:  in our search, no low-cost sensor reads a dressing’s own change line.</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Our focus:  show when fluid reaches that change line, without lifting the dressing.</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Why now:  carbon can be laser-written on polyimide in one pass [7], and dressing makers already define a change line [2, 14].</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Not our goal:  diagnosis or treatment. We are exploring a way to report how full the dressing 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txBody>
            <a:bodyPr/>
            <a:p/>
          </p:txBody>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txBody>
            <a:bodyPr/>
            <a:p/>
          </p:txBody>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txBody>
            <a:bodyPr/>
            <a:p/>
          </p:txBody>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txBody>
            <a:bodyPr/>
            <a:p/>
          </p:txBody>
        </p:sp>
      </p:grpSp>
      <p:grpSp>
        <p:nvGrpSpPr>
          <p:cNvPr name="Group 18" id="18"/>
          <p:cNvGrpSpPr/>
          <p:nvPr/>
        </p:nvGrpSpPr>
        <p:grpSpPr>
          <a:xfrm rot="0">
            <a:off x="800100" y="657225"/>
            <a:ext cx="12893040" cy="462782"/>
            <a:chOff x="0" y="0"/>
            <a:chExt cx="17190720" cy="617042"/>
          </a:xfrm>
        </p:grpSpPr>
        <p:sp>
          <p:nvSpPr>
            <p:cNvPr name="Freeform 19" id="19"/>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10">
                <a:alphaModFix amt="0"/>
              </a:blip>
              <a:stretch>
                <a:fillRect l="0" t="-492852" r="0" b="-492852"/>
              </a:stretch>
            </a:blipFill>
          </p:spPr>
          <p:txBody>
            <a:bodyPr/>
            <a:p/>
          </p:txBody>
        </p:sp>
        <p:sp>
          <p:nvSpPr>
            <p:cNvPr name="TextBox 20" id="20"/>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User Journey: Before State</a:t>
              </a:r>
            </a:p>
          </p:txBody>
        </p:sp>
      </p:grpSp>
      <p:sp>
        <p:nvSpPr>
          <p:cNvPr name="TextBox 21" id="21"/>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Insight: </a:t>
            </a:r>
            <a:r>
              <a:rPr lang="en-US" b="true" sz="1439">
                <a:solidFill>
                  <a:srgbClr val="334155"/>
                </a:solidFill>
                <a:latin typeface="DM Sans Bold"/>
                <a:ea typeface="DM Sans Bold"/>
                <a:cs typeface="DM Sans Bold"/>
                <a:sym typeface="DM Sans Bold"/>
              </a:rPr>
              <a:t>when a dressing is covered, a carer cannot see whether it has reached its change line.</a:t>
            </a:r>
          </a:p>
        </p:txBody>
      </p:sp>
      <p:sp>
        <p:nvSpPr>
          <p:cNvPr name="TextBox 22" id="22"/>
          <p:cNvSpPr txBox="true"/>
          <p:nvPr/>
        </p:nvSpPr>
        <p:spPr>
          <a:xfrm rot="0">
            <a:off x="1042988" y="1498092"/>
            <a:ext cx="3514725" cy="490728"/>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1.9–4.5 per 1,000</a:t>
            </a:r>
          </a:p>
        </p:txBody>
      </p:sp>
      <p:sp>
        <p:nvSpPr>
          <p:cNvPr name="TextBox 23" id="23"/>
          <p:cNvSpPr txBox="true"/>
          <p:nvPr/>
        </p:nvSpPr>
        <p:spPr>
          <a:xfrm rot="0">
            <a:off x="1042988" y="2016252"/>
            <a:ext cx="3514725" cy="342900"/>
          </a:xfrm>
          <a:prstGeom prst="rect">
            <a:avLst/>
          </a:prstGeom>
        </p:spPr>
        <p:txBody>
          <a:bodyPr anchor="t" rtlCol="false" tIns="0" lIns="0" bIns="0" rIns="0">
            <a:spAutoFit/>
          </a:bodyPr>
          <a:lstStyle/>
          <a:p>
            <a:pPr algn="ctr" marL="0" indent="0" lvl="0">
              <a:lnSpc>
                <a:spcPts val="1367"/>
              </a:lnSpc>
              <a:spcBef>
                <a:spcPct val="0"/>
              </a:spcBef>
            </a:pPr>
            <a:r>
              <a:rPr lang="en-US" sz="1139" strike="noStrike" u="none">
                <a:solidFill>
                  <a:srgbClr val="64748B"/>
                </a:solidFill>
                <a:latin typeface="DM Sans"/>
                <a:ea typeface="DM Sans"/>
                <a:cs typeface="DM Sans"/>
                <a:sym typeface="DM Sans"/>
              </a:rPr>
              <a:t>CHRONIC WOUND PREVALENCE IN TWO INDIAN SURVEYS [16, 17]</a:t>
            </a:r>
          </a:p>
        </p:txBody>
      </p:sp>
      <p:sp>
        <p:nvSpPr>
          <p:cNvPr name="TextBox 24" id="24"/>
          <p:cNvSpPr txBox="true"/>
          <p:nvPr/>
        </p:nvSpPr>
        <p:spPr>
          <a:xfrm rot="0">
            <a:off x="52720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101 million</a:t>
            </a:r>
          </a:p>
        </p:txBody>
      </p:sp>
      <p:sp>
        <p:nvSpPr>
          <p:cNvPr name="TextBox 25" id="25"/>
          <p:cNvSpPr txBox="true"/>
          <p:nvPr/>
        </p:nvSpPr>
        <p:spPr>
          <a:xfrm rot="0">
            <a:off x="52720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PEOPLE IN INDIA LIVING WITH DIABETES¹⁸</a:t>
            </a:r>
          </a:p>
        </p:txBody>
      </p:sp>
      <p:sp>
        <p:nvSpPr>
          <p:cNvPr name="TextBox 26" id="26"/>
          <p:cNvSpPr txBox="true"/>
          <p:nvPr/>
        </p:nvSpPr>
        <p:spPr>
          <a:xfrm rot="0">
            <a:off x="95011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19–34 %</a:t>
            </a:r>
          </a:p>
        </p:txBody>
      </p:sp>
      <p:sp>
        <p:nvSpPr>
          <p:cNvPr name="TextBox 27" id="27"/>
          <p:cNvSpPr txBox="true"/>
          <p:nvPr/>
        </p:nvSpPr>
        <p:spPr>
          <a:xfrm rot="0">
            <a:off x="95011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ESTIMATED LIFETIME FOOT-ULCER RISK WITH DIABETES¹⁹</a:t>
            </a:r>
          </a:p>
        </p:txBody>
      </p:sp>
      <p:sp>
        <p:nvSpPr>
          <p:cNvPr name="TextBox 28" id="28"/>
          <p:cNvSpPr txBox="true"/>
          <p:nvPr/>
        </p:nvSpPr>
        <p:spPr>
          <a:xfrm rot="0">
            <a:off x="137302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40.3 %</a:t>
            </a:r>
          </a:p>
        </p:txBody>
      </p:sp>
      <p:sp>
        <p:nvSpPr>
          <p:cNvPr name="TextBox 29" id="29"/>
          <p:cNvSpPr txBox="true"/>
          <p:nvPr/>
        </p:nvSpPr>
        <p:spPr>
          <a:xfrm rot="0">
            <a:off x="137302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PATIENTS SAY DRESSING-CHANGE PAIN IS THE WORST PART²⁰</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Illustrative care journey based on published data; the persona is not a real patient.</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txBody>
            <a:bodyPr/>
            <a:p/>
          </p:txBody>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published studies tell us</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txBody>
            <a:bodyPr/>
            <a:p/>
          </p:txBody>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txBody>
            <a:bodyPr/>
            <a:p/>
          </p:txBody>
        </p:sp>
      </p:grpSp>
      <p:grpSp>
        <p:nvGrpSpPr>
          <p:cNvPr name="Group 38" id="38"/>
          <p:cNvGrpSpPr/>
          <p:nvPr/>
        </p:nvGrpSpPr>
        <p:grpSpPr>
          <a:xfrm rot="0">
            <a:off x="15117775" y="685800"/>
            <a:ext cx="2370125" cy="462248"/>
            <a:chOff x="0" y="0"/>
            <a:chExt cx="3160166" cy="616331"/>
          </a:xfrm>
        </p:grpSpPr>
        <p:sp>
          <p:nvSpPr>
            <p:cNvPr name="Freeform 39" id="39"/>
            <p:cNvSpPr/>
            <p:nvPr/>
          </p:nvSpPr>
          <p:spPr>
            <a:xfrm flipH="false" flipV="false" rot="0">
              <a:off x="0" y="0"/>
              <a:ext cx="3160141" cy="616331"/>
            </a:xfrm>
            <a:custGeom>
              <a:avLst/>
              <a:gdLst/>
              <a:ahLst/>
              <a:cxnLst/>
              <a:rect r="r" b="b" t="t" l="l"/>
              <a:pathLst>
                <a:path h="616331" w="3160141">
                  <a:moveTo>
                    <a:pt x="0" y="308166"/>
                  </a:moveTo>
                  <a:cubicBezTo>
                    <a:pt x="0" y="137914"/>
                    <a:pt x="110490" y="0"/>
                    <a:pt x="246888" y="0"/>
                  </a:cubicBezTo>
                  <a:lnTo>
                    <a:pt x="2913253" y="0"/>
                  </a:lnTo>
                  <a:cubicBezTo>
                    <a:pt x="3049651" y="0"/>
                    <a:pt x="3160141" y="137914"/>
                    <a:pt x="3160141" y="308166"/>
                  </a:cubicBezTo>
                  <a:cubicBezTo>
                    <a:pt x="3160141" y="478417"/>
                    <a:pt x="3049651" y="616331"/>
                    <a:pt x="2913253" y="616331"/>
                  </a:cubicBezTo>
                  <a:lnTo>
                    <a:pt x="246888" y="616331"/>
                  </a:lnTo>
                  <a:cubicBezTo>
                    <a:pt x="110490" y="616331"/>
                    <a:pt x="0" y="478417"/>
                    <a:pt x="0" y="308166"/>
                  </a:cubicBezTo>
                  <a:close/>
                </a:path>
              </a:pathLst>
            </a:custGeom>
            <a:solidFill>
              <a:srgbClr val="E0F2FE"/>
            </a:solidFill>
          </p:spPr>
          <p:txBody>
            <a:bodyPr/>
            <a:p/>
          </p:txBody>
        </p:sp>
        <p:sp>
          <p:nvSpPr>
            <p:cNvPr name="TextBox 40" id="40"/>
            <p:cNvSpPr txBox="true"/>
            <p:nvPr/>
          </p:nvSpPr>
          <p:spPr>
            <a:xfrm>
              <a:off x="0" y="0"/>
              <a:ext cx="3160166" cy="616331"/>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CURRENT CARE · PUBLISHED EVIDENCE</a:t>
              </a:r>
            </a:p>
          </p:txBody>
        </p:sp>
      </p:grpSp>
      <p:sp>
        <p:nvSpPr>
          <p:cNvPr name="TextBox 41" id="41"/>
          <p:cNvSpPr txBox="true"/>
          <p:nvPr/>
        </p:nvSpPr>
        <p:spPr>
          <a:xfrm rot="0">
            <a:off x="9715500" y="3583686"/>
            <a:ext cx="7507224" cy="3245129"/>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Time:  One UK patient survey reported about 18 minutes per dressing visit and five visits a week [13].</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Waste:  In one study, 44.9% of recorded changes happened while moisture was still in the optimal range [1].</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Cost:  Indian retail listings show ₹242–514 for one 10 × 10 cm foam dressing [15]; every premature change discards one.</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Safety:  a dressing left on too long can leak and macerate the surrounding skin [21]; removal can hurt [20].</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Who carries it:  the patient, family carer and nurse all manage this routine.</a:t>
            </a:r>
          </a:p>
        </p:txBody>
      </p:sp>
      <p:grpSp>
        <p:nvGrpSpPr>
          <p:cNvPr name="Group 42" id="42"/>
          <p:cNvGrpSpPr/>
          <p:nvPr/>
        </p:nvGrpSpPr>
        <p:grpSpPr>
          <a:xfrm rot="0">
            <a:off x="932688" y="2715768"/>
            <a:ext cx="7872984" cy="685800"/>
            <a:chOff x="0" y="0"/>
            <a:chExt cx="10497312" cy="914400"/>
          </a:xfrm>
        </p:grpSpPr>
        <p:sp>
          <p:nvSpPr>
            <p:cNvPr name="Freeform 43" id="43"/>
            <p:cNvSpPr/>
            <p:nvPr/>
          </p:nvSpPr>
          <p:spPr>
            <a:xfrm flipH="false" flipV="false" rot="0">
              <a:off x="0" y="0"/>
              <a:ext cx="10497312" cy="914400"/>
            </a:xfrm>
            <a:custGeom>
              <a:avLst/>
              <a:gdLst/>
              <a:ahLst/>
              <a:cxnLst/>
              <a:rect r="r" b="b" t="t" l="l"/>
              <a:pathLst>
                <a:path h="914400" w="10497312">
                  <a:moveTo>
                    <a:pt x="0" y="109728"/>
                  </a:moveTo>
                  <a:cubicBezTo>
                    <a:pt x="0" y="49149"/>
                    <a:pt x="49149" y="0"/>
                    <a:pt x="109728" y="0"/>
                  </a:cubicBezTo>
                  <a:lnTo>
                    <a:pt x="10387584" y="0"/>
                  </a:lnTo>
                  <a:cubicBezTo>
                    <a:pt x="10448163" y="0"/>
                    <a:pt x="10497312" y="49149"/>
                    <a:pt x="10497312" y="109728"/>
                  </a:cubicBezTo>
                  <a:lnTo>
                    <a:pt x="10497312" y="804672"/>
                  </a:lnTo>
                  <a:cubicBezTo>
                    <a:pt x="10497312" y="865251"/>
                    <a:pt x="10448163" y="914400"/>
                    <a:pt x="10387584" y="914400"/>
                  </a:cubicBezTo>
                  <a:lnTo>
                    <a:pt x="109728" y="914400"/>
                  </a:lnTo>
                  <a:cubicBezTo>
                    <a:pt x="49149" y="914400"/>
                    <a:pt x="0" y="865251"/>
                    <a:pt x="0" y="804672"/>
                  </a:cubicBezTo>
                  <a:close/>
                </a:path>
              </a:pathLst>
            </a:custGeom>
            <a:solidFill>
              <a:srgbClr val="F1F5F9"/>
            </a:solidFill>
          </p:spPr>
          <p:txBody>
            <a:bodyPr/>
            <a:p/>
          </p:txBody>
        </p:sp>
        <p:sp>
          <p:nvSpPr>
            <p:cNvPr name="TextBox 44" id="44"/>
            <p:cNvSpPr txBox="true"/>
            <p:nvPr/>
          </p:nvSpPr>
          <p:spPr>
            <a:xfrm>
              <a:off x="0" y="-9525"/>
              <a:ext cx="10497312" cy="923925"/>
            </a:xfrm>
            <a:prstGeom prst="rect">
              <a:avLst/>
            </a:prstGeom>
          </p:spPr>
          <p:txBody>
            <a:bodyPr anchor="ctr" rtlCol="false" tIns="50800" lIns="50800" bIns="50800" rIns="50800"/>
            <a:lstStyle/>
            <a:p>
              <a:pPr algn="l">
                <a:lnSpc>
                  <a:spcPts val="1547"/>
                </a:lnSpc>
              </a:pPr>
              <a:r>
                <a:rPr lang="en-US" sz="1289">
                  <a:solidFill>
                    <a:srgbClr val="334155"/>
                  </a:solidFill>
                  <a:latin typeface="DM Sans"/>
                  <a:ea typeface="DM Sans"/>
                  <a:cs typeface="DM Sans"/>
                  <a:sym typeface="DM Sans"/>
                </a:rPr>
                <a:t>Illustrative persona, not a real patient: a person with a diabetic foot ulcer living at home with family support and periodic nursing visits.</a:t>
              </a:r>
            </a:p>
          </p:txBody>
        </p:sp>
      </p:grpSp>
      <p:grpSp>
        <p:nvGrpSpPr>
          <p:cNvPr name="Group 45" id="45"/>
          <p:cNvGrpSpPr/>
          <p:nvPr/>
        </p:nvGrpSpPr>
        <p:grpSpPr>
          <a:xfrm rot="0">
            <a:off x="932688" y="3566160"/>
            <a:ext cx="768096" cy="754380"/>
            <a:chOff x="0" y="0"/>
            <a:chExt cx="1024128" cy="1005840"/>
          </a:xfrm>
        </p:grpSpPr>
        <p:sp>
          <p:nvSpPr>
            <p:cNvPr name="Freeform 46" id="46"/>
            <p:cNvSpPr/>
            <p:nvPr/>
          </p:nvSpPr>
          <p:spPr>
            <a:xfrm flipH="false" flipV="false" rot="0">
              <a:off x="0" y="0"/>
              <a:ext cx="1024128" cy="1005840"/>
            </a:xfrm>
            <a:custGeom>
              <a:avLst/>
              <a:gdLst/>
              <a:ahLst/>
              <a:cxnLst/>
              <a:rect r="r" b="b" t="t" l="l"/>
              <a:pathLst>
                <a:path h="1005840" w="1024128">
                  <a:moveTo>
                    <a:pt x="0" y="120650"/>
                  </a:moveTo>
                  <a:cubicBezTo>
                    <a:pt x="0" y="54102"/>
                    <a:pt x="54102" y="0"/>
                    <a:pt x="120650" y="0"/>
                  </a:cubicBezTo>
                  <a:lnTo>
                    <a:pt x="903478" y="0"/>
                  </a:lnTo>
                  <a:cubicBezTo>
                    <a:pt x="970153" y="0"/>
                    <a:pt x="1024128" y="54102"/>
                    <a:pt x="1024128" y="120650"/>
                  </a:cubicBezTo>
                  <a:lnTo>
                    <a:pt x="1024128" y="885190"/>
                  </a:lnTo>
                  <a:cubicBezTo>
                    <a:pt x="1024128" y="951865"/>
                    <a:pt x="970026" y="1005840"/>
                    <a:pt x="903478" y="1005840"/>
                  </a:cubicBezTo>
                  <a:lnTo>
                    <a:pt x="120650" y="1005840"/>
                  </a:lnTo>
                  <a:cubicBezTo>
                    <a:pt x="54102" y="1005840"/>
                    <a:pt x="0" y="951738"/>
                    <a:pt x="0" y="885190"/>
                  </a:cubicBezTo>
                  <a:close/>
                </a:path>
              </a:pathLst>
            </a:custGeom>
            <a:solidFill>
              <a:srgbClr val="FFFFFF"/>
            </a:solidFill>
          </p:spPr>
          <p:txBody>
            <a:bodyPr/>
            <a:p/>
          </p:txBody>
        </p:sp>
        <p:sp>
          <p:nvSpPr>
            <p:cNvPr name="TextBox 47" id="47"/>
            <p:cNvSpPr txBox="true"/>
            <p:nvPr/>
          </p:nvSpPr>
          <p:spPr>
            <a:xfrm>
              <a:off x="0" y="0"/>
              <a:ext cx="1024128" cy="10058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STAGE</a:t>
              </a:r>
            </a:p>
          </p:txBody>
        </p:sp>
      </p:grpSp>
      <p:grpSp>
        <p:nvGrpSpPr>
          <p:cNvPr name="Group 48" id="48"/>
          <p:cNvGrpSpPr/>
          <p:nvPr/>
        </p:nvGrpSpPr>
        <p:grpSpPr>
          <a:xfrm rot="0">
            <a:off x="932688" y="4430268"/>
            <a:ext cx="768096" cy="1714500"/>
            <a:chOff x="0" y="0"/>
            <a:chExt cx="1024128" cy="2286000"/>
          </a:xfrm>
        </p:grpSpPr>
        <p:sp>
          <p:nvSpPr>
            <p:cNvPr name="Freeform 49" id="49"/>
            <p:cNvSpPr/>
            <p:nvPr/>
          </p:nvSpPr>
          <p:spPr>
            <a:xfrm flipH="false" flipV="false" rot="0">
              <a:off x="0" y="0"/>
              <a:ext cx="1024128" cy="2286000"/>
            </a:xfrm>
            <a:custGeom>
              <a:avLst/>
              <a:gdLst/>
              <a:ahLst/>
              <a:cxnLst/>
              <a:rect r="r" b="b" t="t" l="l"/>
              <a:pathLst>
                <a:path h="2286000" w="1024128">
                  <a:moveTo>
                    <a:pt x="0" y="122936"/>
                  </a:moveTo>
                  <a:cubicBezTo>
                    <a:pt x="0" y="54991"/>
                    <a:pt x="54991" y="0"/>
                    <a:pt x="122936" y="0"/>
                  </a:cubicBezTo>
                  <a:lnTo>
                    <a:pt x="901192" y="0"/>
                  </a:lnTo>
                  <a:cubicBezTo>
                    <a:pt x="969010" y="0"/>
                    <a:pt x="1024128" y="54991"/>
                    <a:pt x="1024128" y="122936"/>
                  </a:cubicBezTo>
                  <a:lnTo>
                    <a:pt x="1024128" y="2163064"/>
                  </a:lnTo>
                  <a:cubicBezTo>
                    <a:pt x="1024128" y="2230882"/>
                    <a:pt x="969137" y="2286000"/>
                    <a:pt x="901192" y="2286000"/>
                  </a:cubicBezTo>
                  <a:lnTo>
                    <a:pt x="122936" y="2286000"/>
                  </a:lnTo>
                  <a:cubicBezTo>
                    <a:pt x="54991" y="2286000"/>
                    <a:pt x="0" y="2231009"/>
                    <a:pt x="0" y="2163064"/>
                  </a:cubicBezTo>
                  <a:close/>
                </a:path>
              </a:pathLst>
            </a:custGeom>
            <a:solidFill>
              <a:srgbClr val="FFFFFF"/>
            </a:solidFill>
          </p:spPr>
          <p:txBody>
            <a:bodyPr/>
            <a:p/>
          </p:txBody>
        </p:sp>
        <p:sp>
          <p:nvSpPr>
            <p:cNvPr name="TextBox 50" id="50"/>
            <p:cNvSpPr txBox="true"/>
            <p:nvPr/>
          </p:nvSpPr>
          <p:spPr>
            <a:xfrm>
              <a:off x="0" y="0"/>
              <a:ext cx="1024128" cy="228600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WHAT HAPPENS</a:t>
              </a:r>
            </a:p>
          </p:txBody>
        </p:sp>
      </p:grpSp>
      <p:grpSp>
        <p:nvGrpSpPr>
          <p:cNvPr name="Group 51" id="51"/>
          <p:cNvGrpSpPr/>
          <p:nvPr/>
        </p:nvGrpSpPr>
        <p:grpSpPr>
          <a:xfrm rot="0">
            <a:off x="932688" y="6254496"/>
            <a:ext cx="768096" cy="1440180"/>
            <a:chOff x="0" y="0"/>
            <a:chExt cx="1024128" cy="1920240"/>
          </a:xfrm>
        </p:grpSpPr>
        <p:sp>
          <p:nvSpPr>
            <p:cNvPr name="Freeform 52" id="52"/>
            <p:cNvSpPr/>
            <p:nvPr/>
          </p:nvSpPr>
          <p:spPr>
            <a:xfrm flipH="false" flipV="false" rot="0">
              <a:off x="0" y="0"/>
              <a:ext cx="1024128" cy="1920240"/>
            </a:xfrm>
            <a:custGeom>
              <a:avLst/>
              <a:gdLst/>
              <a:ahLst/>
              <a:cxnLst/>
              <a:rect r="r" b="b" t="t" l="l"/>
              <a:pathLst>
                <a:path h="1920240" w="1024128">
                  <a:moveTo>
                    <a:pt x="0" y="122936"/>
                  </a:moveTo>
                  <a:cubicBezTo>
                    <a:pt x="0" y="54991"/>
                    <a:pt x="54991" y="0"/>
                    <a:pt x="122936" y="0"/>
                  </a:cubicBezTo>
                  <a:lnTo>
                    <a:pt x="901192" y="0"/>
                  </a:lnTo>
                  <a:cubicBezTo>
                    <a:pt x="969010" y="0"/>
                    <a:pt x="1024128" y="54991"/>
                    <a:pt x="1024128" y="122936"/>
                  </a:cubicBezTo>
                  <a:lnTo>
                    <a:pt x="1024128" y="1797304"/>
                  </a:lnTo>
                  <a:cubicBezTo>
                    <a:pt x="1024128" y="1865122"/>
                    <a:pt x="969137" y="1920240"/>
                    <a:pt x="901192" y="1920240"/>
                  </a:cubicBezTo>
                  <a:lnTo>
                    <a:pt x="122936" y="1920240"/>
                  </a:lnTo>
                  <a:cubicBezTo>
                    <a:pt x="55118" y="1920240"/>
                    <a:pt x="0" y="1865249"/>
                    <a:pt x="0" y="1797304"/>
                  </a:cubicBezTo>
                  <a:close/>
                </a:path>
              </a:pathLst>
            </a:custGeom>
            <a:solidFill>
              <a:srgbClr val="FFFFFF"/>
            </a:solidFill>
          </p:spPr>
          <p:txBody>
            <a:bodyPr/>
            <a:p/>
          </p:txBody>
        </p:sp>
        <p:sp>
          <p:nvSpPr>
            <p:cNvPr name="TextBox 53" id="53"/>
            <p:cNvSpPr txBox="true"/>
            <p:nvPr/>
          </p:nvSpPr>
          <p:spPr>
            <a:xfrm>
              <a:off x="0" y="0"/>
              <a:ext cx="1024128" cy="19202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PAIN POINT</a:t>
              </a:r>
            </a:p>
          </p:txBody>
        </p:sp>
      </p:grpSp>
      <p:grpSp>
        <p:nvGrpSpPr>
          <p:cNvPr name="Group 54" id="54"/>
          <p:cNvGrpSpPr/>
          <p:nvPr/>
        </p:nvGrpSpPr>
        <p:grpSpPr>
          <a:xfrm rot="0">
            <a:off x="1770698" y="3553778"/>
            <a:ext cx="1297610" cy="779145"/>
            <a:chOff x="0" y="0"/>
            <a:chExt cx="1730146" cy="1038860"/>
          </a:xfrm>
        </p:grpSpPr>
        <p:sp>
          <p:nvSpPr>
            <p:cNvPr name="Freeform 55" id="55"/>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txBody>
            <a:bodyPr/>
            <a:p/>
          </p:txBody>
        </p:sp>
        <p:sp>
          <p:nvSpPr>
            <p:cNvPr name="TextBox 56" id="56"/>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1  </a:t>
              </a:r>
              <a:r>
                <a:rPr lang="en-US" sz="1350" b="true">
                  <a:solidFill>
                    <a:srgbClr val="0F172A"/>
                  </a:solidFill>
                  <a:latin typeface="DM Sans Bold"/>
                  <a:ea typeface="DM Sans Bold"/>
                  <a:cs typeface="DM Sans Bold"/>
                  <a:sym typeface="DM Sans Bold"/>
                </a:rPr>
                <a:t>Dressing is applied</a:t>
              </a:r>
            </a:p>
          </p:txBody>
        </p:sp>
      </p:grpSp>
      <p:grpSp>
        <p:nvGrpSpPr>
          <p:cNvPr name="Group 57" id="57"/>
          <p:cNvGrpSpPr/>
          <p:nvPr/>
        </p:nvGrpSpPr>
        <p:grpSpPr>
          <a:xfrm rot="0">
            <a:off x="1773555" y="4420743"/>
            <a:ext cx="1291895" cy="1733550"/>
            <a:chOff x="0" y="0"/>
            <a:chExt cx="1722526" cy="2311400"/>
          </a:xfrm>
        </p:grpSpPr>
        <p:sp>
          <p:nvSpPr>
            <p:cNvPr name="Freeform 58" id="58"/>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59" id="59"/>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 foam dressing sits under a bandage or sock</a:t>
              </a:r>
            </a:p>
          </p:txBody>
        </p:sp>
      </p:grpSp>
      <p:grpSp>
        <p:nvGrpSpPr>
          <p:cNvPr name="Group 60" id="60"/>
          <p:cNvGrpSpPr/>
          <p:nvPr/>
        </p:nvGrpSpPr>
        <p:grpSpPr>
          <a:xfrm rot="0">
            <a:off x="1783080" y="6254496"/>
            <a:ext cx="1272845" cy="1440180"/>
            <a:chOff x="0" y="0"/>
            <a:chExt cx="1697126" cy="1920240"/>
          </a:xfrm>
        </p:grpSpPr>
        <p:sp>
          <p:nvSpPr>
            <p:cNvPr name="Freeform 61" id="61"/>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txBody>
            <a:bodyPr/>
            <a:p/>
          </p:txBody>
        </p:sp>
        <p:sp>
          <p:nvSpPr>
            <p:cNvPr name="TextBox 62" id="62"/>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369A1"/>
                  </a:solidFill>
                  <a:latin typeface="DM Sans Bold"/>
                  <a:ea typeface="DM Sans Bold"/>
                  <a:cs typeface="DM Sans Bold"/>
                  <a:sym typeface="DM Sans Bold"/>
                </a:rPr>
                <a:t>The change line is hidden under the cover</a:t>
              </a:r>
            </a:p>
          </p:txBody>
        </p:sp>
      </p:grpSp>
      <p:grpSp>
        <p:nvGrpSpPr>
          <p:cNvPr name="Group 63" id="63"/>
          <p:cNvGrpSpPr/>
          <p:nvPr/>
        </p:nvGrpSpPr>
        <p:grpSpPr>
          <a:xfrm rot="0">
            <a:off x="3028493" y="3806190"/>
            <a:ext cx="219456" cy="274320"/>
            <a:chOff x="0" y="0"/>
            <a:chExt cx="292608" cy="365760"/>
          </a:xfrm>
        </p:grpSpPr>
        <p:sp>
          <p:nvSpPr>
            <p:cNvPr name="Freeform 64" id="64"/>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65" id="65"/>
          <p:cNvGrpSpPr/>
          <p:nvPr/>
        </p:nvGrpSpPr>
        <p:grpSpPr>
          <a:xfrm rot="0">
            <a:off x="3208134" y="3553778"/>
            <a:ext cx="1297610" cy="779145"/>
            <a:chOff x="0" y="0"/>
            <a:chExt cx="1730146" cy="1038860"/>
          </a:xfrm>
        </p:grpSpPr>
        <p:sp>
          <p:nvSpPr>
            <p:cNvPr name="Freeform 66" id="66"/>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txBody>
            <a:bodyPr/>
            <a:p/>
          </p:txBody>
        </p:sp>
        <p:sp>
          <p:nvSpPr>
            <p:cNvPr name="TextBox 67" id="67"/>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2  </a:t>
              </a:r>
              <a:r>
                <a:rPr lang="en-US" sz="1350" b="true">
                  <a:solidFill>
                    <a:srgbClr val="0F172A"/>
                  </a:solidFill>
                  <a:latin typeface="DM Sans Bold"/>
                  <a:ea typeface="DM Sans Bold"/>
                  <a:cs typeface="DM Sans Bold"/>
                  <a:sym typeface="DM Sans Bold"/>
                </a:rPr>
                <a:t>Dressing fills over time</a:t>
              </a:r>
            </a:p>
          </p:txBody>
        </p:sp>
      </p:grpSp>
      <p:grpSp>
        <p:nvGrpSpPr>
          <p:cNvPr name="Group 68" id="68"/>
          <p:cNvGrpSpPr/>
          <p:nvPr/>
        </p:nvGrpSpPr>
        <p:grpSpPr>
          <a:xfrm rot="0">
            <a:off x="3210992" y="4420743"/>
            <a:ext cx="1291895" cy="1733550"/>
            <a:chOff x="0" y="0"/>
            <a:chExt cx="1722526" cy="2311400"/>
          </a:xfrm>
        </p:grpSpPr>
        <p:sp>
          <p:nvSpPr>
            <p:cNvPr name="Freeform 69" id="69"/>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70" id="70"/>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Fluid builds up beneath the cover</a:t>
              </a:r>
            </a:p>
          </p:txBody>
        </p:sp>
      </p:grpSp>
      <p:grpSp>
        <p:nvGrpSpPr>
          <p:cNvPr name="Group 71" id="71"/>
          <p:cNvGrpSpPr/>
          <p:nvPr/>
        </p:nvGrpSpPr>
        <p:grpSpPr>
          <a:xfrm rot="0">
            <a:off x="3220517" y="6254496"/>
            <a:ext cx="1272845" cy="1440180"/>
            <a:chOff x="0" y="0"/>
            <a:chExt cx="1697126" cy="1920240"/>
          </a:xfrm>
        </p:grpSpPr>
        <p:sp>
          <p:nvSpPr>
            <p:cNvPr name="Freeform 72" id="72"/>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txBody>
            <a:bodyPr/>
            <a:p/>
          </p:txBody>
        </p:sp>
        <p:sp>
          <p:nvSpPr>
            <p:cNvPr name="TextBox 73" id="73"/>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There is no clear signal</a:t>
              </a:r>
            </a:p>
          </p:txBody>
        </p:sp>
      </p:grpSp>
      <p:grpSp>
        <p:nvGrpSpPr>
          <p:cNvPr name="Group 74" id="74"/>
          <p:cNvGrpSpPr/>
          <p:nvPr/>
        </p:nvGrpSpPr>
        <p:grpSpPr>
          <a:xfrm rot="0">
            <a:off x="4465930" y="3806190"/>
            <a:ext cx="219456" cy="274320"/>
            <a:chOff x="0" y="0"/>
            <a:chExt cx="292608" cy="365760"/>
          </a:xfrm>
        </p:grpSpPr>
        <p:sp>
          <p:nvSpPr>
            <p:cNvPr name="Freeform 75" id="75"/>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76" id="76"/>
          <p:cNvGrpSpPr/>
          <p:nvPr/>
        </p:nvGrpSpPr>
        <p:grpSpPr>
          <a:xfrm rot="0">
            <a:off x="4645571" y="3553778"/>
            <a:ext cx="1297610" cy="779145"/>
            <a:chOff x="0" y="0"/>
            <a:chExt cx="1730146" cy="1038860"/>
          </a:xfrm>
        </p:grpSpPr>
        <p:sp>
          <p:nvSpPr>
            <p:cNvPr name="Freeform 77" id="77"/>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txBody>
            <a:bodyPr/>
            <a:p/>
          </p:txBody>
        </p:sp>
        <p:sp>
          <p:nvSpPr>
            <p:cNvPr name="TextBox 78" id="78"/>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3  </a:t>
              </a:r>
              <a:r>
                <a:rPr lang="en-US" sz="1350" b="true">
                  <a:solidFill>
                    <a:srgbClr val="0F172A"/>
                  </a:solidFill>
                  <a:latin typeface="DM Sans Bold"/>
                  <a:ea typeface="DM Sans Bold"/>
                  <a:cs typeface="DM Sans Bold"/>
                  <a:sym typeface="DM Sans Bold"/>
                </a:rPr>
                <a:t>Carer decides</a:t>
              </a:r>
            </a:p>
          </p:txBody>
        </p:sp>
      </p:grpSp>
      <p:grpSp>
        <p:nvGrpSpPr>
          <p:cNvPr name="Group 79" id="79"/>
          <p:cNvGrpSpPr/>
          <p:nvPr/>
        </p:nvGrpSpPr>
        <p:grpSpPr>
          <a:xfrm rot="0">
            <a:off x="4648429" y="4420743"/>
            <a:ext cx="1291895" cy="1733550"/>
            <a:chOff x="0" y="0"/>
            <a:chExt cx="1722526" cy="2311400"/>
          </a:xfrm>
        </p:grpSpPr>
        <p:sp>
          <p:nvSpPr>
            <p:cNvPr name="Freeform 80" id="80"/>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81" id="81"/>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Follow a schedule, take a look, or wait for leakage</a:t>
              </a:r>
            </a:p>
          </p:txBody>
        </p:sp>
      </p:grpSp>
      <p:grpSp>
        <p:nvGrpSpPr>
          <p:cNvPr name="Group 82" id="82"/>
          <p:cNvGrpSpPr/>
          <p:nvPr/>
        </p:nvGrpSpPr>
        <p:grpSpPr>
          <a:xfrm rot="0">
            <a:off x="4657954" y="6254496"/>
            <a:ext cx="1272845" cy="1440180"/>
            <a:chOff x="0" y="0"/>
            <a:chExt cx="1697126" cy="1920240"/>
          </a:xfrm>
        </p:grpSpPr>
        <p:sp>
          <p:nvSpPr>
            <p:cNvPr name="Freeform 83" id="83"/>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txBody>
            <a:bodyPr/>
            <a:p/>
          </p:txBody>
        </p:sp>
        <p:sp>
          <p:nvSpPr>
            <p:cNvPr name="TextBox 84" id="84"/>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The decision is uncertain</a:t>
              </a:r>
            </a:p>
          </p:txBody>
        </p:sp>
      </p:grpSp>
      <p:grpSp>
        <p:nvGrpSpPr>
          <p:cNvPr name="Group 85" id="85"/>
          <p:cNvGrpSpPr/>
          <p:nvPr/>
        </p:nvGrpSpPr>
        <p:grpSpPr>
          <a:xfrm rot="0">
            <a:off x="5903366" y="3806190"/>
            <a:ext cx="219456" cy="274320"/>
            <a:chOff x="0" y="0"/>
            <a:chExt cx="292608" cy="365760"/>
          </a:xfrm>
        </p:grpSpPr>
        <p:sp>
          <p:nvSpPr>
            <p:cNvPr name="Freeform 86" id="86"/>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87" id="87"/>
          <p:cNvGrpSpPr/>
          <p:nvPr/>
        </p:nvGrpSpPr>
        <p:grpSpPr>
          <a:xfrm rot="0">
            <a:off x="6083008" y="3553778"/>
            <a:ext cx="1297610" cy="779145"/>
            <a:chOff x="0" y="0"/>
            <a:chExt cx="1730146" cy="1038860"/>
          </a:xfrm>
        </p:grpSpPr>
        <p:sp>
          <p:nvSpPr>
            <p:cNvPr name="Freeform 88" id="88"/>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txBody>
            <a:bodyPr/>
            <a:p/>
          </p:txBody>
        </p:sp>
        <p:sp>
          <p:nvSpPr>
            <p:cNvPr name="TextBox 89" id="89"/>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4  </a:t>
              </a:r>
              <a:r>
                <a:rPr lang="en-US" sz="1350" b="true">
                  <a:solidFill>
                    <a:srgbClr val="0F172A"/>
                  </a:solidFill>
                  <a:latin typeface="DM Sans Bold"/>
                  <a:ea typeface="DM Sans Bold"/>
                  <a:cs typeface="DM Sans Bold"/>
                  <a:sym typeface="DM Sans Bold"/>
                </a:rPr>
                <a:t>Change</a:t>
              </a:r>
            </a:p>
          </p:txBody>
        </p:sp>
      </p:grpSp>
      <p:grpSp>
        <p:nvGrpSpPr>
          <p:cNvPr name="Group 90" id="90"/>
          <p:cNvGrpSpPr/>
          <p:nvPr/>
        </p:nvGrpSpPr>
        <p:grpSpPr>
          <a:xfrm rot="0">
            <a:off x="6085865" y="4420743"/>
            <a:ext cx="1291895" cy="1733550"/>
            <a:chOff x="0" y="0"/>
            <a:chExt cx="1722526" cy="2311400"/>
          </a:xfrm>
        </p:grpSpPr>
        <p:sp>
          <p:nvSpPr>
            <p:cNvPr name="Freeform 91" id="91"/>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92" id="92"/>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Too early or too late</a:t>
              </a:r>
            </a:p>
          </p:txBody>
        </p:sp>
      </p:grpSp>
      <p:grpSp>
        <p:nvGrpSpPr>
          <p:cNvPr name="Group 93" id="93"/>
          <p:cNvGrpSpPr/>
          <p:nvPr/>
        </p:nvGrpSpPr>
        <p:grpSpPr>
          <a:xfrm rot="0">
            <a:off x="6095390" y="6254496"/>
            <a:ext cx="1272845" cy="1440180"/>
            <a:chOff x="0" y="0"/>
            <a:chExt cx="1697126" cy="1920240"/>
          </a:xfrm>
        </p:grpSpPr>
        <p:sp>
          <p:nvSpPr>
            <p:cNvPr name="Freeform 94" id="94"/>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txBody>
            <a:bodyPr/>
            <a:p/>
          </p:txBody>
        </p:sp>
        <p:sp>
          <p:nvSpPr>
            <p:cNvPr name="TextBox 95" id="95"/>
            <p:cNvSpPr txBox="true"/>
            <p:nvPr/>
          </p:nvSpPr>
          <p:spPr>
            <a:xfrm>
              <a:off x="0" y="-9525"/>
              <a:ext cx="1697126" cy="1929765"/>
            </a:xfrm>
            <a:prstGeom prst="rect">
              <a:avLst/>
            </a:prstGeom>
          </p:spPr>
          <p:txBody>
            <a:bodyPr anchor="ctr" rtlCol="false" tIns="50800" lIns="50800" bIns="50800" rIns="50800"/>
            <a:lstStyle/>
            <a:p>
              <a:pPr algn="ctr" marL="0" indent="0" lvl="0">
                <a:lnSpc>
                  <a:spcPts val="1512"/>
                </a:lnSpc>
                <a:spcBef>
                  <a:spcPct val="0"/>
                </a:spcBef>
              </a:pPr>
              <a:r>
                <a:rPr lang="en-US" b="true" sz="1260" strike="noStrike" u="none">
                  <a:solidFill>
                    <a:srgbClr val="B91C1C"/>
                  </a:solidFill>
                  <a:latin typeface="DM Sans Bold"/>
                  <a:ea typeface="DM Sans Bold"/>
                  <a:cs typeface="DM Sans Bold"/>
                  <a:sym typeface="DM Sans Bold"/>
                </a:rPr>
                <a:t>Painful removal and a wasted dressing, or leakage and skin maceration</a:t>
              </a:r>
            </a:p>
          </p:txBody>
        </p:sp>
      </p:grpSp>
      <p:grpSp>
        <p:nvGrpSpPr>
          <p:cNvPr name="Group 96" id="96"/>
          <p:cNvGrpSpPr/>
          <p:nvPr/>
        </p:nvGrpSpPr>
        <p:grpSpPr>
          <a:xfrm rot="0">
            <a:off x="7340803" y="3806190"/>
            <a:ext cx="219456" cy="274320"/>
            <a:chOff x="0" y="0"/>
            <a:chExt cx="292608" cy="365760"/>
          </a:xfrm>
        </p:grpSpPr>
        <p:sp>
          <p:nvSpPr>
            <p:cNvPr name="Freeform 97" id="97"/>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98" id="98"/>
          <p:cNvGrpSpPr/>
          <p:nvPr/>
        </p:nvGrpSpPr>
        <p:grpSpPr>
          <a:xfrm rot="0">
            <a:off x="7520445" y="3553778"/>
            <a:ext cx="1297610" cy="779145"/>
            <a:chOff x="0" y="0"/>
            <a:chExt cx="1730146" cy="1038860"/>
          </a:xfrm>
        </p:grpSpPr>
        <p:sp>
          <p:nvSpPr>
            <p:cNvPr name="Freeform 99" id="99"/>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txBody>
            <a:bodyPr/>
            <a:p/>
          </p:txBody>
        </p:sp>
        <p:sp>
          <p:nvSpPr>
            <p:cNvPr name="TextBox 100" id="100"/>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5  </a:t>
              </a:r>
              <a:r>
                <a:rPr lang="en-US" sz="1350" b="true">
                  <a:solidFill>
                    <a:srgbClr val="0F172A"/>
                  </a:solidFill>
                  <a:latin typeface="DM Sans Bold"/>
                  <a:ea typeface="DM Sans Bold"/>
                  <a:cs typeface="DM Sans Bold"/>
                  <a:sym typeface="DM Sans Bold"/>
                </a:rPr>
                <a:t>Repeat</a:t>
              </a:r>
            </a:p>
          </p:txBody>
        </p:sp>
      </p:grpSp>
      <p:grpSp>
        <p:nvGrpSpPr>
          <p:cNvPr name="Group 101" id="101"/>
          <p:cNvGrpSpPr/>
          <p:nvPr/>
        </p:nvGrpSpPr>
        <p:grpSpPr>
          <a:xfrm rot="0">
            <a:off x="7523302" y="4420743"/>
            <a:ext cx="1291895" cy="1733550"/>
            <a:chOff x="0" y="0"/>
            <a:chExt cx="1722526" cy="2311400"/>
          </a:xfrm>
        </p:grpSpPr>
        <p:sp>
          <p:nvSpPr>
            <p:cNvPr name="Freeform 102" id="102"/>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103" id="103"/>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About five visits a week¹³</a:t>
              </a:r>
            </a:p>
          </p:txBody>
        </p:sp>
      </p:grpSp>
      <p:grpSp>
        <p:nvGrpSpPr>
          <p:cNvPr name="Group 104" id="104"/>
          <p:cNvGrpSpPr/>
          <p:nvPr/>
        </p:nvGrpSpPr>
        <p:grpSpPr>
          <a:xfrm rot="0">
            <a:off x="7532827" y="6254496"/>
            <a:ext cx="1272845" cy="1440180"/>
            <a:chOff x="0" y="0"/>
            <a:chExt cx="1697126" cy="1920240"/>
          </a:xfrm>
        </p:grpSpPr>
        <p:sp>
          <p:nvSpPr>
            <p:cNvPr name="Freeform 105" id="105"/>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txBody>
            <a:bodyPr/>
            <a:p/>
          </p:txBody>
        </p:sp>
        <p:sp>
          <p:nvSpPr>
            <p:cNvPr name="TextBox 106" id="106"/>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About 18 minutes per visit¹³</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txBody>
            <a:bodyPr/>
            <a:p/>
          </p:txBody>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txBody>
            <a:bodyPr/>
            <a:p/>
          </p:txBody>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txBody>
            <a:bodyPr/>
            <a:p/>
          </p:txBody>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txBody>
            <a:bodyPr/>
            <a:p/>
          </p:txBody>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txBody>
            <a:bodyPr/>
            <a:p/>
          </p:txBody>
        </p:sp>
      </p:grpSp>
      <p:grpSp>
        <p:nvGrpSpPr>
          <p:cNvPr name="Group 18" id="18"/>
          <p:cNvGrpSpPr/>
          <p:nvPr/>
        </p:nvGrpSpPr>
        <p:grpSpPr>
          <a:xfrm rot="0">
            <a:off x="800100" y="657225"/>
            <a:ext cx="12893040" cy="462782"/>
            <a:chOff x="0" y="0"/>
            <a:chExt cx="17190720" cy="617042"/>
          </a:xfrm>
        </p:grpSpPr>
        <p:sp>
          <p:nvSpPr>
            <p:cNvPr name="Freeform 19" id="19"/>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10">
                <a:alphaModFix amt="0"/>
              </a:blip>
              <a:stretch>
                <a:fillRect l="0" t="-492852" r="0" b="-492852"/>
              </a:stretch>
            </a:blipFill>
          </p:spPr>
          <p:txBody>
            <a:bodyPr/>
            <a:p/>
          </p:txBody>
        </p:sp>
        <p:sp>
          <p:nvSpPr>
            <p:cNvPr name="TextBox 20" id="20"/>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User Journey: After State (Intended)</a:t>
              </a:r>
            </a:p>
          </p:txBody>
        </p:sp>
      </p:grpSp>
      <p:sp>
        <p:nvSpPr>
          <p:cNvPr name="TextBox 21" id="21"/>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Design Principle: </a:t>
            </a:r>
            <a:r>
              <a:rPr lang="en-US" b="true" sz="1439">
                <a:solidFill>
                  <a:srgbClr val="334155"/>
                </a:solidFill>
                <a:latin typeface="DM Sans Bold"/>
                <a:ea typeface="DM Sans Bold"/>
                <a:cs typeface="DM Sans Bold"/>
                <a:sym typeface="DM Sans Bold"/>
              </a:rPr>
              <a:t>The intended setup keeps the usual care routine. The strip sits on the dressing’s outer face; the reader is reused. E4 will test the ±10% alert target.</a:t>
            </a:r>
          </a:p>
        </p:txBody>
      </p:sp>
      <p:sp>
        <p:nvSpPr>
          <p:cNvPr name="TextBox 22" id="22"/>
          <p:cNvSpPr txBox="true"/>
          <p:nvPr/>
        </p:nvSpPr>
        <p:spPr>
          <a:xfrm rot="0">
            <a:off x="10429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0 lifts</a:t>
            </a:r>
          </a:p>
        </p:txBody>
      </p:sp>
      <p:sp>
        <p:nvSpPr>
          <p:cNvPr name="TextBox 23" id="23"/>
          <p:cNvSpPr txBox="true"/>
          <p:nvPr/>
        </p:nvSpPr>
        <p:spPr>
          <a:xfrm rot="0">
            <a:off x="10429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DESIGN GOAL: CHECK WITHOUT LIFTING</a:t>
            </a:r>
          </a:p>
        </p:txBody>
      </p:sp>
      <p:sp>
        <p:nvSpPr>
          <p:cNvPr name="TextBox 24" id="24"/>
          <p:cNvSpPr txBox="true"/>
          <p:nvPr/>
        </p:nvSpPr>
        <p:spPr>
          <a:xfrm rot="0">
            <a:off x="5272088" y="1498092"/>
            <a:ext cx="3514725" cy="332413"/>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up to 44.9 %</a:t>
            </a:r>
          </a:p>
        </p:txBody>
      </p:sp>
      <p:sp>
        <p:nvSpPr>
          <p:cNvPr name="TextBox 25" id="25"/>
          <p:cNvSpPr txBox="true"/>
          <p:nvPr/>
        </p:nvSpPr>
        <p:spPr>
          <a:xfrm rot="0">
            <a:off x="52720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EARLY CHANGES A RELIABLE ALERT COULD AVOID¹</a:t>
            </a:r>
          </a:p>
        </p:txBody>
      </p:sp>
      <p:sp>
        <p:nvSpPr>
          <p:cNvPr name="TextBox 26" id="26"/>
          <p:cNvSpPr txBox="true"/>
          <p:nvPr/>
        </p:nvSpPr>
        <p:spPr>
          <a:xfrm rot="0">
            <a:off x="9501188" y="1488567"/>
            <a:ext cx="3514725" cy="385019"/>
          </a:xfrm>
          <a:prstGeom prst="rect">
            <a:avLst/>
          </a:prstGeom>
        </p:spPr>
        <p:txBody>
          <a:bodyPr anchor="t" rtlCol="false" tIns="0" lIns="0" bIns="0" rIns="0">
            <a:spAutoFit/>
          </a:bodyPr>
          <a:lstStyle/>
          <a:p>
            <a:pPr algn="ctr" marL="0" indent="0" lvl="0">
              <a:lnSpc>
                <a:spcPts val="2968"/>
              </a:lnSpc>
              <a:spcBef>
                <a:spcPct val="0"/>
              </a:spcBef>
            </a:pPr>
            <a:r>
              <a:rPr lang="en-US" sz="2250" strike="noStrike" u="none">
                <a:solidFill>
                  <a:srgbClr val="0369A1"/>
                </a:solidFill>
                <a:latin typeface="Poppins"/>
                <a:ea typeface="Poppins"/>
                <a:cs typeface="Poppins"/>
                <a:sym typeface="Poppins"/>
              </a:rPr>
              <a:t>≤ ₹100</a:t>
            </a:r>
          </a:p>
        </p:txBody>
      </p:sp>
      <p:sp>
        <p:nvSpPr>
          <p:cNvPr name="TextBox 27" id="27"/>
          <p:cNvSpPr txBox="true"/>
          <p:nvPr/>
        </p:nvSpPr>
        <p:spPr>
          <a:xfrm rot="0">
            <a:off x="9501188" y="2016252"/>
            <a:ext cx="3514725" cy="171450"/>
          </a:xfrm>
          <a:prstGeom prst="rect">
            <a:avLst/>
          </a:prstGeom>
        </p:spPr>
        <p:txBody>
          <a:bodyPr anchor="t" rtlCol="false" tIns="0" lIns="0" bIns="0" rIns="0">
            <a:spAutoFit/>
          </a:bodyPr>
          <a:lstStyle/>
          <a:p>
            <a:pPr algn="ctr" marL="0" indent="0" lvl="0">
              <a:lnSpc>
                <a:spcPts val="1367"/>
              </a:lnSpc>
              <a:spcBef>
                <a:spcPct val="0"/>
              </a:spcBef>
            </a:pPr>
            <a:r>
              <a:rPr lang="en-US" sz="1139" strike="noStrike" u="none">
                <a:solidFill>
                  <a:srgbClr val="64748B"/>
                </a:solidFill>
                <a:latin typeface="DM Sans"/>
                <a:ea typeface="DM Sans"/>
                <a:cs typeface="DM Sans"/>
                <a:sym typeface="DM Sans"/>
              </a:rPr>
              <a:t>TARGET STRIP COST (ESTIMATE)</a:t>
            </a:r>
          </a:p>
        </p:txBody>
      </p:sp>
      <p:sp>
        <p:nvSpPr>
          <p:cNvPr name="TextBox 28" id="28"/>
          <p:cNvSpPr txBox="true"/>
          <p:nvPr/>
        </p:nvSpPr>
        <p:spPr>
          <a:xfrm rot="0">
            <a:off x="13730288" y="1488567"/>
            <a:ext cx="3514725" cy="385019"/>
          </a:xfrm>
          <a:prstGeom prst="rect">
            <a:avLst/>
          </a:prstGeom>
        </p:spPr>
        <p:txBody>
          <a:bodyPr anchor="t" rtlCol="false" tIns="0" lIns="0" bIns="0" rIns="0">
            <a:spAutoFit/>
          </a:bodyPr>
          <a:lstStyle/>
          <a:p>
            <a:pPr algn="ctr" marL="0" indent="0" lvl="0">
              <a:lnSpc>
                <a:spcPts val="2968"/>
              </a:lnSpc>
              <a:spcBef>
                <a:spcPct val="0"/>
              </a:spcBef>
            </a:pPr>
            <a:r>
              <a:rPr lang="en-US" sz="2250" strike="noStrike" u="none">
                <a:solidFill>
                  <a:srgbClr val="0369A1"/>
                </a:solidFill>
                <a:latin typeface="Poppins"/>
                <a:ea typeface="Poppins"/>
                <a:cs typeface="Poppins"/>
                <a:sym typeface="Poppins"/>
              </a:rPr>
              <a:t>2–5 strips</a:t>
            </a:r>
          </a:p>
        </p:txBody>
      </p:sp>
      <p:sp>
        <p:nvSpPr>
          <p:cNvPr name="TextBox 29" id="29"/>
          <p:cNvSpPr txBox="true"/>
          <p:nvPr/>
        </p:nvSpPr>
        <p:spPr>
          <a:xfrm rot="0">
            <a:off x="13730288" y="2016252"/>
            <a:ext cx="3514725" cy="171450"/>
          </a:xfrm>
          <a:prstGeom prst="rect">
            <a:avLst/>
          </a:prstGeom>
        </p:spPr>
        <p:txBody>
          <a:bodyPr anchor="t" rtlCol="false" tIns="0" lIns="0" bIns="0" rIns="0">
            <a:spAutoFit/>
          </a:bodyPr>
          <a:lstStyle/>
          <a:p>
            <a:pPr algn="ctr" marL="0" indent="0" lvl="0">
              <a:lnSpc>
                <a:spcPts val="1367"/>
              </a:lnSpc>
              <a:spcBef>
                <a:spcPct val="0"/>
              </a:spcBef>
            </a:pPr>
            <a:r>
              <a:rPr lang="en-US" sz="1139" strike="noStrike" u="none">
                <a:solidFill>
                  <a:srgbClr val="64748B"/>
                </a:solidFill>
                <a:latin typeface="DM Sans"/>
                <a:ea typeface="DM Sans"/>
                <a:cs typeface="DM Sans"/>
                <a:sym typeface="DM Sans"/>
              </a:rPr>
              <a:t>PAID BY ONE AVOIDED CHANGE (PROJECTION)¹⁵</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Intended workflow only. Bench testing comes first; the device has not been tested on people.</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txBody>
            <a:bodyPr/>
            <a:p/>
          </p:txBody>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each person could gain</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txBody>
            <a:bodyPr/>
            <a:p/>
          </p:txBody>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txBody>
            <a:bodyPr/>
            <a:p/>
          </p:txBody>
        </p:sp>
      </p:grpSp>
      <p:grpSp>
        <p:nvGrpSpPr>
          <p:cNvPr name="Group 38" id="38"/>
          <p:cNvGrpSpPr/>
          <p:nvPr/>
        </p:nvGrpSpPr>
        <p:grpSpPr>
          <a:xfrm rot="0">
            <a:off x="13812012" y="685800"/>
            <a:ext cx="3675888" cy="370332"/>
            <a:chOff x="0" y="0"/>
            <a:chExt cx="4901184" cy="493776"/>
          </a:xfrm>
        </p:grpSpPr>
        <p:sp>
          <p:nvSpPr>
            <p:cNvPr name="Freeform 39" id="39"/>
            <p:cNvSpPr/>
            <p:nvPr/>
          </p:nvSpPr>
          <p:spPr>
            <a:xfrm flipH="false" flipV="false" rot="0">
              <a:off x="0" y="0"/>
              <a:ext cx="4901184" cy="493776"/>
            </a:xfrm>
            <a:custGeom>
              <a:avLst/>
              <a:gdLst/>
              <a:ahLst/>
              <a:cxnLst/>
              <a:rect r="r" b="b" t="t" l="l"/>
              <a:pathLst>
                <a:path h="493776" w="4901184">
                  <a:moveTo>
                    <a:pt x="0" y="246888"/>
                  </a:moveTo>
                  <a:cubicBezTo>
                    <a:pt x="0" y="110490"/>
                    <a:pt x="110490" y="0"/>
                    <a:pt x="246888" y="0"/>
                  </a:cubicBezTo>
                  <a:lnTo>
                    <a:pt x="4654296" y="0"/>
                  </a:lnTo>
                  <a:cubicBezTo>
                    <a:pt x="4790694" y="0"/>
                    <a:pt x="4901184" y="110490"/>
                    <a:pt x="4901184" y="246888"/>
                  </a:cubicBezTo>
                  <a:cubicBezTo>
                    <a:pt x="4901184" y="383286"/>
                    <a:pt x="4790694" y="493776"/>
                    <a:pt x="4654296" y="493776"/>
                  </a:cubicBezTo>
                  <a:lnTo>
                    <a:pt x="246888" y="493776"/>
                  </a:lnTo>
                  <a:cubicBezTo>
                    <a:pt x="110490" y="493776"/>
                    <a:pt x="0" y="383286"/>
                    <a:pt x="0" y="246888"/>
                  </a:cubicBezTo>
                  <a:close/>
                </a:path>
              </a:pathLst>
            </a:custGeom>
            <a:solidFill>
              <a:srgbClr val="FEF3C7"/>
            </a:solidFill>
          </p:spPr>
          <p:txBody>
            <a:bodyPr/>
            <a:p/>
          </p:txBody>
        </p:sp>
        <p:sp>
          <p:nvSpPr>
            <p:cNvPr name="TextBox 40" id="40"/>
            <p:cNvSpPr txBox="true"/>
            <p:nvPr/>
          </p:nvSpPr>
          <p:spPr>
            <a:xfrm>
              <a:off x="0" y="0"/>
              <a:ext cx="4901184"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 INTENT · NOT CLINICALLY TESTED</a:t>
              </a:r>
            </a:p>
          </p:txBody>
        </p:sp>
      </p:grpSp>
      <p:sp>
        <p:nvSpPr>
          <p:cNvPr name="TextBox 41" id="41"/>
          <p:cNvSpPr txBox="true"/>
          <p:nvPr/>
        </p:nvSpPr>
        <p:spPr>
          <a:xfrm rot="0">
            <a:off x="9715500" y="3583686"/>
            <a:ext cx="7507224" cy="2654579"/>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Patient:  fewer needless removals, the step patients find most painful [20].</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Family carer:  a clear OK / CHANGE signal instead of guesswork.</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Nurse:  checks the status in seconds without unwrapping the bandage (design goal).</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Budget:  reusable reader ≈ ₹560–1,160 (BOM estimate) + strip ≤ ₹100 (target); one avoided ₹242–514 dressing change pays for 2–5 strips (projection).</a:t>
            </a:r>
          </a:p>
        </p:txBody>
      </p:sp>
      <p:grpSp>
        <p:nvGrpSpPr>
          <p:cNvPr name="Group 42" id="42"/>
          <p:cNvGrpSpPr/>
          <p:nvPr/>
        </p:nvGrpSpPr>
        <p:grpSpPr>
          <a:xfrm rot="0">
            <a:off x="932688" y="2715768"/>
            <a:ext cx="7872984" cy="685800"/>
            <a:chOff x="0" y="0"/>
            <a:chExt cx="10497312" cy="914400"/>
          </a:xfrm>
        </p:grpSpPr>
        <p:sp>
          <p:nvSpPr>
            <p:cNvPr name="Freeform 43" id="43"/>
            <p:cNvSpPr/>
            <p:nvPr/>
          </p:nvSpPr>
          <p:spPr>
            <a:xfrm flipH="false" flipV="false" rot="0">
              <a:off x="0" y="0"/>
              <a:ext cx="10497312" cy="914400"/>
            </a:xfrm>
            <a:custGeom>
              <a:avLst/>
              <a:gdLst/>
              <a:ahLst/>
              <a:cxnLst/>
              <a:rect r="r" b="b" t="t" l="l"/>
              <a:pathLst>
                <a:path h="914400" w="10497312">
                  <a:moveTo>
                    <a:pt x="0" y="109728"/>
                  </a:moveTo>
                  <a:cubicBezTo>
                    <a:pt x="0" y="49149"/>
                    <a:pt x="49149" y="0"/>
                    <a:pt x="109728" y="0"/>
                  </a:cubicBezTo>
                  <a:lnTo>
                    <a:pt x="10387584" y="0"/>
                  </a:lnTo>
                  <a:cubicBezTo>
                    <a:pt x="10448163" y="0"/>
                    <a:pt x="10497312" y="49149"/>
                    <a:pt x="10497312" y="109728"/>
                  </a:cubicBezTo>
                  <a:lnTo>
                    <a:pt x="10497312" y="804672"/>
                  </a:lnTo>
                  <a:cubicBezTo>
                    <a:pt x="10497312" y="865251"/>
                    <a:pt x="10448163" y="914400"/>
                    <a:pt x="10387584" y="914400"/>
                  </a:cubicBezTo>
                  <a:lnTo>
                    <a:pt x="109728" y="914400"/>
                  </a:lnTo>
                  <a:cubicBezTo>
                    <a:pt x="49149" y="914400"/>
                    <a:pt x="0" y="865251"/>
                    <a:pt x="0" y="804672"/>
                  </a:cubicBezTo>
                  <a:close/>
                </a:path>
              </a:pathLst>
            </a:custGeom>
            <a:solidFill>
              <a:srgbClr val="F1F5F9"/>
            </a:solidFill>
          </p:spPr>
          <p:txBody>
            <a:bodyPr/>
            <a:p/>
          </p:txBody>
        </p:sp>
        <p:sp>
          <p:nvSpPr>
            <p:cNvPr name="TextBox 44" id="44"/>
            <p:cNvSpPr txBox="true"/>
            <p:nvPr/>
          </p:nvSpPr>
          <p:spPr>
            <a:xfrm>
              <a:off x="0" y="-9525"/>
              <a:ext cx="10497312" cy="923925"/>
            </a:xfrm>
            <a:prstGeom prst="rect">
              <a:avLst/>
            </a:prstGeom>
          </p:spPr>
          <p:txBody>
            <a:bodyPr anchor="ctr" rtlCol="false" tIns="50800" lIns="50800" bIns="50800" rIns="50800"/>
            <a:lstStyle/>
            <a:p>
              <a:pPr algn="l">
                <a:lnSpc>
                  <a:spcPts val="1547"/>
                </a:lnSpc>
              </a:pPr>
              <a:r>
                <a:rPr lang="en-US" sz="1289">
                  <a:solidFill>
                    <a:srgbClr val="334155"/>
                  </a:solidFill>
                  <a:latin typeface="DM Sans"/>
                  <a:ea typeface="DM Sans"/>
                  <a:cs typeface="DM Sans"/>
                  <a:sym typeface="DM Sans"/>
                </a:rPr>
                <a:t>The same illustrative persona with the proposed workflow. This has not been clinically tested.</a:t>
              </a:r>
            </a:p>
          </p:txBody>
        </p:sp>
      </p:grpSp>
      <p:grpSp>
        <p:nvGrpSpPr>
          <p:cNvPr name="Group 45" id="45"/>
          <p:cNvGrpSpPr/>
          <p:nvPr/>
        </p:nvGrpSpPr>
        <p:grpSpPr>
          <a:xfrm rot="0">
            <a:off x="932688" y="3566160"/>
            <a:ext cx="768096" cy="754380"/>
            <a:chOff x="0" y="0"/>
            <a:chExt cx="1024128" cy="1005840"/>
          </a:xfrm>
        </p:grpSpPr>
        <p:sp>
          <p:nvSpPr>
            <p:cNvPr name="Freeform 46" id="46"/>
            <p:cNvSpPr/>
            <p:nvPr/>
          </p:nvSpPr>
          <p:spPr>
            <a:xfrm flipH="false" flipV="false" rot="0">
              <a:off x="0" y="0"/>
              <a:ext cx="1024128" cy="1005840"/>
            </a:xfrm>
            <a:custGeom>
              <a:avLst/>
              <a:gdLst/>
              <a:ahLst/>
              <a:cxnLst/>
              <a:rect r="r" b="b" t="t" l="l"/>
              <a:pathLst>
                <a:path h="1005840" w="1024128">
                  <a:moveTo>
                    <a:pt x="0" y="120650"/>
                  </a:moveTo>
                  <a:cubicBezTo>
                    <a:pt x="0" y="54102"/>
                    <a:pt x="54102" y="0"/>
                    <a:pt x="120650" y="0"/>
                  </a:cubicBezTo>
                  <a:lnTo>
                    <a:pt x="903478" y="0"/>
                  </a:lnTo>
                  <a:cubicBezTo>
                    <a:pt x="970153" y="0"/>
                    <a:pt x="1024128" y="54102"/>
                    <a:pt x="1024128" y="120650"/>
                  </a:cubicBezTo>
                  <a:lnTo>
                    <a:pt x="1024128" y="885190"/>
                  </a:lnTo>
                  <a:cubicBezTo>
                    <a:pt x="1024128" y="951865"/>
                    <a:pt x="970026" y="1005840"/>
                    <a:pt x="903478" y="1005840"/>
                  </a:cubicBezTo>
                  <a:lnTo>
                    <a:pt x="120650" y="1005840"/>
                  </a:lnTo>
                  <a:cubicBezTo>
                    <a:pt x="54102" y="1005840"/>
                    <a:pt x="0" y="951738"/>
                    <a:pt x="0" y="885190"/>
                  </a:cubicBezTo>
                  <a:close/>
                </a:path>
              </a:pathLst>
            </a:custGeom>
            <a:solidFill>
              <a:srgbClr val="FFFFFF"/>
            </a:solidFill>
          </p:spPr>
          <p:txBody>
            <a:bodyPr/>
            <a:p/>
          </p:txBody>
        </p:sp>
        <p:sp>
          <p:nvSpPr>
            <p:cNvPr name="TextBox 47" id="47"/>
            <p:cNvSpPr txBox="true"/>
            <p:nvPr/>
          </p:nvSpPr>
          <p:spPr>
            <a:xfrm>
              <a:off x="0" y="0"/>
              <a:ext cx="1024128" cy="10058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STAGE</a:t>
              </a:r>
            </a:p>
          </p:txBody>
        </p:sp>
      </p:grpSp>
      <p:grpSp>
        <p:nvGrpSpPr>
          <p:cNvPr name="Group 48" id="48"/>
          <p:cNvGrpSpPr/>
          <p:nvPr/>
        </p:nvGrpSpPr>
        <p:grpSpPr>
          <a:xfrm rot="0">
            <a:off x="932688" y="4430268"/>
            <a:ext cx="768096" cy="1714500"/>
            <a:chOff x="0" y="0"/>
            <a:chExt cx="1024128" cy="2286000"/>
          </a:xfrm>
        </p:grpSpPr>
        <p:sp>
          <p:nvSpPr>
            <p:cNvPr name="Freeform 49" id="49"/>
            <p:cNvSpPr/>
            <p:nvPr/>
          </p:nvSpPr>
          <p:spPr>
            <a:xfrm flipH="false" flipV="false" rot="0">
              <a:off x="0" y="0"/>
              <a:ext cx="1024128" cy="2286000"/>
            </a:xfrm>
            <a:custGeom>
              <a:avLst/>
              <a:gdLst/>
              <a:ahLst/>
              <a:cxnLst/>
              <a:rect r="r" b="b" t="t" l="l"/>
              <a:pathLst>
                <a:path h="2286000" w="1024128">
                  <a:moveTo>
                    <a:pt x="0" y="122936"/>
                  </a:moveTo>
                  <a:cubicBezTo>
                    <a:pt x="0" y="54991"/>
                    <a:pt x="54991" y="0"/>
                    <a:pt x="122936" y="0"/>
                  </a:cubicBezTo>
                  <a:lnTo>
                    <a:pt x="901192" y="0"/>
                  </a:lnTo>
                  <a:cubicBezTo>
                    <a:pt x="969010" y="0"/>
                    <a:pt x="1024128" y="54991"/>
                    <a:pt x="1024128" y="122936"/>
                  </a:cubicBezTo>
                  <a:lnTo>
                    <a:pt x="1024128" y="2163064"/>
                  </a:lnTo>
                  <a:cubicBezTo>
                    <a:pt x="1024128" y="2230882"/>
                    <a:pt x="969137" y="2286000"/>
                    <a:pt x="901192" y="2286000"/>
                  </a:cubicBezTo>
                  <a:lnTo>
                    <a:pt x="122936" y="2286000"/>
                  </a:lnTo>
                  <a:cubicBezTo>
                    <a:pt x="54991" y="2286000"/>
                    <a:pt x="0" y="2231009"/>
                    <a:pt x="0" y="2163064"/>
                  </a:cubicBezTo>
                  <a:close/>
                </a:path>
              </a:pathLst>
            </a:custGeom>
            <a:solidFill>
              <a:srgbClr val="FFFFFF"/>
            </a:solidFill>
          </p:spPr>
          <p:txBody>
            <a:bodyPr/>
            <a:p/>
          </p:txBody>
        </p:sp>
        <p:sp>
          <p:nvSpPr>
            <p:cNvPr name="TextBox 50" id="50"/>
            <p:cNvSpPr txBox="true"/>
            <p:nvPr/>
          </p:nvSpPr>
          <p:spPr>
            <a:xfrm>
              <a:off x="0" y="0"/>
              <a:ext cx="1024128" cy="228600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WHAT HAPPENS</a:t>
              </a:r>
            </a:p>
          </p:txBody>
        </p:sp>
      </p:grpSp>
      <p:grpSp>
        <p:nvGrpSpPr>
          <p:cNvPr name="Group 51" id="51"/>
          <p:cNvGrpSpPr/>
          <p:nvPr/>
        </p:nvGrpSpPr>
        <p:grpSpPr>
          <a:xfrm rot="0">
            <a:off x="932688" y="6254496"/>
            <a:ext cx="768096" cy="1440180"/>
            <a:chOff x="0" y="0"/>
            <a:chExt cx="1024128" cy="1920240"/>
          </a:xfrm>
        </p:grpSpPr>
        <p:sp>
          <p:nvSpPr>
            <p:cNvPr name="Freeform 52" id="52"/>
            <p:cNvSpPr/>
            <p:nvPr/>
          </p:nvSpPr>
          <p:spPr>
            <a:xfrm flipH="false" flipV="false" rot="0">
              <a:off x="0" y="0"/>
              <a:ext cx="1024128" cy="1920240"/>
            </a:xfrm>
            <a:custGeom>
              <a:avLst/>
              <a:gdLst/>
              <a:ahLst/>
              <a:cxnLst/>
              <a:rect r="r" b="b" t="t" l="l"/>
              <a:pathLst>
                <a:path h="1920240" w="1024128">
                  <a:moveTo>
                    <a:pt x="0" y="122936"/>
                  </a:moveTo>
                  <a:cubicBezTo>
                    <a:pt x="0" y="54991"/>
                    <a:pt x="54991" y="0"/>
                    <a:pt x="122936" y="0"/>
                  </a:cubicBezTo>
                  <a:lnTo>
                    <a:pt x="901192" y="0"/>
                  </a:lnTo>
                  <a:cubicBezTo>
                    <a:pt x="969010" y="0"/>
                    <a:pt x="1024128" y="54991"/>
                    <a:pt x="1024128" y="122936"/>
                  </a:cubicBezTo>
                  <a:lnTo>
                    <a:pt x="1024128" y="1797304"/>
                  </a:lnTo>
                  <a:cubicBezTo>
                    <a:pt x="1024128" y="1865122"/>
                    <a:pt x="969137" y="1920240"/>
                    <a:pt x="901192" y="1920240"/>
                  </a:cubicBezTo>
                  <a:lnTo>
                    <a:pt x="122936" y="1920240"/>
                  </a:lnTo>
                  <a:cubicBezTo>
                    <a:pt x="55118" y="1920240"/>
                    <a:pt x="0" y="1865249"/>
                    <a:pt x="0" y="1797304"/>
                  </a:cubicBezTo>
                  <a:close/>
                </a:path>
              </a:pathLst>
            </a:custGeom>
            <a:solidFill>
              <a:srgbClr val="FFFFFF"/>
            </a:solidFill>
          </p:spPr>
          <p:txBody>
            <a:bodyPr/>
            <a:p/>
          </p:txBody>
        </p:sp>
        <p:sp>
          <p:nvSpPr>
            <p:cNvPr name="TextBox 53" id="53"/>
            <p:cNvSpPr txBox="true"/>
            <p:nvPr/>
          </p:nvSpPr>
          <p:spPr>
            <a:xfrm>
              <a:off x="0" y="0"/>
              <a:ext cx="1024128" cy="19202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GAIN</a:t>
              </a:r>
            </a:p>
          </p:txBody>
        </p:sp>
      </p:grpSp>
      <p:grpSp>
        <p:nvGrpSpPr>
          <p:cNvPr name="Group 54" id="54"/>
          <p:cNvGrpSpPr/>
          <p:nvPr/>
        </p:nvGrpSpPr>
        <p:grpSpPr>
          <a:xfrm rot="0">
            <a:off x="1770698" y="3553778"/>
            <a:ext cx="1297610" cy="779145"/>
            <a:chOff x="0" y="0"/>
            <a:chExt cx="1730146" cy="1038860"/>
          </a:xfrm>
        </p:grpSpPr>
        <p:sp>
          <p:nvSpPr>
            <p:cNvPr name="Freeform 55" id="55"/>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txBody>
            <a:bodyPr/>
            <a:p/>
          </p:txBody>
        </p:sp>
        <p:sp>
          <p:nvSpPr>
            <p:cNvPr name="TextBox 56" id="56"/>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1  </a:t>
              </a:r>
              <a:r>
                <a:rPr lang="en-US" sz="1350" b="true">
                  <a:solidFill>
                    <a:srgbClr val="0F172A"/>
                  </a:solidFill>
                  <a:latin typeface="DM Sans Bold"/>
                  <a:ea typeface="DM Sans Bold"/>
                  <a:cs typeface="DM Sans Bold"/>
                  <a:sym typeface="DM Sans Bold"/>
                </a:rPr>
                <a:t>Strip on</a:t>
              </a:r>
            </a:p>
          </p:txBody>
        </p:sp>
      </p:grpSp>
      <p:grpSp>
        <p:nvGrpSpPr>
          <p:cNvPr name="Group 57" id="57"/>
          <p:cNvGrpSpPr/>
          <p:nvPr/>
        </p:nvGrpSpPr>
        <p:grpSpPr>
          <a:xfrm rot="0">
            <a:off x="1773555" y="4420743"/>
            <a:ext cx="1291895" cy="1733550"/>
            <a:chOff x="0" y="0"/>
            <a:chExt cx="1722526" cy="2311400"/>
          </a:xfrm>
        </p:grpSpPr>
        <p:sp>
          <p:nvSpPr>
            <p:cNvPr name="Freeform 58" id="58"/>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59" id="59"/>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placed on the pad's outer face</a:t>
              </a:r>
            </a:p>
          </p:txBody>
        </p:sp>
      </p:grpSp>
      <p:grpSp>
        <p:nvGrpSpPr>
          <p:cNvPr name="Group 60" id="60"/>
          <p:cNvGrpSpPr/>
          <p:nvPr/>
        </p:nvGrpSpPr>
        <p:grpSpPr>
          <a:xfrm rot="0">
            <a:off x="1783080" y="6254496"/>
            <a:ext cx="1272845" cy="1440180"/>
            <a:chOff x="0" y="0"/>
            <a:chExt cx="1697126" cy="1920240"/>
          </a:xfrm>
        </p:grpSpPr>
        <p:sp>
          <p:nvSpPr>
            <p:cNvPr name="Freeform 61" id="61"/>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txBody>
            <a:bodyPr/>
            <a:p/>
          </p:txBody>
        </p:sp>
        <p:sp>
          <p:nvSpPr>
            <p:cNvPr name="TextBox 62" id="62"/>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nothing on the wound</a:t>
              </a:r>
            </a:p>
          </p:txBody>
        </p:sp>
      </p:grpSp>
      <p:grpSp>
        <p:nvGrpSpPr>
          <p:cNvPr name="Group 63" id="63"/>
          <p:cNvGrpSpPr/>
          <p:nvPr/>
        </p:nvGrpSpPr>
        <p:grpSpPr>
          <a:xfrm rot="0">
            <a:off x="3028493" y="3806190"/>
            <a:ext cx="219456" cy="274320"/>
            <a:chOff x="0" y="0"/>
            <a:chExt cx="292608" cy="365760"/>
          </a:xfrm>
        </p:grpSpPr>
        <p:sp>
          <p:nvSpPr>
            <p:cNvPr name="Freeform 64" id="64"/>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65" id="65"/>
          <p:cNvGrpSpPr/>
          <p:nvPr/>
        </p:nvGrpSpPr>
        <p:grpSpPr>
          <a:xfrm rot="0">
            <a:off x="3208134" y="3553778"/>
            <a:ext cx="1297610" cy="779145"/>
            <a:chOff x="0" y="0"/>
            <a:chExt cx="1730146" cy="1038860"/>
          </a:xfrm>
        </p:grpSpPr>
        <p:sp>
          <p:nvSpPr>
            <p:cNvPr name="Freeform 66" id="66"/>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txBody>
            <a:bodyPr/>
            <a:p/>
          </p:txBody>
        </p:sp>
        <p:sp>
          <p:nvSpPr>
            <p:cNvPr name="TextBox 67" id="67"/>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2  </a:t>
              </a:r>
              <a:r>
                <a:rPr lang="en-US" sz="1350" b="true">
                  <a:solidFill>
                    <a:srgbClr val="0F172A"/>
                  </a:solidFill>
                  <a:latin typeface="DM Sans Bold"/>
                  <a:ea typeface="DM Sans Bold"/>
                  <a:cs typeface="DM Sans Bold"/>
                  <a:sym typeface="DM Sans Bold"/>
                </a:rPr>
                <a:t>Reader on</a:t>
              </a:r>
            </a:p>
          </p:txBody>
        </p:sp>
      </p:grpSp>
      <p:grpSp>
        <p:nvGrpSpPr>
          <p:cNvPr name="Group 68" id="68"/>
          <p:cNvGrpSpPr/>
          <p:nvPr/>
        </p:nvGrpSpPr>
        <p:grpSpPr>
          <a:xfrm rot="0">
            <a:off x="3210992" y="4420743"/>
            <a:ext cx="1291895" cy="1733550"/>
            <a:chOff x="0" y="0"/>
            <a:chExt cx="1722526" cy="2311400"/>
          </a:xfrm>
        </p:grpSpPr>
        <p:sp>
          <p:nvSpPr>
            <p:cNvPr name="Freeform 69" id="69"/>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70" id="70"/>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clips on: 4 pins, 2 dowels</a:t>
              </a:r>
            </a:p>
          </p:txBody>
        </p:sp>
      </p:grpSp>
      <p:grpSp>
        <p:nvGrpSpPr>
          <p:cNvPr name="Group 71" id="71"/>
          <p:cNvGrpSpPr/>
          <p:nvPr/>
        </p:nvGrpSpPr>
        <p:grpSpPr>
          <a:xfrm rot="0">
            <a:off x="3220517" y="6254496"/>
            <a:ext cx="1272845" cy="1440180"/>
            <a:chOff x="0" y="0"/>
            <a:chExt cx="1697126" cy="1920240"/>
          </a:xfrm>
        </p:grpSpPr>
        <p:sp>
          <p:nvSpPr>
            <p:cNvPr name="Freeform 72" id="72"/>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txBody>
            <a:bodyPr/>
            <a:p/>
          </p:txBody>
        </p:sp>
        <p:sp>
          <p:nvSpPr>
            <p:cNvPr name="TextBox 73" id="73"/>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same routine</a:t>
              </a:r>
            </a:p>
          </p:txBody>
        </p:sp>
      </p:grpSp>
      <p:grpSp>
        <p:nvGrpSpPr>
          <p:cNvPr name="Group 74" id="74"/>
          <p:cNvGrpSpPr/>
          <p:nvPr/>
        </p:nvGrpSpPr>
        <p:grpSpPr>
          <a:xfrm rot="0">
            <a:off x="4465930" y="3806190"/>
            <a:ext cx="219456" cy="274320"/>
            <a:chOff x="0" y="0"/>
            <a:chExt cx="292608" cy="365760"/>
          </a:xfrm>
        </p:grpSpPr>
        <p:sp>
          <p:nvSpPr>
            <p:cNvPr name="Freeform 75" id="75"/>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76" id="76"/>
          <p:cNvGrpSpPr/>
          <p:nvPr/>
        </p:nvGrpSpPr>
        <p:grpSpPr>
          <a:xfrm rot="0">
            <a:off x="4645571" y="3553778"/>
            <a:ext cx="1297610" cy="779145"/>
            <a:chOff x="0" y="0"/>
            <a:chExt cx="1730146" cy="1038860"/>
          </a:xfrm>
        </p:grpSpPr>
        <p:sp>
          <p:nvSpPr>
            <p:cNvPr name="Freeform 77" id="77"/>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CFDF5"/>
            </a:solidFill>
            <a:ln w="24765" cap="sq">
              <a:solidFill>
                <a:srgbClr val="059669"/>
              </a:solidFill>
              <a:prstDash val="solid"/>
              <a:miter/>
            </a:ln>
          </p:spPr>
          <p:txBody>
            <a:bodyPr/>
            <a:p/>
          </p:txBody>
        </p:sp>
        <p:sp>
          <p:nvSpPr>
            <p:cNvPr name="TextBox 78" id="78"/>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59669"/>
                  </a:solidFill>
                  <a:latin typeface="DM Sans Bold"/>
                  <a:ea typeface="DM Sans Bold"/>
                  <a:cs typeface="DM Sans Bold"/>
                  <a:sym typeface="DM Sans Bold"/>
                </a:rPr>
                <a:t>3  </a:t>
              </a:r>
              <a:r>
                <a:rPr lang="en-US" sz="1350" b="true">
                  <a:solidFill>
                    <a:srgbClr val="0F172A"/>
                  </a:solidFill>
                  <a:latin typeface="DM Sans Bold"/>
                  <a:ea typeface="DM Sans Bold"/>
                  <a:cs typeface="DM Sans Bold"/>
                  <a:sym typeface="DM Sans Bold"/>
                </a:rPr>
                <a:t>Check status</a:t>
              </a:r>
            </a:p>
          </p:txBody>
        </p:sp>
      </p:grpSp>
      <p:grpSp>
        <p:nvGrpSpPr>
          <p:cNvPr name="Group 79" id="79"/>
          <p:cNvGrpSpPr/>
          <p:nvPr/>
        </p:nvGrpSpPr>
        <p:grpSpPr>
          <a:xfrm rot="0">
            <a:off x="4648429" y="4420743"/>
            <a:ext cx="1291895" cy="1733550"/>
            <a:chOff x="0" y="0"/>
            <a:chExt cx="1722526" cy="2311400"/>
          </a:xfrm>
        </p:grpSpPr>
        <p:sp>
          <p:nvSpPr>
            <p:cNvPr name="Freeform 80" id="80"/>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81" id="81"/>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Green OK, without lifting the dressing</a:t>
              </a:r>
            </a:p>
          </p:txBody>
        </p:sp>
      </p:grpSp>
      <p:grpSp>
        <p:nvGrpSpPr>
          <p:cNvPr name="Group 82" id="82"/>
          <p:cNvGrpSpPr/>
          <p:nvPr/>
        </p:nvGrpSpPr>
        <p:grpSpPr>
          <a:xfrm rot="0">
            <a:off x="4657954" y="6254496"/>
            <a:ext cx="1272845" cy="1440180"/>
            <a:chOff x="0" y="0"/>
            <a:chExt cx="1697126" cy="1920240"/>
          </a:xfrm>
        </p:grpSpPr>
        <p:sp>
          <p:nvSpPr>
            <p:cNvPr name="Freeform 83" id="83"/>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CFDF5"/>
            </a:solidFill>
          </p:spPr>
          <p:txBody>
            <a:bodyPr/>
            <a:p/>
          </p:txBody>
        </p:sp>
        <p:sp>
          <p:nvSpPr>
            <p:cNvPr name="TextBox 84" id="84"/>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A clearer decision, if testing supports it</a:t>
              </a:r>
            </a:p>
          </p:txBody>
        </p:sp>
      </p:grpSp>
      <p:grpSp>
        <p:nvGrpSpPr>
          <p:cNvPr name="Group 85" id="85"/>
          <p:cNvGrpSpPr/>
          <p:nvPr/>
        </p:nvGrpSpPr>
        <p:grpSpPr>
          <a:xfrm rot="0">
            <a:off x="5903366" y="3806190"/>
            <a:ext cx="219456" cy="274320"/>
            <a:chOff x="0" y="0"/>
            <a:chExt cx="292608" cy="365760"/>
          </a:xfrm>
        </p:grpSpPr>
        <p:sp>
          <p:nvSpPr>
            <p:cNvPr name="Freeform 86" id="86"/>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87" id="87"/>
          <p:cNvGrpSpPr/>
          <p:nvPr/>
        </p:nvGrpSpPr>
        <p:grpSpPr>
          <a:xfrm rot="0">
            <a:off x="6083008" y="3553778"/>
            <a:ext cx="1297610" cy="779145"/>
            <a:chOff x="0" y="0"/>
            <a:chExt cx="1730146" cy="1038860"/>
          </a:xfrm>
        </p:grpSpPr>
        <p:sp>
          <p:nvSpPr>
            <p:cNvPr name="Freeform 88" id="88"/>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FFBEB"/>
            </a:solidFill>
            <a:ln w="24765" cap="sq">
              <a:solidFill>
                <a:srgbClr val="D97706"/>
              </a:solidFill>
              <a:prstDash val="solid"/>
              <a:miter/>
            </a:ln>
          </p:spPr>
          <p:txBody>
            <a:bodyPr/>
            <a:p/>
          </p:txBody>
        </p:sp>
        <p:sp>
          <p:nvSpPr>
            <p:cNvPr name="TextBox 89" id="89"/>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97706"/>
                  </a:solidFill>
                  <a:latin typeface="DM Sans Bold"/>
                  <a:ea typeface="DM Sans Bold"/>
                  <a:cs typeface="DM Sans Bold"/>
                  <a:sym typeface="DM Sans Bold"/>
                </a:rPr>
                <a:t>4  Change line reached</a:t>
              </a:r>
              <a:r>
                <a:rPr lang="en-US" sz="1350" b="true">
                  <a:solidFill>
                    <a:srgbClr val="0F172A"/>
                  </a:solidFill>
                  <a:latin typeface="DM Sans Bold"/>
                  <a:ea typeface="DM Sans Bold"/>
                  <a:cs typeface="DM Sans Bold"/>
                  <a:sym typeface="DM Sans Bold"/>
                </a:rPr>
                <a:t/>
              </a:r>
            </a:p>
          </p:txBody>
        </p:sp>
      </p:grpSp>
      <p:grpSp>
        <p:nvGrpSpPr>
          <p:cNvPr name="Group 90" id="90"/>
          <p:cNvGrpSpPr/>
          <p:nvPr/>
        </p:nvGrpSpPr>
        <p:grpSpPr>
          <a:xfrm rot="0">
            <a:off x="6085865" y="4420743"/>
            <a:ext cx="1291895" cy="1733550"/>
            <a:chOff x="0" y="0"/>
            <a:chExt cx="1722526" cy="2311400"/>
          </a:xfrm>
        </p:grpSpPr>
        <p:sp>
          <p:nvSpPr>
            <p:cNvPr name="Freeform 91" id="91"/>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92" id="92"/>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Amber CHANGE; red CHECK for a possible leak</a:t>
              </a:r>
            </a:p>
          </p:txBody>
        </p:sp>
      </p:grpSp>
      <p:grpSp>
        <p:nvGrpSpPr>
          <p:cNvPr name="Group 93" id="93"/>
          <p:cNvGrpSpPr/>
          <p:nvPr/>
        </p:nvGrpSpPr>
        <p:grpSpPr>
          <a:xfrm rot="0">
            <a:off x="6095390" y="6254496"/>
            <a:ext cx="1272845" cy="1440180"/>
            <a:chOff x="0" y="0"/>
            <a:chExt cx="1697126" cy="1920240"/>
          </a:xfrm>
        </p:grpSpPr>
        <p:sp>
          <p:nvSpPr>
            <p:cNvPr name="Freeform 94" id="94"/>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FFBEB"/>
            </a:solidFill>
          </p:spPr>
          <p:txBody>
            <a:bodyPr/>
            <a:p/>
          </p:txBody>
        </p:sp>
        <p:sp>
          <p:nvSpPr>
            <p:cNvPr name="TextBox 95" id="95"/>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A prompt to check the dressing</a:t>
              </a:r>
            </a:p>
          </p:txBody>
        </p:sp>
      </p:grpSp>
      <p:grpSp>
        <p:nvGrpSpPr>
          <p:cNvPr name="Group 96" id="96"/>
          <p:cNvGrpSpPr/>
          <p:nvPr/>
        </p:nvGrpSpPr>
        <p:grpSpPr>
          <a:xfrm rot="0">
            <a:off x="7340803" y="3806190"/>
            <a:ext cx="219456" cy="274320"/>
            <a:chOff x="0" y="0"/>
            <a:chExt cx="292608" cy="365760"/>
          </a:xfrm>
        </p:grpSpPr>
        <p:sp>
          <p:nvSpPr>
            <p:cNvPr name="Freeform 97" id="97"/>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txBody>
            <a:bodyPr/>
            <a:p/>
          </p:txBody>
        </p:sp>
      </p:grpSp>
      <p:grpSp>
        <p:nvGrpSpPr>
          <p:cNvPr name="Group 98" id="98"/>
          <p:cNvGrpSpPr/>
          <p:nvPr/>
        </p:nvGrpSpPr>
        <p:grpSpPr>
          <a:xfrm rot="0">
            <a:off x="7520445" y="3553778"/>
            <a:ext cx="1297610" cy="779145"/>
            <a:chOff x="0" y="0"/>
            <a:chExt cx="1730146" cy="1038860"/>
          </a:xfrm>
        </p:grpSpPr>
        <p:sp>
          <p:nvSpPr>
            <p:cNvPr name="Freeform 99" id="99"/>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CFDF5"/>
            </a:solidFill>
            <a:ln w="24765" cap="sq">
              <a:solidFill>
                <a:srgbClr val="059669"/>
              </a:solidFill>
              <a:prstDash val="solid"/>
              <a:miter/>
            </a:ln>
          </p:spPr>
          <p:txBody>
            <a:bodyPr/>
            <a:p/>
          </p:txBody>
        </p:sp>
        <p:sp>
          <p:nvSpPr>
            <p:cNvPr name="TextBox 100" id="100"/>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59669"/>
                  </a:solidFill>
                  <a:latin typeface="DM Sans Bold"/>
                  <a:ea typeface="DM Sans Bold"/>
                  <a:cs typeface="DM Sans Bold"/>
                  <a:sym typeface="DM Sans Bold"/>
                </a:rPr>
                <a:t>5  </a:t>
              </a:r>
              <a:r>
                <a:rPr lang="en-US" sz="1350" b="true">
                  <a:solidFill>
                    <a:srgbClr val="0F172A"/>
                  </a:solidFill>
                  <a:latin typeface="DM Sans Bold"/>
                  <a:ea typeface="DM Sans Bold"/>
                  <a:cs typeface="DM Sans Bold"/>
                  <a:sym typeface="DM Sans Bold"/>
                </a:rPr>
                <a:t>Nearby check</a:t>
              </a:r>
            </a:p>
          </p:txBody>
        </p:sp>
      </p:grpSp>
      <p:grpSp>
        <p:nvGrpSpPr>
          <p:cNvPr name="Group 101" id="101"/>
          <p:cNvGrpSpPr/>
          <p:nvPr/>
        </p:nvGrpSpPr>
        <p:grpSpPr>
          <a:xfrm rot="0">
            <a:off x="7523302" y="4420743"/>
            <a:ext cx="1291895" cy="1733550"/>
            <a:chOff x="0" y="0"/>
            <a:chExt cx="1722526" cy="2311400"/>
          </a:xfrm>
        </p:grpSpPr>
        <p:sp>
          <p:nvSpPr>
            <p:cNvPr name="Freeform 102" id="102"/>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txBody>
            <a:bodyPr/>
            <a:p/>
          </p:txBody>
        </p:sp>
        <p:sp>
          <p:nvSpPr>
            <p:cNvPr name="TextBox 103" id="103"/>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 nearby phone reads the status over Bluetooth (hardware test pending)</a:t>
              </a:r>
            </a:p>
          </p:txBody>
        </p:sp>
      </p:grpSp>
      <p:grpSp>
        <p:nvGrpSpPr>
          <p:cNvPr name="Group 104" id="104"/>
          <p:cNvGrpSpPr/>
          <p:nvPr/>
        </p:nvGrpSpPr>
        <p:grpSpPr>
          <a:xfrm rot="0">
            <a:off x="7532827" y="6254496"/>
            <a:ext cx="1272845" cy="1458026"/>
            <a:chOff x="0" y="0"/>
            <a:chExt cx="1697126" cy="1944035"/>
          </a:xfrm>
        </p:grpSpPr>
        <p:sp>
          <p:nvSpPr>
            <p:cNvPr name="Freeform 105" id="105"/>
            <p:cNvSpPr/>
            <p:nvPr/>
          </p:nvSpPr>
          <p:spPr>
            <a:xfrm flipH="false" flipV="false" rot="0">
              <a:off x="0" y="0"/>
              <a:ext cx="1697228" cy="1944035"/>
            </a:xfrm>
            <a:custGeom>
              <a:avLst/>
              <a:gdLst/>
              <a:ahLst/>
              <a:cxnLst/>
              <a:rect r="r" b="b" t="t" l="l"/>
              <a:pathLst>
                <a:path h="1944035" w="1697228">
                  <a:moveTo>
                    <a:pt x="0" y="206232"/>
                  </a:moveTo>
                  <a:cubicBezTo>
                    <a:pt x="0" y="92316"/>
                    <a:pt x="91186" y="0"/>
                    <a:pt x="203708" y="0"/>
                  </a:cubicBezTo>
                  <a:lnTo>
                    <a:pt x="1493520" y="0"/>
                  </a:lnTo>
                  <a:cubicBezTo>
                    <a:pt x="1606042" y="0"/>
                    <a:pt x="1697228" y="92316"/>
                    <a:pt x="1697228" y="206232"/>
                  </a:cubicBezTo>
                  <a:lnTo>
                    <a:pt x="1697228" y="1737802"/>
                  </a:lnTo>
                  <a:cubicBezTo>
                    <a:pt x="1697228" y="1851719"/>
                    <a:pt x="1606042" y="1944035"/>
                    <a:pt x="1493520" y="1944035"/>
                  </a:cubicBezTo>
                  <a:lnTo>
                    <a:pt x="203708" y="1944035"/>
                  </a:lnTo>
                  <a:cubicBezTo>
                    <a:pt x="91186" y="1944035"/>
                    <a:pt x="0" y="1851719"/>
                    <a:pt x="0" y="1737802"/>
                  </a:cubicBezTo>
                  <a:close/>
                </a:path>
              </a:pathLst>
            </a:custGeom>
            <a:solidFill>
              <a:srgbClr val="ECFDF5"/>
            </a:solidFill>
          </p:spPr>
          <p:txBody>
            <a:bodyPr/>
            <a:p/>
          </p:txBody>
        </p:sp>
        <p:sp>
          <p:nvSpPr>
            <p:cNvPr name="TextBox 106" id="106"/>
            <p:cNvSpPr txBox="true"/>
            <p:nvPr/>
          </p:nvSpPr>
          <p:spPr>
            <a:xfrm>
              <a:off x="0" y="-9525"/>
              <a:ext cx="1697126" cy="1953560"/>
            </a:xfrm>
            <a:prstGeom prst="rect">
              <a:avLst/>
            </a:prstGeom>
          </p:spPr>
          <p:txBody>
            <a:bodyPr anchor="ctr" rtlCol="false" tIns="50800" lIns="50800" bIns="50800" rIns="50800"/>
            <a:lstStyle/>
            <a:p>
              <a:pPr algn="ctr" marL="0" indent="0" lvl="0">
                <a:lnSpc>
                  <a:spcPts val="1512"/>
                </a:lnSpc>
                <a:spcBef>
                  <a:spcPct val="0"/>
                </a:spcBef>
              </a:pPr>
              <a:r>
                <a:rPr lang="en-US" b="true" sz="1260" strike="noStrike" u="none">
                  <a:solidFill>
                    <a:srgbClr val="047857"/>
                  </a:solidFill>
                  <a:latin typeface="DM Sans Bold"/>
                  <a:ea typeface="DM Sans Bold"/>
                  <a:cs typeface="DM Sans Bold"/>
                  <a:sym typeface="DM Sans Bold"/>
                </a:rPr>
                <a:t>Status checked remotely, without disturbing the wrap</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79664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115317"/>
            <a:chOff x="0" y="0"/>
            <a:chExt cx="10858500" cy="8153756"/>
          </a:xfrm>
        </p:grpSpPr>
        <p:sp>
          <p:nvSpPr>
            <p:cNvPr name="Freeform 7" id="7" descr="image.png"/>
            <p:cNvSpPr/>
            <p:nvPr/>
          </p:nvSpPr>
          <p:spPr>
            <a:xfrm flipH="false" flipV="false" rot="0">
              <a:off x="0" y="0"/>
              <a:ext cx="10858500" cy="8153781"/>
            </a:xfrm>
            <a:custGeom>
              <a:avLst/>
              <a:gdLst/>
              <a:ahLst/>
              <a:cxnLst/>
              <a:rect r="r" b="b" t="t" l="l"/>
              <a:pathLst>
                <a:path h="8153781" w="10858500">
                  <a:moveTo>
                    <a:pt x="0" y="0"/>
                  </a:moveTo>
                  <a:lnTo>
                    <a:pt x="10858500" y="0"/>
                  </a:lnTo>
                  <a:lnTo>
                    <a:pt x="10858500" y="8153781"/>
                  </a:lnTo>
                  <a:lnTo>
                    <a:pt x="0" y="8153781"/>
                  </a:lnTo>
                  <a:lnTo>
                    <a:pt x="0" y="0"/>
                  </a:lnTo>
                  <a:close/>
                </a:path>
              </a:pathLst>
            </a:custGeom>
            <a:blipFill>
              <a:blip r:embed="rId5"/>
              <a:stretch>
                <a:fillRect l="0" t="0" r="0" b="-22424"/>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System Architecture &amp; Specs</a:t>
              </a:r>
            </a:p>
          </p:txBody>
        </p:sp>
      </p:grpSp>
      <p:sp>
        <p:nvSpPr>
          <p:cNvPr name="TextBox 13" id="13"/>
          <p:cNvSpPr txBox="true"/>
          <p:nvPr/>
        </p:nvSpPr>
        <p:spPr>
          <a:xfrm rot="0">
            <a:off x="1085850" y="80331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Architecture Rationale: </a:t>
            </a:r>
            <a:r>
              <a:rPr lang="en-US" b="true" sz="1439">
                <a:solidFill>
                  <a:srgbClr val="334155"/>
                </a:solidFill>
                <a:latin typeface="DM Sans Bold"/>
                <a:ea typeface="DM Sans Bold"/>
                <a:cs typeface="DM Sans Bold"/>
                <a:sym typeface="DM Sans Bold"/>
              </a:rPr>
              <a:t>We are designing the reader for reuse; the strip is the disposable part.</a:t>
            </a:r>
          </a:p>
        </p:txBody>
      </p:sp>
      <p:sp>
        <p:nvSpPr>
          <p:cNvPr name="TextBox 14" id="14"/>
          <p:cNvSpPr txBox="true"/>
          <p:nvPr/>
        </p:nvSpPr>
        <p:spPr>
          <a:xfrm rot="0">
            <a:off x="800100" y="7267194"/>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Concept drawing: how a moisture reading could become a status. Values are design targets, not measured results.</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7" id="17"/>
          <p:cNvSpPr txBox="true"/>
          <p:nvPr/>
        </p:nvSpPr>
        <p:spPr>
          <a:xfrm rot="0">
            <a:off x="10047018" y="1743894"/>
            <a:ext cx="5260705"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Design targets and hardware</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4558162" y="685800"/>
            <a:ext cx="2929738" cy="462248"/>
            <a:chOff x="0" y="0"/>
            <a:chExt cx="3906317" cy="616331"/>
          </a:xfrm>
        </p:grpSpPr>
        <p:sp>
          <p:nvSpPr>
            <p:cNvPr name="Freeform 23" id="23"/>
            <p:cNvSpPr/>
            <p:nvPr/>
          </p:nvSpPr>
          <p:spPr>
            <a:xfrm flipH="false" flipV="false" rot="0">
              <a:off x="0" y="0"/>
              <a:ext cx="3906266" cy="616331"/>
            </a:xfrm>
            <a:custGeom>
              <a:avLst/>
              <a:gdLst/>
              <a:ahLst/>
              <a:cxnLst/>
              <a:rect r="r" b="b" t="t" l="l"/>
              <a:pathLst>
                <a:path h="616331" w="3906266">
                  <a:moveTo>
                    <a:pt x="0" y="308166"/>
                  </a:moveTo>
                  <a:cubicBezTo>
                    <a:pt x="0" y="137914"/>
                    <a:pt x="110490" y="0"/>
                    <a:pt x="246888" y="0"/>
                  </a:cubicBezTo>
                  <a:lnTo>
                    <a:pt x="3659378" y="0"/>
                  </a:lnTo>
                  <a:cubicBezTo>
                    <a:pt x="3795776" y="0"/>
                    <a:pt x="3906266" y="137914"/>
                    <a:pt x="3906266" y="308166"/>
                  </a:cubicBezTo>
                  <a:cubicBezTo>
                    <a:pt x="3906266" y="478417"/>
                    <a:pt x="3795776" y="616331"/>
                    <a:pt x="3659378" y="616331"/>
                  </a:cubicBezTo>
                  <a:lnTo>
                    <a:pt x="246888" y="616331"/>
                  </a:lnTo>
                  <a:cubicBezTo>
                    <a:pt x="110490" y="616331"/>
                    <a:pt x="0" y="478417"/>
                    <a:pt x="0" y="308166"/>
                  </a:cubicBezTo>
                  <a:close/>
                </a:path>
              </a:pathLst>
            </a:custGeom>
            <a:solidFill>
              <a:srgbClr val="FEF3C7"/>
            </a:solidFill>
          </p:spPr>
          <p:txBody>
            <a:bodyPr/>
            <a:p/>
          </p:txBody>
        </p:sp>
        <p:sp>
          <p:nvSpPr>
            <p:cNvPr name="TextBox 24" id="24"/>
            <p:cNvSpPr txBox="true"/>
            <p:nvPr/>
          </p:nvSpPr>
          <p:spPr>
            <a:xfrm>
              <a:off x="0" y="0"/>
              <a:ext cx="3906317" cy="616331"/>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 TARGETS · NOT YET BENCH-TESTED</a:t>
              </a:r>
            </a:p>
          </p:txBody>
        </p:sp>
      </p:grpSp>
      <p:grpSp>
        <p:nvGrpSpPr>
          <p:cNvPr name="Group 25" id="25"/>
          <p:cNvGrpSpPr/>
          <p:nvPr/>
        </p:nvGrpSpPr>
        <p:grpSpPr>
          <a:xfrm rot="0">
            <a:off x="809244" y="1455068"/>
            <a:ext cx="8119872" cy="5813231"/>
            <a:chOff x="0" y="0"/>
            <a:chExt cx="10826496" cy="7750975"/>
          </a:xfrm>
        </p:grpSpPr>
        <p:sp>
          <p:nvSpPr>
            <p:cNvPr name="Freeform 26" id="26" descr="fig_howitworks.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graphicFrame>
        <p:nvGraphicFramePr>
          <p:cNvPr name="Table 27" id="27"/>
          <p:cNvGraphicFramePr>
            <a:graphicFrameLocks noGrp="true"/>
          </p:cNvGraphicFramePr>
          <p:nvPr/>
        </p:nvGraphicFramePr>
        <p:xfrm>
          <a:off x="9669780" y="2221992"/>
          <a:ext cx="7486650" cy="5034639"/>
        </p:xfrm>
        <a:graphic>
          <a:graphicData uri="http://schemas.openxmlformats.org/drawingml/2006/table">
            <a:tbl>
              <a:tblPr/>
              <a:tblGrid>
                <a:gridCol w="1772559"/>
                <a:gridCol w="3580036"/>
                <a:gridCol w="2134055"/>
              </a:tblGrid>
              <a:tr h="565187">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Parameter</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Design value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Basis</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Sensing zones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2: centre C, change line A</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decision D-012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82200">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Electrodes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1.0 mm lines and gaps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marL="0" indent="0" lvl="0">
                        <a:lnSpc>
                          <a:spcPts val="1727"/>
                        </a:lnSpc>
                        <a:spcBef>
                          <a:spcPct val="0"/>
                        </a:spcBef>
                        <a:defRPr/>
                      </a:pPr>
                      <a:r>
                        <a:rPr lang="en-US" sz="1439" strike="noStrike" u="none">
                          <a:solidFill>
                            <a:srgbClr val="334155"/>
                          </a:solidFill>
                          <a:latin typeface="DM Sans"/>
                          <a:ea typeface="DM Sans"/>
                          <a:cs typeface="DM Sans"/>
                          <a:sym typeface="DM Sans"/>
                        </a:rPr>
                        <a:t>E2 pre-registered limits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Wet / dry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&lt; 100 kΩ / &gt; 300 kΩ, 3 scans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calc: wet 4–15 kΩ</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Drive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bipolar, ≤ 33 µA, no net DC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calc · bench T8</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ADC / MCU</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ADS1115 16-bit (I²C) · ESP32-C3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datasheets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82200">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Self-test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100 kΩ check ±5 % + strip loop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show FAULT if the check fails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Contacts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4 pogo pins + 2 dowels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CAD checked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2">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Output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LEDs · USB log · BLE broadcast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BLE compiled only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System Architecture &amp; Specs: Firmware &amp; Data Flow</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Software checks: </a:t>
            </a:r>
            <a:r>
              <a:rPr lang="en-US" b="true" sz="1439">
                <a:solidFill>
                  <a:srgbClr val="334155"/>
                </a:solidFill>
                <a:latin typeface="DM Sans Bold"/>
                <a:ea typeface="DM Sans Bold"/>
                <a:cs typeface="DM Sans Bold"/>
                <a:sym typeface="DM Sans Bold"/>
              </a:rPr>
              <a:t>We passed 23 compile-time checks and 16 PC-side tests. The firmware has not yet run on a wired board.</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This diagram follows one reader scan from measurement to status.</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7" id="17"/>
          <p:cNvSpPr txBox="true"/>
          <p:nvPr/>
        </p:nvSpPr>
        <p:spPr>
          <a:xfrm rot="0">
            <a:off x="10047018"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How the firmware turns readings into a status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3438937" y="685800"/>
            <a:ext cx="4048963" cy="462248"/>
            <a:chOff x="0" y="0"/>
            <a:chExt cx="5398618" cy="616331"/>
          </a:xfrm>
        </p:grpSpPr>
        <p:sp>
          <p:nvSpPr>
            <p:cNvPr name="Freeform 23" id="23"/>
            <p:cNvSpPr/>
            <p:nvPr/>
          </p:nvSpPr>
          <p:spPr>
            <a:xfrm flipH="false" flipV="false" rot="0">
              <a:off x="0" y="0"/>
              <a:ext cx="5398643" cy="616331"/>
            </a:xfrm>
            <a:custGeom>
              <a:avLst/>
              <a:gdLst/>
              <a:ahLst/>
              <a:cxnLst/>
              <a:rect r="r" b="b" t="t" l="l"/>
              <a:pathLst>
                <a:path h="616331" w="5398643">
                  <a:moveTo>
                    <a:pt x="0" y="308166"/>
                  </a:moveTo>
                  <a:cubicBezTo>
                    <a:pt x="0" y="137914"/>
                    <a:pt x="110490" y="0"/>
                    <a:pt x="246888" y="0"/>
                  </a:cubicBezTo>
                  <a:lnTo>
                    <a:pt x="5151755" y="0"/>
                  </a:lnTo>
                  <a:cubicBezTo>
                    <a:pt x="5288153" y="0"/>
                    <a:pt x="5398643" y="137914"/>
                    <a:pt x="5398643" y="308166"/>
                  </a:cubicBezTo>
                  <a:cubicBezTo>
                    <a:pt x="5398643" y="478417"/>
                    <a:pt x="5288153" y="616331"/>
                    <a:pt x="5151755" y="616331"/>
                  </a:cubicBezTo>
                  <a:lnTo>
                    <a:pt x="246888" y="616331"/>
                  </a:lnTo>
                  <a:cubicBezTo>
                    <a:pt x="110490" y="616331"/>
                    <a:pt x="0" y="478417"/>
                    <a:pt x="0" y="308166"/>
                  </a:cubicBezTo>
                  <a:close/>
                </a:path>
              </a:pathLst>
            </a:custGeom>
            <a:solidFill>
              <a:srgbClr val="D1FAE5"/>
            </a:solidFill>
          </p:spPr>
          <p:txBody>
            <a:bodyPr/>
            <a:p/>
          </p:txBody>
        </p:sp>
        <p:sp>
          <p:nvSpPr>
            <p:cNvPr name="TextBox 24" id="24"/>
            <p:cNvSpPr txBox="true"/>
            <p:nvPr/>
          </p:nvSpPr>
          <p:spPr>
            <a:xfrm>
              <a:off x="0" y="0"/>
              <a:ext cx="5398618"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SOFTWARE CHECKS PASSED · HARDWARE TESTING PENDING</a:t>
              </a:r>
            </a:p>
          </p:txBody>
        </p:sp>
      </p:grpSp>
      <p:grpSp>
        <p:nvGrpSpPr>
          <p:cNvPr name="Group 25" id="25"/>
          <p:cNvGrpSpPr/>
          <p:nvPr/>
        </p:nvGrpSpPr>
        <p:grpSpPr>
          <a:xfrm rot="0">
            <a:off x="809244" y="1455068"/>
            <a:ext cx="8119872" cy="5813231"/>
            <a:chOff x="0" y="0"/>
            <a:chExt cx="10826496" cy="7750975"/>
          </a:xfrm>
        </p:grpSpPr>
        <p:sp>
          <p:nvSpPr>
            <p:cNvPr name="Freeform 26" id="26" descr="fig_dataflow.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sp>
        <p:nvSpPr>
          <p:cNvPr name="TextBox 27" id="27"/>
          <p:cNvSpPr txBox="true"/>
          <p:nvPr/>
        </p:nvSpPr>
        <p:spPr>
          <a:xfrm rot="0">
            <a:off x="9715500" y="2349246"/>
            <a:ext cx="7507224" cy="3835679"/>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Measure:  Each zone is driven in both directions to avoid net DC; hardware testing is pending.</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Read:  The 16-bit ADC reading is scaled to the 3.3 V rail.</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Decide:  Design thresholds are wet &lt;100 kΩ and dry &gt;300 kΩ for three consecutive scans.</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Self-check:  A known 100 kΩ reference is checked each scan; a failed check shows FAULT.</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Output:  Status appears on LEDs; data can be logged over USB. There is no custom app yet.</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Remote monitoring:  the reader broadcasts its status over Bluetooth Low Energy (BLE) to any nearby smartphone scanner, with no hospital Wi-Fi or cloud needed. Firmware done; hardware test pending.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CAD Design &amp; Mechanical Specs</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Design Iteration: </a:t>
            </a:r>
            <a:r>
              <a:rPr lang="en-US" b="true" sz="1439">
                <a:solidFill>
                  <a:srgbClr val="334155"/>
                </a:solidFill>
                <a:latin typeface="DM Sans Bold"/>
                <a:ea typeface="DM Sans Bold"/>
                <a:cs typeface="DM Sans Bold"/>
                <a:sym typeface="DM Sans Bold"/>
              </a:rPr>
              <a:t>We found that the seal tape would sit under the clamp. We moved it to x = 23 mm; the CAD check now reports no clash (D-013).</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Our SolidWorks models and drawings; the clamp has not been built yet.</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7" id="17"/>
          <p:cNvSpPr txBox="true"/>
          <p:nvPr/>
        </p:nvSpPr>
        <p:spPr>
          <a:xfrm rot="0">
            <a:off x="10047018" y="1743894"/>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A clip-on clamp: 4 spring pins, 2 dowels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3438937" y="685800"/>
            <a:ext cx="4048963" cy="370332"/>
            <a:chOff x="0" y="0"/>
            <a:chExt cx="5398618" cy="493776"/>
          </a:xfrm>
        </p:grpSpPr>
        <p:sp>
          <p:nvSpPr>
            <p:cNvPr name="Freeform 23" id="23"/>
            <p:cNvSpPr/>
            <p:nvPr/>
          </p:nvSpPr>
          <p:spPr>
            <a:xfrm flipH="false" flipV="false" rot="0">
              <a:off x="0" y="0"/>
              <a:ext cx="5398643" cy="493776"/>
            </a:xfrm>
            <a:custGeom>
              <a:avLst/>
              <a:gdLst/>
              <a:ahLst/>
              <a:cxnLst/>
              <a:rect r="r" b="b" t="t" l="l"/>
              <a:pathLst>
                <a:path h="493776" w="5398643">
                  <a:moveTo>
                    <a:pt x="0" y="246888"/>
                  </a:moveTo>
                  <a:cubicBezTo>
                    <a:pt x="0" y="110490"/>
                    <a:pt x="110490" y="0"/>
                    <a:pt x="246888" y="0"/>
                  </a:cubicBezTo>
                  <a:lnTo>
                    <a:pt x="5151755" y="0"/>
                  </a:lnTo>
                  <a:cubicBezTo>
                    <a:pt x="5288153" y="0"/>
                    <a:pt x="5398643" y="110490"/>
                    <a:pt x="5398643" y="246888"/>
                  </a:cubicBezTo>
                  <a:cubicBezTo>
                    <a:pt x="5398643" y="383286"/>
                    <a:pt x="5288153" y="493776"/>
                    <a:pt x="5151755" y="493776"/>
                  </a:cubicBezTo>
                  <a:lnTo>
                    <a:pt x="246888" y="493776"/>
                  </a:lnTo>
                  <a:cubicBezTo>
                    <a:pt x="110490" y="493776"/>
                    <a:pt x="0" y="383286"/>
                    <a:pt x="0" y="246888"/>
                  </a:cubicBezTo>
                  <a:close/>
                </a:path>
              </a:pathLst>
            </a:custGeom>
            <a:solidFill>
              <a:srgbClr val="FEF3C7"/>
            </a:solidFill>
          </p:spPr>
          <p:txBody>
            <a:bodyPr/>
            <a:p/>
          </p:txBody>
        </p:sp>
        <p:sp>
          <p:nvSpPr>
            <p:cNvPr name="TextBox 24" id="24"/>
            <p:cNvSpPr txBox="true"/>
            <p:nvPr/>
          </p:nvSpPr>
          <p:spPr>
            <a:xfrm>
              <a:off x="0" y="0"/>
              <a:ext cx="5398618"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DESIGNED · CAD VERIFIED · NOT YET BUILT</a:t>
              </a:r>
            </a:p>
          </p:txBody>
        </p:sp>
      </p:grpSp>
      <p:grpSp>
        <p:nvGrpSpPr>
          <p:cNvPr name="Group 25" id="25"/>
          <p:cNvGrpSpPr/>
          <p:nvPr/>
        </p:nvGrpSpPr>
        <p:grpSpPr>
          <a:xfrm rot="0">
            <a:off x="809244" y="1455068"/>
            <a:ext cx="8119872" cy="5813231"/>
            <a:chOff x="0" y="0"/>
            <a:chExt cx="10826496" cy="7750975"/>
          </a:xfrm>
        </p:grpSpPr>
        <p:sp>
          <p:nvSpPr>
            <p:cNvPr name="Freeform 26" id="26" descr="fig_cad.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graphicFrame>
        <p:nvGraphicFramePr>
          <p:cNvPr name="Table 27" id="27"/>
          <p:cNvGraphicFramePr>
            <a:graphicFrameLocks noGrp="true"/>
          </p:cNvGraphicFramePr>
          <p:nvPr/>
        </p:nvGraphicFramePr>
        <p:xfrm>
          <a:off x="9669780" y="2276856"/>
          <a:ext cx="7486650" cy="4876800"/>
        </p:xfrm>
        <a:graphic>
          <a:graphicData uri="http://schemas.openxmlformats.org/drawingml/2006/table">
            <a:tbl>
              <a:tblPr/>
              <a:tblGrid>
                <a:gridCol w="1700260"/>
                <a:gridCol w="3796934"/>
                <a:gridCol w="1989456"/>
              </a:tblGrid>
              <a:tr h="622262">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Check</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Result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Basis</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Materials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polyimide strip · PETG clamp · acrylic rig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printable, laser-cut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Pin force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0.72 N each · 2.9 N total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Lid bending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11 µm vs 1.48 mm pin travel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Alignment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0.49 mm used of ±1.35 mm</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 · 2.8× margin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Strip bending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0.62 % strain at 10 mm radius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 · yield ≈ 3 %</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CAD checks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99 passed · 0 failed · 5 blocked until E2 measurements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verify_cad.py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Stress check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marL="0" indent="0" lvl="0">
                        <a:lnSpc>
                          <a:spcPts val="1764"/>
                        </a:lnSpc>
                        <a:spcBef>
                          <a:spcPct val="0"/>
                        </a:spcBef>
                        <a:defRPr/>
                      </a:pPr>
                      <a:r>
                        <a:rPr lang="en-US" sz="1470" strike="noStrike" u="none">
                          <a:solidFill>
                            <a:srgbClr val="334155"/>
                          </a:solidFill>
                          <a:latin typeface="DM Sans"/>
                          <a:ea typeface="DM Sans"/>
                          <a:cs typeface="DM Sans"/>
                          <a:sym typeface="DM Sans"/>
                        </a:rPr>
                        <a:t>lid stress ≈ 0.4 MPa · FoS &gt; 40 on PETG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marL="0" indent="0" lvl="0">
                        <a:lnSpc>
                          <a:spcPts val="1764"/>
                        </a:lnSpc>
                        <a:spcBef>
                          <a:spcPct val="0"/>
                        </a:spcBef>
                        <a:defRPr/>
                      </a:pPr>
                      <a:r>
                        <a:rPr lang="en-US" sz="1470" strike="noStrike" u="none">
                          <a:solidFill>
                            <a:srgbClr val="334155"/>
                          </a:solidFill>
                          <a:latin typeface="DM Sans"/>
                          <a:ea typeface="DM Sans"/>
                          <a:cs typeface="DM Sans"/>
                          <a:sym typeface="DM Sans"/>
                        </a:rPr>
                        <a:t>beam-model hand calc; FEA not run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CAD Design &amp; Mechanical Specs: Sensing Strip &amp; Laser Process</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All 35 design-file checks pass. No v0.1 strip has been cut yet; the LaserCAD import is confirmed at the machine before fabrication.</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Laser pattern from our DXF files; it has not been fabricated yet.</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7" id="17"/>
          <p:cNvSpPr txBox="true"/>
          <p:nvPr/>
        </p:nvSpPr>
        <p:spPr>
          <a:xfrm rot="0">
            <a:off x="10047018"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E2: laser and strip validation</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4558162" y="685800"/>
            <a:ext cx="2929738" cy="370332"/>
            <a:chOff x="0" y="0"/>
            <a:chExt cx="3906317" cy="493776"/>
          </a:xfrm>
        </p:grpSpPr>
        <p:sp>
          <p:nvSpPr>
            <p:cNvPr name="Freeform 23" id="23"/>
            <p:cNvSpPr/>
            <p:nvPr/>
          </p:nvSpPr>
          <p:spPr>
            <a:xfrm flipH="false" flipV="false" rot="0">
              <a:off x="0" y="0"/>
              <a:ext cx="3906266" cy="493776"/>
            </a:xfrm>
            <a:custGeom>
              <a:avLst/>
              <a:gdLst/>
              <a:ahLst/>
              <a:cxnLst/>
              <a:rect r="r" b="b" t="t" l="l"/>
              <a:pathLst>
                <a:path h="493776" w="3906266">
                  <a:moveTo>
                    <a:pt x="0" y="246888"/>
                  </a:moveTo>
                  <a:cubicBezTo>
                    <a:pt x="0" y="110490"/>
                    <a:pt x="110490" y="0"/>
                    <a:pt x="246888" y="0"/>
                  </a:cubicBezTo>
                  <a:lnTo>
                    <a:pt x="3659378" y="0"/>
                  </a:lnTo>
                  <a:cubicBezTo>
                    <a:pt x="3795776" y="0"/>
                    <a:pt x="3906266" y="110490"/>
                    <a:pt x="3906266" y="246888"/>
                  </a:cubicBezTo>
                  <a:cubicBezTo>
                    <a:pt x="3906266" y="383286"/>
                    <a:pt x="3795776" y="493776"/>
                    <a:pt x="3659378" y="493776"/>
                  </a:cubicBezTo>
                  <a:lnTo>
                    <a:pt x="246888" y="493776"/>
                  </a:lnTo>
                  <a:cubicBezTo>
                    <a:pt x="110490" y="493776"/>
                    <a:pt x="0" y="383286"/>
                    <a:pt x="0" y="246888"/>
                  </a:cubicBezTo>
                  <a:close/>
                </a:path>
              </a:pathLst>
            </a:custGeom>
            <a:solidFill>
              <a:srgbClr val="FEF3C7"/>
            </a:solidFill>
          </p:spPr>
          <p:txBody>
            <a:bodyPr/>
            <a:p/>
          </p:txBody>
        </p:sp>
        <p:sp>
          <p:nvSpPr>
            <p:cNvPr name="TextBox 24" id="24"/>
            <p:cNvSpPr txBox="true"/>
            <p:nvPr/>
          </p:nvSpPr>
          <p:spPr>
            <a:xfrm>
              <a:off x="0" y="0"/>
              <a:ext cx="3906317"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DESIGNED · LAB TEST PENDING</a:t>
              </a:r>
            </a:p>
          </p:txBody>
        </p:sp>
      </p:grpSp>
      <p:grpSp>
        <p:nvGrpSpPr>
          <p:cNvPr name="Group 25" id="25"/>
          <p:cNvGrpSpPr/>
          <p:nvPr/>
        </p:nvGrpSpPr>
        <p:grpSpPr>
          <a:xfrm rot="0">
            <a:off x="809244" y="1455068"/>
            <a:ext cx="8119872" cy="5813231"/>
            <a:chOff x="0" y="0"/>
            <a:chExt cx="10826496" cy="7750975"/>
          </a:xfrm>
        </p:grpSpPr>
        <p:sp>
          <p:nvSpPr>
            <p:cNvPr name="Freeform 26" id="26" descr="fig_strip.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sp>
        <p:nvSpPr>
          <p:cNvPr name="TextBox 27" id="27"/>
          <p:cNvSpPr txBox="true"/>
          <p:nvPr/>
        </p:nvSpPr>
        <p:spPr>
          <a:xfrm rot="0">
            <a:off x="9715500" y="2349246"/>
            <a:ext cx="7507224" cy="2949854"/>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Material:  We plan to create a laser-carbonised, LIG-like layer on polyimide [7].</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Reference:  The machine’s “12” setting is likely a PWM percentage, not watts; it still needs confirmation.</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E2 matrix:  7 coupons, 2 days, 72 pre-registered samples.</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Pass rules:  Pre-set limits are CV ≤20% and electrical isolation across gaps &gt;3 MΩ.</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Seal:  laser-carbon made in air is superhydrophilic [9]; polyimide tape over the leads is designed to stop fluid wicking along the traces. E2 tests the seal.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624449"/>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41"/>
            <a:ext cx="8143875" cy="6702152"/>
            <a:chOff x="0" y="0"/>
            <a:chExt cx="10858500" cy="8936203"/>
          </a:xfrm>
        </p:grpSpPr>
        <p:sp>
          <p:nvSpPr>
            <p:cNvPr name="Freeform 7" id="7" descr="image.png"/>
            <p:cNvSpPr/>
            <p:nvPr/>
          </p:nvSpPr>
          <p:spPr>
            <a:xfrm flipH="false" flipV="false" rot="0">
              <a:off x="0" y="0"/>
              <a:ext cx="10858500" cy="8936228"/>
            </a:xfrm>
            <a:custGeom>
              <a:avLst/>
              <a:gdLst/>
              <a:ahLst/>
              <a:cxnLst/>
              <a:rect r="r" b="b" t="t" l="l"/>
              <a:pathLst>
                <a:path h="8936228" w="10858500">
                  <a:moveTo>
                    <a:pt x="0" y="0"/>
                  </a:moveTo>
                  <a:lnTo>
                    <a:pt x="10858500" y="0"/>
                  </a:lnTo>
                  <a:lnTo>
                    <a:pt x="10858500" y="8936228"/>
                  </a:lnTo>
                  <a:lnTo>
                    <a:pt x="0" y="8936228"/>
                  </a:lnTo>
                  <a:lnTo>
                    <a:pt x="0" y="0"/>
                  </a:lnTo>
                  <a:close/>
                </a:path>
              </a:pathLst>
            </a:custGeom>
            <a:blipFill>
              <a:blip r:embed="rId5"/>
              <a:stretch>
                <a:fillRect l="0" t="0" r="0" b="-11704"/>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754049"/>
            <a:chOff x="0" y="0"/>
            <a:chExt cx="17190720" cy="1005399"/>
          </a:xfrm>
        </p:grpSpPr>
        <p:sp>
          <p:nvSpPr>
            <p:cNvPr name="Freeform 11" id="11"/>
            <p:cNvSpPr/>
            <p:nvPr/>
          </p:nvSpPr>
          <p:spPr>
            <a:xfrm flipH="false" flipV="false" rot="0">
              <a:off x="0" y="0"/>
              <a:ext cx="17190720" cy="1005396"/>
            </a:xfrm>
            <a:custGeom>
              <a:avLst/>
              <a:gdLst/>
              <a:ahLst/>
              <a:cxnLst/>
              <a:rect r="r" b="b" t="t" l="l"/>
              <a:pathLst>
                <a:path h="1005396" w="17190720">
                  <a:moveTo>
                    <a:pt x="0" y="0"/>
                  </a:moveTo>
                  <a:lnTo>
                    <a:pt x="17190720" y="0"/>
                  </a:lnTo>
                  <a:lnTo>
                    <a:pt x="17190720" y="1005396"/>
                  </a:lnTo>
                  <a:lnTo>
                    <a:pt x="0" y="1005396"/>
                  </a:lnTo>
                  <a:close/>
                </a:path>
              </a:pathLst>
            </a:custGeom>
            <a:blipFill>
              <a:blip r:embed="rId7">
                <a:alphaModFix amt="0"/>
              </a:blip>
              <a:stretch>
                <a:fillRect l="0" t="-302477" r="0" b="-263850"/>
              </a:stretch>
            </a:blipFill>
          </p:spPr>
          <p:txBody>
            <a:bodyPr/>
            <a:p/>
          </p:txBody>
        </p:sp>
        <p:sp>
          <p:nvSpPr>
            <p:cNvPr name="TextBox 12" id="12"/>
            <p:cNvSpPr txBox="true"/>
            <p:nvPr/>
          </p:nvSpPr>
          <p:spPr>
            <a:xfrm>
              <a:off x="0" y="-104775"/>
              <a:ext cx="17190720" cy="1110174"/>
            </a:xfrm>
            <a:prstGeom prst="rect">
              <a:avLst/>
            </a:prstGeom>
          </p:spPr>
          <p:txBody>
            <a:bodyPr anchor="ctr" rtlCol="false" tIns="0" lIns="0" bIns="0" rIns="0"/>
            <a:lstStyle/>
            <a:p>
              <a:pPr algn="l" marL="0" indent="0" lvl="0">
                <a:lnSpc>
                  <a:spcPts val="4372"/>
                </a:lnSpc>
                <a:spcBef>
                  <a:spcPct val="0"/>
                </a:spcBef>
              </a:pPr>
              <a:r>
                <a:rPr lang="en-US" sz="3037" strike="noStrike" u="none">
                  <a:solidFill>
                    <a:srgbClr val="0F172A"/>
                  </a:solidFill>
                  <a:latin typeface="Poppins"/>
                  <a:ea typeface="Poppins"/>
                  <a:cs typeface="Poppins"/>
                  <a:sym typeface="Poppins"/>
                </a:rPr>
                <a:t>Electronics Architecture &amp; Signal Path</a:t>
              </a:r>
            </a:p>
          </p:txBody>
        </p:sp>
      </p:grpSp>
      <p:sp>
        <p:nvSpPr>
          <p:cNvPr name="TextBox 13" id="13"/>
          <p:cNvSpPr txBox="true"/>
          <p:nvPr/>
        </p:nvSpPr>
        <p:spPr>
          <a:xfrm rot="0">
            <a:off x="1085850" y="8691124"/>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The electrical rules check found 0 violations. The netlist matches the firmware and strip pads, with 0 mismatches.</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This figure shows zone C’s measurement path from our KiCad 10 netlist.</a:t>
            </a:r>
          </a:p>
        </p:txBody>
      </p:sp>
      <p:grpSp>
        <p:nvGrpSpPr>
          <p:cNvPr name="Group 15" id="15"/>
          <p:cNvGrpSpPr/>
          <p:nvPr/>
        </p:nvGrpSpPr>
        <p:grpSpPr>
          <a:xfrm rot="0">
            <a:off x="9672638" y="1762944"/>
            <a:ext cx="174355" cy="228600"/>
            <a:chOff x="0" y="0"/>
            <a:chExt cx="232474" cy="304800"/>
          </a:xfrm>
        </p:grpSpPr>
        <p:sp>
          <p:nvSpPr>
            <p:cNvPr name="Freeform 16" id="16" descr="image.png"/>
            <p:cNvSpPr/>
            <p:nvPr/>
          </p:nvSpPr>
          <p:spPr>
            <a:xfrm flipH="false" flipV="false" rot="0">
              <a:off x="0" y="0"/>
              <a:ext cx="232410" cy="304800"/>
            </a:xfrm>
            <a:custGeom>
              <a:avLst/>
              <a:gdLst/>
              <a:ahLst/>
              <a:cxnLst/>
              <a:rect r="r" b="b" t="t" l="l"/>
              <a:pathLst>
                <a:path h="304800" w="232410">
                  <a:moveTo>
                    <a:pt x="0" y="0"/>
                  </a:moveTo>
                  <a:lnTo>
                    <a:pt x="232410" y="0"/>
                  </a:lnTo>
                  <a:lnTo>
                    <a:pt x="232410" y="304800"/>
                  </a:lnTo>
                  <a:lnTo>
                    <a:pt x="0" y="304800"/>
                  </a:lnTo>
                  <a:lnTo>
                    <a:pt x="0" y="0"/>
                  </a:lnTo>
                  <a:close/>
                </a:path>
              </a:pathLst>
            </a:custGeom>
            <a:blipFill>
              <a:blip r:embed="rId8"/>
              <a:stretch>
                <a:fillRect l="0" t="0" r="-289" b="0"/>
              </a:stretch>
            </a:blipFill>
          </p:spPr>
          <p:txBody>
            <a:bodyPr/>
            <a:p/>
          </p:txBody>
        </p:sp>
      </p:grpSp>
      <p:sp>
        <p:nvSpPr>
          <p:cNvPr name="TextBox 17" id="17"/>
          <p:cNvSpPr txBox="true"/>
          <p:nvPr/>
        </p:nvSpPr>
        <p:spPr>
          <a:xfrm rot="0">
            <a:off x="9989868" y="1743894"/>
            <a:ext cx="4577801"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Pin and net map from our KiCad netlist</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4464894" y="685800"/>
            <a:ext cx="3023006" cy="462248"/>
            <a:chOff x="0" y="0"/>
            <a:chExt cx="4030675" cy="616331"/>
          </a:xfrm>
        </p:grpSpPr>
        <p:sp>
          <p:nvSpPr>
            <p:cNvPr name="Freeform 23" id="23"/>
            <p:cNvSpPr/>
            <p:nvPr/>
          </p:nvSpPr>
          <p:spPr>
            <a:xfrm flipH="false" flipV="false" rot="0">
              <a:off x="0" y="0"/>
              <a:ext cx="4030726" cy="616331"/>
            </a:xfrm>
            <a:custGeom>
              <a:avLst/>
              <a:gdLst/>
              <a:ahLst/>
              <a:cxnLst/>
              <a:rect r="r" b="b" t="t" l="l"/>
              <a:pathLst>
                <a:path h="616331" w="4030726">
                  <a:moveTo>
                    <a:pt x="0" y="308166"/>
                  </a:moveTo>
                  <a:cubicBezTo>
                    <a:pt x="0" y="137914"/>
                    <a:pt x="110490" y="0"/>
                    <a:pt x="246888" y="0"/>
                  </a:cubicBezTo>
                  <a:lnTo>
                    <a:pt x="3783838" y="0"/>
                  </a:lnTo>
                  <a:cubicBezTo>
                    <a:pt x="3920236" y="0"/>
                    <a:pt x="4030726" y="137914"/>
                    <a:pt x="4030726" y="308166"/>
                  </a:cubicBezTo>
                  <a:cubicBezTo>
                    <a:pt x="4030726" y="478417"/>
                    <a:pt x="3920236" y="616331"/>
                    <a:pt x="3783838" y="616331"/>
                  </a:cubicBezTo>
                  <a:lnTo>
                    <a:pt x="246888" y="616331"/>
                  </a:lnTo>
                  <a:cubicBezTo>
                    <a:pt x="110490" y="616331"/>
                    <a:pt x="0" y="478417"/>
                    <a:pt x="0" y="308166"/>
                  </a:cubicBezTo>
                  <a:close/>
                </a:path>
              </a:pathLst>
            </a:custGeom>
            <a:solidFill>
              <a:srgbClr val="D1FAE5"/>
            </a:solidFill>
          </p:spPr>
          <p:txBody>
            <a:bodyPr/>
            <a:p/>
          </p:txBody>
        </p:sp>
        <p:sp>
          <p:nvSpPr>
            <p:cNvPr name="TextBox 24" id="24"/>
            <p:cNvSpPr txBox="true"/>
            <p:nvPr/>
          </p:nvSpPr>
          <p:spPr>
            <a:xfrm>
              <a:off x="0" y="0"/>
              <a:ext cx="4030675"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SCHEMATIC CHECK PASSED · NOT YET WIRED</a:t>
              </a:r>
            </a:p>
          </p:txBody>
        </p:sp>
      </p:grpSp>
      <p:grpSp>
        <p:nvGrpSpPr>
          <p:cNvPr name="Group 25" id="25"/>
          <p:cNvGrpSpPr/>
          <p:nvPr/>
        </p:nvGrpSpPr>
        <p:grpSpPr>
          <a:xfrm rot="0">
            <a:off x="809244" y="1455068"/>
            <a:ext cx="8119872" cy="5813231"/>
            <a:chOff x="0" y="0"/>
            <a:chExt cx="10826496" cy="7750975"/>
          </a:xfrm>
        </p:grpSpPr>
        <p:sp>
          <p:nvSpPr>
            <p:cNvPr name="Freeform 26" id="26" descr="fig_schematic.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graphicFrame>
        <p:nvGraphicFramePr>
          <p:cNvPr name="Table 27" id="27"/>
          <p:cNvGraphicFramePr>
            <a:graphicFrameLocks noGrp="true"/>
          </p:cNvGraphicFramePr>
          <p:nvPr/>
        </p:nvGraphicFramePr>
        <p:xfrm>
          <a:off x="9669780" y="2221992"/>
          <a:ext cx="7486650" cy="5143500"/>
        </p:xfrm>
        <a:graphic>
          <a:graphicData uri="http://schemas.openxmlformats.org/drawingml/2006/table">
            <a:tbl>
              <a:tblPr/>
              <a:tblGrid>
                <a:gridCol w="1989456"/>
                <a:gridCol w="2350952"/>
                <a:gridCol w="3146243"/>
              </a:tblGrid>
              <a:tr h="527120">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Net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Pin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Function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DRV_C · DRV_A</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GPIO3 · GPIO4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drive zone C · A via 1 kΩ</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DRV_LOOP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GPIO5</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strip loop (broken strip)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DRV_REF</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GPIO10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100 kΩ 0.1 % reference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DRV_CHK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GPIO20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100 kΩ self-check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SDA · SCL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GPIO6 · GPIO7</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I²C to ADS1115 (0x48)</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N · 3V3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ADS1115 A0 · A1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node · rail (ratiometric)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LED G · Y · 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GPIO0 · 1 · 21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OK · CHANGE · CHECK/FAULT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Strip pads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J4.1 – J4.4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S_C · S_A · COM1 · COM2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Power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USB-C → 3V3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LDO on the SuperMini</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624449"/>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41"/>
            <a:ext cx="8143875" cy="6702152"/>
            <a:chOff x="0" y="0"/>
            <a:chExt cx="10858500" cy="8936203"/>
          </a:xfrm>
        </p:grpSpPr>
        <p:sp>
          <p:nvSpPr>
            <p:cNvPr name="Freeform 7" id="7" descr="image.png"/>
            <p:cNvSpPr/>
            <p:nvPr/>
          </p:nvSpPr>
          <p:spPr>
            <a:xfrm flipH="false" flipV="false" rot="0">
              <a:off x="0" y="0"/>
              <a:ext cx="10858500" cy="8936228"/>
            </a:xfrm>
            <a:custGeom>
              <a:avLst/>
              <a:gdLst/>
              <a:ahLst/>
              <a:cxnLst/>
              <a:rect r="r" b="b" t="t" l="l"/>
              <a:pathLst>
                <a:path h="8936228" w="10858500">
                  <a:moveTo>
                    <a:pt x="0" y="0"/>
                  </a:moveTo>
                  <a:lnTo>
                    <a:pt x="10858500" y="0"/>
                  </a:lnTo>
                  <a:lnTo>
                    <a:pt x="10858500" y="8936228"/>
                  </a:lnTo>
                  <a:lnTo>
                    <a:pt x="0" y="8936228"/>
                  </a:lnTo>
                  <a:lnTo>
                    <a:pt x="0" y="0"/>
                  </a:lnTo>
                  <a:close/>
                </a:path>
              </a:pathLst>
            </a:custGeom>
            <a:blipFill>
              <a:blip r:embed="rId5"/>
              <a:stretch>
                <a:fillRect l="0" t="0" r="0" b="-11704"/>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Electronics Schematics &amp; BOM: Bill of Materials</a:t>
              </a:r>
            </a:p>
          </p:txBody>
        </p:sp>
      </p:grpSp>
      <p:sp>
        <p:nvSpPr>
          <p:cNvPr name="TextBox 13" id="13"/>
          <p:cNvSpPr txBox="true"/>
          <p:nvPr/>
        </p:nvSpPr>
        <p:spPr>
          <a:xfrm rot="0">
            <a:off x="1085850" y="8691124"/>
            <a:ext cx="16047720" cy="291689"/>
          </a:xfrm>
          <a:prstGeom prst="rect">
            <a:avLst/>
          </a:prstGeom>
        </p:spPr>
        <p:txBody>
          <a:bodyPr anchor="t" rtlCol="false" tIns="0" lIns="0" bIns="0" rIns="0">
            <a:spAutoFit/>
          </a:bodyPr>
          <a:lstStyle/>
          <a:p>
            <a:pPr algn="l" marL="0" indent="0" lvl="0">
              <a:lnSpc>
                <a:spcPts val="2506"/>
              </a:lnSpc>
              <a:spcBef>
                <a:spcPct val="0"/>
              </a:spcBef>
            </a:pPr>
            <a:r>
              <a:rPr lang="en-US" b="true" sz="1439" strike="noStrike" u="none">
                <a:solidFill>
                  <a:srgbClr val="0F172A"/>
                </a:solidFill>
                <a:latin typeface="DM Sans Bold"/>
                <a:ea typeface="DM Sans Bold"/>
                <a:cs typeface="DM Sans Bold"/>
                <a:sym typeface="DM Sans Bold"/>
              </a:rPr>
              <a:t>Parts status: Three items quoted on 19 Oct; nothing ordered; other costs are estimates. Total ₹2,259–6,942 covers bulk purchases and bench/test setup, not one strip.</a:t>
            </a:r>
          </a:p>
        </p:txBody>
      </p:sp>
      <p:sp>
        <p:nvSpPr>
          <p:cNvPr name="TextBox 14" id="14"/>
          <p:cNvSpPr txBox="true"/>
          <p:nvPr/>
        </p:nvSpPr>
        <p:spPr>
          <a:xfrm rot="0">
            <a:off x="800100" y="7285101"/>
            <a:ext cx="8143875" cy="498709"/>
          </a:xfrm>
          <a:prstGeom prst="rect">
            <a:avLst/>
          </a:prstGeom>
        </p:spPr>
        <p:txBody>
          <a:bodyPr anchor="t" rtlCol="false" tIns="0" lIns="0" bIns="0" rIns="0">
            <a:spAutoFit/>
          </a:bodyPr>
          <a:lstStyle/>
          <a:p>
            <a:pPr algn="r" marL="0" indent="0" lvl="0">
              <a:lnSpc>
                <a:spcPts val="2088"/>
              </a:lnSpc>
              <a:spcBef>
                <a:spcPct val="0"/>
              </a:spcBef>
            </a:pPr>
            <a:r>
              <a:rPr lang="en-US" b="1" sz="1500" strike="noStrike" u="none">
                <a:solidFill>
                  <a:srgbClr val="047857"/>
                </a:solidFill>
                <a:latin typeface="DM Sans Bold"/>
                <a:ea typeface="DM Sans Bold"/>
                <a:cs typeface="DM Sans Bold"/>
                <a:sym typeface="DM Sans Bold"/>
              </a:rPr>
              <a:t>Reusable reader ≈ ₹560–1,160 (BOM estimate)  ·  Disposable strip: target ≤ ₹100</a:t>
            </a:r>
          </a:p>
        </p:txBody>
      </p:sp>
      <p:grpSp>
        <p:nvGrpSpPr>
          <p:cNvPr name="Group 15" id="15"/>
          <p:cNvGrpSpPr/>
          <p:nvPr/>
        </p:nvGrpSpPr>
        <p:grpSpPr>
          <a:xfrm rot="0">
            <a:off x="9672638" y="1762944"/>
            <a:ext cx="174355" cy="228600"/>
            <a:chOff x="0" y="0"/>
            <a:chExt cx="232474" cy="304800"/>
          </a:xfrm>
        </p:grpSpPr>
        <p:sp>
          <p:nvSpPr>
            <p:cNvPr name="Freeform 16" id="16" descr="image.png"/>
            <p:cNvSpPr/>
            <p:nvPr/>
          </p:nvSpPr>
          <p:spPr>
            <a:xfrm flipH="false" flipV="false" rot="0">
              <a:off x="0" y="0"/>
              <a:ext cx="232410" cy="304800"/>
            </a:xfrm>
            <a:custGeom>
              <a:avLst/>
              <a:gdLst/>
              <a:ahLst/>
              <a:cxnLst/>
              <a:rect r="r" b="b" t="t" l="l"/>
              <a:pathLst>
                <a:path h="304800" w="232410">
                  <a:moveTo>
                    <a:pt x="0" y="0"/>
                  </a:moveTo>
                  <a:lnTo>
                    <a:pt x="232410" y="0"/>
                  </a:lnTo>
                  <a:lnTo>
                    <a:pt x="232410" y="304800"/>
                  </a:lnTo>
                  <a:lnTo>
                    <a:pt x="0" y="304800"/>
                  </a:lnTo>
                  <a:lnTo>
                    <a:pt x="0" y="0"/>
                  </a:lnTo>
                  <a:close/>
                </a:path>
              </a:pathLst>
            </a:custGeom>
            <a:blipFill>
              <a:blip r:embed="rId8"/>
              <a:stretch>
                <a:fillRect l="0" t="0" r="-289" b="0"/>
              </a:stretch>
            </a:blipFill>
          </p:spPr>
          <p:txBody>
            <a:bodyPr/>
            <a:p/>
          </p:txBody>
        </p:sp>
      </p:grpSp>
      <p:sp>
        <p:nvSpPr>
          <p:cNvPr name="TextBox 17" id="17"/>
          <p:cNvSpPr txBox="true"/>
          <p:nvPr/>
        </p:nvSpPr>
        <p:spPr>
          <a:xfrm rot="0">
            <a:off x="9989868" y="1743894"/>
            <a:ext cx="4577801" cy="247650"/>
          </a:xfrm>
          <a:prstGeom prst="rect">
            <a:avLst/>
          </a:prstGeom>
        </p:spPr>
        <p:txBody>
          <a:bodyPr anchor="t" rtlCol="false" tIns="0" lIns="0" bIns="0" rIns="0">
            <a:spAutoFit/>
          </a:bodyPr>
          <a:lstStyle/>
          <a:p>
            <a:pPr algn="l" marL="0" indent="0" lvl="0">
              <a:lnSpc>
                <a:spcPts val="2070"/>
              </a:lnSpc>
              <a:spcBef>
                <a:spcPct val="0"/>
              </a:spcBef>
            </a:pPr>
            <a:r>
              <a:rPr lang="en-US" b="true" sz="1725" strike="noStrike" u="none">
                <a:solidFill>
                  <a:srgbClr val="0F172A"/>
                </a:solidFill>
                <a:latin typeface="DM Sans Bold"/>
                <a:ea typeface="DM Sans Bold"/>
                <a:cs typeface="DM Sans Bold"/>
                <a:sym typeface="DM Sans Bold"/>
              </a:rPr>
              <a:t>Bulk prototype purchases and test setup</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3998550" y="685800"/>
            <a:ext cx="3489350" cy="370332"/>
            <a:chOff x="0" y="0"/>
            <a:chExt cx="4652467" cy="493776"/>
          </a:xfrm>
        </p:grpSpPr>
        <p:sp>
          <p:nvSpPr>
            <p:cNvPr name="Freeform 23" id="23"/>
            <p:cNvSpPr/>
            <p:nvPr/>
          </p:nvSpPr>
          <p:spPr>
            <a:xfrm flipH="false" flipV="false" rot="0">
              <a:off x="0" y="0"/>
              <a:ext cx="4652518" cy="493776"/>
            </a:xfrm>
            <a:custGeom>
              <a:avLst/>
              <a:gdLst/>
              <a:ahLst/>
              <a:cxnLst/>
              <a:rect r="r" b="b" t="t" l="l"/>
              <a:pathLst>
                <a:path h="493776" w="4652518">
                  <a:moveTo>
                    <a:pt x="0" y="246888"/>
                  </a:moveTo>
                  <a:cubicBezTo>
                    <a:pt x="0" y="110490"/>
                    <a:pt x="110490" y="0"/>
                    <a:pt x="246888" y="0"/>
                  </a:cubicBezTo>
                  <a:lnTo>
                    <a:pt x="4405630" y="0"/>
                  </a:lnTo>
                  <a:cubicBezTo>
                    <a:pt x="4542028" y="0"/>
                    <a:pt x="4652518" y="110490"/>
                    <a:pt x="4652518" y="246888"/>
                  </a:cubicBezTo>
                  <a:cubicBezTo>
                    <a:pt x="4652518" y="383286"/>
                    <a:pt x="4542028" y="493776"/>
                    <a:pt x="4405630" y="493776"/>
                  </a:cubicBezTo>
                  <a:lnTo>
                    <a:pt x="246888" y="493776"/>
                  </a:lnTo>
                  <a:cubicBezTo>
                    <a:pt x="110490" y="493776"/>
                    <a:pt x="0" y="383286"/>
                    <a:pt x="0" y="246888"/>
                  </a:cubicBezTo>
                  <a:close/>
                </a:path>
              </a:pathLst>
            </a:custGeom>
            <a:solidFill>
              <a:srgbClr val="FEF3C7"/>
            </a:solidFill>
          </p:spPr>
          <p:txBody>
            <a:bodyPr/>
            <a:p/>
          </p:txBody>
        </p:sp>
        <p:sp>
          <p:nvSpPr>
            <p:cNvPr name="TextBox 24" id="24"/>
            <p:cNvSpPr txBox="true"/>
            <p:nvPr/>
          </p:nvSpPr>
          <p:spPr>
            <a:xfrm>
              <a:off x="0" y="0"/>
              <a:ext cx="4652467"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3 ITEMS QUOTED · NOTHING ORDERED</a:t>
              </a:r>
            </a:p>
          </p:txBody>
        </p:sp>
      </p:grpSp>
      <p:grpSp>
        <p:nvGrpSpPr>
          <p:cNvPr name="Group 25" id="25"/>
          <p:cNvGrpSpPr/>
          <p:nvPr/>
        </p:nvGrpSpPr>
        <p:grpSpPr>
          <a:xfrm rot="0">
            <a:off x="809244" y="1455068"/>
            <a:ext cx="8119872" cy="5813231"/>
            <a:chOff x="0" y="0"/>
            <a:chExt cx="10826496" cy="7750975"/>
          </a:xfrm>
        </p:grpSpPr>
        <p:sp>
          <p:nvSpPr>
            <p:cNvPr name="Freeform 26" id="26" descr="fig_window.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graphicFrame>
        <p:nvGraphicFramePr>
          <p:cNvPr name="Table 27" id="27"/>
          <p:cNvGraphicFramePr>
            <a:graphicFrameLocks noGrp="true"/>
          </p:cNvGraphicFramePr>
          <p:nvPr/>
        </p:nvGraphicFramePr>
        <p:xfrm>
          <a:off x="9669780" y="2276856"/>
          <a:ext cx="7486650" cy="4972050"/>
        </p:xfrm>
        <a:graphic>
          <a:graphicData uri="http://schemas.openxmlformats.org/drawingml/2006/table">
            <a:tbl>
              <a:tblPr/>
              <a:tblGrid>
                <a:gridCol w="3116958"/>
                <a:gridCol w="639757"/>
                <a:gridCol w="1978785"/>
                <a:gridCol w="1751150"/>
              </a:tblGrid>
              <a:tr h="565201">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Item</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Qty</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Source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ESP32-C3 SuperMini (PRO4607)</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Probots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242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ADS1115 module (PRO789)</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Probots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125</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P75-B1 pogo pins (05880)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100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Hubtronics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354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Resistors, C0G cap, LEDs, board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local / online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158–421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Clamp + bench rig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lab / local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100–1,240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Strip materials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lab / online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800–3,500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Test consumables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local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480–1,060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marL="0" indent="0" lvl="0">
                        <a:lnSpc>
                          <a:spcPts val="1764"/>
                        </a:lnSpc>
                        <a:spcBef>
                          <a:spcPct val="0"/>
                        </a:spcBef>
                        <a:defRPr/>
                      </a:pPr>
                      <a:r>
                        <a:rPr lang="en-US" b="true" sz="1470" strike="noStrike" u="none">
                          <a:solidFill>
                            <a:srgbClr val="0F172A"/>
                          </a:solidFill>
                          <a:latin typeface="DM Sans Bold"/>
                          <a:ea typeface="DM Sans Bold"/>
                          <a:cs typeface="DM Sans Bold"/>
                          <a:sym typeface="DM Sans Bold"/>
                        </a:rPr>
                        <a:t>Prototype bulk outlay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79"/>
                        </a:lnSpc>
                        <a:defRPr/>
                      </a:pP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79"/>
                        </a:lnSpc>
                        <a:defRPr/>
                      </a:pP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 2,259–6,942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789420"/>
            <a:chOff x="0" y="0"/>
            <a:chExt cx="10858500" cy="9052560"/>
          </a:xfrm>
        </p:grpSpPr>
        <p:sp>
          <p:nvSpPr>
            <p:cNvPr name="Freeform 7" id="7" descr="image.png"/>
            <p:cNvSpPr/>
            <p:nvPr/>
          </p:nvSpPr>
          <p:spPr>
            <a:xfrm flipH="false" flipV="false" rot="0">
              <a:off x="0" y="0"/>
              <a:ext cx="10858500" cy="9052560"/>
            </a:xfrm>
            <a:custGeom>
              <a:avLst/>
              <a:gdLst/>
              <a:ahLst/>
              <a:cxnLst/>
              <a:rect r="r" b="b" t="t" l="l"/>
              <a:pathLst>
                <a:path h="9052560" w="10858500">
                  <a:moveTo>
                    <a:pt x="0" y="0"/>
                  </a:moveTo>
                  <a:lnTo>
                    <a:pt x="10858500" y="0"/>
                  </a:lnTo>
                  <a:lnTo>
                    <a:pt x="10858500" y="9052560"/>
                  </a:lnTo>
                  <a:lnTo>
                    <a:pt x="0" y="9052560"/>
                  </a:lnTo>
                  <a:lnTo>
                    <a:pt x="0" y="0"/>
                  </a:lnTo>
                  <a:close/>
                </a:path>
              </a:pathLst>
            </a:custGeom>
            <a:blipFill>
              <a:blip r:embed="rId5"/>
              <a:stretch>
                <a:fillRect l="0" t="0" r="0" b="-10269"/>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7554"/>
            <a:chOff x="0" y="0"/>
            <a:chExt cx="17190720" cy="623405"/>
          </a:xfrm>
        </p:grpSpPr>
        <p:sp>
          <p:nvSpPr>
            <p:cNvPr name="Freeform 11" id="11"/>
            <p:cNvSpPr/>
            <p:nvPr/>
          </p:nvSpPr>
          <p:spPr>
            <a:xfrm flipH="false" flipV="false" rot="0">
              <a:off x="0" y="0"/>
              <a:ext cx="17190720" cy="623400"/>
            </a:xfrm>
            <a:custGeom>
              <a:avLst/>
              <a:gdLst/>
              <a:ahLst/>
              <a:cxnLst/>
              <a:rect r="r" b="b" t="t" l="l"/>
              <a:pathLst>
                <a:path h="623400" w="17190720">
                  <a:moveTo>
                    <a:pt x="0" y="0"/>
                  </a:moveTo>
                  <a:lnTo>
                    <a:pt x="17190720" y="0"/>
                  </a:lnTo>
                  <a:lnTo>
                    <a:pt x="17190720" y="623400"/>
                  </a:lnTo>
                  <a:lnTo>
                    <a:pt x="0" y="623400"/>
                  </a:lnTo>
                  <a:close/>
                </a:path>
              </a:pathLst>
            </a:custGeom>
            <a:blipFill>
              <a:blip r:embed="rId7">
                <a:alphaModFix amt="0"/>
              </a:blip>
              <a:stretch>
                <a:fillRect l="0" t="-487314" r="0" b="-487314"/>
              </a:stretch>
            </a:blipFill>
          </p:spPr>
          <p:txBody>
            <a:bodyPr/>
            <a:p/>
          </p:txBody>
        </p:sp>
        <p:sp>
          <p:nvSpPr>
            <p:cNvPr name="TextBox 12" id="12"/>
            <p:cNvSpPr txBox="true"/>
            <p:nvPr/>
          </p:nvSpPr>
          <p:spPr>
            <a:xfrm>
              <a:off x="0" y="-104775"/>
              <a:ext cx="17190720" cy="728180"/>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Maker Journey</a:t>
              </a:r>
            </a:p>
          </p:txBody>
        </p:sp>
      </p:grpSp>
      <p:sp>
        <p:nvSpPr>
          <p:cNvPr name="TextBox 13" id="13"/>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Project files: </a:t>
            </a:r>
            <a:r>
              <a:rPr lang="en-US" b="true" sz="1439">
                <a:solidFill>
                  <a:srgbClr val="334155"/>
                </a:solidFill>
                <a:latin typeface="DM Sans Bold"/>
                <a:ea typeface="DM Sans Bold"/>
                <a:cs typeface="DM Sans Bold"/>
                <a:sym typeface="DM Sans Bold"/>
                <a:hlinkClick r:id="rId13"/>
              </a:rPr>
              <a:t>github.com/soham0777/dermasense-vishwakarma-2026 · native CAD, KiCad, firmware and laser files with dated work history.</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Evidence from our project files and checks rerun on 19 October 2026.</a:t>
            </a:r>
          </a:p>
        </p:txBody>
      </p:sp>
      <p:grpSp>
        <p:nvGrpSpPr>
          <p:cNvPr name="Group 15" id="15"/>
          <p:cNvGrpSpPr/>
          <p:nvPr/>
        </p:nvGrpSpPr>
        <p:grpSpPr>
          <a:xfrm rot="0">
            <a:off x="9672638" y="1762944"/>
            <a:ext cx="260080" cy="228600"/>
            <a:chOff x="0" y="0"/>
            <a:chExt cx="346774" cy="304800"/>
          </a:xfrm>
        </p:grpSpPr>
        <p:sp>
          <p:nvSpPr>
            <p:cNvPr name="Freeform 16" id="16"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8"/>
              <a:stretch>
                <a:fillRect l="0" t="0" r="-18" b="-1791"/>
              </a:stretch>
            </a:blipFill>
          </p:spPr>
          <p:txBody>
            <a:bodyPr/>
            <a:p/>
          </p:txBody>
        </p:sp>
      </p:grpSp>
      <p:sp>
        <p:nvSpPr>
          <p:cNvPr name="TextBox 17" id="17"/>
          <p:cNvSpPr txBox="true"/>
          <p:nvPr/>
        </p:nvSpPr>
        <p:spPr>
          <a:xfrm rot="0">
            <a:off x="10075593"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Our team and project files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2972593" y="685800"/>
            <a:ext cx="4515307" cy="370332"/>
            <a:chOff x="0" y="0"/>
            <a:chExt cx="6020410" cy="493776"/>
          </a:xfrm>
        </p:grpSpPr>
        <p:sp>
          <p:nvSpPr>
            <p:cNvPr name="Freeform 23" id="23"/>
            <p:cNvSpPr/>
            <p:nvPr/>
          </p:nvSpPr>
          <p:spPr>
            <a:xfrm flipH="false" flipV="false" rot="0">
              <a:off x="0" y="0"/>
              <a:ext cx="6020435" cy="493776"/>
            </a:xfrm>
            <a:custGeom>
              <a:avLst/>
              <a:gdLst/>
              <a:ahLst/>
              <a:cxnLst/>
              <a:rect r="r" b="b" t="t" l="l"/>
              <a:pathLst>
                <a:path h="493776" w="6020435">
                  <a:moveTo>
                    <a:pt x="0" y="246888"/>
                  </a:moveTo>
                  <a:cubicBezTo>
                    <a:pt x="0" y="110490"/>
                    <a:pt x="110490" y="0"/>
                    <a:pt x="246888" y="0"/>
                  </a:cubicBezTo>
                  <a:lnTo>
                    <a:pt x="5773547" y="0"/>
                  </a:lnTo>
                  <a:cubicBezTo>
                    <a:pt x="5909945" y="0"/>
                    <a:pt x="6020435" y="110490"/>
                    <a:pt x="6020435" y="246888"/>
                  </a:cubicBezTo>
                  <a:cubicBezTo>
                    <a:pt x="6020435" y="383286"/>
                    <a:pt x="5909945" y="493776"/>
                    <a:pt x="5773547" y="493776"/>
                  </a:cubicBezTo>
                  <a:lnTo>
                    <a:pt x="246888" y="493776"/>
                  </a:lnTo>
                  <a:cubicBezTo>
                    <a:pt x="110490" y="493776"/>
                    <a:pt x="0" y="383286"/>
                    <a:pt x="0" y="246888"/>
                  </a:cubicBezTo>
                  <a:close/>
                </a:path>
              </a:pathLst>
            </a:custGeom>
            <a:solidFill>
              <a:srgbClr val="D1FAE5"/>
            </a:solidFill>
          </p:spPr>
          <p:txBody>
            <a:bodyPr/>
            <a:p/>
          </p:txBody>
        </p:sp>
        <p:sp>
          <p:nvSpPr>
            <p:cNvPr name="TextBox 24" id="24"/>
            <p:cNvSpPr txBox="true"/>
            <p:nvPr/>
          </p:nvSpPr>
          <p:spPr>
            <a:xfrm>
              <a:off x="0" y="0"/>
              <a:ext cx="6020410" cy="493776"/>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PROJECT FILES · CHECKS CAN BE RERUN</a:t>
              </a:r>
            </a:p>
          </p:txBody>
        </p:sp>
      </p:grpSp>
      <p:grpSp>
        <p:nvGrpSpPr>
          <p:cNvPr name="Group 25" id="25"/>
          <p:cNvGrpSpPr/>
          <p:nvPr/>
        </p:nvGrpSpPr>
        <p:grpSpPr>
          <a:xfrm rot="0">
            <a:off x="809244" y="1455068"/>
            <a:ext cx="8119872" cy="5813231"/>
            <a:chOff x="0" y="0"/>
            <a:chExt cx="10826496" cy="7750975"/>
          </a:xfrm>
        </p:grpSpPr>
        <p:sp>
          <p:nvSpPr>
            <p:cNvPr name="Freeform 26" id="26" descr="fig_maker.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sp>
        <p:nvSpPr>
          <p:cNvPr name="TextBox 31" id="31"/>
          <p:cNvSpPr txBox="true"/>
          <p:nvPr/>
        </p:nvSpPr>
        <p:spPr>
          <a:xfrm rot="0">
            <a:off x="9715500" y="4635627"/>
            <a:ext cx="7507224" cy="431216"/>
          </a:xfrm>
          <a:prstGeom prst="rect">
            <a:avLst/>
          </a:prstGeom>
        </p:spPr>
        <p:txBody>
          <a:bodyPr anchor="t" rtlCol="false" tIns="0" lIns="0" bIns="0" rIns="0">
            <a:spAutoFit/>
          </a:bodyPr>
          <a:lstStyle/>
          <a:p>
            <a:pPr algn="l" marL="0" indent="0" lvl="0">
              <a:lnSpc>
                <a:spcPts val="1749"/>
              </a:lnSpc>
              <a:spcBef>
                <a:spcPct val="0"/>
              </a:spcBef>
            </a:pPr>
            <a:r>
              <a:rPr lang="en-US" b="true" sz="1350" strike="noStrike" u="none">
                <a:solidFill>
                  <a:srgbClr val="0F172A"/>
                </a:solidFill>
                <a:latin typeface="DM Sans Bold"/>
                <a:ea typeface="DM Sans Bold"/>
                <a:cs typeface="DM Sans Bold"/>
                <a:sym typeface="DM Sans Bold"/>
              </a:rPr>
              <a:t>Soham Prabhakar Kadu · Lead, Mechanical Architecture &amp; Sensor Design</a:t>
            </a:r>
          </a:p>
          <a:p>
            <a:pPr algn="l" marL="0" indent="0" lvl="0">
              <a:lnSpc>
                <a:spcPts val="1749"/>
              </a:lnSpc>
              <a:spcBef>
                <a:spcPct val="0"/>
              </a:spcBef>
            </a:pPr>
            <a:r>
              <a:rPr lang="en-US" b="true" sz="1350" strike="noStrike" u="none">
                <a:solidFill>
                  <a:srgbClr val="0F172A"/>
                </a:solidFill>
                <a:latin typeface="DM Sans Bold"/>
                <a:ea typeface="DM Sans Bold"/>
                <a:cs typeface="DM Sans Bold"/>
                <a:sym typeface="DM Sans Bold"/>
              </a:rPr>
              <a:t>Bhakti Ajay Kadam · Lead, Materials &amp; Micro-fabrication (semiconductor background)</a:t>
            </a:r>
          </a:p>
        </p:txBody>
      </p:sp>
      <p:sp>
        <p:nvSpPr>
          <p:cNvPr name="TextBox 32" id="32"/>
          <p:cNvSpPr txBox="true"/>
          <p:nvPr/>
        </p:nvSpPr>
        <p:spPr>
          <a:xfrm rot="0">
            <a:off x="9715500" y="5449062"/>
            <a:ext cx="7507224" cy="1667637"/>
          </a:xfrm>
          <a:prstGeom prst="rect">
            <a:avLst/>
          </a:prstGeom>
        </p:spPr>
        <p:txBody>
          <a:bodyPr anchor="t" rtlCol="false" tIns="0" lIns="0" bIns="0" rIns="0">
            <a:spAutoFit/>
          </a:bodyPr>
          <a:lstStyle/>
          <a:p>
            <a:pPr algn="l" marL="0" indent="0" lvl="0">
              <a:lnSpc>
                <a:spcPts val="1944"/>
              </a:lnSpc>
              <a:spcBef>
                <a:spcPct val="0"/>
              </a:spcBef>
            </a:pPr>
            <a:r>
              <a:rPr lang="en-US" sz="1500" strike="noStrike" u="none">
                <a:solidFill>
                  <a:srgbClr val="059669"/>
                </a:solidFill>
                <a:latin typeface="DM Sans"/>
                <a:ea typeface="DM Sans"/>
                <a:cs typeface="DM Sans"/>
                <a:sym typeface="DM Sans"/>
              </a:rPr>
              <a:t>▪  Real files:  The repository includes CAD models and drawings, the KiCad schematic, firmware and laser files, with dated work history since 14 October.</a:t>
            </a:r>
          </a:p>
          <a:p>
            <a:pPr algn="l" marL="0" indent="0" lvl="0">
              <a:lnSpc>
                <a:spcPts val="1944"/>
              </a:lnSpc>
              <a:spcBef>
                <a:spcPct val="0"/>
              </a:spcBef>
            </a:pPr>
            <a:r>
              <a:rPr lang="en-US" sz="1500" strike="noStrike" u="none">
                <a:solidFill>
                  <a:srgbClr val="059669"/>
                </a:solidFill>
                <a:latin typeface="DM Sans"/>
                <a:ea typeface="DM Sans"/>
                <a:cs typeface="DM Sans"/>
                <a:sym typeface="DM Sans"/>
              </a:rPr>
              <a:t>▪  Re-checkable:  Project scripts can rerun the checks shown here.</a:t>
            </a:r>
          </a:p>
          <a:p>
            <a:pPr algn="l" marL="0" indent="0" lvl="0">
              <a:lnSpc>
                <a:spcPts val="1944"/>
              </a:lnSpc>
              <a:spcBef>
                <a:spcPct val="0"/>
              </a:spcBef>
            </a:pPr>
            <a:r>
              <a:rPr lang="en-US" sz="1500" strike="noStrike" u="none">
                <a:solidFill>
                  <a:srgbClr val="059669"/>
                </a:solidFill>
                <a:latin typeface="DM Sans"/>
                <a:ea typeface="DM Sans"/>
                <a:cs typeface="DM Sans"/>
                <a:sym typeface="DM Sans"/>
              </a:rPr>
              <a:t>▪  How we work:  We used Claude to help write some scripts and reviewed their outputs. The physical build and tests are still planned, starting with E2.</a:t>
            </a:r>
          </a:p>
          <a:p>
            <a:pPr algn="l" marL="0" indent="0" lvl="0">
              <a:lnSpc>
                <a:spcPts val="1944"/>
              </a:lnSpc>
              <a:spcBef>
                <a:spcPct val="0"/>
              </a:spcBef>
            </a:pPr>
            <a:r>
              <a:rPr lang="en-US" sz="1500" strike="noStrike" u="none">
                <a:solidFill>
                  <a:srgbClr val="059669"/>
                </a:solidFill>
                <a:latin typeface="DM Sans"/>
                <a:ea typeface="DM Sans"/>
                <a:cs typeface="DM Sans"/>
                <a:sym typeface="DM Sans"/>
              </a:rPr>
              <a:t>▪  Photos:  real, unedited photos of our team: Soham with early laser-written test samples; Bhakti in the cleanroom.</a:t>
            </a:r>
          </a:p>
        </p:txBody>
      </p:sp>
      <p:pic>
        <p:nvPicPr>
          <p:cNvPr id="33" name="PHOTO Soham" descr="2.jpg"/>
          <p:cNvPicPr>
            <a:picLocks noChangeAspect="1"/>
          </p:cNvPicPr>
          <p:nvPr/>
        </p:nvPicPr>
        <p:blipFill>
          <a:blip r:embed="rId14"/>
          <a:srcRect t="3000" b="20000"/>
          <a:stretch>
            <a:fillRect/>
          </a:stretch>
        </p:blipFill>
        <p:spPr>
          <a:xfrm>
            <a:off x="9692640" y="2212848"/>
            <a:ext cx="5486400" cy="2377440"/>
          </a:xfrm>
          <a:prstGeom prst="rect">
            <a:avLst/>
          </a:prstGeom>
          <a:ln w="12700">
            <a:solidFill>
              <a:srgbClr val="CBD5E1"/>
            </a:solidFill>
          </a:ln>
        </p:spPr>
      </p:pic>
      <p:pic>
        <p:nvPicPr>
          <p:cNvPr id="34" name="PHOTO Bhakti" descr="1.jpg"/>
          <p:cNvPicPr>
            <a:picLocks noChangeAspect="1"/>
          </p:cNvPicPr>
          <p:nvPr/>
        </p:nvPicPr>
        <p:blipFill>
          <a:blip r:embed="rId15"/>
          <a:srcRect/>
          <a:stretch>
            <a:fillRect/>
          </a:stretch>
        </p:blipFill>
        <p:spPr>
          <a:xfrm>
            <a:off x="15343632" y="2212848"/>
            <a:ext cx="1682496" cy="2377440"/>
          </a:xfrm>
          <a:prstGeom prst="rect">
            <a:avLst/>
          </a:prstGeom>
          <a:ln w="12700">
            <a:solidFill>
              <a:srgbClr val="CBD5E1"/>
            </a:solidFill>
          </a:ln>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9344025" y="1434332"/>
            <a:ext cx="8143875" cy="6789420"/>
            <a:chOff x="0" y="0"/>
            <a:chExt cx="10858500" cy="9052560"/>
          </a:xfrm>
        </p:grpSpPr>
        <p:sp>
          <p:nvSpPr>
            <p:cNvPr name="Freeform 7" id="7" descr="image.png"/>
            <p:cNvSpPr/>
            <p:nvPr/>
          </p:nvSpPr>
          <p:spPr>
            <a:xfrm flipH="false" flipV="false" rot="0">
              <a:off x="0" y="0"/>
              <a:ext cx="10858500" cy="9052560"/>
            </a:xfrm>
            <a:custGeom>
              <a:avLst/>
              <a:gdLst/>
              <a:ahLst/>
              <a:cxnLst/>
              <a:rect r="r" b="b" t="t" l="l"/>
              <a:pathLst>
                <a:path h="9052560" w="10858500">
                  <a:moveTo>
                    <a:pt x="0" y="0"/>
                  </a:moveTo>
                  <a:lnTo>
                    <a:pt x="10858500" y="0"/>
                  </a:lnTo>
                  <a:lnTo>
                    <a:pt x="10858500" y="9052560"/>
                  </a:lnTo>
                  <a:lnTo>
                    <a:pt x="0" y="9052560"/>
                  </a:lnTo>
                  <a:lnTo>
                    <a:pt x="0" y="0"/>
                  </a:lnTo>
                  <a:close/>
                </a:path>
              </a:pathLst>
            </a:custGeom>
            <a:blipFill>
              <a:blip r:embed="rId5"/>
              <a:stretch>
                <a:fillRect l="0" t="0" r="0" b="-10269"/>
              </a:stretch>
            </a:blipFill>
          </p:spPr>
          <p:txBody>
            <a:bodyPr/>
            <a:p/>
          </p:txBody>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txBody>
            <a:bodyPr/>
            <a:p/>
          </p:txBody>
        </p:sp>
      </p:grpSp>
      <p:grpSp>
        <p:nvGrpSpPr>
          <p:cNvPr name="Group 10" id="10"/>
          <p:cNvGrpSpPr/>
          <p:nvPr/>
        </p:nvGrpSpPr>
        <p:grpSpPr>
          <a:xfrm rot="0">
            <a:off x="800100" y="657225"/>
            <a:ext cx="12893040" cy="467554"/>
            <a:chOff x="0" y="0"/>
            <a:chExt cx="17190720" cy="623405"/>
          </a:xfrm>
        </p:grpSpPr>
        <p:sp>
          <p:nvSpPr>
            <p:cNvPr name="Freeform 11" id="11"/>
            <p:cNvSpPr/>
            <p:nvPr/>
          </p:nvSpPr>
          <p:spPr>
            <a:xfrm flipH="false" flipV="false" rot="0">
              <a:off x="0" y="0"/>
              <a:ext cx="17190720" cy="623400"/>
            </a:xfrm>
            <a:custGeom>
              <a:avLst/>
              <a:gdLst/>
              <a:ahLst/>
              <a:cxnLst/>
              <a:rect r="r" b="b" t="t" l="l"/>
              <a:pathLst>
                <a:path h="623400" w="17190720">
                  <a:moveTo>
                    <a:pt x="0" y="0"/>
                  </a:moveTo>
                  <a:lnTo>
                    <a:pt x="17190720" y="0"/>
                  </a:lnTo>
                  <a:lnTo>
                    <a:pt x="17190720" y="623400"/>
                  </a:lnTo>
                  <a:lnTo>
                    <a:pt x="0" y="623400"/>
                  </a:lnTo>
                  <a:close/>
                </a:path>
              </a:pathLst>
            </a:custGeom>
            <a:blipFill>
              <a:blip r:embed="rId7">
                <a:alphaModFix amt="0"/>
              </a:blip>
              <a:stretch>
                <a:fillRect l="0" t="-487314" r="0" b="-487314"/>
              </a:stretch>
            </a:blipFill>
          </p:spPr>
          <p:txBody>
            <a:bodyPr/>
            <a:p/>
          </p:txBody>
        </p:sp>
        <p:sp>
          <p:nvSpPr>
            <p:cNvPr name="TextBox 12" id="12"/>
            <p:cNvSpPr txBox="true"/>
            <p:nvPr/>
          </p:nvSpPr>
          <p:spPr>
            <a:xfrm>
              <a:off x="0" y="-104775"/>
              <a:ext cx="17190720" cy="728180"/>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Maker Journey: Engineering Iterations</a:t>
              </a:r>
            </a:p>
          </p:txBody>
        </p:sp>
      </p:grpSp>
      <p:sp>
        <p:nvSpPr>
          <p:cNvPr name="TextBox 13" id="13"/>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Existing options: </a:t>
            </a:r>
            <a:r>
              <a:rPr lang="en-US" b="true" sz="1439">
                <a:solidFill>
                  <a:srgbClr val="334155"/>
                </a:solidFill>
                <a:latin typeface="DM Sans Bold"/>
                <a:ea typeface="DM Sans Bold"/>
                <a:cs typeface="DM Sans Bold"/>
                <a:sym typeface="DM Sans Bold"/>
              </a:rPr>
              <a:t>diaper strips⁴ and visual change indicators¹⁴ already exist. We are testing a two-zone strip that reads the change line electrically and checks which zone wets first.</a:t>
            </a:r>
          </a:p>
        </p:txBody>
      </p:sp>
      <p:sp>
        <p:nvSpPr>
          <p:cNvPr name="TextBox 14" id="14"/>
          <p:cNvSpPr txBox="true"/>
          <p:nvPr/>
        </p:nvSpPr>
        <p:spPr>
          <a:xfrm rot="0">
            <a:off x="800100" y="7294626"/>
            <a:ext cx="8143875" cy="358902"/>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Figure: concept scores and the iteration path (each a dated commit).</a:t>
            </a:r>
          </a:p>
        </p:txBody>
      </p:sp>
      <p:grpSp>
        <p:nvGrpSpPr>
          <p:cNvPr name="Group 15" id="15"/>
          <p:cNvGrpSpPr/>
          <p:nvPr/>
        </p:nvGrpSpPr>
        <p:grpSpPr>
          <a:xfrm rot="0">
            <a:off x="9672638" y="1762944"/>
            <a:ext cx="260080" cy="228600"/>
            <a:chOff x="0" y="0"/>
            <a:chExt cx="346774" cy="304800"/>
          </a:xfrm>
        </p:grpSpPr>
        <p:sp>
          <p:nvSpPr>
            <p:cNvPr name="Freeform 16" id="16"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8"/>
              <a:stretch>
                <a:fillRect l="0" t="0" r="-18" b="-1791"/>
              </a:stretch>
            </a:blipFill>
          </p:spPr>
          <p:txBody>
            <a:bodyPr/>
            <a:p/>
          </p:txBody>
        </p:sp>
      </p:grpSp>
      <p:sp>
        <p:nvSpPr>
          <p:cNvPr name="TextBox 17" id="17"/>
          <p:cNvSpPr txBox="true"/>
          <p:nvPr/>
        </p:nvSpPr>
        <p:spPr>
          <a:xfrm rot="0">
            <a:off x="10075593"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How our design changed from Stage 1 to Stage 2</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txBody>
            <a:bodyPr/>
            <a:p/>
          </p:txBody>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txBody>
            <a:bodyPr/>
            <a:p/>
          </p:txBody>
        </p:sp>
      </p:grpSp>
      <p:grpSp>
        <p:nvGrpSpPr>
          <p:cNvPr name="Group 22" id="22"/>
          <p:cNvGrpSpPr/>
          <p:nvPr/>
        </p:nvGrpSpPr>
        <p:grpSpPr>
          <a:xfrm rot="0">
            <a:off x="15211044" y="685800"/>
            <a:ext cx="2276856" cy="462248"/>
            <a:chOff x="0" y="0"/>
            <a:chExt cx="3035808" cy="616331"/>
          </a:xfrm>
        </p:grpSpPr>
        <p:sp>
          <p:nvSpPr>
            <p:cNvPr name="Freeform 23" id="23"/>
            <p:cNvSpPr/>
            <p:nvPr/>
          </p:nvSpPr>
          <p:spPr>
            <a:xfrm flipH="false" flipV="false" rot="0">
              <a:off x="0" y="0"/>
              <a:ext cx="3035808" cy="616331"/>
            </a:xfrm>
            <a:custGeom>
              <a:avLst/>
              <a:gdLst/>
              <a:ahLst/>
              <a:cxnLst/>
              <a:rect r="r" b="b" t="t" l="l"/>
              <a:pathLst>
                <a:path h="616331" w="3035808">
                  <a:moveTo>
                    <a:pt x="0" y="308166"/>
                  </a:moveTo>
                  <a:cubicBezTo>
                    <a:pt x="0" y="137914"/>
                    <a:pt x="110490" y="0"/>
                    <a:pt x="246888" y="0"/>
                  </a:cubicBezTo>
                  <a:lnTo>
                    <a:pt x="2788920" y="0"/>
                  </a:lnTo>
                  <a:cubicBezTo>
                    <a:pt x="2925318" y="0"/>
                    <a:pt x="3035808" y="137914"/>
                    <a:pt x="3035808" y="308166"/>
                  </a:cubicBezTo>
                  <a:cubicBezTo>
                    <a:pt x="3035808" y="478417"/>
                    <a:pt x="2925318" y="616331"/>
                    <a:pt x="2788920" y="616331"/>
                  </a:cubicBezTo>
                  <a:lnTo>
                    <a:pt x="246888" y="616331"/>
                  </a:lnTo>
                  <a:cubicBezTo>
                    <a:pt x="110490" y="616331"/>
                    <a:pt x="0" y="478417"/>
                    <a:pt x="0" y="308166"/>
                  </a:cubicBezTo>
                  <a:close/>
                </a:path>
              </a:pathLst>
            </a:custGeom>
            <a:solidFill>
              <a:srgbClr val="E0F2FE"/>
            </a:solidFill>
          </p:spPr>
          <p:txBody>
            <a:bodyPr/>
            <a:p/>
          </p:txBody>
        </p:sp>
        <p:sp>
          <p:nvSpPr>
            <p:cNvPr name="TextBox 24" id="24"/>
            <p:cNvSpPr txBox="true"/>
            <p:nvPr/>
          </p:nvSpPr>
          <p:spPr>
            <a:xfrm>
              <a:off x="0" y="0"/>
              <a:ext cx="3035808" cy="616331"/>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DECISIONS RECORDED IN OUR PROJECT</a:t>
              </a:r>
            </a:p>
          </p:txBody>
        </p:sp>
      </p:grpSp>
      <p:grpSp>
        <p:nvGrpSpPr>
          <p:cNvPr name="Group 25" id="25"/>
          <p:cNvGrpSpPr/>
          <p:nvPr/>
        </p:nvGrpSpPr>
        <p:grpSpPr>
          <a:xfrm rot="0">
            <a:off x="809244" y="1455068"/>
            <a:ext cx="8119872" cy="5813231"/>
            <a:chOff x="0" y="0"/>
            <a:chExt cx="10826496" cy="7750975"/>
          </a:xfrm>
        </p:grpSpPr>
        <p:sp>
          <p:nvSpPr>
            <p:cNvPr name="Freeform 26" id="26" descr="fig_decision.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txBody>
            <a:bodyPr/>
            <a:p/>
          </p:txBody>
        </p:sp>
      </p:grpSp>
      <p:sp>
        <p:nvSpPr>
          <p:cNvPr name="TextBox 27" id="27"/>
          <p:cNvSpPr txBox="true"/>
          <p:nvPr/>
        </p:nvSpPr>
        <p:spPr>
          <a:xfrm rot="0">
            <a:off x="9715500" y="2349246"/>
            <a:ext cx="7507224" cy="2949854"/>
          </a:xfrm>
          <a:prstGeom prst="rect">
            <a:avLst/>
          </a:prstGeom>
        </p:spPr>
        <p:txBody>
          <a:bodyPr anchor="t" rtlCol="false" tIns="0" lIns="0" bIns="0" rIns="0">
            <a:spAutoFit/>
          </a:bodyPr>
          <a:lstStyle/>
          <a:p>
            <a:pPr algn="l" marL="0" indent="0" lvl="0">
              <a:lnSpc>
                <a:spcPts val="2332"/>
              </a:lnSpc>
              <a:spcBef>
                <a:spcPct val="0"/>
              </a:spcBef>
            </a:pPr>
            <a:r>
              <a:rPr lang="en-US" sz="1800" strike="noStrike" u="none">
                <a:solidFill>
                  <a:srgbClr val="059669"/>
                </a:solidFill>
                <a:latin typeface="DM Sans"/>
                <a:ea typeface="DM Sans"/>
                <a:cs typeface="DM Sans"/>
                <a:sym typeface="DM Sans"/>
              </a:rPr>
              <a:t>▪  Pivot:  We narrowed the idea from a therapy bandage to one question: has the dressing reached its change line?</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Choice:  two zones (score 4.36) beat one zone (4.29), because only two zones give the order check (centre before change line) that flags leaks.</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Kept:  We kept Bluetooth as a local status broadcast. It compiles; hardware testing is pending.</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Corrected:  We corrected the Stage 1 description of Kapton: DuPont cautions against calling it medical-grade [11].</a:t>
            </a:r>
          </a:p>
          <a:p>
            <a:pPr algn="l" marL="0" indent="0" lvl="0">
              <a:lnSpc>
                <a:spcPts val="2332"/>
              </a:lnSpc>
              <a:spcBef>
                <a:spcPct val="0"/>
              </a:spcBef>
            </a:pPr>
            <a:r>
              <a:rPr lang="en-US" sz="1800" strike="noStrike" u="none">
                <a:solidFill>
                  <a:srgbClr val="059669"/>
                </a:solidFill>
                <a:latin typeface="DM Sans"/>
                <a:ea typeface="DM Sans"/>
                <a:cs typeface="DM Sans"/>
                <a:sym typeface="DM Sans"/>
              </a:rPr>
              <a:t>▪  Redesign:  To address the FMEA risk, version 0.2 loops each sensing lead.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1434332"/>
            <a:ext cx="16687800" cy="4210050"/>
            <a:chOff x="0" y="0"/>
            <a:chExt cx="22250400" cy="5613400"/>
          </a:xfrm>
        </p:grpSpPr>
        <p:sp>
          <p:nvSpPr>
            <p:cNvPr name="Freeform 5" id="5" descr="image.png"/>
            <p:cNvSpPr/>
            <p:nvPr/>
          </p:nvSpPr>
          <p:spPr>
            <a:xfrm flipH="false" flipV="false" rot="0">
              <a:off x="0" y="0"/>
              <a:ext cx="22250400" cy="5613400"/>
            </a:xfrm>
            <a:custGeom>
              <a:avLst/>
              <a:gdLst/>
              <a:ahLst/>
              <a:cxnLst/>
              <a:rect r="r" b="b" t="t" l="l"/>
              <a:pathLst>
                <a:path h="5613400" w="22250400">
                  <a:moveTo>
                    <a:pt x="0" y="0"/>
                  </a:moveTo>
                  <a:lnTo>
                    <a:pt x="22250400" y="0"/>
                  </a:lnTo>
                  <a:lnTo>
                    <a:pt x="22250400" y="5613400"/>
                  </a:lnTo>
                  <a:lnTo>
                    <a:pt x="0" y="5613400"/>
                  </a:lnTo>
                  <a:lnTo>
                    <a:pt x="0" y="0"/>
                  </a:lnTo>
                  <a:close/>
                </a:path>
              </a:pathLst>
            </a:custGeom>
            <a:blipFill>
              <a:blip r:embed="rId4"/>
              <a:stretch>
                <a:fillRect l="0" t="0" r="-45155" b="0"/>
              </a:stretch>
            </a:blipFill>
          </p:spPr>
          <p:txBody>
            <a:bodyPr/>
            <a:p/>
          </p:txBody>
        </p:sp>
      </p:grpSp>
      <p:grpSp>
        <p:nvGrpSpPr>
          <p:cNvPr name="Group 6" id="6"/>
          <p:cNvGrpSpPr/>
          <p:nvPr/>
        </p:nvGrpSpPr>
        <p:grpSpPr>
          <a:xfrm rot="0">
            <a:off x="800100" y="5774817"/>
            <a:ext cx="8143875" cy="3552825"/>
            <a:chOff x="0" y="0"/>
            <a:chExt cx="10858500" cy="4737100"/>
          </a:xfrm>
        </p:grpSpPr>
        <p:sp>
          <p:nvSpPr>
            <p:cNvPr name="Freeform 7" id="7" descr="image.png"/>
            <p:cNvSpPr/>
            <p:nvPr/>
          </p:nvSpPr>
          <p:spPr>
            <a:xfrm flipH="false" flipV="false" rot="0">
              <a:off x="0" y="0"/>
              <a:ext cx="10858500" cy="4737100"/>
            </a:xfrm>
            <a:custGeom>
              <a:avLst/>
              <a:gdLst/>
              <a:ahLst/>
              <a:cxnLst/>
              <a:rect r="r" b="b" t="t" l="l"/>
              <a:pathLst>
                <a:path h="4737100" w="10858500">
                  <a:moveTo>
                    <a:pt x="0" y="0"/>
                  </a:moveTo>
                  <a:lnTo>
                    <a:pt x="10858500" y="0"/>
                  </a:lnTo>
                  <a:lnTo>
                    <a:pt x="10858500" y="4737100"/>
                  </a:lnTo>
                  <a:lnTo>
                    <a:pt x="0" y="4737100"/>
                  </a:lnTo>
                  <a:lnTo>
                    <a:pt x="0" y="0"/>
                  </a:lnTo>
                  <a:close/>
                </a:path>
              </a:pathLst>
            </a:custGeom>
            <a:blipFill>
              <a:blip r:embed="rId5"/>
              <a:stretch>
                <a:fillRect l="0" t="0" r="0" b="-43967"/>
              </a:stretch>
            </a:blipFill>
          </p:spPr>
          <p:txBody>
            <a:bodyPr/>
            <a:p/>
          </p:txBody>
        </p:sp>
      </p:grpSp>
      <p:grpSp>
        <p:nvGrpSpPr>
          <p:cNvPr name="Group 8" id="8"/>
          <p:cNvGrpSpPr/>
          <p:nvPr/>
        </p:nvGrpSpPr>
        <p:grpSpPr>
          <a:xfrm rot="0">
            <a:off x="9344025" y="5774817"/>
            <a:ext cx="8143875" cy="3552825"/>
            <a:chOff x="0" y="0"/>
            <a:chExt cx="10858500" cy="4737100"/>
          </a:xfrm>
        </p:grpSpPr>
        <p:sp>
          <p:nvSpPr>
            <p:cNvPr name="Freeform 9" id="9" descr="image.png"/>
            <p:cNvSpPr/>
            <p:nvPr/>
          </p:nvSpPr>
          <p:spPr>
            <a:xfrm flipH="false" flipV="false" rot="0">
              <a:off x="0" y="0"/>
              <a:ext cx="10858500" cy="4737100"/>
            </a:xfrm>
            <a:custGeom>
              <a:avLst/>
              <a:gdLst/>
              <a:ahLst/>
              <a:cxnLst/>
              <a:rect r="r" b="b" t="t" l="l"/>
              <a:pathLst>
                <a:path h="4737100" w="10858500">
                  <a:moveTo>
                    <a:pt x="0" y="0"/>
                  </a:moveTo>
                  <a:lnTo>
                    <a:pt x="10858500" y="0"/>
                  </a:lnTo>
                  <a:lnTo>
                    <a:pt x="10858500" y="4737100"/>
                  </a:lnTo>
                  <a:lnTo>
                    <a:pt x="0" y="4737100"/>
                  </a:lnTo>
                  <a:lnTo>
                    <a:pt x="0" y="0"/>
                  </a:lnTo>
                  <a:close/>
                </a:path>
              </a:pathLst>
            </a:custGeom>
            <a:blipFill>
              <a:blip r:embed="rId6"/>
              <a:stretch>
                <a:fillRect l="0" t="0" r="0" b="-43967"/>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Safety &amp; Hazard Mitigation</a:t>
              </a:r>
            </a:p>
          </p:txBody>
        </p:sp>
      </p:grpSp>
      <p:grpSp>
        <p:nvGrpSpPr>
          <p:cNvPr name="Group 13" id="13"/>
          <p:cNvGrpSpPr/>
          <p:nvPr/>
        </p:nvGrpSpPr>
        <p:grpSpPr>
          <a:xfrm rot="0">
            <a:off x="1128712" y="1762944"/>
            <a:ext cx="231505" cy="228600"/>
            <a:chOff x="0" y="0"/>
            <a:chExt cx="308674" cy="304800"/>
          </a:xfrm>
        </p:grpSpPr>
        <p:sp>
          <p:nvSpPr>
            <p:cNvPr name="Freeform 14" id="14"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5" id="15"/>
          <p:cNvSpPr txBox="true"/>
          <p:nvPr/>
        </p:nvSpPr>
        <p:spPr>
          <a:xfrm rot="0">
            <a:off x="1503093" y="1743894"/>
            <a:ext cx="1042416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We ranked 15 possible failure modes before testing. These are the five highest estimated risks.</a:t>
            </a:r>
          </a:p>
        </p:txBody>
      </p:sp>
      <p:grpSp>
        <p:nvGrpSpPr>
          <p:cNvPr name="Group 16" id="16"/>
          <p:cNvGrpSpPr/>
          <p:nvPr/>
        </p:nvGrpSpPr>
        <p:grpSpPr>
          <a:xfrm rot="0">
            <a:off x="1128712" y="6104001"/>
            <a:ext cx="231505" cy="228600"/>
            <a:chOff x="0" y="0"/>
            <a:chExt cx="308674" cy="304800"/>
          </a:xfrm>
        </p:grpSpPr>
        <p:sp>
          <p:nvSpPr>
            <p:cNvPr name="Freeform 17" id="17"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9"/>
              <a:stretch>
                <a:fillRect l="0" t="0" r="-20" b="-1270"/>
              </a:stretch>
            </a:blipFill>
          </p:spPr>
          <p:txBody>
            <a:bodyPr/>
            <a:p/>
          </p:txBody>
        </p:sp>
      </p:grpSp>
      <p:sp>
        <p:nvSpPr>
          <p:cNvPr name="TextBox 18" id="18"/>
          <p:cNvSpPr txBox="true"/>
          <p:nvPr/>
        </p:nvSpPr>
        <p:spPr>
          <a:xfrm rot="0">
            <a:off x="1503093" y="6072378"/>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Fail-safes</a:t>
            </a:r>
          </a:p>
        </p:txBody>
      </p:sp>
      <p:grpSp>
        <p:nvGrpSpPr>
          <p:cNvPr name="Group 19" id="19"/>
          <p:cNvGrpSpPr/>
          <p:nvPr/>
        </p:nvGrpSpPr>
        <p:grpSpPr>
          <a:xfrm rot="0">
            <a:off x="9672638" y="6104001"/>
            <a:ext cx="202930" cy="228600"/>
            <a:chOff x="0" y="0"/>
            <a:chExt cx="270574" cy="304800"/>
          </a:xfrm>
        </p:grpSpPr>
        <p:sp>
          <p:nvSpPr>
            <p:cNvPr name="Freeform 20" id="20" descr="image.png"/>
            <p:cNvSpPr/>
            <p:nvPr/>
          </p:nvSpPr>
          <p:spPr>
            <a:xfrm flipH="false" flipV="false" rot="0">
              <a:off x="0" y="0"/>
              <a:ext cx="270510" cy="304800"/>
            </a:xfrm>
            <a:custGeom>
              <a:avLst/>
              <a:gdLst/>
              <a:ahLst/>
              <a:cxnLst/>
              <a:rect r="r" b="b" t="t" l="l"/>
              <a:pathLst>
                <a:path h="304800" w="270510">
                  <a:moveTo>
                    <a:pt x="0" y="0"/>
                  </a:moveTo>
                  <a:lnTo>
                    <a:pt x="270510" y="0"/>
                  </a:lnTo>
                  <a:lnTo>
                    <a:pt x="270510" y="304800"/>
                  </a:lnTo>
                  <a:lnTo>
                    <a:pt x="0" y="304800"/>
                  </a:lnTo>
                  <a:lnTo>
                    <a:pt x="0" y="0"/>
                  </a:lnTo>
                  <a:close/>
                </a:path>
              </a:pathLst>
            </a:custGeom>
            <a:blipFill>
              <a:blip r:embed="rId10"/>
              <a:stretch>
                <a:fillRect l="0" t="0" r="-23" b="-604"/>
              </a:stretch>
            </a:blipFill>
          </p:spPr>
          <p:txBody>
            <a:bodyPr/>
            <a:p/>
          </p:txBody>
        </p:sp>
      </p:grpSp>
      <p:sp>
        <p:nvSpPr>
          <p:cNvPr name="TextBox 21" id="21"/>
          <p:cNvSpPr txBox="true"/>
          <p:nvPr/>
        </p:nvSpPr>
        <p:spPr>
          <a:xfrm rot="0">
            <a:off x="10018443" y="6072378"/>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Standards (considered, not claimed)</a:t>
            </a:r>
          </a:p>
        </p:txBody>
      </p:sp>
      <p:grpSp>
        <p:nvGrpSpPr>
          <p:cNvPr name="Group 22" id="22"/>
          <p:cNvGrpSpPr/>
          <p:nvPr/>
        </p:nvGrpSpPr>
        <p:grpSpPr>
          <a:xfrm rot="0">
            <a:off x="16642794" y="9421197"/>
            <a:ext cx="1645206" cy="865803"/>
            <a:chOff x="0" y="0"/>
            <a:chExt cx="2193608" cy="1154405"/>
          </a:xfrm>
        </p:grpSpPr>
        <p:sp>
          <p:nvSpPr>
            <p:cNvPr name="Freeform 23" id="23"/>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1"/>
              <a:stretch>
                <a:fillRect l="0" t="0" r="2" b="2"/>
              </a:stretch>
            </a:blipFill>
          </p:spPr>
          <p:txBody>
            <a:bodyPr/>
            <a:p/>
          </p:txBody>
        </p:sp>
      </p:grpSp>
      <p:grpSp>
        <p:nvGrpSpPr>
          <p:cNvPr name="Group 24" id="24"/>
          <p:cNvGrpSpPr/>
          <p:nvPr/>
        </p:nvGrpSpPr>
        <p:grpSpPr>
          <a:xfrm rot="0">
            <a:off x="0" y="9421197"/>
            <a:ext cx="2679421" cy="865803"/>
            <a:chOff x="0" y="0"/>
            <a:chExt cx="3572561" cy="1154405"/>
          </a:xfrm>
        </p:grpSpPr>
        <p:sp>
          <p:nvSpPr>
            <p:cNvPr name="Freeform 25" id="25"/>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2"/>
              <a:stretch>
                <a:fillRect l="-21110" t="-147255" r="-22761" b="-197973"/>
              </a:stretch>
            </a:blipFill>
          </p:spPr>
          <p:txBody>
            <a:bodyPr/>
            <a:p/>
          </p:txBody>
        </p:sp>
      </p:grpSp>
      <p:grpSp>
        <p:nvGrpSpPr>
          <p:cNvPr name="Group 26" id="26"/>
          <p:cNvGrpSpPr/>
          <p:nvPr/>
        </p:nvGrpSpPr>
        <p:grpSpPr>
          <a:xfrm rot="0">
            <a:off x="14185087" y="685800"/>
            <a:ext cx="3302813" cy="370332"/>
            <a:chOff x="0" y="0"/>
            <a:chExt cx="4403750" cy="493776"/>
          </a:xfrm>
        </p:grpSpPr>
        <p:sp>
          <p:nvSpPr>
            <p:cNvPr name="Freeform 27" id="27"/>
            <p:cNvSpPr/>
            <p:nvPr/>
          </p:nvSpPr>
          <p:spPr>
            <a:xfrm flipH="false" flipV="false" rot="0">
              <a:off x="0" y="0"/>
              <a:ext cx="4403725" cy="493776"/>
            </a:xfrm>
            <a:custGeom>
              <a:avLst/>
              <a:gdLst/>
              <a:ahLst/>
              <a:cxnLst/>
              <a:rect r="r" b="b" t="t" l="l"/>
              <a:pathLst>
                <a:path h="493776" w="4403725">
                  <a:moveTo>
                    <a:pt x="0" y="246888"/>
                  </a:moveTo>
                  <a:cubicBezTo>
                    <a:pt x="0" y="110490"/>
                    <a:pt x="110490" y="0"/>
                    <a:pt x="246888" y="0"/>
                  </a:cubicBezTo>
                  <a:lnTo>
                    <a:pt x="4156837" y="0"/>
                  </a:lnTo>
                  <a:cubicBezTo>
                    <a:pt x="4293235" y="0"/>
                    <a:pt x="4403725" y="110490"/>
                    <a:pt x="4403725" y="246888"/>
                  </a:cubicBezTo>
                  <a:cubicBezTo>
                    <a:pt x="4403725" y="383286"/>
                    <a:pt x="4293235" y="493776"/>
                    <a:pt x="4156837" y="493776"/>
                  </a:cubicBezTo>
                  <a:lnTo>
                    <a:pt x="246888" y="493776"/>
                  </a:lnTo>
                  <a:cubicBezTo>
                    <a:pt x="110490" y="493776"/>
                    <a:pt x="0" y="383286"/>
                    <a:pt x="0" y="246888"/>
                  </a:cubicBezTo>
                  <a:close/>
                </a:path>
              </a:pathLst>
            </a:custGeom>
            <a:solidFill>
              <a:srgbClr val="FEF3C7"/>
            </a:solidFill>
          </p:spPr>
          <p:txBody>
            <a:bodyPr/>
            <a:p/>
          </p:txBody>
        </p:sp>
        <p:sp>
          <p:nvSpPr>
            <p:cNvPr name="TextBox 28" id="28"/>
            <p:cNvSpPr txBox="true"/>
            <p:nvPr/>
          </p:nvSpPr>
          <p:spPr>
            <a:xfrm>
              <a:off x="0" y="0"/>
              <a:ext cx="4403750"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RISKS ESTIMATED · TESTS PLANNED</a:t>
              </a:r>
            </a:p>
          </p:txBody>
        </p:sp>
      </p:grpSp>
      <p:graphicFrame>
        <p:nvGraphicFramePr>
          <p:cNvPr name="Table 29" id="29"/>
          <p:cNvGraphicFramePr>
            <a:graphicFrameLocks noGrp="true"/>
          </p:cNvGraphicFramePr>
          <p:nvPr/>
        </p:nvGraphicFramePr>
        <p:xfrm>
          <a:off x="1124712" y="2194560"/>
          <a:ext cx="11125200" cy="2743200"/>
        </p:xfrm>
        <a:graphic>
          <a:graphicData uri="http://schemas.openxmlformats.org/drawingml/2006/table">
            <a:tbl>
              <a:tblPr/>
              <a:tblGrid>
                <a:gridCol w="3345113"/>
                <a:gridCol w="2969237"/>
                <a:gridCol w="864334"/>
                <a:gridCol w="3946515"/>
              </a:tblGrid>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Failure mode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Effect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RPN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Fix / test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F04 cracked sense lead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zone reads 'dry' forever; no alert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b="true">
                          <a:solidFill>
                            <a:srgbClr val="DC2626"/>
                          </a:solidFill>
                          <a:latin typeface="DM Sans Bold"/>
                          <a:ea typeface="DM Sans Bold"/>
                          <a:cs typeface="DM Sans Bold"/>
                          <a:sym typeface="DM Sans Bold"/>
                        </a:rPr>
                        <a:t>224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v0.2 loops each lead · T-MECH-01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F07 front path differs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CHANGE late or missing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b="true">
                          <a:solidFill>
                            <a:srgbClr val="DC2626"/>
                          </a:solidFill>
                          <a:latin typeface="DM Sans Bold"/>
                          <a:ea typeface="DM Sans Bold"/>
                          <a:cs typeface="DM Sans Bold"/>
                          <a:sym typeface="DM Sans Bold"/>
                        </a:rPr>
                        <a:t>210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E4 on real foam dressings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F08 humid dry baseline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humidity reads as 'wet'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b="true">
                          <a:solidFill>
                            <a:srgbClr val="DC2626"/>
                          </a:solidFill>
                          <a:latin typeface="DM Sans Bold"/>
                          <a:ea typeface="DM Sans Bold"/>
                          <a:cs typeface="DM Sans Bold"/>
                          <a:sym typeface="DM Sans Bold"/>
                        </a:rPr>
                        <a:t>150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measure baselines (E4)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F01 weak carbon layer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both zones always read 'dry'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b="true">
                          <a:solidFill>
                            <a:srgbClr val="DC2626"/>
                          </a:solidFill>
                          <a:latin typeface="DM Sans Bold"/>
                          <a:ea typeface="DM Sans Bold"/>
                          <a:cs typeface="DM Sans Bold"/>
                          <a:sym typeface="DM Sans Bold"/>
                        </a:rPr>
                        <a:t>140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E2 + per-strip QC record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457200">
                <a:tc>
                  <a:txBody>
                    <a:bodyPr anchor="t" rtlCol="false"/>
                    <a:lstStyle/>
                    <a:p>
                      <a:pPr algn="l">
                        <a:lnSpc>
                          <a:spcPts val="900"/>
                        </a:lnSpc>
                        <a:defRPr/>
                      </a:pPr>
                      <a:r>
                        <a:rPr lang="en-US" sz="1050" b="true">
                          <a:solidFill>
                            <a:srgbClr val="0F172A"/>
                          </a:solidFill>
                          <a:latin typeface="DM Sans Bold"/>
                          <a:ea typeface="DM Sans Bold"/>
                          <a:cs typeface="DM Sans Bold"/>
                          <a:sym typeface="DM Sans Bold"/>
                        </a:rPr>
                        <a:t>F05 pin contact on carbon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readings drift high</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b="true">
                          <a:solidFill>
                            <a:srgbClr val="DC2626"/>
                          </a:solidFill>
                          <a:latin typeface="DM Sans Bold"/>
                          <a:ea typeface="DM Sans Bold"/>
                          <a:cs typeface="DM Sans Bold"/>
                          <a:sym typeface="DM Sans Bold"/>
                        </a:rPr>
                        <a:t>120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900"/>
                        </a:lnSpc>
                        <a:defRPr/>
                      </a:pPr>
                      <a:r>
                        <a:rPr lang="en-US" sz="1050">
                          <a:solidFill>
                            <a:srgbClr val="334155"/>
                          </a:solidFill>
                          <a:latin typeface="DM Sans"/>
                          <a:ea typeface="DM Sans"/>
                          <a:cs typeface="DM Sans"/>
                          <a:sym typeface="DM Sans"/>
                        </a:rPr>
                        <a:t>rounded pins · T-CON-01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grpSp>
        <p:nvGrpSpPr>
          <p:cNvPr name="Group 30" id="30"/>
          <p:cNvGrpSpPr/>
          <p:nvPr/>
        </p:nvGrpSpPr>
        <p:grpSpPr>
          <a:xfrm rot="0">
            <a:off x="12550616" y="1714500"/>
            <a:ext cx="4731068" cy="2825496"/>
            <a:chOff x="0" y="0"/>
            <a:chExt cx="6308090" cy="3767328"/>
          </a:xfrm>
        </p:grpSpPr>
        <p:sp>
          <p:nvSpPr>
            <p:cNvPr name="Freeform 31" id="31" descr="fig_fmea.png"/>
            <p:cNvSpPr/>
            <p:nvPr/>
          </p:nvSpPr>
          <p:spPr>
            <a:xfrm flipH="false" flipV="false" rot="0">
              <a:off x="0" y="0"/>
              <a:ext cx="6308090" cy="3767328"/>
            </a:xfrm>
            <a:custGeom>
              <a:avLst/>
              <a:gdLst/>
              <a:ahLst/>
              <a:cxnLst/>
              <a:rect r="r" b="b" t="t" l="l"/>
              <a:pathLst>
                <a:path h="3767328" w="6308090">
                  <a:moveTo>
                    <a:pt x="0" y="0"/>
                  </a:moveTo>
                  <a:lnTo>
                    <a:pt x="6308090" y="0"/>
                  </a:lnTo>
                  <a:lnTo>
                    <a:pt x="6308090" y="3767328"/>
                  </a:lnTo>
                  <a:lnTo>
                    <a:pt x="0" y="3767328"/>
                  </a:lnTo>
                  <a:lnTo>
                    <a:pt x="0" y="0"/>
                  </a:lnTo>
                  <a:close/>
                </a:path>
              </a:pathLst>
            </a:custGeom>
            <a:blipFill>
              <a:blip r:embed="rId13"/>
              <a:stretch>
                <a:fillRect l="0" t="0" r="0" b="0"/>
              </a:stretch>
            </a:blipFill>
          </p:spPr>
          <p:txBody>
            <a:bodyPr/>
            <a:p/>
          </p:txBody>
        </p:sp>
      </p:grpSp>
      <p:sp>
        <p:nvSpPr>
          <p:cNvPr name="TextBox 32" id="32"/>
          <p:cNvSpPr txBox="true"/>
          <p:nvPr/>
        </p:nvSpPr>
        <p:spPr>
          <a:xfrm rot="0">
            <a:off x="1170432" y="6597396"/>
            <a:ext cx="7507224" cy="23897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Bench only:  </a:t>
            </a:r>
            <a:r>
              <a:rPr lang="en-US" sz="1650" b="true">
                <a:solidFill>
                  <a:srgbClr val="334155"/>
                </a:solidFill>
                <a:latin typeface="DM Sans Bold"/>
                <a:ea typeface="DM Sans Bold"/>
                <a:cs typeface="DM Sans Bold"/>
                <a:sym typeface="DM Sans Bold"/>
              </a:rPr>
              <a:t>Use the USB reader on the bench only; do not put it on a person.</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 net DC:  </a:t>
            </a:r>
            <a:r>
              <a:rPr lang="en-US" sz="1650" b="true">
                <a:solidFill>
                  <a:srgbClr val="334155"/>
                </a:solidFill>
                <a:latin typeface="DM Sans Bold"/>
                <a:ea typeface="DM Sans Bold"/>
                <a:cs typeface="DM Sans Bold"/>
                <a:sym typeface="DM Sans Bold"/>
              </a:rPr>
              <a:t>The drive is bipolar and idle pins are off. Planned bench test T8 checks for less than 5 mV residual.</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Self-check:  </a:t>
            </a:r>
            <a:r>
              <a:rPr lang="en-US" sz="1650" b="true">
                <a:solidFill>
                  <a:srgbClr val="334155"/>
                </a:solidFill>
                <a:latin typeface="DM Sans Bold"/>
                <a:ea typeface="DM Sans Bold"/>
                <a:cs typeface="DM Sans Bold"/>
                <a:sym typeface="DM Sans Bold"/>
              </a:rPr>
              <a:t>Run a self-check each scan; show FAULT if it fails.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 wound contact:  </a:t>
            </a:r>
            <a:r>
              <a:rPr lang="en-US" sz="1650" b="true">
                <a:solidFill>
                  <a:srgbClr val="334155"/>
                </a:solidFill>
                <a:latin typeface="DM Sans Bold"/>
                <a:ea typeface="DM Sans Bold"/>
                <a:cs typeface="DM Sans Bold"/>
                <a:sym typeface="DM Sans Bold"/>
              </a:rPr>
              <a:t>The strip is designed to sit on the pad’s outer face, with sealed leads.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Laser work:  </a:t>
            </a:r>
            <a:r>
              <a:rPr lang="en-US" sz="1650" b="true">
                <a:solidFill>
                  <a:srgbClr val="334155"/>
                </a:solidFill>
                <a:latin typeface="DM Sans Bold"/>
                <a:ea typeface="DM Sans Bold"/>
                <a:cs typeface="DM Sans Bold"/>
                <a:sym typeface="DM Sans Bold"/>
              </a:rPr>
              <a:t>Complete and sign the laser-safety checklist before each session.</a:t>
            </a:r>
          </a:p>
        </p:txBody>
      </p:sp>
      <p:sp>
        <p:nvSpPr>
          <p:cNvPr name="TextBox 33" id="33"/>
          <p:cNvSpPr txBox="true"/>
          <p:nvPr/>
        </p:nvSpPr>
        <p:spPr>
          <a:xfrm rot="0">
            <a:off x="9715500" y="6597396"/>
            <a:ext cx="7507224" cy="3008757"/>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ISO 14971  </a:t>
            </a:r>
            <a:r>
              <a:rPr lang="en-US" sz="1650">
                <a:solidFill>
                  <a:srgbClr val="334155"/>
                </a:solidFill>
                <a:latin typeface="DM Sans"/>
                <a:ea typeface="DM Sans"/>
                <a:cs typeface="DM Sans"/>
                <a:sym typeface="DM Sans"/>
              </a:rPr>
              <a:t>risk management</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IEC 60601-1  </a:t>
            </a:r>
            <a:r>
              <a:rPr lang="en-US" sz="1650">
                <a:solidFill>
                  <a:srgbClr val="334155"/>
                </a:solidFill>
                <a:latin typeface="DM Sans"/>
                <a:ea typeface="DM Sans"/>
                <a:cs typeface="DM Sans"/>
                <a:sym typeface="DM Sans"/>
              </a:rPr>
              <a:t>future on-body reader</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ISO 10993-1  </a:t>
            </a:r>
            <a:r>
              <a:rPr lang="en-US" sz="1650">
                <a:solidFill>
                  <a:srgbClr val="334155"/>
                </a:solidFill>
                <a:latin typeface="DM Sans"/>
                <a:ea typeface="DM Sans"/>
                <a:cs typeface="DM Sans"/>
                <a:sym typeface="DM Sans"/>
              </a:rPr>
              <a:t>before any skin contact¹¹</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EN 13726  </a:t>
            </a:r>
            <a:r>
              <a:rPr lang="en-US" sz="1650">
                <a:solidFill>
                  <a:srgbClr val="334155"/>
                </a:solidFill>
                <a:latin typeface="DM Sans"/>
                <a:ea typeface="DM Sans"/>
                <a:cs typeface="DM Sans"/>
                <a:sym typeface="DM Sans"/>
              </a:rPr>
              <a:t>simulated exudate for tests¹⁰</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IEC 60825-1  </a:t>
            </a:r>
            <a:r>
              <a:rPr lang="en-US" sz="1650">
                <a:solidFill>
                  <a:srgbClr val="334155"/>
                </a:solidFill>
                <a:latin typeface="DM Sans"/>
                <a:ea typeface="DM Sans"/>
                <a:cs typeface="DM Sans"/>
                <a:sym typeface="DM Sans"/>
              </a:rPr>
              <a:t>laser work during fabrication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1434332"/>
            <a:ext cx="16687800" cy="3593592"/>
            <a:chOff x="0" y="0"/>
            <a:chExt cx="22250400" cy="4791456"/>
          </a:xfrm>
        </p:grpSpPr>
        <p:sp>
          <p:nvSpPr>
            <p:cNvPr name="Freeform 5" id="5" descr="image.png"/>
            <p:cNvSpPr/>
            <p:nvPr/>
          </p:nvSpPr>
          <p:spPr>
            <a:xfrm flipH="false" flipV="false" rot="0">
              <a:off x="0" y="0"/>
              <a:ext cx="22250400" cy="4791456"/>
            </a:xfrm>
            <a:custGeom>
              <a:avLst/>
              <a:gdLst/>
              <a:ahLst/>
              <a:cxnLst/>
              <a:rect r="r" b="b" t="t" l="l"/>
              <a:pathLst>
                <a:path h="4791456" w="22250400">
                  <a:moveTo>
                    <a:pt x="0" y="0"/>
                  </a:moveTo>
                  <a:lnTo>
                    <a:pt x="22250400" y="0"/>
                  </a:lnTo>
                  <a:lnTo>
                    <a:pt x="22250400" y="4791456"/>
                  </a:lnTo>
                  <a:lnTo>
                    <a:pt x="0" y="4791456"/>
                  </a:lnTo>
                  <a:lnTo>
                    <a:pt x="0" y="0"/>
                  </a:lnTo>
                  <a:close/>
                </a:path>
              </a:pathLst>
            </a:custGeom>
            <a:blipFill>
              <a:blip r:embed="rId4"/>
              <a:stretch>
                <a:fillRect l="0" t="0" r="-23901" b="0"/>
              </a:stretch>
            </a:blipFill>
          </p:spPr>
          <p:txBody>
            <a:bodyPr/>
            <a:p/>
          </p:txBody>
        </p:sp>
      </p:grpSp>
      <p:grpSp>
        <p:nvGrpSpPr>
          <p:cNvPr name="Group 6" id="6"/>
          <p:cNvGrpSpPr/>
          <p:nvPr/>
        </p:nvGrpSpPr>
        <p:grpSpPr>
          <a:xfrm rot="0">
            <a:off x="800100" y="5239512"/>
            <a:ext cx="8143875" cy="3593592"/>
            <a:chOff x="0" y="0"/>
            <a:chExt cx="10858500" cy="4791456"/>
          </a:xfrm>
        </p:grpSpPr>
        <p:sp>
          <p:nvSpPr>
            <p:cNvPr name="Freeform 7" id="7" descr="image.png"/>
            <p:cNvSpPr/>
            <p:nvPr/>
          </p:nvSpPr>
          <p:spPr>
            <a:xfrm flipH="false" flipV="false" rot="0">
              <a:off x="0" y="0"/>
              <a:ext cx="10858500" cy="4791456"/>
            </a:xfrm>
            <a:custGeom>
              <a:avLst/>
              <a:gdLst/>
              <a:ahLst/>
              <a:cxnLst/>
              <a:rect r="r" b="b" t="t" l="l"/>
              <a:pathLst>
                <a:path h="4791456" w="10858500">
                  <a:moveTo>
                    <a:pt x="0" y="0"/>
                  </a:moveTo>
                  <a:lnTo>
                    <a:pt x="10858500" y="0"/>
                  </a:lnTo>
                  <a:lnTo>
                    <a:pt x="10858500" y="4791456"/>
                  </a:lnTo>
                  <a:lnTo>
                    <a:pt x="0" y="4791456"/>
                  </a:lnTo>
                  <a:lnTo>
                    <a:pt x="0" y="0"/>
                  </a:lnTo>
                  <a:close/>
                </a:path>
              </a:pathLst>
            </a:custGeom>
            <a:blipFill>
              <a:blip r:embed="rId5"/>
              <a:stretch>
                <a:fillRect l="0" t="0" r="0" b="-42334"/>
              </a:stretch>
            </a:blipFill>
          </p:spPr>
          <p:txBody>
            <a:bodyPr/>
            <a:p/>
          </p:txBody>
        </p:sp>
      </p:grpSp>
      <p:grpSp>
        <p:nvGrpSpPr>
          <p:cNvPr name="Group 8" id="8"/>
          <p:cNvGrpSpPr/>
          <p:nvPr/>
        </p:nvGrpSpPr>
        <p:grpSpPr>
          <a:xfrm rot="0">
            <a:off x="9344025" y="5239512"/>
            <a:ext cx="8143875" cy="3593592"/>
            <a:chOff x="0" y="0"/>
            <a:chExt cx="10858500" cy="4791456"/>
          </a:xfrm>
        </p:grpSpPr>
        <p:sp>
          <p:nvSpPr>
            <p:cNvPr name="Freeform 9" id="9" descr="image.png"/>
            <p:cNvSpPr/>
            <p:nvPr/>
          </p:nvSpPr>
          <p:spPr>
            <a:xfrm flipH="false" flipV="false" rot="0">
              <a:off x="0" y="0"/>
              <a:ext cx="10858500" cy="4791456"/>
            </a:xfrm>
            <a:custGeom>
              <a:avLst/>
              <a:gdLst/>
              <a:ahLst/>
              <a:cxnLst/>
              <a:rect r="r" b="b" t="t" l="l"/>
              <a:pathLst>
                <a:path h="4791456" w="10858500">
                  <a:moveTo>
                    <a:pt x="0" y="0"/>
                  </a:moveTo>
                  <a:lnTo>
                    <a:pt x="10858500" y="0"/>
                  </a:lnTo>
                  <a:lnTo>
                    <a:pt x="10858500" y="4791456"/>
                  </a:lnTo>
                  <a:lnTo>
                    <a:pt x="0" y="4791456"/>
                  </a:lnTo>
                  <a:lnTo>
                    <a:pt x="0" y="0"/>
                  </a:lnTo>
                  <a:close/>
                </a:path>
              </a:pathLst>
            </a:custGeom>
            <a:blipFill>
              <a:blip r:embed="rId6"/>
              <a:stretch>
                <a:fillRect l="0" t="0" r="0" b="-42334"/>
              </a:stretch>
            </a:blipFill>
          </p:spPr>
          <p:txBody>
            <a:bodyPr/>
            <a:p/>
          </p:txBody>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txBody>
            <a:bodyPr/>
            <a:p/>
          </p:txBody>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Roadmap</a:t>
              </a:r>
            </a:p>
          </p:txBody>
        </p:sp>
      </p:grpSp>
      <p:grpSp>
        <p:nvGrpSpPr>
          <p:cNvPr name="Group 13" id="13"/>
          <p:cNvGrpSpPr/>
          <p:nvPr/>
        </p:nvGrpSpPr>
        <p:grpSpPr>
          <a:xfrm rot="0">
            <a:off x="1128712" y="1762944"/>
            <a:ext cx="231505" cy="228600"/>
            <a:chOff x="0" y="0"/>
            <a:chExt cx="308674" cy="304800"/>
          </a:xfrm>
        </p:grpSpPr>
        <p:sp>
          <p:nvSpPr>
            <p:cNvPr name="Freeform 14" id="14"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txBody>
            <a:bodyPr/>
            <a:p/>
          </p:txBody>
        </p:sp>
      </p:grpSp>
      <p:sp>
        <p:nvSpPr>
          <p:cNvPr name="TextBox 15" id="15"/>
          <p:cNvSpPr txBox="true"/>
          <p:nvPr/>
        </p:nvSpPr>
        <p:spPr>
          <a:xfrm rot="0">
            <a:off x="1503093" y="1743894"/>
            <a:ext cx="1234440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Four-month plan aligned with the programme dates. Each step depends on passing the previous gate.</a:t>
            </a:r>
          </a:p>
        </p:txBody>
      </p:sp>
      <p:grpSp>
        <p:nvGrpSpPr>
          <p:cNvPr name="Group 16" id="16"/>
          <p:cNvGrpSpPr/>
          <p:nvPr/>
        </p:nvGrpSpPr>
        <p:grpSpPr>
          <a:xfrm rot="0">
            <a:off x="1128712" y="5568696"/>
            <a:ext cx="231505" cy="228600"/>
            <a:chOff x="0" y="0"/>
            <a:chExt cx="308674" cy="304800"/>
          </a:xfrm>
        </p:grpSpPr>
        <p:sp>
          <p:nvSpPr>
            <p:cNvPr name="Freeform 17" id="17"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9"/>
              <a:stretch>
                <a:fillRect l="0" t="0" r="-20" b="-1270"/>
              </a:stretch>
            </a:blipFill>
          </p:spPr>
          <p:txBody>
            <a:bodyPr/>
            <a:p/>
          </p:txBody>
        </p:sp>
      </p:grpSp>
      <p:sp>
        <p:nvSpPr>
          <p:cNvPr name="TextBox 18" id="18"/>
          <p:cNvSpPr txBox="true"/>
          <p:nvPr/>
        </p:nvSpPr>
        <p:spPr>
          <a:xfrm rot="0">
            <a:off x="1503093" y="553707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Build &amp; Bench (Months 1 - 2)</a:t>
            </a:r>
          </a:p>
        </p:txBody>
      </p:sp>
      <p:grpSp>
        <p:nvGrpSpPr>
          <p:cNvPr name="Group 19" id="19"/>
          <p:cNvGrpSpPr/>
          <p:nvPr/>
        </p:nvGrpSpPr>
        <p:grpSpPr>
          <a:xfrm rot="0">
            <a:off x="9672638" y="5568696"/>
            <a:ext cx="202930" cy="228600"/>
            <a:chOff x="0" y="0"/>
            <a:chExt cx="270574" cy="304800"/>
          </a:xfrm>
        </p:grpSpPr>
        <p:sp>
          <p:nvSpPr>
            <p:cNvPr name="Freeform 20" id="20" descr="image.png"/>
            <p:cNvSpPr/>
            <p:nvPr/>
          </p:nvSpPr>
          <p:spPr>
            <a:xfrm flipH="false" flipV="false" rot="0">
              <a:off x="0" y="0"/>
              <a:ext cx="270510" cy="304800"/>
            </a:xfrm>
            <a:custGeom>
              <a:avLst/>
              <a:gdLst/>
              <a:ahLst/>
              <a:cxnLst/>
              <a:rect r="r" b="b" t="t" l="l"/>
              <a:pathLst>
                <a:path h="304800" w="270510">
                  <a:moveTo>
                    <a:pt x="0" y="0"/>
                  </a:moveTo>
                  <a:lnTo>
                    <a:pt x="270510" y="0"/>
                  </a:lnTo>
                  <a:lnTo>
                    <a:pt x="270510" y="304800"/>
                  </a:lnTo>
                  <a:lnTo>
                    <a:pt x="0" y="304800"/>
                  </a:lnTo>
                  <a:lnTo>
                    <a:pt x="0" y="0"/>
                  </a:lnTo>
                  <a:close/>
                </a:path>
              </a:pathLst>
            </a:custGeom>
            <a:blipFill>
              <a:blip r:embed="rId10"/>
              <a:stretch>
                <a:fillRect l="0" t="0" r="-23" b="-604"/>
              </a:stretch>
            </a:blipFill>
          </p:spPr>
          <p:txBody>
            <a:bodyPr/>
            <a:p/>
          </p:txBody>
        </p:sp>
      </p:grpSp>
      <p:sp>
        <p:nvSpPr>
          <p:cNvPr name="TextBox 21" id="21"/>
          <p:cNvSpPr txBox="true"/>
          <p:nvPr/>
        </p:nvSpPr>
        <p:spPr>
          <a:xfrm rot="0">
            <a:off x="10018443" y="553707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Validate &amp; Demo (Months 3 - 4)</a:t>
            </a:r>
          </a:p>
        </p:txBody>
      </p:sp>
      <p:grpSp>
        <p:nvGrpSpPr>
          <p:cNvPr name="Group 22" id="22"/>
          <p:cNvGrpSpPr/>
          <p:nvPr/>
        </p:nvGrpSpPr>
        <p:grpSpPr>
          <a:xfrm rot="0">
            <a:off x="16642794" y="9421197"/>
            <a:ext cx="1645206" cy="865803"/>
            <a:chOff x="0" y="0"/>
            <a:chExt cx="2193608" cy="1154405"/>
          </a:xfrm>
        </p:grpSpPr>
        <p:sp>
          <p:nvSpPr>
            <p:cNvPr name="Freeform 23" id="23"/>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1"/>
              <a:stretch>
                <a:fillRect l="0" t="0" r="2" b="2"/>
              </a:stretch>
            </a:blipFill>
          </p:spPr>
          <p:txBody>
            <a:bodyPr/>
            <a:p/>
          </p:txBody>
        </p:sp>
      </p:grpSp>
      <p:grpSp>
        <p:nvGrpSpPr>
          <p:cNvPr name="Group 24" id="24"/>
          <p:cNvGrpSpPr/>
          <p:nvPr/>
        </p:nvGrpSpPr>
        <p:grpSpPr>
          <a:xfrm rot="0">
            <a:off x="0" y="9421197"/>
            <a:ext cx="2679421" cy="865803"/>
            <a:chOff x="0" y="0"/>
            <a:chExt cx="3572561" cy="1154405"/>
          </a:xfrm>
        </p:grpSpPr>
        <p:sp>
          <p:nvSpPr>
            <p:cNvPr name="Freeform 25" id="25"/>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2"/>
              <a:stretch>
                <a:fillRect l="-21110" t="-147255" r="-22761" b="-197973"/>
              </a:stretch>
            </a:blipFill>
          </p:spPr>
          <p:txBody>
            <a:bodyPr/>
            <a:p/>
          </p:txBody>
        </p:sp>
      </p:grpSp>
      <p:grpSp>
        <p:nvGrpSpPr>
          <p:cNvPr name="Group 26" id="26"/>
          <p:cNvGrpSpPr/>
          <p:nvPr/>
        </p:nvGrpSpPr>
        <p:grpSpPr>
          <a:xfrm rot="0">
            <a:off x="14744700" y="685800"/>
            <a:ext cx="2743200" cy="370332"/>
            <a:chOff x="0" y="0"/>
            <a:chExt cx="3657600" cy="493776"/>
          </a:xfrm>
        </p:grpSpPr>
        <p:sp>
          <p:nvSpPr>
            <p:cNvPr name="Freeform 27" id="27"/>
            <p:cNvSpPr/>
            <p:nvPr/>
          </p:nvSpPr>
          <p:spPr>
            <a:xfrm flipH="false" flipV="false" rot="0">
              <a:off x="0" y="0"/>
              <a:ext cx="3657600" cy="493776"/>
            </a:xfrm>
            <a:custGeom>
              <a:avLst/>
              <a:gdLst/>
              <a:ahLst/>
              <a:cxnLst/>
              <a:rect r="r" b="b" t="t" l="l"/>
              <a:pathLst>
                <a:path h="493776" w="3657600">
                  <a:moveTo>
                    <a:pt x="0" y="246888"/>
                  </a:moveTo>
                  <a:cubicBezTo>
                    <a:pt x="0" y="110490"/>
                    <a:pt x="110490" y="0"/>
                    <a:pt x="246888" y="0"/>
                  </a:cubicBezTo>
                  <a:lnTo>
                    <a:pt x="3410712" y="0"/>
                  </a:lnTo>
                  <a:cubicBezTo>
                    <a:pt x="3547110" y="0"/>
                    <a:pt x="3657600" y="110490"/>
                    <a:pt x="3657600" y="246888"/>
                  </a:cubicBezTo>
                  <a:cubicBezTo>
                    <a:pt x="3657600" y="383286"/>
                    <a:pt x="3547110" y="493776"/>
                    <a:pt x="3410712" y="493776"/>
                  </a:cubicBezTo>
                  <a:lnTo>
                    <a:pt x="246888" y="493776"/>
                  </a:lnTo>
                  <a:cubicBezTo>
                    <a:pt x="110490" y="493776"/>
                    <a:pt x="0" y="383286"/>
                    <a:pt x="0" y="246888"/>
                  </a:cubicBezTo>
                  <a:close/>
                </a:path>
              </a:pathLst>
            </a:custGeom>
            <a:solidFill>
              <a:srgbClr val="E2E8F0"/>
            </a:solidFill>
          </p:spPr>
          <p:txBody>
            <a:bodyPr/>
            <a:p/>
          </p:txBody>
        </p:sp>
        <p:sp>
          <p:nvSpPr>
            <p:cNvPr name="TextBox 28" id="28"/>
            <p:cNvSpPr txBox="true"/>
            <p:nvPr/>
          </p:nvSpPr>
          <p:spPr>
            <a:xfrm>
              <a:off x="0" y="0"/>
              <a:ext cx="3657600" cy="493776"/>
            </a:xfrm>
            <a:prstGeom prst="rect">
              <a:avLst/>
            </a:prstGeom>
          </p:spPr>
          <p:txBody>
            <a:bodyPr anchor="ctr" rtlCol="false" tIns="50800" lIns="50800" bIns="50800" rIns="50800"/>
            <a:lstStyle/>
            <a:p>
              <a:pPr algn="ctr">
                <a:lnSpc>
                  <a:spcPts val="1350"/>
                </a:lnSpc>
              </a:pPr>
              <a:r>
                <a:rPr lang="en-US" sz="1125" b="true">
                  <a:solidFill>
                    <a:srgbClr val="475569"/>
                  </a:solidFill>
                  <a:latin typeface="DM Sans Bold"/>
                  <a:ea typeface="DM Sans Bold"/>
                  <a:cs typeface="DM Sans Bold"/>
                  <a:sym typeface="DM Sans Bold"/>
                </a:rPr>
                <a:t>PLANNED WORK · GATED MILESTONES</a:t>
              </a:r>
            </a:p>
          </p:txBody>
        </p:sp>
      </p:grpSp>
      <p:grpSp>
        <p:nvGrpSpPr>
          <p:cNvPr name="Group 29" id="29"/>
          <p:cNvGrpSpPr/>
          <p:nvPr/>
        </p:nvGrpSpPr>
        <p:grpSpPr>
          <a:xfrm rot="0">
            <a:off x="1191768" y="2125980"/>
            <a:ext cx="15913608" cy="2811780"/>
            <a:chOff x="0" y="0"/>
            <a:chExt cx="21218144" cy="3749040"/>
          </a:xfrm>
        </p:grpSpPr>
        <p:sp>
          <p:nvSpPr>
            <p:cNvPr name="Freeform 30" id="30" descr="fig_roadmap.png"/>
            <p:cNvSpPr/>
            <p:nvPr/>
          </p:nvSpPr>
          <p:spPr>
            <a:xfrm flipH="false" flipV="false" rot="0">
              <a:off x="0" y="0"/>
              <a:ext cx="21218144" cy="3749040"/>
            </a:xfrm>
            <a:custGeom>
              <a:avLst/>
              <a:gdLst/>
              <a:ahLst/>
              <a:cxnLst/>
              <a:rect r="r" b="b" t="t" l="l"/>
              <a:pathLst>
                <a:path h="3749040" w="21218144">
                  <a:moveTo>
                    <a:pt x="0" y="0"/>
                  </a:moveTo>
                  <a:lnTo>
                    <a:pt x="21218144" y="0"/>
                  </a:lnTo>
                  <a:lnTo>
                    <a:pt x="21218144" y="3749040"/>
                  </a:lnTo>
                  <a:lnTo>
                    <a:pt x="0" y="3749040"/>
                  </a:lnTo>
                  <a:lnTo>
                    <a:pt x="0" y="0"/>
                  </a:lnTo>
                  <a:close/>
                </a:path>
              </a:pathLst>
            </a:custGeom>
            <a:blipFill>
              <a:blip r:embed="rId13"/>
              <a:stretch>
                <a:fillRect l="0" t="0" r="0" b="0"/>
              </a:stretch>
            </a:blipFill>
          </p:spPr>
          <p:txBody>
            <a:bodyPr/>
            <a:p/>
          </p:txBody>
        </p:sp>
      </p:grpSp>
      <p:sp>
        <p:nvSpPr>
          <p:cNvPr name="TextBox 31" id="31"/>
          <p:cNvSpPr txBox="true"/>
          <p:nvPr/>
        </p:nvSpPr>
        <p:spPr>
          <a:xfrm rot="0">
            <a:off x="1170432" y="6062091"/>
            <a:ext cx="7507224" cy="1093394"/>
          </a:xfrm>
          <a:prstGeom prst="rect">
            <a:avLst/>
          </a:prstGeom>
        </p:spPr>
        <p:txBody>
          <a:bodyPr anchor="t" rtlCol="false" tIns="0" lIns="0" bIns="0" rIns="0">
            <a:spAutoFit/>
          </a:bodyPr>
          <a:lstStyle/>
          <a:p>
            <a:pPr algn="l" marL="0" indent="0" lvl="0">
              <a:lnSpc>
                <a:spcPts val="2235"/>
              </a:lnSpc>
              <a:spcBef>
                <a:spcPct val="0"/>
              </a:spcBef>
            </a:pPr>
            <a:r>
              <a:rPr lang="en-US" sz="1725" strike="noStrike" u="none">
                <a:solidFill>
                  <a:srgbClr val="059669"/>
                </a:solidFill>
                <a:latin typeface="DM Sans"/>
                <a:ea typeface="DM Sans"/>
                <a:cs typeface="DM Sans"/>
                <a:sym typeface="DM Sans"/>
              </a:rPr>
              <a:t>▪  Nov:  Run E2 laser tests (G1), then build and bench-test the reader (G2).</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By 4 Dec:  If gates pass, complete the first dressing demo, prototype video and revised Stage 3 deck.</a:t>
            </a:r>
          </a:p>
        </p:txBody>
      </p:sp>
      <p:sp>
        <p:nvSpPr>
          <p:cNvPr name="TextBox 32" id="32"/>
          <p:cNvSpPr txBox="true"/>
          <p:nvPr/>
        </p:nvSpPr>
        <p:spPr>
          <a:xfrm rot="0">
            <a:off x="9715500" y="6062091"/>
            <a:ext cx="7507224" cy="1369619"/>
          </a:xfrm>
          <a:prstGeom prst="rect">
            <a:avLst/>
          </a:prstGeom>
        </p:spPr>
        <p:txBody>
          <a:bodyPr anchor="t" rtlCol="false" tIns="0" lIns="0" bIns="0" rIns="0">
            <a:spAutoFit/>
          </a:bodyPr>
          <a:lstStyle/>
          <a:p>
            <a:pPr algn="l" marL="0" indent="0" lvl="0">
              <a:lnSpc>
                <a:spcPts val="2235"/>
              </a:lnSpc>
              <a:spcBef>
                <a:spcPct val="0"/>
              </a:spcBef>
            </a:pPr>
            <a:r>
              <a:rPr lang="en-US" sz="1725" strike="noStrike" u="none">
                <a:solidFill>
                  <a:srgbClr val="059669"/>
                </a:solidFill>
                <a:latin typeface="DM Sans"/>
                <a:ea typeface="DM Sans"/>
                <a:cs typeface="DM Sans"/>
                <a:sym typeface="DM Sans"/>
              </a:rPr>
              <a:t>▪  Before 4 Dec:  Build strip version 0.2 and a printed clamp; run E4 wet tests (G3) if earlier gates pass.</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Jan:  Prepare for virtual jury interviews.</a:t>
            </a:r>
          </a:p>
          <a:p>
            <a:pPr algn="l" marL="0" indent="0" lvl="0">
              <a:lnSpc>
                <a:spcPts val="2235"/>
              </a:lnSpc>
              <a:spcBef>
                <a:spcPct val="0"/>
              </a:spcBef>
            </a:pPr>
            <a:r>
              <a:rPr lang="en-US" sz="1725" strike="noStrike" u="none">
                <a:solidFill>
                  <a:srgbClr val="059669"/>
                </a:solidFill>
                <a:latin typeface="DM Sans"/>
                <a:ea typeface="DM Sans"/>
                <a:cs typeface="DM Sans"/>
                <a:sym typeface="DM Sans"/>
              </a:rPr>
              <a:t>▪  If selected, Grand Finale at IIT Indore (26 Jan–1 Feb 2027):  live jury demo of the strip and reader on a dressing, showing OK → CHANGE.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800100" y="1434332"/>
            <a:ext cx="5352898" cy="3771900"/>
            <a:chOff x="0" y="0"/>
            <a:chExt cx="7137197" cy="5029200"/>
          </a:xfrm>
        </p:grpSpPr>
        <p:sp>
          <p:nvSpPr>
            <p:cNvPr name="Freeform 7" id="7" descr="image.png"/>
            <p:cNvSpPr/>
            <p:nvPr/>
          </p:nvSpPr>
          <p:spPr>
            <a:xfrm flipH="false" flipV="false" rot="0">
              <a:off x="0" y="0"/>
              <a:ext cx="7137146" cy="5029200"/>
            </a:xfrm>
            <a:custGeom>
              <a:avLst/>
              <a:gdLst/>
              <a:ahLst/>
              <a:cxnLst/>
              <a:rect r="r" b="b" t="t" l="l"/>
              <a:pathLst>
                <a:path h="5029200" w="7137146">
                  <a:moveTo>
                    <a:pt x="0" y="0"/>
                  </a:moveTo>
                  <a:lnTo>
                    <a:pt x="7137146" y="0"/>
                  </a:lnTo>
                  <a:lnTo>
                    <a:pt x="7137146" y="5029200"/>
                  </a:lnTo>
                  <a:lnTo>
                    <a:pt x="0" y="5029200"/>
                  </a:lnTo>
                  <a:lnTo>
                    <a:pt x="0" y="0"/>
                  </a:lnTo>
                  <a:close/>
                </a:path>
              </a:pathLst>
            </a:custGeom>
            <a:blipFill>
              <a:blip r:embed="rId5"/>
              <a:stretch>
                <a:fillRect l="0" t="0" r="0" b="-98302"/>
              </a:stretch>
            </a:blipFill>
          </p:spPr>
          <p:txBody>
            <a:bodyPr/>
            <a:p/>
          </p:txBody>
        </p:sp>
      </p:grpSp>
      <p:grpSp>
        <p:nvGrpSpPr>
          <p:cNvPr name="Group 8" id="8"/>
          <p:cNvGrpSpPr/>
          <p:nvPr/>
        </p:nvGrpSpPr>
        <p:grpSpPr>
          <a:xfrm rot="0">
            <a:off x="6467323" y="1434332"/>
            <a:ext cx="5353126" cy="3771900"/>
            <a:chOff x="0" y="0"/>
            <a:chExt cx="7137502" cy="5029200"/>
          </a:xfrm>
        </p:grpSpPr>
        <p:sp>
          <p:nvSpPr>
            <p:cNvPr name="Freeform 9" id="9" descr="image.png"/>
            <p:cNvSpPr/>
            <p:nvPr/>
          </p:nvSpPr>
          <p:spPr>
            <a:xfrm flipH="false" flipV="false" rot="0">
              <a:off x="0" y="0"/>
              <a:ext cx="7137527" cy="5029200"/>
            </a:xfrm>
            <a:custGeom>
              <a:avLst/>
              <a:gdLst/>
              <a:ahLst/>
              <a:cxnLst/>
              <a:rect r="r" b="b" t="t" l="l"/>
              <a:pathLst>
                <a:path h="5029200" w="7137527">
                  <a:moveTo>
                    <a:pt x="0" y="0"/>
                  </a:moveTo>
                  <a:lnTo>
                    <a:pt x="7137527" y="0"/>
                  </a:lnTo>
                  <a:lnTo>
                    <a:pt x="7137527" y="5029200"/>
                  </a:lnTo>
                  <a:lnTo>
                    <a:pt x="0" y="5029200"/>
                  </a:lnTo>
                  <a:lnTo>
                    <a:pt x="0" y="0"/>
                  </a:lnTo>
                  <a:close/>
                </a:path>
              </a:pathLst>
            </a:custGeom>
            <a:blipFill>
              <a:blip r:embed="rId6"/>
              <a:stretch>
                <a:fillRect l="0" t="0" r="0" b="-97783"/>
              </a:stretch>
            </a:blipFill>
          </p:spPr>
          <p:txBody>
            <a:bodyPr/>
            <a:p/>
          </p:txBody>
        </p:sp>
      </p:grpSp>
      <p:grpSp>
        <p:nvGrpSpPr>
          <p:cNvPr name="Group 10" id="10"/>
          <p:cNvGrpSpPr/>
          <p:nvPr/>
        </p:nvGrpSpPr>
        <p:grpSpPr>
          <a:xfrm rot="0">
            <a:off x="12134774" y="1434332"/>
            <a:ext cx="5352898" cy="3771900"/>
            <a:chOff x="0" y="0"/>
            <a:chExt cx="7137197" cy="5029200"/>
          </a:xfrm>
        </p:grpSpPr>
        <p:sp>
          <p:nvSpPr>
            <p:cNvPr name="Freeform 11" id="11" descr="image.png"/>
            <p:cNvSpPr/>
            <p:nvPr/>
          </p:nvSpPr>
          <p:spPr>
            <a:xfrm flipH="false" flipV="false" rot="0">
              <a:off x="0" y="0"/>
              <a:ext cx="7137146" cy="5029200"/>
            </a:xfrm>
            <a:custGeom>
              <a:avLst/>
              <a:gdLst/>
              <a:ahLst/>
              <a:cxnLst/>
              <a:rect r="r" b="b" t="t" l="l"/>
              <a:pathLst>
                <a:path h="5029200" w="7137146">
                  <a:moveTo>
                    <a:pt x="0" y="0"/>
                  </a:moveTo>
                  <a:lnTo>
                    <a:pt x="7137146" y="0"/>
                  </a:lnTo>
                  <a:lnTo>
                    <a:pt x="7137146" y="5029200"/>
                  </a:lnTo>
                  <a:lnTo>
                    <a:pt x="0" y="5029200"/>
                  </a:lnTo>
                  <a:lnTo>
                    <a:pt x="0" y="0"/>
                  </a:lnTo>
                  <a:close/>
                </a:path>
              </a:pathLst>
            </a:custGeom>
            <a:blipFill>
              <a:blip r:embed="rId7"/>
              <a:stretch>
                <a:fillRect l="0" t="0" r="0" b="-98302"/>
              </a:stretch>
            </a:blipFill>
          </p:spPr>
          <p:txBody>
            <a:bodyPr/>
            <a:p/>
          </p:txBody>
        </p:sp>
      </p:grpSp>
      <p:grpSp>
        <p:nvGrpSpPr>
          <p:cNvPr name="Group 12" id="12"/>
          <p:cNvGrpSpPr/>
          <p:nvPr/>
        </p:nvGrpSpPr>
        <p:grpSpPr>
          <a:xfrm rot="0">
            <a:off x="800100" y="657225"/>
            <a:ext cx="12893040" cy="462782"/>
            <a:chOff x="0" y="0"/>
            <a:chExt cx="17190720" cy="617042"/>
          </a:xfrm>
        </p:grpSpPr>
        <p:sp>
          <p:nvSpPr>
            <p:cNvPr name="Freeform 13" id="13"/>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8">
                <a:alphaModFix amt="0"/>
              </a:blip>
              <a:stretch>
                <a:fillRect l="0" t="-492852" r="0" b="-492852"/>
              </a:stretch>
            </a:blipFill>
          </p:spPr>
          <p:txBody>
            <a:bodyPr/>
            <a:p/>
          </p:txBody>
        </p:sp>
        <p:sp>
          <p:nvSpPr>
            <p:cNvPr name="TextBox 14" id="14"/>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Technical Challenges &amp; Risks</a:t>
              </a:r>
            </a:p>
          </p:txBody>
        </p:sp>
      </p:grpSp>
      <p:sp>
        <p:nvSpPr>
          <p:cNvPr name="TextBox 15" id="15"/>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We also corrected two drawing issues: STEP files now export in millimetres, and a 0.125 mm dimension is shown correctly.</a:t>
            </a:r>
          </a:p>
        </p:txBody>
      </p:sp>
      <p:grpSp>
        <p:nvGrpSpPr>
          <p:cNvPr name="Group 16" id="16"/>
          <p:cNvGrpSpPr/>
          <p:nvPr/>
        </p:nvGrpSpPr>
        <p:grpSpPr>
          <a:xfrm rot="0">
            <a:off x="1128712" y="1762944"/>
            <a:ext cx="288655" cy="228600"/>
            <a:chOff x="0" y="0"/>
            <a:chExt cx="384874" cy="304800"/>
          </a:xfrm>
        </p:grpSpPr>
        <p:sp>
          <p:nvSpPr>
            <p:cNvPr name="Freeform 17" id="17" descr="image.png"/>
            <p:cNvSpPr/>
            <p:nvPr/>
          </p:nvSpPr>
          <p:spPr>
            <a:xfrm flipH="false" flipV="false" rot="0">
              <a:off x="0" y="0"/>
              <a:ext cx="384810" cy="304800"/>
            </a:xfrm>
            <a:custGeom>
              <a:avLst/>
              <a:gdLst/>
              <a:ahLst/>
              <a:cxnLst/>
              <a:rect r="r" b="b" t="t" l="l"/>
              <a:pathLst>
                <a:path h="304800" w="384810">
                  <a:moveTo>
                    <a:pt x="0" y="0"/>
                  </a:moveTo>
                  <a:lnTo>
                    <a:pt x="384810" y="0"/>
                  </a:lnTo>
                  <a:lnTo>
                    <a:pt x="384810" y="304800"/>
                  </a:lnTo>
                  <a:lnTo>
                    <a:pt x="0" y="304800"/>
                  </a:lnTo>
                  <a:lnTo>
                    <a:pt x="0" y="0"/>
                  </a:lnTo>
                  <a:close/>
                </a:path>
              </a:pathLst>
            </a:custGeom>
            <a:blipFill>
              <a:blip r:embed="rId9"/>
              <a:stretch>
                <a:fillRect l="0" t="0" r="-16" b="-2216"/>
              </a:stretch>
            </a:blipFill>
          </p:spPr>
          <p:txBody>
            <a:bodyPr/>
            <a:p/>
          </p:txBody>
        </p:sp>
      </p:grpSp>
      <p:sp>
        <p:nvSpPr>
          <p:cNvPr name="TextBox 18" id="18"/>
          <p:cNvSpPr txBox="true"/>
          <p:nvPr/>
        </p:nvSpPr>
        <p:spPr>
          <a:xfrm rot="0">
            <a:off x="1560243"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Geometry: seal tape under the clamp</a:t>
            </a:r>
          </a:p>
        </p:txBody>
      </p:sp>
      <p:grpSp>
        <p:nvGrpSpPr>
          <p:cNvPr name="Group 19" id="19"/>
          <p:cNvGrpSpPr/>
          <p:nvPr/>
        </p:nvGrpSpPr>
        <p:grpSpPr>
          <a:xfrm rot="0">
            <a:off x="6795935" y="1762944"/>
            <a:ext cx="260080" cy="228600"/>
            <a:chOff x="0" y="0"/>
            <a:chExt cx="346774" cy="304800"/>
          </a:xfrm>
        </p:grpSpPr>
        <p:sp>
          <p:nvSpPr>
            <p:cNvPr name="Freeform 20" id="20"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10"/>
              <a:stretch>
                <a:fillRect l="0" t="0" r="-18" b="-1791"/>
              </a:stretch>
            </a:blipFill>
          </p:spPr>
          <p:txBody>
            <a:bodyPr/>
            <a:p/>
          </p:txBody>
        </p:sp>
      </p:grpSp>
      <p:sp>
        <p:nvSpPr>
          <p:cNvPr name="TextBox 21" id="21"/>
          <p:cNvSpPr txBox="true"/>
          <p:nvPr/>
        </p:nvSpPr>
        <p:spPr>
          <a:xfrm rot="0">
            <a:off x="7198890"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Circuit: a broken lead can look dry</a:t>
            </a:r>
          </a:p>
        </p:txBody>
      </p:sp>
      <p:grpSp>
        <p:nvGrpSpPr>
          <p:cNvPr name="Group 22" id="22"/>
          <p:cNvGrpSpPr/>
          <p:nvPr/>
        </p:nvGrpSpPr>
        <p:grpSpPr>
          <a:xfrm rot="0">
            <a:off x="12463386" y="1762944"/>
            <a:ext cx="231505" cy="228600"/>
            <a:chOff x="0" y="0"/>
            <a:chExt cx="308674" cy="304800"/>
          </a:xfrm>
        </p:grpSpPr>
        <p:sp>
          <p:nvSpPr>
            <p:cNvPr name="Freeform 23" id="23"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txBody>
            <a:bodyPr/>
            <a:p/>
          </p:txBody>
        </p:sp>
      </p:grpSp>
      <p:sp>
        <p:nvSpPr>
          <p:cNvPr name="TextBox 24" id="24"/>
          <p:cNvSpPr txBox="true"/>
          <p:nvPr/>
        </p:nvSpPr>
        <p:spPr>
          <a:xfrm rot="0">
            <a:off x="12837766" y="1743894"/>
            <a:ext cx="4594860" cy="238125"/>
          </a:xfrm>
          <a:prstGeom prst="rect">
            <a:avLst/>
          </a:prstGeom>
        </p:spPr>
        <p:txBody>
          <a:bodyPr anchor="t" rtlCol="false" tIns="0" lIns="0" bIns="0" rIns="0">
            <a:spAutoFit/>
          </a:bodyPr>
          <a:lstStyle/>
          <a:p>
            <a:pPr algn="l" marL="0" indent="0" lvl="0">
              <a:lnSpc>
                <a:spcPts val="1980"/>
              </a:lnSpc>
              <a:spcBef>
                <a:spcPct val="0"/>
              </a:spcBef>
            </a:pPr>
            <a:r>
              <a:rPr lang="en-US" b="true" sz="1650" strike="noStrike" u="none">
                <a:solidFill>
                  <a:srgbClr val="0F172A"/>
                </a:solidFill>
                <a:latin typeface="DM Sans Bold"/>
                <a:ea typeface="DM Sans Bold"/>
                <a:cs typeface="DM Sans Bold"/>
                <a:sym typeface="DM Sans Bold"/>
              </a:rPr>
              <a:t>Process: low-PWM tube current stability</a:t>
            </a:r>
          </a:p>
        </p:txBody>
      </p:sp>
      <p:grpSp>
        <p:nvGrpSpPr>
          <p:cNvPr name="Group 25" id="25"/>
          <p:cNvGrpSpPr/>
          <p:nvPr/>
        </p:nvGrpSpPr>
        <p:grpSpPr>
          <a:xfrm rot="0">
            <a:off x="16642794" y="9421197"/>
            <a:ext cx="1645206" cy="865803"/>
            <a:chOff x="0" y="0"/>
            <a:chExt cx="2193608" cy="1154405"/>
          </a:xfrm>
        </p:grpSpPr>
        <p:sp>
          <p:nvSpPr>
            <p:cNvPr name="Freeform 26" id="26"/>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txBody>
            <a:bodyPr/>
            <a:p/>
          </p:txBody>
        </p:sp>
      </p:grpSp>
      <p:grpSp>
        <p:nvGrpSpPr>
          <p:cNvPr name="Group 27" id="27"/>
          <p:cNvGrpSpPr/>
          <p:nvPr/>
        </p:nvGrpSpPr>
        <p:grpSpPr>
          <a:xfrm rot="0">
            <a:off x="0" y="9421197"/>
            <a:ext cx="2679421" cy="865803"/>
            <a:chOff x="0" y="0"/>
            <a:chExt cx="3572561" cy="1154405"/>
          </a:xfrm>
        </p:grpSpPr>
        <p:sp>
          <p:nvSpPr>
            <p:cNvPr name="Freeform 28" id="28"/>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txBody>
            <a:bodyPr/>
            <a:p/>
          </p:txBody>
        </p:sp>
      </p:grpSp>
      <p:grpSp>
        <p:nvGrpSpPr>
          <p:cNvPr name="Group 29" id="29"/>
          <p:cNvGrpSpPr/>
          <p:nvPr/>
        </p:nvGrpSpPr>
        <p:grpSpPr>
          <a:xfrm rot="0">
            <a:off x="14371625" y="685800"/>
            <a:ext cx="3116275" cy="370332"/>
            <a:chOff x="0" y="0"/>
            <a:chExt cx="4155034" cy="493776"/>
          </a:xfrm>
        </p:grpSpPr>
        <p:sp>
          <p:nvSpPr>
            <p:cNvPr name="Freeform 30" id="30"/>
            <p:cNvSpPr/>
            <p:nvPr/>
          </p:nvSpPr>
          <p:spPr>
            <a:xfrm flipH="false" flipV="false" rot="0">
              <a:off x="0" y="0"/>
              <a:ext cx="4155059" cy="493776"/>
            </a:xfrm>
            <a:custGeom>
              <a:avLst/>
              <a:gdLst/>
              <a:ahLst/>
              <a:cxnLst/>
              <a:rect r="r" b="b" t="t" l="l"/>
              <a:pathLst>
                <a:path h="493776" w="4155059">
                  <a:moveTo>
                    <a:pt x="0" y="246888"/>
                  </a:moveTo>
                  <a:cubicBezTo>
                    <a:pt x="0" y="110490"/>
                    <a:pt x="110490" y="0"/>
                    <a:pt x="246888" y="0"/>
                  </a:cubicBezTo>
                  <a:lnTo>
                    <a:pt x="3908171" y="0"/>
                  </a:lnTo>
                  <a:cubicBezTo>
                    <a:pt x="4044569" y="0"/>
                    <a:pt x="4155059" y="110490"/>
                    <a:pt x="4155059" y="246888"/>
                  </a:cubicBezTo>
                  <a:cubicBezTo>
                    <a:pt x="4155059" y="383286"/>
                    <a:pt x="4044569" y="493776"/>
                    <a:pt x="3908171" y="493776"/>
                  </a:cubicBezTo>
                  <a:lnTo>
                    <a:pt x="246888" y="493776"/>
                  </a:lnTo>
                  <a:cubicBezTo>
                    <a:pt x="110490" y="493776"/>
                    <a:pt x="0" y="383286"/>
                    <a:pt x="0" y="246888"/>
                  </a:cubicBezTo>
                  <a:close/>
                </a:path>
              </a:pathLst>
            </a:custGeom>
            <a:solidFill>
              <a:srgbClr val="E0F2FE"/>
            </a:solidFill>
          </p:spPr>
          <p:txBody>
            <a:bodyPr/>
            <a:p/>
          </p:txBody>
        </p:sp>
        <p:sp>
          <p:nvSpPr>
            <p:cNvPr name="TextBox 31" id="31"/>
            <p:cNvSpPr txBox="true"/>
            <p:nvPr/>
          </p:nvSpPr>
          <p:spPr>
            <a:xfrm>
              <a:off x="0" y="0"/>
              <a:ext cx="4155034"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ISSUES FOUND DURING OUR CHECKS</a:t>
              </a:r>
            </a:p>
          </p:txBody>
        </p:sp>
      </p:grpSp>
      <p:sp>
        <p:nvSpPr>
          <p:cNvPr name="TextBox 32" id="32"/>
          <p:cNvSpPr txBox="true"/>
          <p:nvPr/>
        </p:nvSpPr>
        <p:spPr>
          <a:xfrm rot="0">
            <a:off x="1143000" y="2276475"/>
            <a:ext cx="4695444" cy="15896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Found: </a:t>
            </a:r>
            <a:r>
              <a:rPr lang="en-US" sz="1650" b="true">
                <a:solidFill>
                  <a:srgbClr val="334155"/>
                </a:solidFill>
                <a:latin typeface="DM Sans Bold"/>
                <a:ea typeface="DM Sans Bold"/>
                <a:cs typeface="DM Sans Bold"/>
                <a:sym typeface="DM Sans Bold"/>
              </a:rPr>
              <a:t>We found the seal tape overlapped the clamp by 9.0 mm³.</a:t>
            </a:r>
          </a:p>
          <a:p>
            <a:pPr algn="l">
              <a:lnSpc>
                <a:spcPts val="2138"/>
              </a:lnSpc>
            </a:pPr>
            <a:r>
              <a:rPr lang="en-US" sz="1650" b="true">
                <a:solidFill>
                  <a:srgbClr val="0F172A"/>
                </a:solidFill>
                <a:latin typeface="DM Sans Bold"/>
                <a:ea typeface="DM Sans Bold"/>
                <a:cs typeface="DM Sans Bold"/>
                <a:sym typeface="DM Sans Bold"/>
              </a:rPr>
              <a:t>Impact: </a:t>
            </a:r>
            <a:r>
              <a:rPr lang="en-US" sz="1650" b="true">
                <a:solidFill>
                  <a:srgbClr val="334155"/>
                </a:solidFill>
                <a:latin typeface="DM Sans Bold"/>
                <a:ea typeface="DM Sans Bold"/>
                <a:cs typeface="DM Sans Bold"/>
                <a:sym typeface="DM Sans Bold"/>
              </a:rPr>
              <a:t>This could lift the strip off the contact pins.</a:t>
            </a:r>
          </a:p>
          <a:p>
            <a:pPr algn="l">
              <a:lnSpc>
                <a:spcPts val="2138"/>
              </a:lnSpc>
            </a:pPr>
            <a:r>
              <a:rPr lang="en-US" sz="1650" b="true">
                <a:solidFill>
                  <a:srgbClr val="0F172A"/>
                </a:solidFill>
                <a:latin typeface="DM Sans Bold"/>
                <a:ea typeface="DM Sans Bold"/>
                <a:cs typeface="DM Sans Bold"/>
                <a:sym typeface="DM Sans Bold"/>
              </a:rPr>
              <a:t>How: </a:t>
            </a:r>
            <a:r>
              <a:rPr lang="en-US" sz="1650" b="true">
                <a:solidFill>
                  <a:srgbClr val="334155"/>
                </a:solidFill>
                <a:latin typeface="DM Sans Bold"/>
                <a:ea typeface="DM Sans Bold"/>
                <a:cs typeface="DM Sans Bold"/>
                <a:sym typeface="DM Sans Bold"/>
              </a:rPr>
              <a:t>We found it with an automated CAD clash check.</a:t>
            </a:r>
          </a:p>
        </p:txBody>
      </p:sp>
      <p:sp>
        <p:nvSpPr>
          <p:cNvPr name="TextBox 33" id="33"/>
          <p:cNvSpPr txBox="true"/>
          <p:nvPr/>
        </p:nvSpPr>
        <p:spPr>
          <a:xfrm rot="0">
            <a:off x="6807708" y="2276475"/>
            <a:ext cx="4695444" cy="13229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Found: </a:t>
            </a:r>
            <a:r>
              <a:rPr lang="en-US" sz="1650" b="true">
                <a:solidFill>
                  <a:srgbClr val="334155"/>
                </a:solidFill>
                <a:latin typeface="DM Sans Bold"/>
                <a:ea typeface="DM Sans Bold"/>
                <a:cs typeface="DM Sans Bold"/>
                <a:sym typeface="DM Sans Bold"/>
              </a:rPr>
              <a:t>A cracked sensing lead could make the reader report “dry”.</a:t>
            </a:r>
          </a:p>
          <a:p>
            <a:pPr algn="l">
              <a:lnSpc>
                <a:spcPts val="2138"/>
              </a:lnSpc>
            </a:pPr>
            <a:r>
              <a:rPr lang="en-US" sz="1650" b="true">
                <a:solidFill>
                  <a:srgbClr val="0F172A"/>
                </a:solidFill>
                <a:latin typeface="DM Sans Bold"/>
                <a:ea typeface="DM Sans Bold"/>
                <a:cs typeface="DM Sans Bold"/>
                <a:sym typeface="DM Sans Bold"/>
              </a:rPr>
              <a:t>Impact: </a:t>
            </a:r>
            <a:r>
              <a:rPr lang="en-US" sz="1650" b="true">
                <a:solidFill>
                  <a:srgbClr val="334155"/>
                </a:solidFill>
                <a:latin typeface="DM Sans Bold"/>
                <a:ea typeface="DM Sans Bold"/>
                <a:cs typeface="DM Sans Bold"/>
                <a:sym typeface="DM Sans Bold"/>
              </a:rPr>
              <a:t>The CHANGE status might never appear, so there would be no alert.</a:t>
            </a:r>
          </a:p>
          <a:p>
            <a:pPr algn="l">
              <a:lnSpc>
                <a:spcPts val="2138"/>
              </a:lnSpc>
            </a:pPr>
            <a:r>
              <a:rPr lang="en-US" sz="1650" b="true">
                <a:solidFill>
                  <a:srgbClr val="0F172A"/>
                </a:solidFill>
                <a:latin typeface="DM Sans Bold"/>
                <a:ea typeface="DM Sans Bold"/>
                <a:cs typeface="DM Sans Bold"/>
                <a:sym typeface="DM Sans Bold"/>
              </a:rPr>
              <a:t>How: </a:t>
            </a:r>
            <a:r>
              <a:rPr lang="en-US" sz="1650" b="true">
                <a:solidFill>
                  <a:srgbClr val="334155"/>
                </a:solidFill>
                <a:latin typeface="DM Sans Bold"/>
                <a:ea typeface="DM Sans Bold"/>
                <a:cs typeface="DM Sans Bold"/>
                <a:sym typeface="DM Sans Bold"/>
              </a:rPr>
              <a:t>The FMEA ranked this risk at 224.</a:t>
            </a:r>
          </a:p>
        </p:txBody>
      </p:sp>
      <p:sp>
        <p:nvSpPr>
          <p:cNvPr name="TextBox 34" id="34"/>
          <p:cNvSpPr txBox="true"/>
          <p:nvPr/>
        </p:nvSpPr>
        <p:spPr>
          <a:xfrm rot="0">
            <a:off x="12486132" y="2276475"/>
            <a:ext cx="4695444" cy="2389708"/>
          </a:xfrm>
          <a:prstGeom prst="rect">
            <a:avLst/>
          </a:prstGeom>
        </p:spPr>
        <p:txBody>
          <a:bodyPr anchor="t" rtlCol="false" tIns="0" lIns="0" bIns="0" rIns="0">
            <a:spAutoFit/>
          </a:bodyPr>
          <a:lstStyle/>
          <a:p>
            <a:pPr algn="l" marL="0" indent="0" lvl="0">
              <a:lnSpc>
                <a:spcPts val="2138"/>
              </a:lnSpc>
              <a:spcBef>
                <a:spcPct val="0"/>
              </a:spcBef>
            </a:pPr>
            <a:r>
              <a:rPr lang="en-US" b="true" sz="1650" strike="noStrike" u="none">
                <a:solidFill>
                  <a:srgbClr val="0F172A"/>
                </a:solidFill>
                <a:latin typeface="DM Sans Bold"/>
                <a:ea typeface="DM Sans Bold"/>
                <a:cs typeface="DM Sans Bold"/>
                <a:sym typeface="DM Sans Bold"/>
              </a:rPr>
              <a:t>Found: The machine’s “12” setting is likely a PWM percentage, not a current measurement. Laser output can be unstable at low power [8].</a:t>
            </a:r>
          </a:p>
          <a:p>
            <a:pPr algn="l" marL="0" indent="0" lvl="0">
              <a:lnSpc>
                <a:spcPts val="2138"/>
              </a:lnSpc>
              <a:spcBef>
                <a:spcPct val="0"/>
              </a:spcBef>
            </a:pPr>
            <a:r>
              <a:rPr lang="en-US" b="true" sz="1650" strike="noStrike" u="none">
                <a:solidFill>
                  <a:srgbClr val="0F172A"/>
                </a:solidFill>
                <a:latin typeface="DM Sans Bold"/>
                <a:ea typeface="DM Sans Bold"/>
                <a:cs typeface="DM Sans Bold"/>
                <a:sym typeface="DM Sans Bold"/>
              </a:rPr>
              <a:t>Impact: trace widths are held at a conservative 1.0 mm until E2 calibrates the laser setting (and the tube current, if a meter is available).</a:t>
            </a:r>
          </a:p>
          <a:p>
            <a:pPr algn="l" marL="0" indent="0" lvl="0">
              <a:lnSpc>
                <a:spcPts val="2138"/>
              </a:lnSpc>
              <a:spcBef>
                <a:spcPct val="0"/>
              </a:spcBef>
            </a:pPr>
            <a:r>
              <a:rPr lang="en-US" b="true" sz="1650" strike="noStrike" u="none">
                <a:solidFill>
                  <a:srgbClr val="0F172A"/>
                </a:solidFill>
                <a:latin typeface="DM Sans Bold"/>
                <a:ea typeface="DM Sans Bold"/>
                <a:cs typeface="DM Sans Bold"/>
                <a:sym typeface="DM Sans Bold"/>
              </a:rPr>
              <a:t>How: We found the uncertainty while checking the LaserCAD configuration.</a:t>
            </a:r>
          </a:p>
        </p:txBody>
      </p:sp>
      <p:grpSp>
        <p:nvGrpSpPr>
          <p:cNvPr name="Group 35" id="35"/>
          <p:cNvGrpSpPr/>
          <p:nvPr/>
        </p:nvGrpSpPr>
        <p:grpSpPr>
          <a:xfrm rot="0">
            <a:off x="850392" y="5801354"/>
            <a:ext cx="16596360" cy="2250462"/>
            <a:chOff x="0" y="0"/>
            <a:chExt cx="22128480" cy="3000616"/>
          </a:xfrm>
        </p:grpSpPr>
        <p:sp>
          <p:nvSpPr>
            <p:cNvPr name="Freeform 36" id="36" descr="fig_challenges.png"/>
            <p:cNvSpPr/>
            <p:nvPr/>
          </p:nvSpPr>
          <p:spPr>
            <a:xfrm flipH="false" flipV="false" rot="0">
              <a:off x="0" y="0"/>
              <a:ext cx="22128480" cy="3000629"/>
            </a:xfrm>
            <a:custGeom>
              <a:avLst/>
              <a:gdLst/>
              <a:ahLst/>
              <a:cxnLst/>
              <a:rect r="r" b="b" t="t" l="l"/>
              <a:pathLst>
                <a:path h="3000629" w="22128480">
                  <a:moveTo>
                    <a:pt x="0" y="0"/>
                  </a:moveTo>
                  <a:lnTo>
                    <a:pt x="22128480" y="0"/>
                  </a:lnTo>
                  <a:lnTo>
                    <a:pt x="22128480" y="3000629"/>
                  </a:lnTo>
                  <a:lnTo>
                    <a:pt x="0" y="3000629"/>
                  </a:lnTo>
                  <a:lnTo>
                    <a:pt x="0" y="0"/>
                  </a:lnTo>
                  <a:close/>
                </a:path>
              </a:pathLst>
            </a:custGeom>
            <a:blipFill>
              <a:blip r:embed="rId14"/>
              <a:stretch>
                <a:fillRect l="0" t="0" r="0" b="0"/>
              </a:stretch>
            </a:blipFill>
          </p:spPr>
          <p:txBody>
            <a:body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txBody>
            <a:bodyPr/>
            <a:p/>
          </p:txBody>
        </p:sp>
      </p:grpSp>
      <p:grpSp>
        <p:nvGrpSpPr>
          <p:cNvPr name="Group 6" id="6"/>
          <p:cNvGrpSpPr/>
          <p:nvPr/>
        </p:nvGrpSpPr>
        <p:grpSpPr>
          <a:xfrm rot="0">
            <a:off x="800100" y="1434332"/>
            <a:ext cx="5352898" cy="3360420"/>
            <a:chOff x="0" y="0"/>
            <a:chExt cx="7137197" cy="4480560"/>
          </a:xfrm>
        </p:grpSpPr>
        <p:sp>
          <p:nvSpPr>
            <p:cNvPr name="Freeform 7" id="7" descr="image.png"/>
            <p:cNvSpPr/>
            <p:nvPr/>
          </p:nvSpPr>
          <p:spPr>
            <a:xfrm flipH="false" flipV="false" rot="0">
              <a:off x="0" y="0"/>
              <a:ext cx="7137146" cy="4480560"/>
            </a:xfrm>
            <a:custGeom>
              <a:avLst/>
              <a:gdLst/>
              <a:ahLst/>
              <a:cxnLst/>
              <a:rect r="r" b="b" t="t" l="l"/>
              <a:pathLst>
                <a:path h="4480560" w="7137146">
                  <a:moveTo>
                    <a:pt x="0" y="0"/>
                  </a:moveTo>
                  <a:lnTo>
                    <a:pt x="7137146" y="0"/>
                  </a:lnTo>
                  <a:lnTo>
                    <a:pt x="7137146" y="4480560"/>
                  </a:lnTo>
                  <a:lnTo>
                    <a:pt x="0" y="4480560"/>
                  </a:lnTo>
                  <a:lnTo>
                    <a:pt x="0" y="0"/>
                  </a:lnTo>
                  <a:close/>
                </a:path>
              </a:pathLst>
            </a:custGeom>
            <a:blipFill>
              <a:blip r:embed="rId5"/>
              <a:stretch>
                <a:fillRect l="0" t="0" r="0" b="-122584"/>
              </a:stretch>
            </a:blipFill>
          </p:spPr>
          <p:txBody>
            <a:bodyPr/>
            <a:p/>
          </p:txBody>
        </p:sp>
      </p:grpSp>
      <p:grpSp>
        <p:nvGrpSpPr>
          <p:cNvPr name="Group 8" id="8"/>
          <p:cNvGrpSpPr/>
          <p:nvPr/>
        </p:nvGrpSpPr>
        <p:grpSpPr>
          <a:xfrm rot="0">
            <a:off x="6467323" y="1434332"/>
            <a:ext cx="5353126" cy="3360420"/>
            <a:chOff x="0" y="0"/>
            <a:chExt cx="7137502" cy="4480560"/>
          </a:xfrm>
        </p:grpSpPr>
        <p:sp>
          <p:nvSpPr>
            <p:cNvPr name="Freeform 9" id="9" descr="image.png"/>
            <p:cNvSpPr/>
            <p:nvPr/>
          </p:nvSpPr>
          <p:spPr>
            <a:xfrm flipH="false" flipV="false" rot="0">
              <a:off x="0" y="0"/>
              <a:ext cx="7137527" cy="4480560"/>
            </a:xfrm>
            <a:custGeom>
              <a:avLst/>
              <a:gdLst/>
              <a:ahLst/>
              <a:cxnLst/>
              <a:rect r="r" b="b" t="t" l="l"/>
              <a:pathLst>
                <a:path h="4480560" w="7137527">
                  <a:moveTo>
                    <a:pt x="0" y="0"/>
                  </a:moveTo>
                  <a:lnTo>
                    <a:pt x="7137527" y="0"/>
                  </a:lnTo>
                  <a:lnTo>
                    <a:pt x="7137527" y="4480560"/>
                  </a:lnTo>
                  <a:lnTo>
                    <a:pt x="0" y="4480560"/>
                  </a:lnTo>
                  <a:lnTo>
                    <a:pt x="0" y="0"/>
                  </a:lnTo>
                  <a:close/>
                </a:path>
              </a:pathLst>
            </a:custGeom>
            <a:blipFill>
              <a:blip r:embed="rId6"/>
              <a:stretch>
                <a:fillRect l="0" t="0" r="0" b="-122002"/>
              </a:stretch>
            </a:blipFill>
          </p:spPr>
          <p:txBody>
            <a:bodyPr/>
            <a:p/>
          </p:txBody>
        </p:sp>
      </p:grpSp>
      <p:grpSp>
        <p:nvGrpSpPr>
          <p:cNvPr name="Group 10" id="10"/>
          <p:cNvGrpSpPr/>
          <p:nvPr/>
        </p:nvGrpSpPr>
        <p:grpSpPr>
          <a:xfrm rot="0">
            <a:off x="12134774" y="1434332"/>
            <a:ext cx="5352898" cy="3360420"/>
            <a:chOff x="0" y="0"/>
            <a:chExt cx="7137197" cy="4480560"/>
          </a:xfrm>
        </p:grpSpPr>
        <p:sp>
          <p:nvSpPr>
            <p:cNvPr name="Freeform 11" id="11" descr="image.png"/>
            <p:cNvSpPr/>
            <p:nvPr/>
          </p:nvSpPr>
          <p:spPr>
            <a:xfrm flipH="false" flipV="false" rot="0">
              <a:off x="0" y="0"/>
              <a:ext cx="7137146" cy="4480560"/>
            </a:xfrm>
            <a:custGeom>
              <a:avLst/>
              <a:gdLst/>
              <a:ahLst/>
              <a:cxnLst/>
              <a:rect r="r" b="b" t="t" l="l"/>
              <a:pathLst>
                <a:path h="4480560" w="7137146">
                  <a:moveTo>
                    <a:pt x="0" y="0"/>
                  </a:moveTo>
                  <a:lnTo>
                    <a:pt x="7137146" y="0"/>
                  </a:lnTo>
                  <a:lnTo>
                    <a:pt x="7137146" y="4480560"/>
                  </a:lnTo>
                  <a:lnTo>
                    <a:pt x="0" y="4480560"/>
                  </a:lnTo>
                  <a:lnTo>
                    <a:pt x="0" y="0"/>
                  </a:lnTo>
                  <a:close/>
                </a:path>
              </a:pathLst>
            </a:custGeom>
            <a:blipFill>
              <a:blip r:embed="rId7"/>
              <a:stretch>
                <a:fillRect l="0" t="0" r="0" b="-122584"/>
              </a:stretch>
            </a:blipFill>
          </p:spPr>
          <p:txBody>
            <a:bodyPr/>
            <a:p/>
          </p:txBody>
        </p:sp>
      </p:grpSp>
      <p:grpSp>
        <p:nvGrpSpPr>
          <p:cNvPr name="Group 12" id="12"/>
          <p:cNvGrpSpPr/>
          <p:nvPr/>
        </p:nvGrpSpPr>
        <p:grpSpPr>
          <a:xfrm rot="0">
            <a:off x="800100" y="657225"/>
            <a:ext cx="12893040" cy="462782"/>
            <a:chOff x="0" y="0"/>
            <a:chExt cx="17190720" cy="617042"/>
          </a:xfrm>
        </p:grpSpPr>
        <p:sp>
          <p:nvSpPr>
            <p:cNvPr name="Freeform 13" id="13"/>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8">
                <a:alphaModFix amt="0"/>
              </a:blip>
              <a:stretch>
                <a:fillRect l="0" t="-492852" r="0" b="-492852"/>
              </a:stretch>
            </a:blipFill>
          </p:spPr>
          <p:txBody>
            <a:bodyPr/>
            <a:p/>
          </p:txBody>
        </p:sp>
        <p:sp>
          <p:nvSpPr>
            <p:cNvPr name="TextBox 14" id="14"/>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Potential Solutions &amp; Risk Mitigation</a:t>
              </a:r>
            </a:p>
          </p:txBody>
        </p:sp>
      </p:grpSp>
      <p:sp>
        <p:nvSpPr>
          <p:cNvPr name="TextBox 15" id="15"/>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Our rule: </a:t>
            </a:r>
            <a:r>
              <a:rPr lang="en-US" b="true" sz="1439">
                <a:solidFill>
                  <a:srgbClr val="334155"/>
                </a:solidFill>
                <a:latin typeface="DM Sans Bold"/>
                <a:ea typeface="DM Sans Bold"/>
                <a:cs typeface="DM Sans Bold"/>
                <a:sym typeface="DM Sans Bold"/>
              </a:rPr>
              <a:t>we will not claim sensor performance, graphene identity or clinical benefit until tests support those claims.</a:t>
            </a:r>
          </a:p>
        </p:txBody>
      </p:sp>
      <p:grpSp>
        <p:nvGrpSpPr>
          <p:cNvPr name="Group 16" id="16"/>
          <p:cNvGrpSpPr/>
          <p:nvPr/>
        </p:nvGrpSpPr>
        <p:grpSpPr>
          <a:xfrm rot="0">
            <a:off x="1128712" y="1762944"/>
            <a:ext cx="288655" cy="228600"/>
            <a:chOff x="0" y="0"/>
            <a:chExt cx="384874" cy="304800"/>
          </a:xfrm>
        </p:grpSpPr>
        <p:sp>
          <p:nvSpPr>
            <p:cNvPr name="Freeform 17" id="17" descr="image.png"/>
            <p:cNvSpPr/>
            <p:nvPr/>
          </p:nvSpPr>
          <p:spPr>
            <a:xfrm flipH="false" flipV="false" rot="0">
              <a:off x="0" y="0"/>
              <a:ext cx="384810" cy="304800"/>
            </a:xfrm>
            <a:custGeom>
              <a:avLst/>
              <a:gdLst/>
              <a:ahLst/>
              <a:cxnLst/>
              <a:rect r="r" b="b" t="t" l="l"/>
              <a:pathLst>
                <a:path h="304800" w="384810">
                  <a:moveTo>
                    <a:pt x="0" y="0"/>
                  </a:moveTo>
                  <a:lnTo>
                    <a:pt x="384810" y="0"/>
                  </a:lnTo>
                  <a:lnTo>
                    <a:pt x="384810" y="304800"/>
                  </a:lnTo>
                  <a:lnTo>
                    <a:pt x="0" y="304800"/>
                  </a:lnTo>
                  <a:lnTo>
                    <a:pt x="0" y="0"/>
                  </a:lnTo>
                  <a:close/>
                </a:path>
              </a:pathLst>
            </a:custGeom>
            <a:blipFill>
              <a:blip r:embed="rId9"/>
              <a:stretch>
                <a:fillRect l="0" t="0" r="-16" b="-2216"/>
              </a:stretch>
            </a:blipFill>
          </p:spPr>
          <p:txBody>
            <a:bodyPr/>
            <a:p/>
          </p:txBody>
        </p:sp>
      </p:grpSp>
      <p:sp>
        <p:nvSpPr>
          <p:cNvPr name="TextBox 18" id="18"/>
          <p:cNvSpPr txBox="true"/>
          <p:nvPr/>
        </p:nvSpPr>
        <p:spPr>
          <a:xfrm rot="0">
            <a:off x="1560243"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Checked in CAD or software</a:t>
            </a:r>
          </a:p>
        </p:txBody>
      </p:sp>
      <p:grpSp>
        <p:nvGrpSpPr>
          <p:cNvPr name="Group 19" id="19"/>
          <p:cNvGrpSpPr/>
          <p:nvPr/>
        </p:nvGrpSpPr>
        <p:grpSpPr>
          <a:xfrm rot="0">
            <a:off x="6795935" y="1762944"/>
            <a:ext cx="260080" cy="228600"/>
            <a:chOff x="0" y="0"/>
            <a:chExt cx="346774" cy="304800"/>
          </a:xfrm>
        </p:grpSpPr>
        <p:sp>
          <p:nvSpPr>
            <p:cNvPr name="Freeform 20" id="20"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10"/>
              <a:stretch>
                <a:fillRect l="0" t="0" r="-18" b="-1791"/>
              </a:stretch>
            </a:blipFill>
          </p:spPr>
          <p:txBody>
            <a:bodyPr/>
            <a:p/>
          </p:txBody>
        </p:sp>
      </p:grpSp>
      <p:sp>
        <p:nvSpPr>
          <p:cNvPr name="TextBox 21" id="21"/>
          <p:cNvSpPr txBox="true"/>
          <p:nvPr/>
        </p:nvSpPr>
        <p:spPr>
          <a:xfrm rot="0">
            <a:off x="7198890"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Designed, not yet tested</a:t>
            </a:r>
          </a:p>
        </p:txBody>
      </p:sp>
      <p:grpSp>
        <p:nvGrpSpPr>
          <p:cNvPr name="Group 22" id="22"/>
          <p:cNvGrpSpPr/>
          <p:nvPr/>
        </p:nvGrpSpPr>
        <p:grpSpPr>
          <a:xfrm rot="0">
            <a:off x="12463386" y="1762944"/>
            <a:ext cx="231505" cy="228600"/>
            <a:chOff x="0" y="0"/>
            <a:chExt cx="308674" cy="304800"/>
          </a:xfrm>
        </p:grpSpPr>
        <p:sp>
          <p:nvSpPr>
            <p:cNvPr name="Freeform 23" id="23"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txBody>
            <a:bodyPr/>
            <a:p/>
          </p:txBody>
        </p:sp>
      </p:grpSp>
      <p:sp>
        <p:nvSpPr>
          <p:cNvPr name="TextBox 24" id="24"/>
          <p:cNvSpPr txBox="true"/>
          <p:nvPr/>
        </p:nvSpPr>
        <p:spPr>
          <a:xfrm rot="0">
            <a:off x="12837766" y="1743894"/>
            <a:ext cx="4594860" cy="2762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Fallbacks</a:t>
            </a:r>
          </a:p>
        </p:txBody>
      </p:sp>
      <p:grpSp>
        <p:nvGrpSpPr>
          <p:cNvPr name="Group 25" id="25"/>
          <p:cNvGrpSpPr/>
          <p:nvPr/>
        </p:nvGrpSpPr>
        <p:grpSpPr>
          <a:xfrm rot="0">
            <a:off x="16642794" y="9421197"/>
            <a:ext cx="1645206" cy="865803"/>
            <a:chOff x="0" y="0"/>
            <a:chExt cx="2193608" cy="1154405"/>
          </a:xfrm>
        </p:grpSpPr>
        <p:sp>
          <p:nvSpPr>
            <p:cNvPr name="Freeform 26" id="26"/>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txBody>
            <a:bodyPr/>
            <a:p/>
          </p:txBody>
        </p:sp>
      </p:grpSp>
      <p:grpSp>
        <p:nvGrpSpPr>
          <p:cNvPr name="Group 27" id="27"/>
          <p:cNvGrpSpPr/>
          <p:nvPr/>
        </p:nvGrpSpPr>
        <p:grpSpPr>
          <a:xfrm rot="0">
            <a:off x="0" y="9421197"/>
            <a:ext cx="2679421" cy="865803"/>
            <a:chOff x="0" y="0"/>
            <a:chExt cx="3572561" cy="1154405"/>
          </a:xfrm>
        </p:grpSpPr>
        <p:sp>
          <p:nvSpPr>
            <p:cNvPr name="Freeform 28" id="28"/>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txBody>
            <a:bodyPr/>
            <a:p/>
          </p:txBody>
        </p:sp>
      </p:grpSp>
      <p:grpSp>
        <p:nvGrpSpPr>
          <p:cNvPr name="Group 29" id="29"/>
          <p:cNvGrpSpPr/>
          <p:nvPr/>
        </p:nvGrpSpPr>
        <p:grpSpPr>
          <a:xfrm rot="0">
            <a:off x="14744700" y="685800"/>
            <a:ext cx="2743200" cy="370332"/>
            <a:chOff x="0" y="0"/>
            <a:chExt cx="3657600" cy="493776"/>
          </a:xfrm>
        </p:grpSpPr>
        <p:sp>
          <p:nvSpPr>
            <p:cNvPr name="Freeform 30" id="30"/>
            <p:cNvSpPr/>
            <p:nvPr/>
          </p:nvSpPr>
          <p:spPr>
            <a:xfrm flipH="false" flipV="false" rot="0">
              <a:off x="0" y="0"/>
              <a:ext cx="3657600" cy="493776"/>
            </a:xfrm>
            <a:custGeom>
              <a:avLst/>
              <a:gdLst/>
              <a:ahLst/>
              <a:cxnLst/>
              <a:rect r="r" b="b" t="t" l="l"/>
              <a:pathLst>
                <a:path h="493776" w="3657600">
                  <a:moveTo>
                    <a:pt x="0" y="246888"/>
                  </a:moveTo>
                  <a:cubicBezTo>
                    <a:pt x="0" y="110490"/>
                    <a:pt x="110490" y="0"/>
                    <a:pt x="246888" y="0"/>
                  </a:cubicBezTo>
                  <a:lnTo>
                    <a:pt x="3410712" y="0"/>
                  </a:lnTo>
                  <a:cubicBezTo>
                    <a:pt x="3547110" y="0"/>
                    <a:pt x="3657600" y="110490"/>
                    <a:pt x="3657600" y="246888"/>
                  </a:cubicBezTo>
                  <a:cubicBezTo>
                    <a:pt x="3657600" y="383286"/>
                    <a:pt x="3547110" y="493776"/>
                    <a:pt x="3410712" y="493776"/>
                  </a:cubicBezTo>
                  <a:lnTo>
                    <a:pt x="246888" y="493776"/>
                  </a:lnTo>
                  <a:cubicBezTo>
                    <a:pt x="110490" y="493776"/>
                    <a:pt x="0" y="383286"/>
                    <a:pt x="0" y="246888"/>
                  </a:cubicBezTo>
                  <a:close/>
                </a:path>
              </a:pathLst>
            </a:custGeom>
            <a:solidFill>
              <a:srgbClr val="E2E8F0"/>
            </a:solidFill>
          </p:spPr>
          <p:txBody>
            <a:bodyPr/>
            <a:p/>
          </p:txBody>
        </p:sp>
        <p:sp>
          <p:nvSpPr>
            <p:cNvPr name="TextBox 31" id="31"/>
            <p:cNvSpPr txBox="true"/>
            <p:nvPr/>
          </p:nvSpPr>
          <p:spPr>
            <a:xfrm>
              <a:off x="0" y="0"/>
              <a:ext cx="3657600" cy="493776"/>
            </a:xfrm>
            <a:prstGeom prst="rect">
              <a:avLst/>
            </a:prstGeom>
          </p:spPr>
          <p:txBody>
            <a:bodyPr anchor="ctr" rtlCol="false" tIns="50800" lIns="50800" bIns="50800" rIns="50800"/>
            <a:lstStyle/>
            <a:p>
              <a:pPr algn="ctr">
                <a:lnSpc>
                  <a:spcPts val="1350"/>
                </a:lnSpc>
              </a:pPr>
              <a:r>
                <a:rPr lang="en-US" sz="1125" b="true">
                  <a:solidFill>
                    <a:srgbClr val="475569"/>
                  </a:solidFill>
                  <a:latin typeface="DM Sans Bold"/>
                  <a:ea typeface="DM Sans Bold"/>
                  <a:cs typeface="DM Sans Bold"/>
                  <a:sym typeface="DM Sans Bold"/>
                </a:rPr>
                <a:t>CHECKED · DESIGNED · TO TEST</a:t>
              </a:r>
            </a:p>
          </p:txBody>
        </p:sp>
      </p:grpSp>
      <p:sp>
        <p:nvSpPr>
          <p:cNvPr name="TextBox 32" id="32"/>
          <p:cNvSpPr txBox="true"/>
          <p:nvPr/>
        </p:nvSpPr>
        <p:spPr>
          <a:xfrm rot="0">
            <a:off x="1143000" y="2276475"/>
            <a:ext cx="4695444" cy="10562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Seal: </a:t>
            </a:r>
            <a:r>
              <a:rPr lang="en-US" sz="1650">
                <a:solidFill>
                  <a:srgbClr val="334155"/>
                </a:solidFill>
                <a:latin typeface="DM Sans"/>
                <a:ea typeface="DM Sans"/>
                <a:cs typeface="DM Sans"/>
                <a:sym typeface="DM Sans"/>
              </a:rPr>
              <a:t>starts at x = 23 mm; 0 clash.</a:t>
            </a:r>
          </a:p>
          <a:p>
            <a:pPr algn="l">
              <a:lnSpc>
                <a:spcPts val="2138"/>
              </a:lnSpc>
            </a:pPr>
            <a:r>
              <a:rPr lang="en-US" sz="1650" b="true">
                <a:solidFill>
                  <a:srgbClr val="0F172A"/>
                </a:solidFill>
                <a:latin typeface="DM Sans Bold"/>
                <a:ea typeface="DM Sans Bold"/>
                <a:cs typeface="DM Sans Bold"/>
                <a:sym typeface="DM Sans Bold"/>
              </a:rPr>
              <a:t>Units: </a:t>
            </a:r>
            <a:r>
              <a:rPr lang="en-US" sz="1650">
                <a:solidFill>
                  <a:srgbClr val="334155"/>
                </a:solidFill>
                <a:latin typeface="DM Sans"/>
                <a:ea typeface="DM Sans"/>
                <a:cs typeface="DM Sans"/>
                <a:sym typeface="DM Sans"/>
              </a:rPr>
              <a:t>all STEP files in mm.</a:t>
            </a:r>
          </a:p>
          <a:p>
            <a:pPr algn="l">
              <a:lnSpc>
                <a:spcPts val="2138"/>
              </a:lnSpc>
            </a:pPr>
            <a:r>
              <a:rPr lang="en-US" sz="1650" b="true">
                <a:solidFill>
                  <a:srgbClr val="0F172A"/>
                </a:solidFill>
                <a:latin typeface="DM Sans Bold"/>
                <a:ea typeface="DM Sans Bold"/>
                <a:cs typeface="DM Sans Bold"/>
                <a:sym typeface="DM Sans Bold"/>
              </a:rPr>
              <a:t>Checks: </a:t>
            </a:r>
            <a:r>
              <a:rPr lang="en-US" sz="1650" b="true">
                <a:solidFill>
                  <a:srgbClr val="334155"/>
                </a:solidFill>
                <a:latin typeface="DM Sans Bold"/>
                <a:ea typeface="DM Sans Bold"/>
                <a:cs typeface="DM Sans Bold"/>
                <a:sym typeface="DM Sans Bold"/>
              </a:rPr>
              <a:t>99 checks passed, 0 failed; 5 await E2 measurements.</a:t>
            </a:r>
          </a:p>
        </p:txBody>
      </p:sp>
      <p:sp>
        <p:nvSpPr>
          <p:cNvPr name="TextBox 33" id="33"/>
          <p:cNvSpPr txBox="true"/>
          <p:nvPr/>
        </p:nvSpPr>
        <p:spPr>
          <a:xfrm rot="0">
            <a:off x="6807708" y="2276475"/>
            <a:ext cx="4695444" cy="2446401"/>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v0.2 strip: </a:t>
            </a:r>
            <a:r>
              <a:rPr lang="en-US" sz="1650">
                <a:solidFill>
                  <a:srgbClr val="334155"/>
                </a:solidFill>
                <a:latin typeface="DM Sans"/>
                <a:ea typeface="DM Sans"/>
                <a:cs typeface="DM Sans"/>
                <a:sym typeface="DM Sans"/>
              </a:rPr>
              <a:t>every sense lead looped.</a:t>
            </a:r>
          </a:p>
          <a:p>
            <a:pPr algn="l">
              <a:lnSpc>
                <a:spcPts val="2138"/>
              </a:lnSpc>
            </a:pPr>
            <a:r>
              <a:rPr lang="en-US" sz="1650" b="true">
                <a:solidFill>
                  <a:srgbClr val="0F172A"/>
                </a:solidFill>
                <a:latin typeface="DM Sans Bold"/>
                <a:ea typeface="DM Sans Bold"/>
                <a:cs typeface="DM Sans Bold"/>
                <a:sym typeface="DM Sans Bold"/>
              </a:rPr>
              <a:t>Contact: </a:t>
            </a:r>
            <a:r>
              <a:rPr lang="en-US" sz="1650">
                <a:solidFill>
                  <a:srgbClr val="334155"/>
                </a:solidFill>
                <a:latin typeface="DM Sans"/>
                <a:ea typeface="DM Sans"/>
                <a:cs typeface="DM Sans"/>
                <a:sym typeface="DM Sans"/>
              </a:rPr>
              <a:t>silver pads, rounded pins.</a:t>
            </a:r>
          </a:p>
          <a:p>
            <a:pPr algn="l">
              <a:lnSpc>
                <a:spcPts val="2138"/>
              </a:lnSpc>
            </a:pPr>
            <a:r>
              <a:rPr lang="en-US" sz="1650" b="true">
                <a:solidFill>
                  <a:srgbClr val="0F172A"/>
                </a:solidFill>
                <a:latin typeface="DM Sans Bold"/>
                <a:ea typeface="DM Sans Bold"/>
                <a:cs typeface="DM Sans Bold"/>
                <a:sym typeface="DM Sans Bold"/>
              </a:rPr>
              <a:t>Self-test: </a:t>
            </a:r>
            <a:r>
              <a:rPr lang="en-US" sz="1650">
                <a:solidFill>
                  <a:srgbClr val="334155"/>
                </a:solidFill>
                <a:latin typeface="DM Sans"/>
                <a:ea typeface="DM Sans"/>
                <a:cs typeface="DM Sans"/>
                <a:sym typeface="DM Sans"/>
              </a:rPr>
              <a:t>check resistor → FAULT.</a:t>
            </a:r>
          </a:p>
        </p:txBody>
      </p:sp>
      <p:sp>
        <p:nvSpPr>
          <p:cNvPr name="TextBox 34" id="34"/>
          <p:cNvSpPr txBox="true"/>
          <p:nvPr/>
        </p:nvSpPr>
        <p:spPr>
          <a:xfrm rot="0">
            <a:off x="12486132" y="2276475"/>
            <a:ext cx="4695444" cy="2446401"/>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Wider lines: </a:t>
            </a:r>
            <a:r>
              <a:rPr lang="en-US" sz="1650">
                <a:solidFill>
                  <a:srgbClr val="334155"/>
                </a:solidFill>
                <a:latin typeface="DM Sans"/>
                <a:ea typeface="DM Sans"/>
                <a:cs typeface="DM Sans"/>
                <a:sym typeface="DM Sans"/>
              </a:rPr>
              <a:t>if E2 says so.</a:t>
            </a:r>
          </a:p>
          <a:p>
            <a:pPr algn="l">
              <a:lnSpc>
                <a:spcPts val="2138"/>
              </a:lnSpc>
            </a:pPr>
            <a:r>
              <a:rPr lang="en-US" sz="1650" b="true">
                <a:solidFill>
                  <a:srgbClr val="0F172A"/>
                </a:solidFill>
                <a:latin typeface="DM Sans Bold"/>
                <a:ea typeface="DM Sans Bold"/>
                <a:cs typeface="DM Sans Bold"/>
                <a:sym typeface="DM Sans Bold"/>
              </a:rPr>
              <a:t>Process: </a:t>
            </a:r>
            <a:r>
              <a:rPr lang="en-US" sz="1650">
                <a:solidFill>
                  <a:srgbClr val="334155"/>
                </a:solidFill>
                <a:latin typeface="DM Sans"/>
                <a:ea typeface="DM Sans"/>
                <a:cs typeface="DM Sans"/>
                <a:sym typeface="DM Sans"/>
              </a:rPr>
              <a:t>slower passes, log current.</a:t>
            </a:r>
          </a:p>
          <a:p>
            <a:pPr algn="l">
              <a:lnSpc>
                <a:spcPts val="2138"/>
              </a:lnSpc>
            </a:pPr>
            <a:r>
              <a:rPr lang="en-US" sz="1650" b="true">
                <a:solidFill>
                  <a:srgbClr val="0F172A"/>
                </a:solidFill>
                <a:latin typeface="DM Sans Bold"/>
                <a:ea typeface="DM Sans Bold"/>
                <a:cs typeface="DM Sans Bold"/>
                <a:sym typeface="DM Sans Bold"/>
              </a:rPr>
              <a:t>Concept: </a:t>
            </a:r>
            <a:r>
              <a:rPr lang="en-US" sz="1650">
                <a:solidFill>
                  <a:srgbClr val="334155"/>
                </a:solidFill>
                <a:latin typeface="DM Sans"/>
                <a:ea typeface="DM Sans"/>
                <a:cs typeface="DM Sans"/>
                <a:sym typeface="DM Sans"/>
              </a:rPr>
              <a:t>one-zone strip (score 4.29).</a:t>
            </a:r>
          </a:p>
        </p:txBody>
      </p:sp>
      <p:grpSp>
        <p:nvGrpSpPr>
          <p:cNvPr name="Group 35" id="35"/>
          <p:cNvGrpSpPr/>
          <p:nvPr/>
        </p:nvGrpSpPr>
        <p:grpSpPr>
          <a:xfrm rot="0">
            <a:off x="788384" y="5040344"/>
            <a:ext cx="16706660" cy="3278696"/>
            <a:chOff x="0" y="0"/>
            <a:chExt cx="22275546" cy="4371594"/>
          </a:xfrm>
        </p:grpSpPr>
        <p:sp>
          <p:nvSpPr>
            <p:cNvPr name="Freeform 36" id="36"/>
            <p:cNvSpPr/>
            <p:nvPr/>
          </p:nvSpPr>
          <p:spPr>
            <a:xfrm flipH="false" flipV="false" rot="0">
              <a:off x="0" y="0"/>
              <a:ext cx="22275546" cy="4371594"/>
            </a:xfrm>
            <a:custGeom>
              <a:avLst/>
              <a:gdLst/>
              <a:ahLst/>
              <a:cxnLst/>
              <a:rect r="r" b="b" t="t" l="l"/>
              <a:pathLst>
                <a:path h="4371594" w="22275546">
                  <a:moveTo>
                    <a:pt x="0" y="262255"/>
                  </a:moveTo>
                  <a:cubicBezTo>
                    <a:pt x="0" y="117475"/>
                    <a:pt x="117475" y="0"/>
                    <a:pt x="262255" y="0"/>
                  </a:cubicBezTo>
                  <a:lnTo>
                    <a:pt x="22013290" y="0"/>
                  </a:lnTo>
                  <a:cubicBezTo>
                    <a:pt x="22158198" y="0"/>
                    <a:pt x="22275546" y="117475"/>
                    <a:pt x="22275546" y="262255"/>
                  </a:cubicBezTo>
                  <a:lnTo>
                    <a:pt x="22275546" y="4109339"/>
                  </a:lnTo>
                  <a:cubicBezTo>
                    <a:pt x="22275546" y="4254246"/>
                    <a:pt x="22158071" y="4371594"/>
                    <a:pt x="22013290" y="4371594"/>
                  </a:cubicBezTo>
                  <a:lnTo>
                    <a:pt x="262255" y="4371594"/>
                  </a:lnTo>
                  <a:cubicBezTo>
                    <a:pt x="117475" y="4371594"/>
                    <a:pt x="0" y="4254119"/>
                    <a:pt x="0" y="4109339"/>
                  </a:cubicBezTo>
                  <a:close/>
                </a:path>
              </a:pathLst>
            </a:custGeom>
            <a:solidFill>
              <a:srgbClr val="F8FAFC"/>
            </a:solidFill>
            <a:ln w="14288" cap="sq">
              <a:solidFill>
                <a:srgbClr val="E2E8F0"/>
              </a:solidFill>
              <a:prstDash val="solid"/>
              <a:miter/>
            </a:ln>
          </p:spPr>
          <p:txBody>
            <a:bodyPr/>
            <a:p/>
          </p:txBody>
        </p:sp>
      </p:grpSp>
      <p:sp>
        <p:nvSpPr>
          <p:cNvPr name="TextBox 37" id="37"/>
          <p:cNvSpPr txBox="true"/>
          <p:nvPr/>
        </p:nvSpPr>
        <p:spPr>
          <a:xfrm rot="0">
            <a:off x="1143000" y="5211699"/>
            <a:ext cx="16011144" cy="264719"/>
          </a:xfrm>
          <a:prstGeom prst="rect">
            <a:avLst/>
          </a:prstGeom>
        </p:spPr>
        <p:txBody>
          <a:bodyPr anchor="t" rtlCol="false" tIns="0" lIns="0" bIns="0" rIns="0">
            <a:spAutoFit/>
          </a:bodyPr>
          <a:lstStyle/>
          <a:p>
            <a:pPr algn="l">
              <a:lnSpc>
                <a:spcPts val="2235"/>
              </a:lnSpc>
            </a:pPr>
            <a:r>
              <a:rPr lang="en-US" sz="1725" b="true">
                <a:solidFill>
                  <a:srgbClr val="0F172A"/>
                </a:solidFill>
                <a:latin typeface="DM Sans Bold"/>
                <a:ea typeface="DM Sans Bold"/>
                <a:cs typeface="DM Sans Bold"/>
                <a:sym typeface="DM Sans Bold"/>
              </a:rPr>
              <a:t>What we still need to test</a:t>
            </a:r>
          </a:p>
        </p:txBody>
      </p:sp>
      <p:sp>
        <p:nvSpPr>
          <p:cNvPr name="TextBox 38" id="38"/>
          <p:cNvSpPr txBox="true"/>
          <p:nvPr/>
        </p:nvSpPr>
        <p:spPr>
          <a:xfrm rot="0">
            <a:off x="1143000" y="5828919"/>
            <a:ext cx="7850124" cy="10562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Experiments:  </a:t>
            </a:r>
            <a:r>
              <a:rPr lang="en-US" sz="1650" b="true">
                <a:solidFill>
                  <a:srgbClr val="334155"/>
                </a:solidFill>
                <a:latin typeface="DM Sans Bold"/>
                <a:ea typeface="DM Sans Bold"/>
                <a:cs typeface="DM Sans Bold"/>
                <a:sym typeface="DM Sans Bold"/>
              </a:rPr>
              <a:t>Run E2 laser tests, bench-test the reader, then run E4 wet tests.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Material:  </a:t>
            </a:r>
            <a:r>
              <a:rPr lang="en-US" sz="1650" b="true">
                <a:solidFill>
                  <a:srgbClr val="334155"/>
                </a:solidFill>
                <a:latin typeface="DM Sans Bold"/>
                <a:ea typeface="DM Sans Bold"/>
                <a:cs typeface="DM Sans Bold"/>
                <a:sym typeface="DM Sans Bold"/>
              </a:rPr>
              <a:t>Use Raman and SEM before describing the material as graphene.</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Reliability:  </a:t>
            </a:r>
            <a:r>
              <a:rPr lang="en-US" sz="1650" b="true">
                <a:solidFill>
                  <a:srgbClr val="334155"/>
                </a:solidFill>
                <a:latin typeface="DM Sans Bold"/>
                <a:ea typeface="DM Sans Bold"/>
                <a:cs typeface="DM Sans Bold"/>
                <a:sym typeface="DM Sans Bold"/>
              </a:rPr>
              <a:t>Test bending, contact wear and humidity-related drift.</a:t>
            </a:r>
          </a:p>
        </p:txBody>
      </p:sp>
      <p:sp>
        <p:nvSpPr>
          <p:cNvPr name="TextBox 39" id="39"/>
          <p:cNvSpPr txBox="true"/>
          <p:nvPr/>
        </p:nvSpPr>
        <p:spPr>
          <a:xfrm rot="0">
            <a:off x="9413748" y="5828919"/>
            <a:ext cx="7850124" cy="15896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Product:  </a:t>
            </a:r>
            <a:r>
              <a:rPr lang="en-US" sz="1650" b="true">
                <a:solidFill>
                  <a:srgbClr val="334155"/>
                </a:solidFill>
                <a:latin typeface="DM Sans Bold"/>
                <a:ea typeface="DM Sans Bold"/>
                <a:cs typeface="DM Sans Bold"/>
                <a:sym typeface="DM Sans Bold"/>
              </a:rPr>
              <a:t>Explore a battery-powered reader and a secure local phone connection. Neither is built yet; one strip is intended per dressing.</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Before any study with people: address relevant biocompatibility and electrical-safety requirements and obtain ethics approval.</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Not claimed:  </a:t>
            </a:r>
            <a:r>
              <a:rPr lang="en-US" sz="1650" b="true">
                <a:solidFill>
                  <a:srgbClr val="334155"/>
                </a:solidFill>
                <a:latin typeface="DM Sans Bold"/>
                <a:ea typeface="DM Sans Bold"/>
                <a:cs typeface="DM Sans Bold"/>
                <a:sym typeface="DM Sans Bold"/>
              </a:rPr>
              <a:t>We have not established sensor performance, graphene identity or clinical benefit.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7250" y="676275"/>
            <a:ext cx="17402404" cy="1042502"/>
          </a:xfrm>
          <a:prstGeom prst="rect">
            <a:avLst/>
          </a:prstGeom>
        </p:spPr>
        <p:txBody>
          <a:bodyPr anchor="t" rtlCol="false" tIns="0" lIns="0" bIns="0" rIns="0">
            <a:spAutoFit/>
          </a:bodyPr>
          <a:lstStyle/>
          <a:p>
            <a:pPr algn="l">
              <a:lnSpc>
                <a:spcPts val="3644"/>
              </a:lnSpc>
            </a:pPr>
            <a:r>
              <a:rPr lang="en-US" sz="3037">
                <a:solidFill>
                  <a:srgbClr val="0F172A"/>
                </a:solidFill>
                <a:latin typeface="Poppins"/>
                <a:ea typeface="Poppins"/>
                <a:cs typeface="Poppins"/>
                <a:sym typeface="Poppins"/>
              </a:rPr>
              <a:t>References &amp; Sources</a:t>
            </a:r>
          </a:p>
        </p:txBody>
      </p:sp>
      <p:grpSp>
        <p:nvGrpSpPr>
          <p:cNvPr name="Group 3" id="3"/>
          <p:cNvGrpSpPr/>
          <p:nvPr/>
        </p:nvGrpSpPr>
        <p:grpSpPr>
          <a:xfrm rot="0">
            <a:off x="16642794" y="9421197"/>
            <a:ext cx="1645206" cy="865803"/>
            <a:chOff x="0" y="0"/>
            <a:chExt cx="2193608" cy="1154405"/>
          </a:xfrm>
        </p:grpSpPr>
        <p:sp>
          <p:nvSpPr>
            <p:cNvPr name="Freeform 4" id="4"/>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3"/>
              <a:stretch>
                <a:fillRect l="0" t="0" r="2" b="2"/>
              </a:stretch>
            </a:blipFill>
          </p:spPr>
          <p:txBody>
            <a:bodyPr/>
            <a:p/>
          </p:txBody>
        </p:sp>
      </p:grpSp>
      <p:grpSp>
        <p:nvGrpSpPr>
          <p:cNvPr name="Group 5" id="5"/>
          <p:cNvGrpSpPr/>
          <p:nvPr/>
        </p:nvGrpSpPr>
        <p:grpSpPr>
          <a:xfrm rot="0">
            <a:off x="0" y="9421197"/>
            <a:ext cx="2679421" cy="865803"/>
            <a:chOff x="0" y="0"/>
            <a:chExt cx="3572561" cy="1154405"/>
          </a:xfrm>
        </p:grpSpPr>
        <p:sp>
          <p:nvSpPr>
            <p:cNvPr name="Freeform 6" id="6"/>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4"/>
              <a:stretch>
                <a:fillRect l="-21110" t="-147255" r="-22761" b="-197973"/>
              </a:stretch>
            </a:blipFill>
          </p:spPr>
          <p:txBody>
            <a:bodyPr/>
            <a:p/>
          </p:txBody>
        </p:sp>
      </p:grpSp>
      <p:grpSp>
        <p:nvGrpSpPr>
          <p:cNvPr name="Group 7" id="7"/>
          <p:cNvGrpSpPr/>
          <p:nvPr/>
        </p:nvGrpSpPr>
        <p:grpSpPr>
          <a:xfrm rot="0">
            <a:off x="14651431" y="685800"/>
            <a:ext cx="2836469" cy="370332"/>
            <a:chOff x="0" y="0"/>
            <a:chExt cx="3781958" cy="493776"/>
          </a:xfrm>
        </p:grpSpPr>
        <p:sp>
          <p:nvSpPr>
            <p:cNvPr name="Freeform 8" id="8"/>
            <p:cNvSpPr/>
            <p:nvPr/>
          </p:nvSpPr>
          <p:spPr>
            <a:xfrm flipH="false" flipV="false" rot="0">
              <a:off x="0" y="0"/>
              <a:ext cx="3781933" cy="493776"/>
            </a:xfrm>
            <a:custGeom>
              <a:avLst/>
              <a:gdLst/>
              <a:ahLst/>
              <a:cxnLst/>
              <a:rect r="r" b="b" t="t" l="l"/>
              <a:pathLst>
                <a:path h="493776" w="3781933">
                  <a:moveTo>
                    <a:pt x="0" y="246888"/>
                  </a:moveTo>
                  <a:cubicBezTo>
                    <a:pt x="0" y="110490"/>
                    <a:pt x="110490" y="0"/>
                    <a:pt x="246888" y="0"/>
                  </a:cubicBezTo>
                  <a:lnTo>
                    <a:pt x="3535045" y="0"/>
                  </a:lnTo>
                  <a:cubicBezTo>
                    <a:pt x="3671443" y="0"/>
                    <a:pt x="3781933" y="110490"/>
                    <a:pt x="3781933" y="246888"/>
                  </a:cubicBezTo>
                  <a:cubicBezTo>
                    <a:pt x="3781933" y="383286"/>
                    <a:pt x="3671443" y="493776"/>
                    <a:pt x="3535045" y="493776"/>
                  </a:cubicBezTo>
                  <a:lnTo>
                    <a:pt x="246888" y="493776"/>
                  </a:lnTo>
                  <a:cubicBezTo>
                    <a:pt x="110490" y="493776"/>
                    <a:pt x="0" y="383286"/>
                    <a:pt x="0" y="246888"/>
                  </a:cubicBezTo>
                  <a:close/>
                </a:path>
              </a:pathLst>
            </a:custGeom>
            <a:solidFill>
              <a:srgbClr val="E0F2FE"/>
            </a:solidFill>
          </p:spPr>
          <p:txBody>
            <a:bodyPr/>
            <a:p/>
          </p:txBody>
        </p:sp>
        <p:sp>
          <p:nvSpPr>
            <p:cNvPr name="TextBox 9" id="9"/>
            <p:cNvSpPr txBox="true"/>
            <p:nvPr/>
          </p:nvSpPr>
          <p:spPr>
            <a:xfrm>
              <a:off x="0" y="0"/>
              <a:ext cx="3781958"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SOURCES AND WHAT WE READ</a:t>
              </a:r>
            </a:p>
          </p:txBody>
        </p:sp>
      </p:grpSp>
      <p:sp>
        <p:nvSpPr>
          <p:cNvPr name="TextBox 10" id="10"/>
          <p:cNvSpPr txBox="true"/>
          <p:nvPr/>
        </p:nvSpPr>
        <p:spPr>
          <a:xfrm rot="0">
            <a:off x="868680" y="1508379"/>
            <a:ext cx="16559784" cy="202982"/>
          </a:xfrm>
          <a:prstGeom prst="rect">
            <a:avLst/>
          </a:prstGeom>
        </p:spPr>
        <p:txBody>
          <a:bodyPr anchor="t" rtlCol="false" tIns="0" lIns="0" bIns="0" rIns="0">
            <a:spAutoFit/>
          </a:bodyPr>
          <a:lstStyle/>
          <a:p>
            <a:pPr algn="l" marL="0" indent="0" lvl="0">
              <a:lnSpc>
                <a:spcPts val="1710"/>
              </a:lnSpc>
              <a:spcBef>
                <a:spcPct val="0"/>
              </a:spcBef>
            </a:pPr>
            <a:r>
              <a:rPr lang="en-US" sz="1320" strike="noStrike" u="none">
                <a:solidFill>
                  <a:srgbClr val="64748B"/>
                </a:solidFill>
                <a:latin typeface="DM Sans"/>
                <a:ea typeface="DM Sans"/>
                <a:cs typeface="DM Sans"/>
                <a:sym typeface="DM Sans"/>
              </a:rPr>
              <a:t>Sources are numbered below. Reading depth is noted; a citation does not mean a claim was independently verified.</a:t>
            </a:r>
          </a:p>
        </p:txBody>
      </p:sp>
      <p:sp>
        <p:nvSpPr>
          <p:cNvPr name="TextBox 11" id="11"/>
          <p:cNvSpPr txBox="true"/>
          <p:nvPr/>
        </p:nvSpPr>
        <p:spPr>
          <a:xfrm rot="0">
            <a:off x="868680" y="1937766"/>
            <a:ext cx="16559784" cy="4613422"/>
          </a:xfrm>
          <a:prstGeom prst="rect">
            <a:avLst/>
          </a:prstGeom>
        </p:spPr>
        <p:txBody>
          <a:bodyPr anchor="t" rtlCol="false" tIns="0" lIns="0" bIns="0" rIns="0">
            <a:spAutoFit/>
          </a:bodyPr>
          <a:lstStyle/>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 Milne S.D. et al., A wearable wound moisture sensor as an indicator for wound dressing change, Int. Wound J. 13(6):1309–1314 (2016). doi:10.1111/iwj.12521 · full text read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2. Dressing instructions for use: some foam dressings say 'change when exudate approaches ~2 cm from the pad edge'; Mölnlycke Mepilex Border Flex brochure uses strike-through reaching 3 edges · manufacturer documents, read as excerpts</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3. McColl D., Cartlidge B., Connolly P., Real-time monitoring of moisture levels in wound dressings in vitro, Int. J. Surg. 5(5):316–322 (2007). doi:10.1016/j.ijsu.2007.02.008 · abstract</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4. US 5,469,145 and US 5,838,240 (wet diaper detector: detachable strip + clip-on detector); US 9,291,589; US 10,928,344 · patent summaries, claims not read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5. Jiang Y. et al., Wireless, closed-loop, smart bandage with integrated sensors and stimulators, Nat. Biotechnol. (2022). doi:10.1038/s41587-022-01528-3 · listing + coverage</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6. Dealey C., Cameron J., Arrowsmith M., A study comparing two objective methods of quantifying the production of wound exudate, J. Wound Care 15(4):149–153 (2006) · abstract (methods disagree)</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7. Lin J. et al., Laser-induced porous graphene films from commercial polymers, Nat. Commun. 5:5714 (2014). doi:10.1038/ncomms6714 · full text read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8. CO₂ laser tube current vs PWM setting, engineering measurements, softsolder.com (2022) · not peer-reviewed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9. Li Y. et al., Laser-induced graphene in controlled atmospheres: from superhydrophilic to superhydrophobic surfaces, Adv. Mater. 29:1700496 (2017). doi:10.1002/adma.201700496 · abstract</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10. EN 13726-1:2002 / EN 13726:2023, Test methods for wound dressings (absorbency; 'Solution A') · catalogue entry; online link not reachable from our network</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11. DuPont position statement on the use of DuPont materials in medical applications (Kapton caution) · web page</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12. Texas Instruments ADS1115 datasheet (SBAS444); Espressif ESP32-C3 datasheet · vendor documents</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13. Wounds UK news (22 Aug 2018) on a Mölnlycke-commissioned survey of &gt;200 UK patients with chronic wounds: average dressing time 18 min · patient-reported, industry-sponsored; web page read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14. Smith+Nephew, ALLEVYN LIFE product page: visual change indicator ('At 75%, it's time to change your dressing') · manufacturer web page, read 19 Oct 2026</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15. Truemeds.in retail listings: Mepilex Lite 10 × 10 cm ₹242; Mepilex Border 10 × 10 cm ₹514 (pack size unclear) · retail pages, read 19 Oct 2026</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16. Gupta N., Gupta S.K., Shukla V.K., Singh S.P., An Indian community-based epidemiological study of wounds, J. Wound Care 13(8):323–325 (2004). doi:10.12968/jowc.2004.13.8.26657 · abstract</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17. Sharma A. et al., Epidemiological profile of chronic wounds in an Indian population, Cureus 16(9):e68684 (2024). doi:10.7759/cureus.68684 · full text</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18. Anjana R.M. et al., ICMR-INDIAB national cross-sectional study (ICMR-INDIAB-17), Lancet Diabetes Endocrinol. 11(7):474–489 (2023) · abstract and summaries</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19. Armstrong D.G., Boulton A.J.M., Bus S.A., Diabetic foot ulcers and their recurrence, N. Engl. J. Med. 376:2367–2375 (2017). doi:10.1056/NEJMra1615439 · summaries; range is an estimate and contested</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20. Price P.E. et al., Dressing-related pain in patients with chronic wounds: an international patient perspective, Int. Wound J. 5(2):159–171 (2008). doi:10.1111/j.1742-481X.2008.00471.x · abstract</a:t>
            </a:r>
          </a:p>
          <a:p>
            <a:pPr algn="l" marL="0" indent="0" lvl="0">
              <a:lnSpc>
                <a:spcPts val="1671"/>
              </a:lnSpc>
              <a:spcBef>
                <a:spcPct val="0"/>
              </a:spcBef>
            </a:pPr>
            <a:r>
              <a:rPr lang="en-US" b="true" sz="1289" strike="noStrike" u="none">
                <a:solidFill>
                  <a:srgbClr val="0F172A"/>
                </a:solidFill>
                <a:latin typeface="DM Sans Bold"/>
                <a:ea typeface="DM Sans Bold"/>
                <a:cs typeface="DM Sans Bold"/>
                <a:sym typeface="DM Sans Bold"/>
              </a:rPr>
              <a:t>21. Lavery L.A. et al., WHS guidelines update: diabetic foot ulcer treatment guidelines, Wound Repair Regen. (2024). doi:10.1111/wrr.13133 · full text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00100" y="657225"/>
            <a:ext cx="17487900" cy="754049"/>
            <a:chOff x="0" y="0"/>
            <a:chExt cx="23317200" cy="1005399"/>
          </a:xfrm>
        </p:grpSpPr>
        <p:sp>
          <p:nvSpPr>
            <p:cNvPr name="Freeform 5" id="5"/>
            <p:cNvSpPr/>
            <p:nvPr/>
          </p:nvSpPr>
          <p:spPr>
            <a:xfrm flipH="false" flipV="false" rot="0">
              <a:off x="0" y="0"/>
              <a:ext cx="23317200" cy="1005396"/>
            </a:xfrm>
            <a:custGeom>
              <a:avLst/>
              <a:gdLst/>
              <a:ahLst/>
              <a:cxnLst/>
              <a:rect r="r" b="b" t="t" l="l"/>
              <a:pathLst>
                <a:path h="1005396" w="23317200">
                  <a:moveTo>
                    <a:pt x="0" y="0"/>
                  </a:moveTo>
                  <a:lnTo>
                    <a:pt x="23317200" y="0"/>
                  </a:lnTo>
                  <a:lnTo>
                    <a:pt x="23317200" y="1005396"/>
                  </a:lnTo>
                  <a:lnTo>
                    <a:pt x="0" y="1005396"/>
                  </a:lnTo>
                  <a:close/>
                </a:path>
              </a:pathLst>
            </a:custGeom>
            <a:blipFill>
              <a:blip r:embed="rId4">
                <a:alphaModFix amt="0"/>
              </a:blip>
              <a:stretch>
                <a:fillRect l="0" t="-421211" r="0" b="-382584"/>
              </a:stretch>
            </a:blipFill>
          </p:spPr>
          <p:txBody>
            <a:bodyPr/>
            <a:p/>
          </p:txBody>
        </p:sp>
        <p:sp>
          <p:nvSpPr>
            <p:cNvPr name="TextBox 6" id="6"/>
            <p:cNvSpPr txBox="true"/>
            <p:nvPr/>
          </p:nvSpPr>
          <p:spPr>
            <a:xfrm>
              <a:off x="0" y="-104775"/>
              <a:ext cx="23317200" cy="1110174"/>
            </a:xfrm>
            <a:prstGeom prst="rect">
              <a:avLst/>
            </a:prstGeom>
          </p:spPr>
          <p:txBody>
            <a:bodyPr anchor="ctr" rtlCol="false" tIns="0" lIns="0" bIns="0" rIns="0"/>
            <a:lstStyle/>
            <a:p>
              <a:pPr algn="l">
                <a:lnSpc>
                  <a:spcPts val="4372"/>
                </a:lnSpc>
              </a:pPr>
              <a:r>
                <a:rPr lang="en-US" b="true" sz="3037">
                  <a:solidFill>
                    <a:srgbClr val="0F172A"/>
                  </a:solidFill>
                  <a:latin typeface="Poppins Bold"/>
                  <a:ea typeface="Poppins Bold"/>
                  <a:cs typeface="Poppins Bold"/>
                  <a:sym typeface="Poppins Bold"/>
                </a:rPr>
                <a:t>Where the figures came from</a:t>
              </a:r>
            </a:p>
          </p:txBody>
        </p:sp>
      </p:grpSp>
      <p:grpSp>
        <p:nvGrpSpPr>
          <p:cNvPr name="Group 7" id="7"/>
          <p:cNvGrpSpPr/>
          <p:nvPr/>
        </p:nvGrpSpPr>
        <p:grpSpPr>
          <a:xfrm rot="0">
            <a:off x="16642794" y="9421197"/>
            <a:ext cx="1645206" cy="865803"/>
            <a:chOff x="0" y="0"/>
            <a:chExt cx="2193608" cy="1154405"/>
          </a:xfrm>
        </p:grpSpPr>
        <p:sp>
          <p:nvSpPr>
            <p:cNvPr name="Freeform 8" id="8"/>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5"/>
              <a:stretch>
                <a:fillRect l="0" t="0" r="2" b="2"/>
              </a:stretch>
            </a:blipFill>
          </p:spPr>
          <p:txBody>
            <a:bodyPr/>
            <a:p/>
          </p:txBody>
        </p:sp>
      </p:grpSp>
      <p:grpSp>
        <p:nvGrpSpPr>
          <p:cNvPr name="Group 9" id="9"/>
          <p:cNvGrpSpPr/>
          <p:nvPr/>
        </p:nvGrpSpPr>
        <p:grpSpPr>
          <a:xfrm rot="0">
            <a:off x="0" y="9421197"/>
            <a:ext cx="2679421" cy="865803"/>
            <a:chOff x="0" y="0"/>
            <a:chExt cx="3572561" cy="1154405"/>
          </a:xfrm>
        </p:grpSpPr>
        <p:sp>
          <p:nvSpPr>
            <p:cNvPr name="Freeform 10" id="10"/>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6"/>
              <a:stretch>
                <a:fillRect l="-21110" t="-147255" r="-22761" b="-197973"/>
              </a:stretch>
            </a:blipFill>
          </p:spPr>
          <p:txBody>
            <a:bodyPr/>
            <a:p/>
          </p:txBody>
        </p:sp>
      </p:grpSp>
      <p:grpSp>
        <p:nvGrpSpPr>
          <p:cNvPr name="Group 11" id="11"/>
          <p:cNvGrpSpPr/>
          <p:nvPr/>
        </p:nvGrpSpPr>
        <p:grpSpPr>
          <a:xfrm rot="0">
            <a:off x="14744700" y="685800"/>
            <a:ext cx="2743200" cy="462248"/>
            <a:chOff x="0" y="0"/>
            <a:chExt cx="3657600" cy="616331"/>
          </a:xfrm>
        </p:grpSpPr>
        <p:sp>
          <p:nvSpPr>
            <p:cNvPr name="Freeform 12" id="12"/>
            <p:cNvSpPr/>
            <p:nvPr/>
          </p:nvSpPr>
          <p:spPr>
            <a:xfrm flipH="false" flipV="false" rot="0">
              <a:off x="0" y="0"/>
              <a:ext cx="3657600" cy="616331"/>
            </a:xfrm>
            <a:custGeom>
              <a:avLst/>
              <a:gdLst/>
              <a:ahLst/>
              <a:cxnLst/>
              <a:rect r="r" b="b" t="t" l="l"/>
              <a:pathLst>
                <a:path h="616331" w="3657600">
                  <a:moveTo>
                    <a:pt x="0" y="308166"/>
                  </a:moveTo>
                  <a:cubicBezTo>
                    <a:pt x="0" y="137914"/>
                    <a:pt x="110490" y="0"/>
                    <a:pt x="246888" y="0"/>
                  </a:cubicBezTo>
                  <a:lnTo>
                    <a:pt x="3410712" y="0"/>
                  </a:lnTo>
                  <a:cubicBezTo>
                    <a:pt x="3547110" y="0"/>
                    <a:pt x="3657600" y="137914"/>
                    <a:pt x="3657600" y="308166"/>
                  </a:cubicBezTo>
                  <a:cubicBezTo>
                    <a:pt x="3657600" y="478417"/>
                    <a:pt x="3547110" y="616331"/>
                    <a:pt x="3410712" y="616331"/>
                  </a:cubicBezTo>
                  <a:lnTo>
                    <a:pt x="246888" y="616331"/>
                  </a:lnTo>
                  <a:cubicBezTo>
                    <a:pt x="110490" y="616331"/>
                    <a:pt x="0" y="478417"/>
                    <a:pt x="0" y="308166"/>
                  </a:cubicBezTo>
                  <a:close/>
                </a:path>
              </a:pathLst>
            </a:custGeom>
            <a:solidFill>
              <a:srgbClr val="D1FAE5"/>
            </a:solidFill>
          </p:spPr>
          <p:txBody>
            <a:bodyPr/>
            <a:p/>
          </p:txBody>
        </p:sp>
        <p:sp>
          <p:nvSpPr>
            <p:cNvPr name="TextBox 13" id="13"/>
            <p:cNvSpPr txBox="true"/>
            <p:nvPr/>
          </p:nvSpPr>
          <p:spPr>
            <a:xfrm>
              <a:off x="0" y="0"/>
              <a:ext cx="3657600"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FIGURES MADE FROM OUR PROJECT FILES</a:t>
              </a:r>
            </a:p>
          </p:txBody>
        </p:sp>
      </p:grpSp>
      <p:sp>
        <p:nvSpPr>
          <p:cNvPr name="TextBox 14" id="14"/>
          <p:cNvSpPr txBox="true"/>
          <p:nvPr/>
        </p:nvSpPr>
        <p:spPr>
          <a:xfrm rot="0">
            <a:off x="813816" y="1398651"/>
            <a:ext cx="16655796" cy="220751"/>
          </a:xfrm>
          <a:prstGeom prst="rect">
            <a:avLst/>
          </a:prstGeom>
        </p:spPr>
        <p:txBody>
          <a:bodyPr anchor="t" rtlCol="false" tIns="0" lIns="0" bIns="0" rIns="0">
            <a:spAutoFit/>
          </a:bodyPr>
          <a:lstStyle/>
          <a:p>
            <a:pPr algn="l" marL="0" indent="0" lvl="0">
              <a:lnSpc>
                <a:spcPts val="1846"/>
              </a:lnSpc>
              <a:spcBef>
                <a:spcPct val="0"/>
              </a:spcBef>
            </a:pPr>
            <a:r>
              <a:rPr lang="en-US" sz="1425" strike="noStrike" u="none">
                <a:solidFill>
                  <a:srgbClr val="334155"/>
                </a:solidFill>
                <a:latin typeface="DM Sans"/>
                <a:ea typeface="DM Sans"/>
                <a:cs typeface="DM Sans"/>
                <a:sym typeface="DM Sans"/>
              </a:rPr>
              <a:t>The illustrations come from our CAD, schematic exports and plots made from project files. We did not use stock images or AI image generators. Team photos on slide 12 are the team's own.</a:t>
            </a:r>
          </a:p>
        </p:txBody>
      </p:sp>
      <p:grpSp>
        <p:nvGrpSpPr>
          <p:cNvPr name="Group 15" id="15"/>
          <p:cNvGrpSpPr/>
          <p:nvPr/>
        </p:nvGrpSpPr>
        <p:grpSpPr>
          <a:xfrm rot="0">
            <a:off x="808015" y="2276856"/>
            <a:ext cx="1278036" cy="850392"/>
            <a:chOff x="0" y="0"/>
            <a:chExt cx="1704048" cy="1133856"/>
          </a:xfrm>
        </p:grpSpPr>
        <p:sp>
          <p:nvSpPr>
            <p:cNvPr name="Freeform 16" id="16" descr="fig_problem.png"/>
            <p:cNvSpPr/>
            <p:nvPr/>
          </p:nvSpPr>
          <p:spPr>
            <a:xfrm flipH="false" flipV="false" rot="0">
              <a:off x="0" y="0"/>
              <a:ext cx="1704086" cy="1133856"/>
            </a:xfrm>
            <a:custGeom>
              <a:avLst/>
              <a:gdLst/>
              <a:ahLst/>
              <a:cxnLst/>
              <a:rect r="r" b="b" t="t" l="l"/>
              <a:pathLst>
                <a:path h="1133856" w="1704086">
                  <a:moveTo>
                    <a:pt x="0" y="0"/>
                  </a:moveTo>
                  <a:lnTo>
                    <a:pt x="1704086" y="0"/>
                  </a:lnTo>
                  <a:lnTo>
                    <a:pt x="1704086" y="1133856"/>
                  </a:lnTo>
                  <a:lnTo>
                    <a:pt x="0" y="1133856"/>
                  </a:lnTo>
                  <a:lnTo>
                    <a:pt x="0" y="0"/>
                  </a:lnTo>
                  <a:close/>
                </a:path>
              </a:pathLst>
            </a:custGeom>
            <a:blipFill>
              <a:blip r:embed="rId7"/>
              <a:stretch>
                <a:fillRect l="0" t="0" r="2" b="0"/>
              </a:stretch>
            </a:blipFill>
          </p:spPr>
          <p:txBody>
            <a:bodyPr/>
            <a:p/>
          </p:txBody>
        </p:sp>
      </p:grpSp>
      <p:sp>
        <p:nvSpPr>
          <p:cNvPr name="TextBox 17" id="17"/>
          <p:cNvSpPr txBox="true"/>
          <p:nvPr/>
        </p:nvSpPr>
        <p:spPr>
          <a:xfrm rot="0">
            <a:off x="222656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Problem illustration, drawn to scale</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strip_v0_1_geometry.json</a:t>
            </a:r>
          </a:p>
          <a:p>
            <a:pPr algn="l">
              <a:lnSpc>
                <a:spcPts val="1438"/>
              </a:lnSpc>
            </a:pPr>
            <a:r>
              <a:rPr lang="en-US" sz="1110">
                <a:solidFill>
                  <a:srgbClr val="64748B"/>
                </a:solidFill>
                <a:latin typeface="DM Sans"/>
                <a:ea typeface="DM Sans"/>
                <a:cs typeface="DM Sans"/>
                <a:sym typeface="DM Sans"/>
              </a:rPr>
              <a:t>1_presentation/figures/fig_problem.png</a:t>
            </a:r>
          </a:p>
        </p:txBody>
      </p:sp>
      <p:grpSp>
        <p:nvGrpSpPr>
          <p:cNvPr name="Group 18" id="18"/>
          <p:cNvGrpSpPr/>
          <p:nvPr/>
        </p:nvGrpSpPr>
        <p:grpSpPr>
          <a:xfrm rot="0">
            <a:off x="6476686" y="2276856"/>
            <a:ext cx="1187825" cy="850392"/>
            <a:chOff x="0" y="0"/>
            <a:chExt cx="1583766" cy="1133856"/>
          </a:xfrm>
        </p:grpSpPr>
        <p:sp>
          <p:nvSpPr>
            <p:cNvPr name="Freeform 19" id="19" descr="fig_howitworks.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8"/>
              <a:stretch>
                <a:fillRect l="0" t="0" r="3" b="0"/>
              </a:stretch>
            </a:blipFill>
          </p:spPr>
          <p:txBody>
            <a:bodyPr/>
            <a:p/>
          </p:txBody>
        </p:sp>
      </p:grpSp>
      <p:sp>
        <p:nvSpPr>
          <p:cNvPr name="TextBox 20" id="20"/>
          <p:cNvSpPr txBox="true"/>
          <p:nvPr/>
        </p:nvSpPr>
        <p:spPr>
          <a:xfrm rot="0">
            <a:off x="785012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How it senses (concept)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sensor_selection.md, calc_readout.py</a:t>
            </a:r>
          </a:p>
          <a:p>
            <a:pPr algn="l">
              <a:lnSpc>
                <a:spcPts val="1438"/>
              </a:lnSpc>
            </a:pPr>
            <a:r>
              <a:rPr lang="en-US" sz="1110">
                <a:solidFill>
                  <a:srgbClr val="64748B"/>
                </a:solidFill>
                <a:latin typeface="DM Sans"/>
                <a:ea typeface="DM Sans"/>
                <a:cs typeface="DM Sans"/>
                <a:sym typeface="DM Sans"/>
              </a:rPr>
              <a:t>1_presentation/figures/fig_howitworks.png</a:t>
            </a:r>
          </a:p>
        </p:txBody>
      </p:sp>
      <p:grpSp>
        <p:nvGrpSpPr>
          <p:cNvPr name="Group 21" id="21"/>
          <p:cNvGrpSpPr/>
          <p:nvPr/>
        </p:nvGrpSpPr>
        <p:grpSpPr>
          <a:xfrm rot="0">
            <a:off x="12100246" y="2276856"/>
            <a:ext cx="1187825" cy="850392"/>
            <a:chOff x="0" y="0"/>
            <a:chExt cx="1583766" cy="1133856"/>
          </a:xfrm>
        </p:grpSpPr>
        <p:sp>
          <p:nvSpPr>
            <p:cNvPr name="Freeform 22" id="22" descr="fig_dataflow.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9"/>
              <a:stretch>
                <a:fillRect l="0" t="0" r="3" b="0"/>
              </a:stretch>
            </a:blipFill>
          </p:spPr>
          <p:txBody>
            <a:bodyPr/>
            <a:p/>
          </p:txBody>
        </p:sp>
      </p:grpSp>
      <p:sp>
        <p:nvSpPr>
          <p:cNvPr name="TextBox 23" id="23"/>
          <p:cNvSpPr txBox="true"/>
          <p:nvPr/>
        </p:nvSpPr>
        <p:spPr>
          <a:xfrm rot="0">
            <a:off x="1347368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Firmware scan and state logic</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reader_v0_1 source</a:t>
            </a:r>
          </a:p>
          <a:p>
            <a:pPr algn="l">
              <a:lnSpc>
                <a:spcPts val="1438"/>
              </a:lnSpc>
            </a:pPr>
            <a:r>
              <a:rPr lang="en-US" sz="1110">
                <a:solidFill>
                  <a:srgbClr val="64748B"/>
                </a:solidFill>
                <a:latin typeface="DM Sans"/>
                <a:ea typeface="DM Sans"/>
                <a:cs typeface="DM Sans"/>
                <a:sym typeface="DM Sans"/>
              </a:rPr>
              <a:t>1_presentation/figures/fig_dataflow.png</a:t>
            </a:r>
          </a:p>
        </p:txBody>
      </p:sp>
      <p:grpSp>
        <p:nvGrpSpPr>
          <p:cNvPr name="Group 24" id="24"/>
          <p:cNvGrpSpPr/>
          <p:nvPr/>
        </p:nvGrpSpPr>
        <p:grpSpPr>
          <a:xfrm rot="0">
            <a:off x="853126" y="3579876"/>
            <a:ext cx="1187825" cy="850392"/>
            <a:chOff x="0" y="0"/>
            <a:chExt cx="1583766" cy="1133856"/>
          </a:xfrm>
        </p:grpSpPr>
        <p:sp>
          <p:nvSpPr>
            <p:cNvPr name="Freeform 25" id="25" descr="fig_cad.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0"/>
              <a:stretch>
                <a:fillRect l="0" t="0" r="3" b="0"/>
              </a:stretch>
            </a:blipFill>
          </p:spPr>
          <p:txBody>
            <a:bodyPr/>
            <a:p/>
          </p:txBody>
        </p:sp>
      </p:grpSp>
      <p:sp>
        <p:nvSpPr>
          <p:cNvPr name="TextBox 26" id="26"/>
          <p:cNvSpPr txBox="true"/>
          <p:nvPr/>
        </p:nvSpPr>
        <p:spPr>
          <a:xfrm rot="0">
            <a:off x="222656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Annotated SolidWorks views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render_cad.py + make_figures.py · 5_cad/solidworks</a:t>
            </a:r>
          </a:p>
          <a:p>
            <a:pPr algn="l">
              <a:lnSpc>
                <a:spcPts val="1438"/>
              </a:lnSpc>
            </a:pPr>
            <a:r>
              <a:rPr lang="en-US" sz="1110">
                <a:solidFill>
                  <a:srgbClr val="64748B"/>
                </a:solidFill>
                <a:latin typeface="DM Sans"/>
                <a:ea typeface="DM Sans"/>
                <a:cs typeface="DM Sans"/>
                <a:sym typeface="DM Sans"/>
              </a:rPr>
              <a:t>1_presentation/figures/fig_cad.png</a:t>
            </a:r>
          </a:p>
        </p:txBody>
      </p:sp>
      <p:grpSp>
        <p:nvGrpSpPr>
          <p:cNvPr name="Group 27" id="27"/>
          <p:cNvGrpSpPr/>
          <p:nvPr/>
        </p:nvGrpSpPr>
        <p:grpSpPr>
          <a:xfrm rot="0">
            <a:off x="6476686" y="3579876"/>
            <a:ext cx="1187825" cy="850392"/>
            <a:chOff x="0" y="0"/>
            <a:chExt cx="1583766" cy="1133856"/>
          </a:xfrm>
        </p:grpSpPr>
        <p:sp>
          <p:nvSpPr>
            <p:cNvPr name="Freeform 28" id="28" descr="fig_strip.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1"/>
              <a:stretch>
                <a:fillRect l="0" t="0" r="3" b="0"/>
              </a:stretch>
            </a:blipFill>
          </p:spPr>
          <p:txBody>
            <a:bodyPr/>
            <a:p/>
          </p:txBody>
        </p:sp>
      </p:grpSp>
      <p:sp>
        <p:nvSpPr>
          <p:cNvPr name="TextBox 29" id="29"/>
          <p:cNvSpPr txBox="true"/>
          <p:nvPr/>
        </p:nvSpPr>
        <p:spPr>
          <a:xfrm rot="0">
            <a:off x="785012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Strip and E2 coupon layers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our DXF files</a:t>
            </a:r>
          </a:p>
          <a:p>
            <a:pPr algn="l">
              <a:lnSpc>
                <a:spcPts val="1438"/>
              </a:lnSpc>
            </a:pPr>
            <a:r>
              <a:rPr lang="en-US" sz="1110">
                <a:solidFill>
                  <a:srgbClr val="64748B"/>
                </a:solidFill>
                <a:latin typeface="DM Sans"/>
                <a:ea typeface="DM Sans"/>
                <a:cs typeface="DM Sans"/>
                <a:sym typeface="DM Sans"/>
              </a:rPr>
              <a:t>1_presentation/figures/fig_strip.png</a:t>
            </a:r>
          </a:p>
        </p:txBody>
      </p:sp>
      <p:grpSp>
        <p:nvGrpSpPr>
          <p:cNvPr name="Group 30" id="30"/>
          <p:cNvGrpSpPr/>
          <p:nvPr/>
        </p:nvGrpSpPr>
        <p:grpSpPr>
          <a:xfrm rot="0">
            <a:off x="12100246" y="3579876"/>
            <a:ext cx="1187825" cy="850392"/>
            <a:chOff x="0" y="0"/>
            <a:chExt cx="1583766" cy="1133856"/>
          </a:xfrm>
        </p:grpSpPr>
        <p:sp>
          <p:nvSpPr>
            <p:cNvPr name="Freeform 31" id="31" descr="fig_schematic.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2"/>
              <a:stretch>
                <a:fillRect l="0" t="0" r="3" b="0"/>
              </a:stretch>
            </a:blipFill>
          </p:spPr>
          <p:txBody>
            <a:bodyPr/>
            <a:p/>
          </p:txBody>
        </p:sp>
      </p:grpSp>
      <p:sp>
        <p:nvSpPr>
          <p:cNvPr name="TextBox 32" id="32"/>
          <p:cNvSpPr txBox="true"/>
          <p:nvPr/>
        </p:nvSpPr>
        <p:spPr>
          <a:xfrm rot="0">
            <a:off x="1347368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Measurement path + KiCad sheet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reader_v0_1 netlist + KiCad PDF</a:t>
            </a:r>
          </a:p>
          <a:p>
            <a:pPr algn="l">
              <a:lnSpc>
                <a:spcPts val="1438"/>
              </a:lnSpc>
            </a:pPr>
            <a:r>
              <a:rPr lang="en-US" sz="1110">
                <a:solidFill>
                  <a:srgbClr val="64748B"/>
                </a:solidFill>
                <a:latin typeface="DM Sans"/>
                <a:ea typeface="DM Sans"/>
                <a:cs typeface="DM Sans"/>
                <a:sym typeface="DM Sans"/>
              </a:rPr>
              <a:t>1_presentation/figures/fig_schematic.png</a:t>
            </a:r>
          </a:p>
        </p:txBody>
      </p:sp>
      <p:grpSp>
        <p:nvGrpSpPr>
          <p:cNvPr name="Group 33" id="33"/>
          <p:cNvGrpSpPr/>
          <p:nvPr/>
        </p:nvGrpSpPr>
        <p:grpSpPr>
          <a:xfrm rot="0">
            <a:off x="853126" y="4882896"/>
            <a:ext cx="1187825" cy="850392"/>
            <a:chOff x="0" y="0"/>
            <a:chExt cx="1583766" cy="1133856"/>
          </a:xfrm>
        </p:grpSpPr>
        <p:sp>
          <p:nvSpPr>
            <p:cNvPr name="Freeform 34" id="34" descr="fig_window.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3"/>
              <a:stretch>
                <a:fillRect l="0" t="0" r="3" b="0"/>
              </a:stretch>
            </a:blipFill>
          </p:spPr>
          <p:txBody>
            <a:bodyPr/>
            <a:p/>
          </p:txBody>
        </p:sp>
      </p:grpSp>
      <p:sp>
        <p:nvSpPr>
          <p:cNvPr name="TextBox 35" id="35"/>
          <p:cNvSpPr txBox="true"/>
          <p:nvPr/>
        </p:nvSpPr>
        <p:spPr>
          <a:xfrm rot="0">
            <a:off x="222656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Measurement window</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calc_readout.py</a:t>
            </a:r>
          </a:p>
          <a:p>
            <a:pPr algn="l">
              <a:lnSpc>
                <a:spcPts val="1438"/>
              </a:lnSpc>
            </a:pPr>
            <a:r>
              <a:rPr lang="en-US" sz="1110">
                <a:solidFill>
                  <a:srgbClr val="64748B"/>
                </a:solidFill>
                <a:latin typeface="DM Sans"/>
                <a:ea typeface="DM Sans"/>
                <a:cs typeface="DM Sans"/>
                <a:sym typeface="DM Sans"/>
              </a:rPr>
              <a:t>1_presentation/figures/fig_window.png</a:t>
            </a:r>
          </a:p>
        </p:txBody>
      </p:sp>
      <p:grpSp>
        <p:nvGrpSpPr>
          <p:cNvPr name="Group 36" id="36"/>
          <p:cNvGrpSpPr/>
          <p:nvPr/>
        </p:nvGrpSpPr>
        <p:grpSpPr>
          <a:xfrm rot="0">
            <a:off x="6476686" y="4882896"/>
            <a:ext cx="1187825" cy="850392"/>
            <a:chOff x="0" y="0"/>
            <a:chExt cx="1583766" cy="1133856"/>
          </a:xfrm>
        </p:grpSpPr>
        <p:sp>
          <p:nvSpPr>
            <p:cNvPr name="Freeform 37" id="37" descr="fig_maker.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4"/>
              <a:stretch>
                <a:fillRect l="0" t="0" r="3" b="0"/>
              </a:stretch>
            </a:blipFill>
          </p:spPr>
          <p:txBody>
            <a:bodyPr/>
            <a:p/>
          </p:txBody>
        </p:sp>
      </p:grpSp>
      <p:sp>
        <p:nvSpPr>
          <p:cNvPr name="TextBox 38" id="38"/>
          <p:cNvSpPr txBox="true"/>
          <p:nvPr/>
        </p:nvSpPr>
        <p:spPr>
          <a:xfrm rot="0">
            <a:off x="785012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Evidence gallery + tool output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our files, screen capture, 19 Oct tool runs</a:t>
            </a:r>
          </a:p>
          <a:p>
            <a:pPr algn="l">
              <a:lnSpc>
                <a:spcPts val="1438"/>
              </a:lnSpc>
            </a:pPr>
            <a:r>
              <a:rPr lang="en-US" sz="1110">
                <a:solidFill>
                  <a:srgbClr val="64748B"/>
                </a:solidFill>
                <a:latin typeface="DM Sans"/>
                <a:ea typeface="DM Sans"/>
                <a:cs typeface="DM Sans"/>
                <a:sym typeface="DM Sans"/>
              </a:rPr>
              <a:t>1_presentation/figures/fig_maker.png</a:t>
            </a:r>
          </a:p>
        </p:txBody>
      </p:sp>
      <p:grpSp>
        <p:nvGrpSpPr>
          <p:cNvPr name="Group 39" id="39"/>
          <p:cNvGrpSpPr/>
          <p:nvPr/>
        </p:nvGrpSpPr>
        <p:grpSpPr>
          <a:xfrm rot="0">
            <a:off x="12100246" y="4882896"/>
            <a:ext cx="1187825" cy="850392"/>
            <a:chOff x="0" y="0"/>
            <a:chExt cx="1583766" cy="1133856"/>
          </a:xfrm>
        </p:grpSpPr>
        <p:sp>
          <p:nvSpPr>
            <p:cNvPr name="Freeform 40" id="40" descr="fig_decision.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5"/>
              <a:stretch>
                <a:fillRect l="0" t="0" r="3" b="0"/>
              </a:stretch>
            </a:blipFill>
          </p:spPr>
          <p:txBody>
            <a:bodyPr/>
            <a:p/>
          </p:txBody>
        </p:sp>
      </p:grpSp>
      <p:sp>
        <p:nvSpPr>
          <p:cNvPr name="TextBox 41" id="41"/>
          <p:cNvSpPr txBox="true"/>
          <p:nvPr/>
        </p:nvSpPr>
        <p:spPr>
          <a:xfrm rot="0">
            <a:off x="1347368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Decision matrix + iterations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decision_matrix.md</a:t>
            </a:r>
          </a:p>
          <a:p>
            <a:pPr algn="l">
              <a:lnSpc>
                <a:spcPts val="1438"/>
              </a:lnSpc>
            </a:pPr>
            <a:r>
              <a:rPr lang="en-US" sz="1110">
                <a:solidFill>
                  <a:srgbClr val="64748B"/>
                </a:solidFill>
                <a:latin typeface="DM Sans"/>
                <a:ea typeface="DM Sans"/>
                <a:cs typeface="DM Sans"/>
                <a:sym typeface="DM Sans"/>
              </a:rPr>
              <a:t>1_presentation/figures/fig_decision.png</a:t>
            </a:r>
          </a:p>
        </p:txBody>
      </p:sp>
      <p:grpSp>
        <p:nvGrpSpPr>
          <p:cNvPr name="Group 42" id="42"/>
          <p:cNvGrpSpPr/>
          <p:nvPr/>
        </p:nvGrpSpPr>
        <p:grpSpPr>
          <a:xfrm rot="0">
            <a:off x="795528" y="6222016"/>
            <a:ext cx="1303020" cy="778193"/>
            <a:chOff x="0" y="0"/>
            <a:chExt cx="1737360" cy="1037590"/>
          </a:xfrm>
        </p:grpSpPr>
        <p:sp>
          <p:nvSpPr>
            <p:cNvPr name="Freeform 43" id="43" descr="fig_fmea.png"/>
            <p:cNvSpPr/>
            <p:nvPr/>
          </p:nvSpPr>
          <p:spPr>
            <a:xfrm flipH="false" flipV="false" rot="0">
              <a:off x="0" y="0"/>
              <a:ext cx="1737360" cy="1037590"/>
            </a:xfrm>
            <a:custGeom>
              <a:avLst/>
              <a:gdLst/>
              <a:ahLst/>
              <a:cxnLst/>
              <a:rect r="r" b="b" t="t" l="l"/>
              <a:pathLst>
                <a:path h="1037590" w="1737360">
                  <a:moveTo>
                    <a:pt x="0" y="0"/>
                  </a:moveTo>
                  <a:lnTo>
                    <a:pt x="1737360" y="0"/>
                  </a:lnTo>
                  <a:lnTo>
                    <a:pt x="1737360" y="1037590"/>
                  </a:lnTo>
                  <a:lnTo>
                    <a:pt x="0" y="1037590"/>
                  </a:lnTo>
                  <a:lnTo>
                    <a:pt x="0" y="0"/>
                  </a:lnTo>
                  <a:close/>
                </a:path>
              </a:pathLst>
            </a:custGeom>
            <a:blipFill>
              <a:blip r:embed="rId16"/>
              <a:stretch>
                <a:fillRect l="0" t="0" r="0" b="0"/>
              </a:stretch>
            </a:blipFill>
          </p:spPr>
          <p:txBody>
            <a:bodyPr/>
            <a:p/>
          </p:txBody>
        </p:sp>
      </p:grpSp>
      <p:sp>
        <p:nvSpPr>
          <p:cNvPr name="TextBox 44" id="44"/>
          <p:cNvSpPr txBox="true"/>
          <p:nvPr/>
        </p:nvSpPr>
        <p:spPr>
          <a:xfrm rot="0">
            <a:off x="222656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FMEA risk ranking</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fmea_v0_1.csv</a:t>
            </a:r>
          </a:p>
          <a:p>
            <a:pPr algn="l">
              <a:lnSpc>
                <a:spcPts val="1438"/>
              </a:lnSpc>
            </a:pPr>
            <a:r>
              <a:rPr lang="en-US" sz="1110">
                <a:solidFill>
                  <a:srgbClr val="64748B"/>
                </a:solidFill>
                <a:latin typeface="DM Sans"/>
                <a:ea typeface="DM Sans"/>
                <a:cs typeface="DM Sans"/>
                <a:sym typeface="DM Sans"/>
              </a:rPr>
              <a:t>1_presentation/figures/fig_fmea.png</a:t>
            </a:r>
          </a:p>
        </p:txBody>
      </p:sp>
      <p:grpSp>
        <p:nvGrpSpPr>
          <p:cNvPr name="Group 45" id="45"/>
          <p:cNvGrpSpPr/>
          <p:nvPr/>
        </p:nvGrpSpPr>
        <p:grpSpPr>
          <a:xfrm rot="0">
            <a:off x="6419088" y="6495993"/>
            <a:ext cx="1303020" cy="230229"/>
            <a:chOff x="0" y="0"/>
            <a:chExt cx="1737360" cy="306972"/>
          </a:xfrm>
        </p:grpSpPr>
        <p:sp>
          <p:nvSpPr>
            <p:cNvPr name="Freeform 46" id="46" descr="fig_roadmap.png"/>
            <p:cNvSpPr/>
            <p:nvPr/>
          </p:nvSpPr>
          <p:spPr>
            <a:xfrm flipH="false" flipV="false" rot="0">
              <a:off x="0" y="0"/>
              <a:ext cx="1737360" cy="306959"/>
            </a:xfrm>
            <a:custGeom>
              <a:avLst/>
              <a:gdLst/>
              <a:ahLst/>
              <a:cxnLst/>
              <a:rect r="r" b="b" t="t" l="l"/>
              <a:pathLst>
                <a:path h="306959" w="1737360">
                  <a:moveTo>
                    <a:pt x="0" y="0"/>
                  </a:moveTo>
                  <a:lnTo>
                    <a:pt x="1737360" y="0"/>
                  </a:lnTo>
                  <a:lnTo>
                    <a:pt x="1737360" y="306959"/>
                  </a:lnTo>
                  <a:lnTo>
                    <a:pt x="0" y="306959"/>
                  </a:lnTo>
                  <a:lnTo>
                    <a:pt x="0" y="0"/>
                  </a:lnTo>
                  <a:close/>
                </a:path>
              </a:pathLst>
            </a:custGeom>
            <a:blipFill>
              <a:blip r:embed="rId17"/>
              <a:stretch>
                <a:fillRect l="0" t="0" r="0" b="-4"/>
              </a:stretch>
            </a:blipFill>
          </p:spPr>
          <p:txBody>
            <a:bodyPr/>
            <a:p/>
          </p:txBody>
        </p:sp>
      </p:grpSp>
      <p:sp>
        <p:nvSpPr>
          <p:cNvPr name="TextBox 47" id="47"/>
          <p:cNvSpPr txBox="true"/>
          <p:nvPr/>
        </p:nvSpPr>
        <p:spPr>
          <a:xfrm rot="0">
            <a:off x="785012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4-month roadmap</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E2/bench/E4 plans</a:t>
            </a:r>
          </a:p>
          <a:p>
            <a:pPr algn="l">
              <a:lnSpc>
                <a:spcPts val="1438"/>
              </a:lnSpc>
            </a:pPr>
            <a:r>
              <a:rPr lang="en-US" sz="1110">
                <a:solidFill>
                  <a:srgbClr val="64748B"/>
                </a:solidFill>
                <a:latin typeface="DM Sans"/>
                <a:ea typeface="DM Sans"/>
                <a:cs typeface="DM Sans"/>
                <a:sym typeface="DM Sans"/>
              </a:rPr>
              <a:t>1_presentation/figures/fig_roadmap.png</a:t>
            </a:r>
          </a:p>
        </p:txBody>
      </p:sp>
      <p:grpSp>
        <p:nvGrpSpPr>
          <p:cNvPr name="Group 48" id="48"/>
          <p:cNvGrpSpPr/>
          <p:nvPr/>
        </p:nvGrpSpPr>
        <p:grpSpPr>
          <a:xfrm rot="0">
            <a:off x="12042648" y="6522768"/>
            <a:ext cx="1303020" cy="176689"/>
            <a:chOff x="0" y="0"/>
            <a:chExt cx="1737360" cy="235585"/>
          </a:xfrm>
        </p:grpSpPr>
        <p:sp>
          <p:nvSpPr>
            <p:cNvPr name="Freeform 49" id="49" descr="fig_challenges.png"/>
            <p:cNvSpPr/>
            <p:nvPr/>
          </p:nvSpPr>
          <p:spPr>
            <a:xfrm flipH="false" flipV="false" rot="0">
              <a:off x="0" y="0"/>
              <a:ext cx="1737360" cy="235585"/>
            </a:xfrm>
            <a:custGeom>
              <a:avLst/>
              <a:gdLst/>
              <a:ahLst/>
              <a:cxnLst/>
              <a:rect r="r" b="b" t="t" l="l"/>
              <a:pathLst>
                <a:path h="235585" w="1737360">
                  <a:moveTo>
                    <a:pt x="0" y="0"/>
                  </a:moveTo>
                  <a:lnTo>
                    <a:pt x="1737360" y="0"/>
                  </a:lnTo>
                  <a:lnTo>
                    <a:pt x="1737360" y="235585"/>
                  </a:lnTo>
                  <a:lnTo>
                    <a:pt x="0" y="235585"/>
                  </a:lnTo>
                  <a:lnTo>
                    <a:pt x="0" y="0"/>
                  </a:lnTo>
                  <a:close/>
                </a:path>
              </a:pathLst>
            </a:custGeom>
            <a:blipFill>
              <a:blip r:embed="rId18"/>
              <a:stretch>
                <a:fillRect l="0" t="0" r="0" b="0"/>
              </a:stretch>
            </a:blipFill>
          </p:spPr>
          <p:txBody>
            <a:bodyPr/>
            <a:p/>
          </p:txBody>
        </p:sp>
      </p:grpSp>
      <p:sp>
        <p:nvSpPr>
          <p:cNvPr name="TextBox 50" id="50"/>
          <p:cNvSpPr txBox="true"/>
          <p:nvPr/>
        </p:nvSpPr>
        <p:spPr>
          <a:xfrm rot="0">
            <a:off x="1347368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Seal clash + lead-break diagrams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geometry + FMEA</a:t>
            </a:r>
          </a:p>
          <a:p>
            <a:pPr algn="l">
              <a:lnSpc>
                <a:spcPts val="1438"/>
              </a:lnSpc>
            </a:pPr>
            <a:r>
              <a:rPr lang="en-US" sz="1110">
                <a:solidFill>
                  <a:srgbClr val="64748B"/>
                </a:solidFill>
                <a:latin typeface="DM Sans"/>
                <a:ea typeface="DM Sans"/>
                <a:cs typeface="DM Sans"/>
                <a:sym typeface="DM Sans"/>
              </a:rPr>
              <a:t>1_presentation/figures/fig_challenges.png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DAHYfnt5Ke0</dc:identifier>
  <dcterms:modified xsi:type="dcterms:W3CDTF">2011-08-01T06:04:30Z</dcterms:modified>
  <cp:revision>1</cp:revision>
  <dc:title>Vishwakarma Awards 2026–27 Stage 2 — Human-Centred Edit</dc:title>
</cp:coreProperties>
</file>