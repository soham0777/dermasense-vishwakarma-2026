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notesMasterIdLst>
    <p:notesMasterId r:id="rId2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Lst>
  <p:sldSz cx="18288000" cy="10287000"/>
  <p:notesSz cx="6858000" cy="9144000"/>
  <p:embeddedFontLst>
    <p:embeddedFont>
      <p:font typeface="Poppins Bold" charset="1" panose="00000800000000000000"/>
      <p:regular r:id="rId28"/>
    </p:embeddedFont>
    <p:embeddedFont>
      <p:font typeface="Poppins" charset="1" panose="00000500000000000000"/>
      <p:regular r:id="rId29"/>
    </p:embeddedFont>
    <p:embeddedFont>
      <p:font typeface="DM Sans Bold" charset="1" panose="00000000000000000000"/>
      <p:regular r:id="rId31"/>
    </p:embeddedFont>
    <p:embeddedFont>
      <p:font typeface="DM Sans" charset="1" panose="00000000000000000000"/>
      <p:regular r:id="rId32"/>
    </p:embeddedFont>
    <p:embeddedFont>
      <p:font typeface="Arial Bold" charset="1" panose="020B0704020202020204"/>
      <p:regular r:id="rId34"/>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esProps" Target="presProps.xml"/><Relationship Id="rId3" Type="http://schemas.openxmlformats.org/officeDocument/2006/relationships/viewProps" Target="viewProps.xml"/><Relationship Id="rId4" Type="http://schemas.openxmlformats.org/officeDocument/2006/relationships/theme" Target="theme/theme1.xml"/><Relationship Id="rId5" Type="http://schemas.openxmlformats.org/officeDocument/2006/relationships/tableStyles" Target="tableStyles.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notesMaster" Target="notesMasters/notesMaster1.xml"/><Relationship Id="rId26" Type="http://schemas.openxmlformats.org/officeDocument/2006/relationships/theme" Target="theme/theme2.xml"/><Relationship Id="rId27" Type="http://schemas.openxmlformats.org/officeDocument/2006/relationships/notesSlide" Target="notesSlides/notesSlide1.xml"/><Relationship Id="rId28" Type="http://schemas.openxmlformats.org/officeDocument/2006/relationships/font" Target="fonts/font28.fntdata"/><Relationship Id="rId29" Type="http://schemas.openxmlformats.org/officeDocument/2006/relationships/font" Target="fonts/font29.fntdata"/><Relationship Id="rId30" Type="http://schemas.openxmlformats.org/officeDocument/2006/relationships/notesSlide" Target="notesSlides/notesSlide2.xml"/><Relationship Id="rId31" Type="http://schemas.openxmlformats.org/officeDocument/2006/relationships/font" Target="fonts/font31.fntdata"/><Relationship Id="rId32" Type="http://schemas.openxmlformats.org/officeDocument/2006/relationships/font" Target="fonts/font32.fntdata"/><Relationship Id="rId33" Type="http://schemas.openxmlformats.org/officeDocument/2006/relationships/notesSlide" Target="notesSlides/notesSlide3.xml"/><Relationship Id="rId34" Type="http://schemas.openxmlformats.org/officeDocument/2006/relationships/font" Target="fonts/font34.fntdata"/><Relationship Id="rId35" Type="http://schemas.openxmlformats.org/officeDocument/2006/relationships/notesSlide" Target="notesSlides/notesSlide4.xml"/><Relationship Id="rId36" Type="http://schemas.openxmlformats.org/officeDocument/2006/relationships/notesSlide" Target="notesSlides/notesSlide5.xml"/><Relationship Id="rId37" Type="http://schemas.openxmlformats.org/officeDocument/2006/relationships/notesSlide" Target="notesSlides/notesSlide6.xml"/><Relationship Id="rId38" Type="http://schemas.openxmlformats.org/officeDocument/2006/relationships/notesSlide" Target="notesSlides/notesSlide7.xml"/><Relationship Id="rId39" Type="http://schemas.openxmlformats.org/officeDocument/2006/relationships/notesSlide" Target="notesSlides/notesSlide8.xml"/><Relationship Id="rId40" Type="http://schemas.openxmlformats.org/officeDocument/2006/relationships/notesSlide" Target="notesSlides/notesSlide9.xml"/><Relationship Id="rId41" Type="http://schemas.openxmlformats.org/officeDocument/2006/relationships/notesSlide" Target="notesSlides/notesSlide10.xml"/><Relationship Id="rId42" Type="http://schemas.openxmlformats.org/officeDocument/2006/relationships/notesSlide" Target="notesSlides/notesSlide11.xml"/><Relationship Id="rId43" Type="http://schemas.openxmlformats.org/officeDocument/2006/relationships/notesSlide" Target="notesSlides/notesSlide12.xml"/><Relationship Id="rId44" Type="http://schemas.openxmlformats.org/officeDocument/2006/relationships/notesSlide" Target="notesSlides/notesSlide13.xml"/><Relationship Id="rId45" Type="http://schemas.openxmlformats.org/officeDocument/2006/relationships/notesSlide" Target="notesSlides/notesSlide14.xml"/><Relationship Id="rId46" Type="http://schemas.openxmlformats.org/officeDocument/2006/relationships/notesSlide" Target="notesSlides/notesSlide15.xml"/><Relationship Id="rId47" Type="http://schemas.openxmlformats.org/officeDocument/2006/relationships/notesSlide" Target="notesSlides/notesSlide16.xml"/><Relationship Id="rId48" Type="http://schemas.openxmlformats.org/officeDocument/2006/relationships/notesSlide" Target="notesSlides/notesSlide17.xml"/><Relationship Id="rId49" Type="http://schemas.openxmlformats.org/officeDocument/2006/relationships/notesSlide" Target="notesSlides/notesSlide18.xml"/><Relationship Id="rId50" Type="http://schemas.openxmlformats.org/officeDocument/2006/relationships/notesSlide" Target="notesSlides/not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lang="cs-CZ"/>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fld id="{B7268E1E-0E44-426D-905E-8AD9B19D2182}" type="datetimeFigureOut">
              <a:rPr lang="cs-CZ" smtClean="0"/>
              <a:t>1.7.2013</a:t>
            </a:fld>
            <a:endParaRPr lang="cs-CZ"/>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lang="cs-CZ"/>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cs-CZ"/>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lang="cs-CZ"/>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fld id="{871B2431-D351-4C6E-A3CF-9DFAC0E3E050}" type="slidenum">
              <a:rPr lang="cs-CZ" smtClean="0"/>
              <a:t>‹#›</a:t>
            </a:fld>
            <a:endParaRPr lang="cs-CZ"/>
          </a:p>
        </p:txBody>
      </p:sp>
    </p:spTree>
    <p:extLst>
      <p:ext uri="{BB962C8B-B14F-4D97-AF65-F5344CB8AC3E}">
        <p14:creationId xmlns:p14="http://schemas.microsoft.com/office/powerpoint/2010/main" val="17988891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Template page 1 asks only for the Vishwakarma Application ID; team names added. Project title, track and core innovation are in the Project Overview bar on slide 2 (as in the template's example page 4).</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2.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Milne 2016 [1]: 264 of 588 changes at optimal moisture (WoundSense spot readings). Change rules: some foam dressings ~2 cm from the pad edge [2]; ALLEVYN LIFE 'At 75%, it's time to change' [14]. Exudate 0.10-1.3 g/cm2/day by two methods [6]. Template page 2: Project Overview + Problem Statement.</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3.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Ticks are our reading of each source: WoundSense readings in Milne 2016 [1] were spot checks at dressing change; Jiang 2022 [5] is a mouse-model closed-loop bandage; diaper patents [4] use a strip plus clip-on detector; ALLEVYN LIFE [14] has a visual change indicator. Source: 2_research/research_gap.md.</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4.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WHO: Gupta 2004 [16] 31 chronic wounds in 6,917 people (4.5/1,000); Sharma 2024 [17] 19 in 10,003 (1.9/1,000), diabetic foot ulcers 36.8 % of them; ICMR-INDIAB [18] 101 million (11.4 %); Armstrong 2017 [19] 19-34 % lifetime (review estimate; upper bound contested); Price 2008 [20] 790 of 2,018 patients. Persona is illustrative, built from these data; not a real patient or interview. Quantified: Mölnlycke survey [13], Milne [1], Truemeds [15].</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5.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Targets and projections, not results. 'Up to 44.9 %' assumes every change waits for CHANGE; some changes have other clinical reasons. Payback: strip &lt;= Rs 100 (estimate) / dressing Rs 242-514 [15] = 0.19-0.41. Bluetooth: compiled and tested in software only (bench test T11 pending); no phone app yet.</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6.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Electrode lines/gaps 1.0 mm (provisional until E2). Windows 6 x 3.9 mm. Expected wet 4.2-14.8 kOhm, dry &gt;= 1 MOhm (calc_readout.py). Self-check: 100 kOhm 0.1 % resistor (+/-5 %) and COM loop -&gt; FAULT. BLE: one 13-byte advertisement per scan (ble_beacon.h), compiled, not run on hardware. Sources: config.h, strip_v0_1_geometry.json.</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7.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ADS1115 single-shot 128 SPS, auto-range; A1 reads the 3V3 rail. Rx from both phases, averaged, scaled by the check resistor (+/-5 % else FAULT), minus 2 kOhm protection. Idle pins high-Z; zones frozen during FAULT. Compiles for ESP32-C3 with 0 warnings (650,349 bytes, 49 % of flash, with Bluetooth). BLE payload: state, wet flags, scan number, both zone resistances; unencrypted, test company ID 0xFFFF, bench only. Decoder: 7_firmware/tools/decode_beacon.py.</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8.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Hand calculations: 5_cad/calc_mechanical_report.md (pin rate 0.49 N/mm from the P75-B1 listing; 1.48 mm compression; lid 4.0 mm PETG, span 35.7 mm, simply supported; tolerance stack worst case 0.49 mm, RSS 0.25 mm; t/2R strain; 10 N tug at the dowels). No FEA: loads are under 3 N, so stresses are far below PETG limits; SolidWorks Simulation is available if the judges want plots. CAD checks: 5_cad/verify_cad_report.md.</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9.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Graphene not confirmed until Raman. Machine (LaserCAD config): 1200 x 900 mm bed, 20 kHz PWM, 98 % cap. Logged per layer: min/max power, speed, 0.1 mm interval, passes, scan direction, focus, tube current. E2 = 4 bracket coupons (power 10/12/14, speed x0.67/1/1.5) + 3 resolution coupons.</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0.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Full pin map: 7_firmware/WIRING.md (generated from the netlist). I2C on GPIO6/7 (ADS1115 0x48); A1 = 3V3 rail; LEDs on GPIO0/1/21; strapping pins GPIO2/8/9 unused.</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1.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Line items: 6_electronics/bom_v0_1.csv (23 lines, each traced to the file that needs it). First order: silver paint, 1 % resistor set, 0.1 % 100 kOhm resistors, ADS1115, ESP32-C3. Quoted 19 Oct 2026 incl. GST: Probots PRO4607 ESP32-C3 SuperMini Rs 242; Probots PRO789 ADS1115 Rs 125; Hubtronics 05880 P75-B1 pack of 100 Rs 354. Total leaves out the borrowed meter, USB cable and E4 dressings. Ranges = sum of min/max estimates.</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2.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TEAM TO DO: replace the two photo placeholders (right-click &gt; Change Picture, or put team.jpg and lab1.jpg in Stage2_Review_Output_2026-10-20/team_photos/ and rebuild), and the roles. Template page 11: lab photos of team members with institutional ID badges; joint photo with a faculty mentor only if one is attached. Every commit since 14 Oct carries a Co-Authored-By: Claude line.</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3.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5 concepts scored on 13 weighted criteria (3_decisions/decision_matrix.md). Verification fixes: seal moved off the clamp; STEP was in cm, now mm; drawings rebuilt first-angle. FMEA F04 (cracked sense lead reads dry, RPN 224). 4 zones were cut to 2 until E2 proves finer lines. Stage 1 also estimated '60 % fewer changes'; we dropped that number (no source). IP: concept and files are the team's own; no patent filed yet.</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4.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Full FMEA: 3_decisions/fmea_v0_1.md (15 modes). Laser safety: signed checklist each session (4_sensor_strip/e2_experiment/E2_safety_checklist.md). Bench test T8 checks average DC &lt; 5 mV.</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5.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Gates: G1 E2 Rs CV &lt;= 20 %; G2 reader bench test T0-T11; G3 E4 alert within +/-10 %; G4 live demo with logged raw data. Programme dates (vishwakarma-awards.org and the Internshala listing, read 19 Oct 2026): prototype video + updated PPT in December (listing: 4 Dec 2026); Health Tech semi-final interviews in January; IIT Indore bootcamp and finale 26 Jan - 1 Feb 2027. No patient use. Raman/SEM via a partner lab if access is granted.</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6.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Evidence: 5_cad/verify_cad_report.md (interference), 3_decisions/fmea_v0_1.md, 4_sensor_strip/machine_record.md.</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7.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Future scope details: 4_sensor_strip/e2_experiment/E2_measurements_and_unknowns.md.</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8.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Full list: 2_research/literature.csv and research_matrix.csv (41 + 16 entries); refs 16-20 added 20 Oct (Stage2_Review_Output_2026-10-20/new_sources.csv).</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9.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Generators: 1_presentation/render_cad.py and make_figures.py. Photos: 1_presentation/team_photos/.</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9.png"/><Relationship Id="rId8" Type="http://schemas.openxmlformats.org/officeDocument/2006/relationships/image" Target="../media/image10.png"/><Relationship Id="rId9" Type="http://schemas.openxmlformats.org/officeDocument/2006/relationships/image" Target="../media/image11.png"/><Relationship Id="rId10" Type="http://schemas.openxmlformats.org/officeDocument/2006/relationships/image" Target="../media/image12.png"/><Relationship Id="rId11" Type="http://schemas.openxmlformats.org/officeDocument/2006/relationships/image" Target="../media/image3.png"/><Relationship Id="rId12" Type="http://schemas.openxmlformats.org/officeDocument/2006/relationships/image" Target="../media/image4.png"/><Relationship Id="rId13" Type="http://schemas.openxmlformats.org/officeDocument/2006/relationships/image" Target="../media/image1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10.png"/><Relationship Id="rId6" Type="http://schemas.openxmlformats.org/officeDocument/2006/relationships/image" Target="../media/image11.png"/><Relationship Id="rId7" Type="http://schemas.openxmlformats.org/officeDocument/2006/relationships/image" Target="../media/image14.jpeg"/><Relationship Id="rId8" Type="http://schemas.openxmlformats.org/officeDocument/2006/relationships/image" Target="../media/image12.png"/><Relationship Id="rId9" Type="http://schemas.openxmlformats.org/officeDocument/2006/relationships/image" Target="../media/image3.png"/><Relationship Id="rId10"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9.png"/><Relationship Id="rId8" Type="http://schemas.openxmlformats.org/officeDocument/2006/relationships/image" Target="../media/image10.png"/><Relationship Id="rId9" Type="http://schemas.openxmlformats.org/officeDocument/2006/relationships/image" Target="../media/image11.png"/><Relationship Id="rId10" Type="http://schemas.openxmlformats.org/officeDocument/2006/relationships/image" Target="../media/image14.jpeg"/><Relationship Id="rId11" Type="http://schemas.openxmlformats.org/officeDocument/2006/relationships/image" Target="../media/image12.png"/><Relationship Id="rId12" Type="http://schemas.openxmlformats.org/officeDocument/2006/relationships/image" Target="../media/image3.png"/><Relationship Id="rId13"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9.png"/><Relationship Id="rId8" Type="http://schemas.openxmlformats.org/officeDocument/2006/relationships/image" Target="../media/image10.png"/><Relationship Id="rId9" Type="http://schemas.openxmlformats.org/officeDocument/2006/relationships/image" Target="../media/image11.png"/><Relationship Id="rId10" Type="http://schemas.openxmlformats.org/officeDocument/2006/relationships/image" Target="../media/image14.jpeg"/><Relationship Id="rId11" Type="http://schemas.openxmlformats.org/officeDocument/2006/relationships/image" Target="../media/image12.png"/><Relationship Id="rId12" Type="http://schemas.openxmlformats.org/officeDocument/2006/relationships/image" Target="../media/image3.png"/><Relationship Id="rId13"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4.jpeg"/><Relationship Id="rId8" Type="http://schemas.openxmlformats.org/officeDocument/2006/relationships/image" Target="../media/image17.png"/><Relationship Id="rId9" Type="http://schemas.openxmlformats.org/officeDocument/2006/relationships/image" Target="../media/image3.png"/><Relationship Id="rId10" Type="http://schemas.openxmlformats.org/officeDocument/2006/relationships/image" Target="../media/image4.png"/><Relationship Id="rId11" Type="http://schemas.openxmlformats.org/officeDocument/2006/relationships/image" Target="../media/image18.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4.jpeg"/><Relationship Id="rId8" Type="http://schemas.openxmlformats.org/officeDocument/2006/relationships/image" Target="../media/image19.png"/><Relationship Id="rId9" Type="http://schemas.openxmlformats.org/officeDocument/2006/relationships/image" Target="../media/image3.png"/><Relationship Id="rId10" Type="http://schemas.openxmlformats.org/officeDocument/2006/relationships/image" Target="../media/image4.png"/><Relationship Id="rId11" Type="http://schemas.openxmlformats.org/officeDocument/2006/relationships/image" Target="../media/image2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4.jpeg"/><Relationship Id="rId8" Type="http://schemas.openxmlformats.org/officeDocument/2006/relationships/image" Target="../media/image19.png"/><Relationship Id="rId9" Type="http://schemas.openxmlformats.org/officeDocument/2006/relationships/image" Target="../media/image3.png"/><Relationship Id="rId10" Type="http://schemas.openxmlformats.org/officeDocument/2006/relationships/image" Target="../media/image4.png"/><Relationship Id="rId11" Type="http://schemas.openxmlformats.org/officeDocument/2006/relationships/image" Target="../media/image2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4.jpeg"/><Relationship Id="rId8" Type="http://schemas.openxmlformats.org/officeDocument/2006/relationships/image" Target="../media/image19.png"/><Relationship Id="rId9" Type="http://schemas.openxmlformats.org/officeDocument/2006/relationships/image" Target="../media/image3.png"/><Relationship Id="rId10" Type="http://schemas.openxmlformats.org/officeDocument/2006/relationships/image" Target="../media/image4.png"/><Relationship Id="rId11" Type="http://schemas.openxmlformats.org/officeDocument/2006/relationships/image" Target="../media/image2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4.jpeg"/><Relationship Id="rId8" Type="http://schemas.openxmlformats.org/officeDocument/2006/relationships/image" Target="../media/image23.png"/><Relationship Id="rId9" Type="http://schemas.openxmlformats.org/officeDocument/2006/relationships/image" Target="../media/image3.png"/><Relationship Id="rId10" Type="http://schemas.openxmlformats.org/officeDocument/2006/relationships/image" Target="../media/image4.png"/><Relationship Id="rId11" Type="http://schemas.openxmlformats.org/officeDocument/2006/relationships/image" Target="../media/image2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4.jpeg"/><Relationship Id="rId8" Type="http://schemas.openxmlformats.org/officeDocument/2006/relationships/image" Target="../media/image23.png"/><Relationship Id="rId9" Type="http://schemas.openxmlformats.org/officeDocument/2006/relationships/image" Target="../media/image3.png"/><Relationship Id="rId10" Type="http://schemas.openxmlformats.org/officeDocument/2006/relationships/image" Target="../media/image4.png"/><Relationship Id="rId11" Type="http://schemas.openxmlformats.org/officeDocument/2006/relationships/image" Target="../media/image2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4.jpeg"/><Relationship Id="rId8" Type="http://schemas.openxmlformats.org/officeDocument/2006/relationships/image" Target="../media/image26.png"/><Relationship Id="rId9" Type="http://schemas.openxmlformats.org/officeDocument/2006/relationships/image" Target="../media/image3.png"/><Relationship Id="rId10" Type="http://schemas.openxmlformats.org/officeDocument/2006/relationships/image" Target="../media/image4.png"/><Relationship Id="rId11" Type="http://schemas.openxmlformats.org/officeDocument/2006/relationships/image" Target="../media/image27.png"/><Relationship Id="rId12" Type="http://schemas.openxmlformats.org/officeDocument/2006/relationships/image" Target="../media/image28.jpeg"/><Relationship Id="rId13" Type="http://schemas.openxmlformats.org/officeDocument/2006/relationships/hyperlink" Target="https://github.com/soham0777/dermasense-vishwakarma-2026" TargetMode="External"/><Relationship Id="rId14" Type="http://schemas.openxmlformats.org/officeDocument/2006/relationships/image" Target="../media/image46.jpg"/><Relationship Id="rId15" Type="http://schemas.openxmlformats.org/officeDocument/2006/relationships/image" Target="../media/image47.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4.jpeg"/><Relationship Id="rId8" Type="http://schemas.openxmlformats.org/officeDocument/2006/relationships/image" Target="../media/image26.png"/><Relationship Id="rId9" Type="http://schemas.openxmlformats.org/officeDocument/2006/relationships/image" Target="../media/image3.png"/><Relationship Id="rId10" Type="http://schemas.openxmlformats.org/officeDocument/2006/relationships/image" Target="../media/image4.png"/><Relationship Id="rId11" Type="http://schemas.openxmlformats.org/officeDocument/2006/relationships/image" Target="../media/image29.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5.png"/><Relationship Id="rId4" Type="http://schemas.openxmlformats.org/officeDocument/2006/relationships/image" Target="../media/image30.png"/><Relationship Id="rId5" Type="http://schemas.openxmlformats.org/officeDocument/2006/relationships/image" Target="../media/image31.png"/><Relationship Id="rId6" Type="http://schemas.openxmlformats.org/officeDocument/2006/relationships/image" Target="../media/image32.png"/><Relationship Id="rId7" Type="http://schemas.openxmlformats.org/officeDocument/2006/relationships/image" Target="../media/image14.jpeg"/><Relationship Id="rId8" Type="http://schemas.openxmlformats.org/officeDocument/2006/relationships/image" Target="../media/image33.png"/><Relationship Id="rId9" Type="http://schemas.openxmlformats.org/officeDocument/2006/relationships/image" Target="../media/image34.png"/><Relationship Id="rId10" Type="http://schemas.openxmlformats.org/officeDocument/2006/relationships/image" Target="../media/image35.png"/><Relationship Id="rId11" Type="http://schemas.openxmlformats.org/officeDocument/2006/relationships/image" Target="../media/image3.png"/><Relationship Id="rId12" Type="http://schemas.openxmlformats.org/officeDocument/2006/relationships/image" Target="../media/image4.png"/><Relationship Id="rId13" Type="http://schemas.openxmlformats.org/officeDocument/2006/relationships/image" Target="../media/image3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5.png"/><Relationship Id="rId4" Type="http://schemas.openxmlformats.org/officeDocument/2006/relationships/image" Target="../media/image30.png"/><Relationship Id="rId5" Type="http://schemas.openxmlformats.org/officeDocument/2006/relationships/image" Target="../media/image31.png"/><Relationship Id="rId6" Type="http://schemas.openxmlformats.org/officeDocument/2006/relationships/image" Target="../media/image32.png"/><Relationship Id="rId7" Type="http://schemas.openxmlformats.org/officeDocument/2006/relationships/image" Target="../media/image14.jpeg"/><Relationship Id="rId8" Type="http://schemas.openxmlformats.org/officeDocument/2006/relationships/image" Target="../media/image33.png"/><Relationship Id="rId9" Type="http://schemas.openxmlformats.org/officeDocument/2006/relationships/image" Target="../media/image34.png"/><Relationship Id="rId10" Type="http://schemas.openxmlformats.org/officeDocument/2006/relationships/image" Target="../media/image35.png"/><Relationship Id="rId11" Type="http://schemas.openxmlformats.org/officeDocument/2006/relationships/image" Target="../media/image3.png"/><Relationship Id="rId12" Type="http://schemas.openxmlformats.org/officeDocument/2006/relationships/image" Target="../media/image4.png"/><Relationship Id="rId13" Type="http://schemas.openxmlformats.org/officeDocument/2006/relationships/image" Target="../media/image3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38.png"/><Relationship Id="rId6" Type="http://schemas.openxmlformats.org/officeDocument/2006/relationships/image" Target="../media/image39.png"/><Relationship Id="rId7" Type="http://schemas.openxmlformats.org/officeDocument/2006/relationships/image" Target="../media/image40.png"/><Relationship Id="rId8" Type="http://schemas.openxmlformats.org/officeDocument/2006/relationships/image" Target="../media/image14.jpeg"/><Relationship Id="rId9" Type="http://schemas.openxmlformats.org/officeDocument/2006/relationships/image" Target="../media/image41.png"/><Relationship Id="rId10" Type="http://schemas.openxmlformats.org/officeDocument/2006/relationships/image" Target="../media/image42.png"/><Relationship Id="rId11" Type="http://schemas.openxmlformats.org/officeDocument/2006/relationships/image" Target="../media/image43.png"/><Relationship Id="rId12" Type="http://schemas.openxmlformats.org/officeDocument/2006/relationships/image" Target="../media/image3.png"/><Relationship Id="rId13" Type="http://schemas.openxmlformats.org/officeDocument/2006/relationships/image" Target="../media/image4.png"/><Relationship Id="rId14" Type="http://schemas.openxmlformats.org/officeDocument/2006/relationships/image" Target="../media/image44.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38.png"/><Relationship Id="rId6" Type="http://schemas.openxmlformats.org/officeDocument/2006/relationships/image" Target="../media/image39.png"/><Relationship Id="rId7" Type="http://schemas.openxmlformats.org/officeDocument/2006/relationships/image" Target="../media/image40.png"/><Relationship Id="rId8" Type="http://schemas.openxmlformats.org/officeDocument/2006/relationships/image" Target="../media/image14.jpeg"/><Relationship Id="rId9" Type="http://schemas.openxmlformats.org/officeDocument/2006/relationships/image" Target="../media/image41.png"/><Relationship Id="rId10" Type="http://schemas.openxmlformats.org/officeDocument/2006/relationships/image" Target="../media/image42.png"/><Relationship Id="rId11" Type="http://schemas.openxmlformats.org/officeDocument/2006/relationships/image" Target="../media/image43.png"/><Relationship Id="rId12" Type="http://schemas.openxmlformats.org/officeDocument/2006/relationships/image" Target="../media/image3.png"/><Relationship Id="rId13" Type="http://schemas.openxmlformats.org/officeDocument/2006/relationships/image" Target="../media/image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3.png"/><Relationship Id="rId4" Type="http://schemas.openxmlformats.org/officeDocument/2006/relationships/image" Target="../media/image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45.png"/><Relationship Id="rId4" Type="http://schemas.openxmlformats.org/officeDocument/2006/relationships/image" Target="../media/image14.jpe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13.png"/><Relationship Id="rId8" Type="http://schemas.openxmlformats.org/officeDocument/2006/relationships/image" Target="../media/image18.png"/><Relationship Id="rId9" Type="http://schemas.openxmlformats.org/officeDocument/2006/relationships/image" Target="../media/image20.png"/><Relationship Id="rId10" Type="http://schemas.openxmlformats.org/officeDocument/2006/relationships/image" Target="../media/image21.png"/><Relationship Id="rId11" Type="http://schemas.openxmlformats.org/officeDocument/2006/relationships/image" Target="../media/image22.png"/><Relationship Id="rId12" Type="http://schemas.openxmlformats.org/officeDocument/2006/relationships/image" Target="../media/image24.png"/><Relationship Id="rId13" Type="http://schemas.openxmlformats.org/officeDocument/2006/relationships/image" Target="../media/image25.png"/><Relationship Id="rId14" Type="http://schemas.openxmlformats.org/officeDocument/2006/relationships/image" Target="../media/image27.png"/><Relationship Id="rId15" Type="http://schemas.openxmlformats.org/officeDocument/2006/relationships/image" Target="../media/image29.png"/><Relationship Id="rId16" Type="http://schemas.openxmlformats.org/officeDocument/2006/relationships/image" Target="../media/image36.png"/><Relationship Id="rId17" Type="http://schemas.openxmlformats.org/officeDocument/2006/relationships/image" Target="../media/image37.png"/><Relationship Id="rId18" Type="http://schemas.openxmlformats.org/officeDocument/2006/relationships/image" Target="../media/image44.png"/></Relationships>
</file>

<file path=ppt/slides/slide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3"/>
            <a:ext cx="18288000" cy="10287000"/>
            <a:chOff x="0" y="0"/>
            <a:chExt cx="24384000" cy="13716000"/>
          </a:xfrm>
        </p:grpSpPr>
        <p:sp>
          <p:nvSpPr>
            <p:cNvPr name="Freeform 3" id="3" descr="image.png"/>
            <p:cNvSpPr/>
            <p:nvPr/>
          </p:nvSpPr>
          <p:spPr>
            <a:xfrm flipH="false" flipV="false" rot="0">
              <a:off x="0" y="0"/>
              <a:ext cx="24384000" cy="13716000"/>
            </a:xfrm>
            <a:custGeom>
              <a:avLst/>
              <a:gdLst/>
              <a:ahLst/>
              <a:cxnLst/>
              <a:rect r="r" b="b" t="t" l="l"/>
              <a:pathLst>
                <a:path h="13716000" w="24384000">
                  <a:moveTo>
                    <a:pt x="0" y="0"/>
                  </a:moveTo>
                  <a:lnTo>
                    <a:pt x="24384000" y="0"/>
                  </a:lnTo>
                  <a:lnTo>
                    <a:pt x="24384000" y="13716000"/>
                  </a:lnTo>
                  <a:lnTo>
                    <a:pt x="0" y="13716000"/>
                  </a:lnTo>
                  <a:lnTo>
                    <a:pt x="0" y="0"/>
                  </a:lnTo>
                  <a:close/>
                </a:path>
              </a:pathLst>
            </a:custGeom>
            <a:blipFill>
              <a:blip r:embed="rId3"/>
              <a:stretch>
                <a:fillRect l="0" t="0" r="0" b="0"/>
              </a:stretch>
            </a:blipFill>
          </p:spPr>
          <p:txBody>
            <a:bodyPr/>
            <a:p/>
          </p:txBody>
        </p:sp>
      </p:grpSp>
      <p:sp>
        <p:nvSpPr>
          <p:cNvPr name="TextBox 4" id="4"/>
          <p:cNvSpPr txBox="true"/>
          <p:nvPr/>
        </p:nvSpPr>
        <p:spPr>
          <a:xfrm rot="0">
            <a:off x="6772611" y="4726305"/>
            <a:ext cx="4742855" cy="904875"/>
          </a:xfrm>
          <a:prstGeom prst="rect">
            <a:avLst/>
          </a:prstGeom>
        </p:spPr>
        <p:txBody>
          <a:bodyPr anchor="t" rtlCol="false" tIns="0" lIns="0" bIns="0" rIns="0">
            <a:spAutoFit/>
          </a:bodyPr>
          <a:lstStyle/>
          <a:p>
            <a:pPr algn="ctr" marL="0" indent="0" lvl="0">
              <a:lnSpc>
                <a:spcPts val="6750"/>
              </a:lnSpc>
              <a:spcBef>
                <a:spcPct val="0"/>
              </a:spcBef>
            </a:pPr>
            <a:r>
              <a:rPr lang="en-US" b="true" sz="5625" strike="noStrike" u="none">
                <a:solidFill>
                  <a:srgbClr val="0F172A"/>
                </a:solidFill>
                <a:latin typeface="Poppins Bold"/>
                <a:ea typeface="Poppins Bold"/>
                <a:cs typeface="Poppins Bold"/>
                <a:sym typeface="Poppins Bold"/>
              </a:rPr>
              <a:t>DERMASENSE</a:t>
            </a:r>
          </a:p>
        </p:txBody>
      </p:sp>
      <p:sp>
        <p:nvSpPr>
          <p:cNvPr name="TextBox 5" id="5"/>
          <p:cNvSpPr txBox="true"/>
          <p:nvPr/>
        </p:nvSpPr>
        <p:spPr>
          <a:xfrm rot="0">
            <a:off x="3017520" y="5631180"/>
            <a:ext cx="12248388" cy="855345"/>
          </a:xfrm>
          <a:prstGeom prst="rect">
            <a:avLst/>
          </a:prstGeom>
        </p:spPr>
        <p:txBody>
          <a:bodyPr anchor="t" rtlCol="false" tIns="0" lIns="0" bIns="0" rIns="0">
            <a:spAutoFit/>
          </a:bodyPr>
          <a:lstStyle/>
          <a:p>
            <a:pPr algn="ctr">
              <a:lnSpc>
                <a:spcPts val="7020"/>
              </a:lnSpc>
            </a:pPr>
            <a:r>
              <a:rPr lang="en-US" sz="3900">
                <a:solidFill>
                  <a:srgbClr val="0369A1"/>
                </a:solidFill>
                <a:latin typeface="Poppins"/>
                <a:ea typeface="Poppins"/>
                <a:cs typeface="Poppins"/>
                <a:sym typeface="Poppins"/>
              </a:rPr>
              <a:t>VK26-IITI-HT-0050</a:t>
            </a:r>
          </a:p>
        </p:txBody>
      </p:sp>
      <p:grpSp>
        <p:nvGrpSpPr>
          <p:cNvPr name="Group 6" id="6"/>
          <p:cNvGrpSpPr/>
          <p:nvPr/>
        </p:nvGrpSpPr>
        <p:grpSpPr>
          <a:xfrm rot="0">
            <a:off x="4755318" y="3402311"/>
            <a:ext cx="8777421" cy="865803"/>
            <a:chOff x="0" y="0"/>
            <a:chExt cx="11703228" cy="1154405"/>
          </a:xfrm>
        </p:grpSpPr>
        <p:sp>
          <p:nvSpPr>
            <p:cNvPr name="Freeform 7" id="7" descr="image.png"/>
            <p:cNvSpPr/>
            <p:nvPr/>
          </p:nvSpPr>
          <p:spPr>
            <a:xfrm flipH="false" flipV="false" rot="0">
              <a:off x="0" y="0"/>
              <a:ext cx="11703177" cy="1154430"/>
            </a:xfrm>
            <a:custGeom>
              <a:avLst/>
              <a:gdLst/>
              <a:ahLst/>
              <a:cxnLst/>
              <a:rect r="r" b="b" t="t" l="l"/>
              <a:pathLst>
                <a:path h="1154430" w="11703177">
                  <a:moveTo>
                    <a:pt x="0" y="0"/>
                  </a:moveTo>
                  <a:lnTo>
                    <a:pt x="11703177" y="0"/>
                  </a:lnTo>
                  <a:lnTo>
                    <a:pt x="11703177" y="1154430"/>
                  </a:lnTo>
                  <a:lnTo>
                    <a:pt x="0" y="1154430"/>
                  </a:lnTo>
                  <a:lnTo>
                    <a:pt x="0" y="0"/>
                  </a:lnTo>
                  <a:close/>
                </a:path>
              </a:pathLst>
            </a:custGeom>
            <a:blipFill>
              <a:blip r:embed="rId4"/>
              <a:stretch>
                <a:fillRect l="0" t="0" r="0" b="-3445"/>
              </a:stretch>
            </a:blipFill>
          </p:spPr>
          <p:txBody>
            <a:bodyPr/>
            <a:p/>
          </p:txBody>
        </p:sp>
      </p:grpSp>
      <p:grpSp>
        <p:nvGrpSpPr>
          <p:cNvPr name="Group 8" id="8"/>
          <p:cNvGrpSpPr/>
          <p:nvPr/>
        </p:nvGrpSpPr>
        <p:grpSpPr>
          <a:xfrm rot="0">
            <a:off x="16051006" y="121234"/>
            <a:ext cx="2236994" cy="1177233"/>
            <a:chOff x="0" y="0"/>
            <a:chExt cx="2982658" cy="1569644"/>
          </a:xfrm>
        </p:grpSpPr>
        <p:sp>
          <p:nvSpPr>
            <p:cNvPr name="Freeform 9" id="9"/>
            <p:cNvSpPr/>
            <p:nvPr/>
          </p:nvSpPr>
          <p:spPr>
            <a:xfrm flipH="false" flipV="false" rot="0">
              <a:off x="0" y="0"/>
              <a:ext cx="2982722" cy="1569593"/>
            </a:xfrm>
            <a:custGeom>
              <a:avLst/>
              <a:gdLst/>
              <a:ahLst/>
              <a:cxnLst/>
              <a:rect r="r" b="b" t="t" l="l"/>
              <a:pathLst>
                <a:path h="1569593" w="2982722">
                  <a:moveTo>
                    <a:pt x="0" y="0"/>
                  </a:moveTo>
                  <a:lnTo>
                    <a:pt x="2982722" y="0"/>
                  </a:lnTo>
                  <a:lnTo>
                    <a:pt x="2982722" y="1569593"/>
                  </a:lnTo>
                  <a:lnTo>
                    <a:pt x="0" y="1569593"/>
                  </a:lnTo>
                  <a:lnTo>
                    <a:pt x="0" y="0"/>
                  </a:lnTo>
                  <a:close/>
                </a:path>
              </a:pathLst>
            </a:custGeom>
            <a:blipFill>
              <a:blip r:embed="rId5"/>
              <a:stretch>
                <a:fillRect l="0" t="0" r="1" b="-3"/>
              </a:stretch>
            </a:blipFill>
          </p:spPr>
          <p:txBody>
            <a:bodyPr/>
            <a:p/>
          </p:txBody>
        </p:sp>
      </p:grpSp>
      <p:grpSp>
        <p:nvGrpSpPr>
          <p:cNvPr name="Group 10" id="10"/>
          <p:cNvGrpSpPr/>
          <p:nvPr/>
        </p:nvGrpSpPr>
        <p:grpSpPr>
          <a:xfrm rot="0">
            <a:off x="0" y="121234"/>
            <a:ext cx="3643236" cy="1177233"/>
            <a:chOff x="0" y="0"/>
            <a:chExt cx="4857648" cy="1569644"/>
          </a:xfrm>
        </p:grpSpPr>
        <p:sp>
          <p:nvSpPr>
            <p:cNvPr name="Freeform 11" id="11"/>
            <p:cNvSpPr/>
            <p:nvPr/>
          </p:nvSpPr>
          <p:spPr>
            <a:xfrm flipH="false" flipV="false" rot="0">
              <a:off x="0" y="0"/>
              <a:ext cx="4857623" cy="1569593"/>
            </a:xfrm>
            <a:custGeom>
              <a:avLst/>
              <a:gdLst/>
              <a:ahLst/>
              <a:cxnLst/>
              <a:rect r="r" b="b" t="t" l="l"/>
              <a:pathLst>
                <a:path h="1569593" w="4857623">
                  <a:moveTo>
                    <a:pt x="0" y="0"/>
                  </a:moveTo>
                  <a:lnTo>
                    <a:pt x="4857623" y="0"/>
                  </a:lnTo>
                  <a:lnTo>
                    <a:pt x="4857623" y="1569593"/>
                  </a:lnTo>
                  <a:lnTo>
                    <a:pt x="0" y="1569593"/>
                  </a:lnTo>
                  <a:lnTo>
                    <a:pt x="0" y="0"/>
                  </a:lnTo>
                  <a:close/>
                </a:path>
              </a:pathLst>
            </a:custGeom>
            <a:blipFill>
              <a:blip r:embed="rId6"/>
              <a:stretch>
                <a:fillRect l="-21110" t="-147264" r="-22761" b="-197992"/>
              </a:stretch>
            </a:blipFill>
          </p:spPr>
          <p:txBody>
            <a:bodyPr/>
            <a:p/>
          </p:txBody>
        </p:sp>
      </p:grpSp>
      <p:sp>
        <p:nvSpPr>
          <p:cNvPr name="TextBox 12" id="12"/>
          <p:cNvSpPr txBox="true"/>
          <p:nvPr/>
        </p:nvSpPr>
        <p:spPr>
          <a:xfrm rot="0">
            <a:off x="1938528" y="7034784"/>
            <a:ext cx="14406372" cy="637032"/>
          </a:xfrm>
          <a:prstGeom prst="rect">
            <a:avLst/>
          </a:prstGeom>
        </p:spPr>
        <p:txBody>
          <a:bodyPr anchor="t" rtlCol="false" tIns="0" lIns="0" bIns="0" rIns="0">
            <a:spAutoFit/>
          </a:bodyPr>
          <a:lstStyle/>
          <a:p>
            <a:pPr algn="ctr">
              <a:lnSpc>
                <a:spcPts val="2721"/>
              </a:lnSpc>
            </a:pPr>
            <a:r>
              <a:rPr lang="en-US" sz="2100">
                <a:solidFill>
                  <a:srgbClr val="0F172A"/>
                </a:solidFill>
                <a:latin typeface="Poppins"/>
                <a:ea typeface="Poppins"/>
                <a:cs typeface="Poppins"/>
                <a:sym typeface="Poppins"/>
              </a:rPr>
              <a:t>Team: Soham Prabhakar Kadu · Bhakti Ajay Kadam</a:t>
            </a:r>
          </a:p>
        </p:txBody>
      </p:sp>
      <p:sp>
        <p:nvSpPr>
          <p:cNvPr id="13" name="TextBox 12"/>
          <p:cNvSpPr txBox="1"/>
          <p:nvPr/>
        </p:nvSpPr>
        <p:spPr>
          <a:xfrm>
            <a:off x="1938528" y="6492240"/>
            <a:ext cx="14410944" cy="475488"/>
          </a:xfrm>
          <a:prstGeom prst="rect">
            <a:avLst/>
          </a:prstGeom>
          <a:noFill/>
        </p:spPr>
        <p:txBody>
          <a:bodyPr wrap="none">
            <a:spAutoFit/>
          </a:bodyPr>
          <a:lstStyle/>
          <a:p>
            <a:pPr algn="ctr"/>
            <a:r>
              <a:rPr sz="1600">
                <a:solidFill>
                  <a:srgbClr val="047857"/>
                </a:solidFill>
                <a:latin typeface="Poppins"/>
              </a:rPr>
              <a:t>Health Tech · Emergency Response &amp; Remote Monitoring</a:t>
            </a:r>
          </a:p>
        </p:txBody>
      </p:sp>
    </p:spTree>
  </p:cSld>
  <p:clrMapOvr>
    <a:masterClrMapping/>
  </p:clrMapOvr>
</p:sld>
</file>

<file path=ppt/slides/slide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0"/>
            <a:ext cx="18288000" cy="10287000"/>
            <a:chOff x="0" y="0"/>
            <a:chExt cx="24384000" cy="13716000"/>
          </a:xfrm>
        </p:grpSpPr>
        <p:sp>
          <p:nvSpPr>
            <p:cNvPr name="Freeform 3" id="3" descr="image.png"/>
            <p:cNvSpPr/>
            <p:nvPr/>
          </p:nvSpPr>
          <p:spPr>
            <a:xfrm flipH="false" flipV="false" rot="0">
              <a:off x="0" y="0"/>
              <a:ext cx="24384000" cy="13716000"/>
            </a:xfrm>
            <a:custGeom>
              <a:avLst/>
              <a:gdLst/>
              <a:ahLst/>
              <a:cxnLst/>
              <a:rect r="r" b="b" t="t" l="l"/>
              <a:pathLst>
                <a:path h="13716000" w="24384000">
                  <a:moveTo>
                    <a:pt x="0" y="0"/>
                  </a:moveTo>
                  <a:lnTo>
                    <a:pt x="24384000" y="0"/>
                  </a:lnTo>
                  <a:lnTo>
                    <a:pt x="24384000" y="13716000"/>
                  </a:lnTo>
                  <a:lnTo>
                    <a:pt x="0" y="13716000"/>
                  </a:lnTo>
                  <a:lnTo>
                    <a:pt x="0" y="0"/>
                  </a:lnTo>
                  <a:close/>
                </a:path>
              </a:pathLst>
            </a:custGeom>
            <a:blipFill>
              <a:blip r:embed="rId3"/>
              <a:stretch>
                <a:fillRect l="0" t="0" r="0" b="0"/>
              </a:stretch>
            </a:blipFill>
          </p:spPr>
          <p:txBody>
            <a:bodyPr/>
            <a:p/>
          </p:txBody>
        </p:sp>
      </p:grpSp>
      <p:grpSp>
        <p:nvGrpSpPr>
          <p:cNvPr name="Group 4" id="4"/>
          <p:cNvGrpSpPr/>
          <p:nvPr/>
        </p:nvGrpSpPr>
        <p:grpSpPr>
          <a:xfrm rot="0">
            <a:off x="800100" y="8571957"/>
            <a:ext cx="16687800" cy="544706"/>
            <a:chOff x="0" y="0"/>
            <a:chExt cx="22250400" cy="726275"/>
          </a:xfrm>
        </p:grpSpPr>
        <p:sp>
          <p:nvSpPr>
            <p:cNvPr name="Freeform 5" id="5" descr="image.png"/>
            <p:cNvSpPr/>
            <p:nvPr/>
          </p:nvSpPr>
          <p:spPr>
            <a:xfrm flipH="false" flipV="false" rot="0">
              <a:off x="0" y="0"/>
              <a:ext cx="22250400" cy="726313"/>
            </a:xfrm>
            <a:custGeom>
              <a:avLst/>
              <a:gdLst/>
              <a:ahLst/>
              <a:cxnLst/>
              <a:rect r="r" b="b" t="t" l="l"/>
              <a:pathLst>
                <a:path h="726313" w="22250400">
                  <a:moveTo>
                    <a:pt x="0" y="0"/>
                  </a:moveTo>
                  <a:lnTo>
                    <a:pt x="22250400" y="0"/>
                  </a:lnTo>
                  <a:lnTo>
                    <a:pt x="22250400" y="726313"/>
                  </a:lnTo>
                  <a:lnTo>
                    <a:pt x="0" y="726313"/>
                  </a:lnTo>
                  <a:lnTo>
                    <a:pt x="0" y="0"/>
                  </a:lnTo>
                  <a:close/>
                </a:path>
              </a:pathLst>
            </a:custGeom>
            <a:blipFill>
              <a:blip r:embed="rId4"/>
              <a:stretch>
                <a:fillRect l="0" t="0" r="0" b="-2290"/>
              </a:stretch>
            </a:blipFill>
          </p:spPr>
          <p:txBody>
            <a:bodyPr/>
            <a:p/>
          </p:txBody>
        </p:sp>
      </p:grpSp>
      <p:grpSp>
        <p:nvGrpSpPr>
          <p:cNvPr name="Group 6" id="6"/>
          <p:cNvGrpSpPr/>
          <p:nvPr/>
        </p:nvGrpSpPr>
        <p:grpSpPr>
          <a:xfrm rot="0">
            <a:off x="800100" y="1434332"/>
            <a:ext cx="4000500" cy="974227"/>
            <a:chOff x="0" y="0"/>
            <a:chExt cx="5334000" cy="1298969"/>
          </a:xfrm>
        </p:grpSpPr>
        <p:sp>
          <p:nvSpPr>
            <p:cNvPr name="Freeform 7" id="7" descr="image.png"/>
            <p:cNvSpPr/>
            <p:nvPr/>
          </p:nvSpPr>
          <p:spPr>
            <a:xfrm flipH="false" flipV="false" rot="0">
              <a:off x="0" y="0"/>
              <a:ext cx="5334000" cy="1298956"/>
            </a:xfrm>
            <a:custGeom>
              <a:avLst/>
              <a:gdLst/>
              <a:ahLst/>
              <a:cxnLst/>
              <a:rect r="r" b="b" t="t" l="l"/>
              <a:pathLst>
                <a:path h="1298956" w="5334000">
                  <a:moveTo>
                    <a:pt x="0" y="0"/>
                  </a:moveTo>
                  <a:lnTo>
                    <a:pt x="5334000" y="0"/>
                  </a:lnTo>
                  <a:lnTo>
                    <a:pt x="5334000" y="1298956"/>
                  </a:lnTo>
                  <a:lnTo>
                    <a:pt x="0" y="1298956"/>
                  </a:lnTo>
                  <a:lnTo>
                    <a:pt x="0" y="0"/>
                  </a:lnTo>
                  <a:close/>
                </a:path>
              </a:pathLst>
            </a:custGeom>
            <a:blipFill>
              <a:blip r:embed="rId5"/>
              <a:stretch>
                <a:fillRect l="0" t="0" r="0" b="-1192"/>
              </a:stretch>
            </a:blipFill>
          </p:spPr>
          <p:txBody>
            <a:bodyPr/>
            <a:p/>
          </p:txBody>
        </p:sp>
      </p:grpSp>
      <p:grpSp>
        <p:nvGrpSpPr>
          <p:cNvPr name="Group 8" id="8"/>
          <p:cNvGrpSpPr/>
          <p:nvPr/>
        </p:nvGrpSpPr>
        <p:grpSpPr>
          <a:xfrm rot="0">
            <a:off x="5029200" y="1434332"/>
            <a:ext cx="4000500" cy="974227"/>
            <a:chOff x="0" y="0"/>
            <a:chExt cx="5334000" cy="1298969"/>
          </a:xfrm>
        </p:grpSpPr>
        <p:sp>
          <p:nvSpPr>
            <p:cNvPr name="Freeform 9" id="9" descr="image.png"/>
            <p:cNvSpPr/>
            <p:nvPr/>
          </p:nvSpPr>
          <p:spPr>
            <a:xfrm flipH="false" flipV="false" rot="0">
              <a:off x="0" y="0"/>
              <a:ext cx="5334000" cy="1298956"/>
            </a:xfrm>
            <a:custGeom>
              <a:avLst/>
              <a:gdLst/>
              <a:ahLst/>
              <a:cxnLst/>
              <a:rect r="r" b="b" t="t" l="l"/>
              <a:pathLst>
                <a:path h="1298956" w="5334000">
                  <a:moveTo>
                    <a:pt x="0" y="0"/>
                  </a:moveTo>
                  <a:lnTo>
                    <a:pt x="5334000" y="0"/>
                  </a:lnTo>
                  <a:lnTo>
                    <a:pt x="5334000" y="1298956"/>
                  </a:lnTo>
                  <a:lnTo>
                    <a:pt x="0" y="1298956"/>
                  </a:lnTo>
                  <a:lnTo>
                    <a:pt x="0" y="0"/>
                  </a:lnTo>
                  <a:close/>
                </a:path>
              </a:pathLst>
            </a:custGeom>
            <a:blipFill>
              <a:blip r:embed="rId6"/>
              <a:stretch>
                <a:fillRect l="0" t="0" r="0" b="-1192"/>
              </a:stretch>
            </a:blipFill>
          </p:spPr>
          <p:txBody>
            <a:bodyPr/>
            <a:p/>
          </p:txBody>
        </p:sp>
      </p:grpSp>
      <p:grpSp>
        <p:nvGrpSpPr>
          <p:cNvPr name="Group 10" id="10"/>
          <p:cNvGrpSpPr/>
          <p:nvPr/>
        </p:nvGrpSpPr>
        <p:grpSpPr>
          <a:xfrm rot="0">
            <a:off x="9258300" y="1434332"/>
            <a:ext cx="4000500" cy="974227"/>
            <a:chOff x="0" y="0"/>
            <a:chExt cx="5334000" cy="1298969"/>
          </a:xfrm>
        </p:grpSpPr>
        <p:sp>
          <p:nvSpPr>
            <p:cNvPr name="Freeform 11" id="11" descr="image.png"/>
            <p:cNvSpPr/>
            <p:nvPr/>
          </p:nvSpPr>
          <p:spPr>
            <a:xfrm flipH="false" flipV="false" rot="0">
              <a:off x="0" y="0"/>
              <a:ext cx="5334000" cy="1298956"/>
            </a:xfrm>
            <a:custGeom>
              <a:avLst/>
              <a:gdLst/>
              <a:ahLst/>
              <a:cxnLst/>
              <a:rect r="r" b="b" t="t" l="l"/>
              <a:pathLst>
                <a:path h="1298956" w="5334000">
                  <a:moveTo>
                    <a:pt x="0" y="0"/>
                  </a:moveTo>
                  <a:lnTo>
                    <a:pt x="5334000" y="0"/>
                  </a:lnTo>
                  <a:lnTo>
                    <a:pt x="5334000" y="1298956"/>
                  </a:lnTo>
                  <a:lnTo>
                    <a:pt x="0" y="1298956"/>
                  </a:lnTo>
                  <a:lnTo>
                    <a:pt x="0" y="0"/>
                  </a:lnTo>
                  <a:close/>
                </a:path>
              </a:pathLst>
            </a:custGeom>
            <a:blipFill>
              <a:blip r:embed="rId7"/>
              <a:stretch>
                <a:fillRect l="0" t="0" r="0" b="-1192"/>
              </a:stretch>
            </a:blipFill>
          </p:spPr>
          <p:txBody>
            <a:bodyPr/>
            <a:p/>
          </p:txBody>
        </p:sp>
      </p:grpSp>
      <p:grpSp>
        <p:nvGrpSpPr>
          <p:cNvPr name="Group 12" id="12"/>
          <p:cNvGrpSpPr/>
          <p:nvPr/>
        </p:nvGrpSpPr>
        <p:grpSpPr>
          <a:xfrm rot="0">
            <a:off x="13487400" y="1434332"/>
            <a:ext cx="4000500" cy="974227"/>
            <a:chOff x="0" y="0"/>
            <a:chExt cx="5334000" cy="1298969"/>
          </a:xfrm>
        </p:grpSpPr>
        <p:sp>
          <p:nvSpPr>
            <p:cNvPr name="Freeform 13" id="13" descr="image.png"/>
            <p:cNvSpPr/>
            <p:nvPr/>
          </p:nvSpPr>
          <p:spPr>
            <a:xfrm flipH="false" flipV="false" rot="0">
              <a:off x="0" y="0"/>
              <a:ext cx="5334000" cy="1298956"/>
            </a:xfrm>
            <a:custGeom>
              <a:avLst/>
              <a:gdLst/>
              <a:ahLst/>
              <a:cxnLst/>
              <a:rect r="r" b="b" t="t" l="l"/>
              <a:pathLst>
                <a:path h="1298956" w="5334000">
                  <a:moveTo>
                    <a:pt x="0" y="0"/>
                  </a:moveTo>
                  <a:lnTo>
                    <a:pt x="5334000" y="0"/>
                  </a:lnTo>
                  <a:lnTo>
                    <a:pt x="5334000" y="1298956"/>
                  </a:lnTo>
                  <a:lnTo>
                    <a:pt x="0" y="1298956"/>
                  </a:lnTo>
                  <a:lnTo>
                    <a:pt x="0" y="0"/>
                  </a:lnTo>
                  <a:close/>
                </a:path>
              </a:pathLst>
            </a:custGeom>
            <a:blipFill>
              <a:blip r:embed="rId7"/>
              <a:stretch>
                <a:fillRect l="0" t="0" r="0" b="-1192"/>
              </a:stretch>
            </a:blipFill>
          </p:spPr>
          <p:txBody>
            <a:bodyPr/>
            <a:p/>
          </p:txBody>
        </p:sp>
      </p:grpSp>
      <p:grpSp>
        <p:nvGrpSpPr>
          <p:cNvPr name="Group 14" id="14"/>
          <p:cNvGrpSpPr/>
          <p:nvPr/>
        </p:nvGrpSpPr>
        <p:grpSpPr>
          <a:xfrm rot="0">
            <a:off x="9344025" y="2606040"/>
            <a:ext cx="8143875" cy="5829300"/>
            <a:chOff x="0" y="0"/>
            <a:chExt cx="10858500" cy="7772400"/>
          </a:xfrm>
        </p:grpSpPr>
        <p:sp>
          <p:nvSpPr>
            <p:cNvPr name="Freeform 15" id="15" descr="image.png"/>
            <p:cNvSpPr/>
            <p:nvPr/>
          </p:nvSpPr>
          <p:spPr>
            <a:xfrm flipH="false" flipV="false" rot="0">
              <a:off x="0" y="0"/>
              <a:ext cx="10858500" cy="7772400"/>
            </a:xfrm>
            <a:custGeom>
              <a:avLst/>
              <a:gdLst/>
              <a:ahLst/>
              <a:cxnLst/>
              <a:rect r="r" b="b" t="t" l="l"/>
              <a:pathLst>
                <a:path h="7772400" w="10858500">
                  <a:moveTo>
                    <a:pt x="0" y="0"/>
                  </a:moveTo>
                  <a:lnTo>
                    <a:pt x="10858500" y="0"/>
                  </a:lnTo>
                  <a:lnTo>
                    <a:pt x="10858500" y="7772400"/>
                  </a:lnTo>
                  <a:lnTo>
                    <a:pt x="0" y="7772400"/>
                  </a:lnTo>
                  <a:lnTo>
                    <a:pt x="0" y="0"/>
                  </a:lnTo>
                  <a:close/>
                </a:path>
              </a:pathLst>
            </a:custGeom>
            <a:blipFill>
              <a:blip r:embed="rId8"/>
              <a:stretch>
                <a:fillRect l="0" t="0" r="0" b="-8333"/>
              </a:stretch>
            </a:blipFill>
          </p:spPr>
          <p:txBody>
            <a:bodyPr/>
            <a:p/>
          </p:txBody>
        </p:sp>
      </p:grpSp>
      <p:grpSp>
        <p:nvGrpSpPr>
          <p:cNvPr name="Group 16" id="16"/>
          <p:cNvGrpSpPr/>
          <p:nvPr/>
        </p:nvGrpSpPr>
        <p:grpSpPr>
          <a:xfrm rot="0">
            <a:off x="795528" y="2606040"/>
            <a:ext cx="8147304" cy="5417820"/>
            <a:chOff x="0" y="0"/>
            <a:chExt cx="10863072" cy="7223760"/>
          </a:xfrm>
        </p:grpSpPr>
        <p:sp>
          <p:nvSpPr>
            <p:cNvPr name="Freeform 17" id="17" descr="image.png"/>
            <p:cNvSpPr/>
            <p:nvPr/>
          </p:nvSpPr>
          <p:spPr>
            <a:xfrm flipH="false" flipV="false" rot="0">
              <a:off x="0" y="0"/>
              <a:ext cx="10863072" cy="7223760"/>
            </a:xfrm>
            <a:custGeom>
              <a:avLst/>
              <a:gdLst/>
              <a:ahLst/>
              <a:cxnLst/>
              <a:rect r="r" b="b" t="t" l="l"/>
              <a:pathLst>
                <a:path h="7223760" w="10863072">
                  <a:moveTo>
                    <a:pt x="0" y="0"/>
                  </a:moveTo>
                  <a:lnTo>
                    <a:pt x="10863072" y="0"/>
                  </a:lnTo>
                  <a:lnTo>
                    <a:pt x="10863072" y="7223760"/>
                  </a:lnTo>
                  <a:lnTo>
                    <a:pt x="0" y="7223760"/>
                  </a:lnTo>
                  <a:lnTo>
                    <a:pt x="0" y="0"/>
                  </a:lnTo>
                  <a:close/>
                </a:path>
              </a:pathLst>
            </a:custGeom>
            <a:blipFill>
              <a:blip r:embed="rId9"/>
              <a:stretch>
                <a:fillRect l="0" t="0" r="-48062" b="0"/>
              </a:stretch>
            </a:blipFill>
          </p:spPr>
          <p:txBody>
            <a:bodyPr/>
            <a:p/>
          </p:txBody>
        </p:sp>
      </p:grpSp>
      <p:grpSp>
        <p:nvGrpSpPr>
          <p:cNvPr name="Group 18" id="18"/>
          <p:cNvGrpSpPr/>
          <p:nvPr/>
        </p:nvGrpSpPr>
        <p:grpSpPr>
          <a:xfrm rot="0">
            <a:off x="800100" y="657225"/>
            <a:ext cx="12893040" cy="626444"/>
            <a:chOff x="0" y="0"/>
            <a:chExt cx="17190720" cy="835259"/>
          </a:xfrm>
        </p:grpSpPr>
        <p:sp>
          <p:nvSpPr>
            <p:cNvPr name="Freeform 19" id="19"/>
            <p:cNvSpPr/>
            <p:nvPr/>
          </p:nvSpPr>
          <p:spPr>
            <a:xfrm flipH="false" flipV="false" rot="0">
              <a:off x="0" y="0"/>
              <a:ext cx="17190720" cy="835256"/>
            </a:xfrm>
            <a:custGeom>
              <a:avLst/>
              <a:gdLst/>
              <a:ahLst/>
              <a:cxnLst/>
              <a:rect r="r" b="b" t="t" l="l"/>
              <a:pathLst>
                <a:path h="835256" w="17190720">
                  <a:moveTo>
                    <a:pt x="0" y="0"/>
                  </a:moveTo>
                  <a:lnTo>
                    <a:pt x="17190720" y="0"/>
                  </a:lnTo>
                  <a:lnTo>
                    <a:pt x="17190720" y="835256"/>
                  </a:lnTo>
                  <a:lnTo>
                    <a:pt x="0" y="835256"/>
                  </a:lnTo>
                  <a:close/>
                </a:path>
              </a:pathLst>
            </a:custGeom>
            <a:solidFill>
              <a:srgbClr val="FFFFFF"/>
            </a:solidFill>
          </p:spPr>
          <p:txBody>
            <a:bodyPr/>
            <a:p/>
          </p:txBody>
        </p:sp>
        <p:sp>
          <p:nvSpPr>
            <p:cNvPr name="TextBox 20" id="20"/>
            <p:cNvSpPr txBox="true"/>
            <p:nvPr/>
          </p:nvSpPr>
          <p:spPr>
            <a:xfrm>
              <a:off x="0" y="-85725"/>
              <a:ext cx="17190720" cy="920984"/>
            </a:xfrm>
            <a:prstGeom prst="rect">
              <a:avLst/>
            </a:prstGeom>
          </p:spPr>
          <p:txBody>
            <a:bodyPr anchor="ctr" rtlCol="false" tIns="0" lIns="0" bIns="0" rIns="0"/>
            <a:lstStyle/>
            <a:p>
              <a:pPr algn="just">
                <a:lnSpc>
                  <a:spcPts val="3670"/>
                </a:lnSpc>
              </a:pPr>
              <a:r>
                <a:rPr lang="en-US" b="true" sz="2550">
                  <a:solidFill>
                    <a:srgbClr val="0F172A"/>
                  </a:solidFill>
                  <a:latin typeface="Poppins Bold"/>
                  <a:ea typeface="Poppins Bold"/>
                  <a:cs typeface="Poppins Bold"/>
                  <a:sym typeface="Poppins Bold"/>
                </a:rPr>
                <a:t>PROBLEM CONTEXT</a:t>
              </a:r>
            </a:p>
          </p:txBody>
        </p:sp>
      </p:grpSp>
      <p:sp>
        <p:nvSpPr>
          <p:cNvPr name="TextBox 21" id="21"/>
          <p:cNvSpPr txBox="true"/>
          <p:nvPr/>
        </p:nvSpPr>
        <p:spPr>
          <a:xfrm rot="0">
            <a:off x="1042988" y="8700830"/>
            <a:ext cx="16047720" cy="252301"/>
          </a:xfrm>
          <a:prstGeom prst="rect">
            <a:avLst/>
          </a:prstGeom>
        </p:spPr>
        <p:txBody>
          <a:bodyPr anchor="t" rtlCol="false" tIns="0" lIns="0" bIns="0" rIns="0">
            <a:spAutoFit/>
          </a:bodyPr>
          <a:lstStyle/>
          <a:p>
            <a:pPr algn="l">
              <a:lnSpc>
                <a:spcPts val="2297"/>
              </a:lnSpc>
            </a:pPr>
            <a:r>
              <a:rPr lang="en-US" b="true" sz="1320">
                <a:solidFill>
                  <a:srgbClr val="0F172A"/>
                </a:solidFill>
                <a:latin typeface="DM Sans Bold"/>
                <a:ea typeface="DM Sans Bold"/>
                <a:cs typeface="DM Sans Bold"/>
                <a:sym typeface="DM Sans Bold"/>
              </a:rPr>
              <a:t>Project at a glance: </a:t>
            </a:r>
            <a:r>
              <a:rPr lang="en-US" b="true" sz="1320">
                <a:solidFill>
                  <a:srgbClr val="334155"/>
                </a:solidFill>
                <a:latin typeface="DM Sans Bold"/>
                <a:ea typeface="DM Sans Bold"/>
                <a:cs typeface="DM Sans Bold"/>
                <a:sym typeface="DM Sans Bold"/>
              </a:rPr>
              <a:t>Dermasense · Team VK26-IITI-HT-0050 · Health Tech: Emergency Response &amp; Remote Monitoring · Our idea: read a dressing’s change line from outside, without lifting it.</a:t>
            </a:r>
          </a:p>
        </p:txBody>
      </p:sp>
      <p:sp>
        <p:nvSpPr>
          <p:cNvPr name="TextBox 22" id="22"/>
          <p:cNvSpPr txBox="true"/>
          <p:nvPr/>
        </p:nvSpPr>
        <p:spPr>
          <a:xfrm rot="0">
            <a:off x="1042988" y="1488567"/>
            <a:ext cx="3514725" cy="500253"/>
          </a:xfrm>
          <a:prstGeom prst="rect">
            <a:avLst/>
          </a:prstGeom>
        </p:spPr>
        <p:txBody>
          <a:bodyPr anchor="t" rtlCol="false" tIns="0" lIns="0" bIns="0" rIns="0">
            <a:spAutoFit/>
          </a:bodyPr>
          <a:lstStyle/>
          <a:p>
            <a:pPr algn="ctr">
              <a:lnSpc>
                <a:spcPts val="2968"/>
              </a:lnSpc>
            </a:pPr>
            <a:r>
              <a:rPr lang="en-US" sz="2250">
                <a:solidFill>
                  <a:srgbClr val="0369A1"/>
                </a:solidFill>
                <a:latin typeface="Poppins"/>
                <a:ea typeface="Poppins"/>
                <a:cs typeface="Poppins"/>
                <a:sym typeface="Poppins"/>
              </a:rPr>
              <a:t>44.9 %</a:t>
            </a:r>
          </a:p>
        </p:txBody>
      </p:sp>
      <p:sp>
        <p:nvSpPr>
          <p:cNvPr name="TextBox 23" id="23"/>
          <p:cNvSpPr txBox="true"/>
          <p:nvPr/>
        </p:nvSpPr>
        <p:spPr>
          <a:xfrm rot="0">
            <a:off x="1042988" y="2016252"/>
            <a:ext cx="3514725" cy="342900"/>
          </a:xfrm>
          <a:prstGeom prst="rect">
            <a:avLst/>
          </a:prstGeom>
        </p:spPr>
        <p:txBody>
          <a:bodyPr anchor="t" rtlCol="false" tIns="0" lIns="0" bIns="0" rIns="0">
            <a:spAutoFit/>
          </a:bodyPr>
          <a:lstStyle/>
          <a:p>
            <a:pPr algn="ctr">
              <a:lnSpc>
                <a:spcPts val="1367"/>
              </a:lnSpc>
            </a:pPr>
            <a:r>
              <a:rPr lang="en-US" sz="1139">
                <a:solidFill>
                  <a:srgbClr val="64748B"/>
                </a:solidFill>
                <a:latin typeface="DM Sans"/>
                <a:ea typeface="DM Sans"/>
                <a:cs typeface="DM Sans"/>
                <a:sym typeface="DM Sans"/>
              </a:rPr>
              <a:t>DRESSING CHANGES MADE WHILE MOISTURE WAS OPTIMAL¹</a:t>
            </a:r>
          </a:p>
        </p:txBody>
      </p:sp>
      <p:sp>
        <p:nvSpPr>
          <p:cNvPr name="TextBox 24" id="24"/>
          <p:cNvSpPr txBox="true"/>
          <p:nvPr/>
        </p:nvSpPr>
        <p:spPr>
          <a:xfrm rot="0">
            <a:off x="5272088" y="1498092"/>
            <a:ext cx="3514725" cy="490728"/>
          </a:xfrm>
          <a:prstGeom prst="rect">
            <a:avLst/>
          </a:prstGeom>
        </p:spPr>
        <p:txBody>
          <a:bodyPr anchor="t" rtlCol="false" tIns="0" lIns="0" bIns="0" rIns="0">
            <a:spAutoFit/>
          </a:bodyPr>
          <a:lstStyle/>
          <a:p>
            <a:pPr algn="ctr">
              <a:lnSpc>
                <a:spcPts val="2572"/>
              </a:lnSpc>
            </a:pPr>
            <a:r>
              <a:rPr lang="en-US" sz="1950">
                <a:solidFill>
                  <a:srgbClr val="0369A1"/>
                </a:solidFill>
                <a:latin typeface="Poppins"/>
                <a:ea typeface="Poppins"/>
                <a:cs typeface="Poppins"/>
                <a:sym typeface="Poppins"/>
              </a:rPr>
              <a:t>≈ 2 cm · 75 %</a:t>
            </a:r>
          </a:p>
        </p:txBody>
      </p:sp>
      <p:sp>
        <p:nvSpPr>
          <p:cNvPr name="TextBox 25" id="25"/>
          <p:cNvSpPr txBox="true"/>
          <p:nvPr/>
        </p:nvSpPr>
        <p:spPr>
          <a:xfrm rot="0">
            <a:off x="5272088" y="2016252"/>
            <a:ext cx="3514725" cy="342900"/>
          </a:xfrm>
          <a:prstGeom prst="rect">
            <a:avLst/>
          </a:prstGeom>
        </p:spPr>
        <p:txBody>
          <a:bodyPr anchor="t" rtlCol="false" tIns="0" lIns="0" bIns="0" rIns="0">
            <a:spAutoFit/>
          </a:bodyPr>
          <a:lstStyle/>
          <a:p>
            <a:pPr algn="ctr" marL="0" indent="0" lvl="0">
              <a:lnSpc>
                <a:spcPts val="1367"/>
              </a:lnSpc>
              <a:spcBef>
                <a:spcPct val="0"/>
              </a:spcBef>
            </a:pPr>
            <a:r>
              <a:rPr lang="en-US" sz="1139" strike="noStrike" u="none">
                <a:solidFill>
                  <a:srgbClr val="64748B"/>
                </a:solidFill>
                <a:latin typeface="DM Sans"/>
                <a:ea typeface="DM Sans"/>
                <a:cs typeface="DM Sans"/>
                <a:sym typeface="DM Sans"/>
              </a:rPr>
              <a:t>SOME DRESSINGS SHOW WHEN IT IS TIME TO CHANGE [2, 14]</a:t>
            </a:r>
          </a:p>
        </p:txBody>
      </p:sp>
      <p:sp>
        <p:nvSpPr>
          <p:cNvPr name="TextBox 26" id="26"/>
          <p:cNvSpPr txBox="true"/>
          <p:nvPr/>
        </p:nvSpPr>
        <p:spPr>
          <a:xfrm rot="0">
            <a:off x="9501188" y="1488567"/>
            <a:ext cx="3514725" cy="500253"/>
          </a:xfrm>
          <a:prstGeom prst="rect">
            <a:avLst/>
          </a:prstGeom>
        </p:spPr>
        <p:txBody>
          <a:bodyPr anchor="t" rtlCol="false" tIns="0" lIns="0" bIns="0" rIns="0">
            <a:spAutoFit/>
          </a:bodyPr>
          <a:lstStyle/>
          <a:p>
            <a:pPr algn="ctr">
              <a:lnSpc>
                <a:spcPts val="2968"/>
              </a:lnSpc>
            </a:pPr>
            <a:r>
              <a:rPr lang="en-US" sz="2250">
                <a:solidFill>
                  <a:srgbClr val="0369A1"/>
                </a:solidFill>
                <a:latin typeface="Poppins"/>
                <a:ea typeface="Poppins"/>
                <a:cs typeface="Poppins"/>
                <a:sym typeface="Poppins"/>
              </a:rPr>
              <a:t>1 point</a:t>
            </a:r>
          </a:p>
        </p:txBody>
      </p:sp>
      <p:sp>
        <p:nvSpPr>
          <p:cNvPr name="TextBox 27" id="27"/>
          <p:cNvSpPr txBox="true"/>
          <p:nvPr/>
        </p:nvSpPr>
        <p:spPr>
          <a:xfrm rot="0">
            <a:off x="9501188" y="2016252"/>
            <a:ext cx="3514725" cy="342900"/>
          </a:xfrm>
          <a:prstGeom prst="rect">
            <a:avLst/>
          </a:prstGeom>
        </p:spPr>
        <p:txBody>
          <a:bodyPr anchor="t" rtlCol="false" tIns="0" lIns="0" bIns="0" rIns="0">
            <a:spAutoFit/>
          </a:bodyPr>
          <a:lstStyle/>
          <a:p>
            <a:pPr algn="ctr">
              <a:lnSpc>
                <a:spcPts val="1367"/>
              </a:lnSpc>
            </a:pPr>
            <a:r>
              <a:rPr lang="en-US" sz="1139">
                <a:solidFill>
                  <a:srgbClr val="64748B"/>
                </a:solidFill>
                <a:latin typeface="DM Sans"/>
                <a:ea typeface="DM Sans"/>
                <a:cs typeface="DM Sans"/>
                <a:sym typeface="DM Sans"/>
              </a:rPr>
              <a:t>ONE EXISTING SENSOR TAKES A SINGLE-POINT READING¹</a:t>
            </a:r>
          </a:p>
        </p:txBody>
      </p:sp>
      <p:sp>
        <p:nvSpPr>
          <p:cNvPr name="TextBox 28" id="28"/>
          <p:cNvSpPr txBox="true"/>
          <p:nvPr/>
        </p:nvSpPr>
        <p:spPr>
          <a:xfrm rot="0">
            <a:off x="13730288" y="1488567"/>
            <a:ext cx="3514725" cy="500253"/>
          </a:xfrm>
          <a:prstGeom prst="rect">
            <a:avLst/>
          </a:prstGeom>
        </p:spPr>
        <p:txBody>
          <a:bodyPr anchor="t" rtlCol="false" tIns="0" lIns="0" bIns="0" rIns="0">
            <a:spAutoFit/>
          </a:bodyPr>
          <a:lstStyle/>
          <a:p>
            <a:pPr algn="ctr">
              <a:lnSpc>
                <a:spcPts val="2968"/>
              </a:lnSpc>
            </a:pPr>
            <a:r>
              <a:rPr lang="en-US" sz="2250">
                <a:solidFill>
                  <a:srgbClr val="0369A1"/>
                </a:solidFill>
                <a:latin typeface="Poppins"/>
                <a:ea typeface="Poppins"/>
                <a:cs typeface="Poppins"/>
                <a:sym typeface="Poppins"/>
              </a:rPr>
              <a:t>&gt; 10×</a:t>
            </a:r>
          </a:p>
        </p:txBody>
      </p:sp>
      <p:sp>
        <p:nvSpPr>
          <p:cNvPr name="TextBox 29" id="29"/>
          <p:cNvSpPr txBox="true"/>
          <p:nvPr/>
        </p:nvSpPr>
        <p:spPr>
          <a:xfrm rot="0">
            <a:off x="13730288" y="2016252"/>
            <a:ext cx="3514725" cy="171450"/>
          </a:xfrm>
          <a:prstGeom prst="rect">
            <a:avLst/>
          </a:prstGeom>
        </p:spPr>
        <p:txBody>
          <a:bodyPr anchor="t" rtlCol="false" tIns="0" lIns="0" bIns="0" rIns="0">
            <a:spAutoFit/>
          </a:bodyPr>
          <a:lstStyle/>
          <a:p>
            <a:pPr algn="ctr">
              <a:lnSpc>
                <a:spcPts val="1367"/>
              </a:lnSpc>
            </a:pPr>
            <a:r>
              <a:rPr lang="en-US" sz="1139">
                <a:solidFill>
                  <a:srgbClr val="64748B"/>
                </a:solidFill>
                <a:latin typeface="DM Sans"/>
                <a:ea typeface="DM Sans"/>
                <a:cs typeface="DM Sans"/>
                <a:sym typeface="DM Sans"/>
              </a:rPr>
              <a:t>REPORTED EXUDATE AMOUNTS VARY BY &gt;10×⁶</a:t>
            </a:r>
          </a:p>
        </p:txBody>
      </p:sp>
      <p:sp>
        <p:nvSpPr>
          <p:cNvPr name="TextBox 30" id="30"/>
          <p:cNvSpPr txBox="true"/>
          <p:nvPr/>
        </p:nvSpPr>
        <p:spPr>
          <a:xfrm rot="0">
            <a:off x="800100" y="8035290"/>
            <a:ext cx="8143875" cy="226600"/>
          </a:xfrm>
          <a:prstGeom prst="rect">
            <a:avLst/>
          </a:prstGeom>
        </p:spPr>
        <p:txBody>
          <a:bodyPr anchor="t" rtlCol="false" tIns="0" lIns="0" bIns="0" rIns="0">
            <a:spAutoFit/>
          </a:bodyPr>
          <a:lstStyle/>
          <a:p>
            <a:pPr algn="r">
              <a:lnSpc>
                <a:spcPts val="1983"/>
              </a:lnSpc>
            </a:pPr>
            <a:r>
              <a:rPr lang="en-US" sz="1139">
                <a:solidFill>
                  <a:srgbClr val="64748B"/>
                </a:solidFill>
                <a:latin typeface="DM Sans"/>
                <a:ea typeface="DM Sans"/>
                <a:cs typeface="DM Sans"/>
                <a:sym typeface="DM Sans"/>
              </a:rPr>
              <a:t>Our illustration shows why the change line can be hidden under a cover (drawn to scale from our strip design).</a:t>
            </a:r>
          </a:p>
        </p:txBody>
      </p:sp>
      <p:grpSp>
        <p:nvGrpSpPr>
          <p:cNvPr name="Group 31" id="31"/>
          <p:cNvGrpSpPr/>
          <p:nvPr/>
        </p:nvGrpSpPr>
        <p:grpSpPr>
          <a:xfrm rot="0">
            <a:off x="9672638" y="2937196"/>
            <a:ext cx="231505" cy="228600"/>
            <a:chOff x="0" y="0"/>
            <a:chExt cx="308674" cy="304800"/>
          </a:xfrm>
        </p:grpSpPr>
        <p:sp>
          <p:nvSpPr>
            <p:cNvPr name="Freeform 32" id="32" descr="image.png"/>
            <p:cNvSpPr/>
            <p:nvPr/>
          </p:nvSpPr>
          <p:spPr>
            <a:xfrm flipH="false" flipV="false" rot="0">
              <a:off x="0" y="0"/>
              <a:ext cx="308610" cy="304800"/>
            </a:xfrm>
            <a:custGeom>
              <a:avLst/>
              <a:gdLst/>
              <a:ahLst/>
              <a:cxnLst/>
              <a:rect r="r" b="b" t="t" l="l"/>
              <a:pathLst>
                <a:path h="304800" w="308610">
                  <a:moveTo>
                    <a:pt x="0" y="0"/>
                  </a:moveTo>
                  <a:lnTo>
                    <a:pt x="308610" y="0"/>
                  </a:lnTo>
                  <a:lnTo>
                    <a:pt x="308610" y="304800"/>
                  </a:lnTo>
                  <a:lnTo>
                    <a:pt x="0" y="304800"/>
                  </a:lnTo>
                  <a:lnTo>
                    <a:pt x="0" y="0"/>
                  </a:lnTo>
                  <a:close/>
                </a:path>
              </a:pathLst>
            </a:custGeom>
            <a:blipFill>
              <a:blip r:embed="rId10"/>
              <a:stretch>
                <a:fillRect l="0" t="0" r="-20" b="-1270"/>
              </a:stretch>
            </a:blipFill>
          </p:spPr>
          <p:txBody>
            <a:bodyPr/>
            <a:p/>
          </p:txBody>
        </p:sp>
      </p:grpSp>
      <p:sp>
        <p:nvSpPr>
          <p:cNvPr name="TextBox 33" id="33"/>
          <p:cNvSpPr txBox="true"/>
          <p:nvPr/>
        </p:nvSpPr>
        <p:spPr>
          <a:xfrm rot="0">
            <a:off x="10047018" y="2918146"/>
            <a:ext cx="7269480" cy="247650"/>
          </a:xfrm>
          <a:prstGeom prst="rect">
            <a:avLst/>
          </a:prstGeom>
        </p:spPr>
        <p:txBody>
          <a:bodyPr anchor="t" rtlCol="false" tIns="0" lIns="0" bIns="0" rIns="0">
            <a:spAutoFit/>
          </a:bodyPr>
          <a:lstStyle/>
          <a:p>
            <a:pPr algn="l">
              <a:lnSpc>
                <a:spcPts val="2070"/>
              </a:lnSpc>
            </a:pPr>
            <a:r>
              <a:rPr lang="en-US" b="true" sz="1725">
                <a:solidFill>
                  <a:srgbClr val="0F172A"/>
                </a:solidFill>
                <a:latin typeface="DM Sans Bold"/>
                <a:ea typeface="DM Sans Bold"/>
                <a:cs typeface="DM Sans Bold"/>
                <a:sym typeface="DM Sans Bold"/>
              </a:rPr>
              <a:t>The problem and who we designed for</a:t>
            </a:r>
          </a:p>
        </p:txBody>
      </p:sp>
      <p:grpSp>
        <p:nvGrpSpPr>
          <p:cNvPr name="Group 34" id="34"/>
          <p:cNvGrpSpPr/>
          <p:nvPr/>
        </p:nvGrpSpPr>
        <p:grpSpPr>
          <a:xfrm rot="0">
            <a:off x="16642794" y="9421197"/>
            <a:ext cx="1645206" cy="865803"/>
            <a:chOff x="0" y="0"/>
            <a:chExt cx="2193608" cy="1154405"/>
          </a:xfrm>
        </p:grpSpPr>
        <p:sp>
          <p:nvSpPr>
            <p:cNvPr name="Freeform 35" id="35"/>
            <p:cNvSpPr/>
            <p:nvPr/>
          </p:nvSpPr>
          <p:spPr>
            <a:xfrm flipH="false" flipV="false" rot="0">
              <a:off x="0" y="0"/>
              <a:ext cx="2193671" cy="1154430"/>
            </a:xfrm>
            <a:custGeom>
              <a:avLst/>
              <a:gdLst/>
              <a:ahLst/>
              <a:cxnLst/>
              <a:rect r="r" b="b" t="t" l="l"/>
              <a:pathLst>
                <a:path h="1154430" w="2193671">
                  <a:moveTo>
                    <a:pt x="0" y="0"/>
                  </a:moveTo>
                  <a:lnTo>
                    <a:pt x="2193671" y="0"/>
                  </a:lnTo>
                  <a:lnTo>
                    <a:pt x="2193671" y="1154430"/>
                  </a:lnTo>
                  <a:lnTo>
                    <a:pt x="0" y="1154430"/>
                  </a:lnTo>
                  <a:lnTo>
                    <a:pt x="0" y="0"/>
                  </a:lnTo>
                  <a:close/>
                </a:path>
              </a:pathLst>
            </a:custGeom>
            <a:blipFill>
              <a:blip r:embed="rId11"/>
              <a:stretch>
                <a:fillRect l="0" t="0" r="2" b="2"/>
              </a:stretch>
            </a:blipFill>
          </p:spPr>
          <p:txBody>
            <a:bodyPr/>
            <a:p/>
          </p:txBody>
        </p:sp>
      </p:grpSp>
      <p:grpSp>
        <p:nvGrpSpPr>
          <p:cNvPr name="Group 36" id="36"/>
          <p:cNvGrpSpPr/>
          <p:nvPr/>
        </p:nvGrpSpPr>
        <p:grpSpPr>
          <a:xfrm rot="0">
            <a:off x="0" y="9421197"/>
            <a:ext cx="2679421" cy="865803"/>
            <a:chOff x="0" y="0"/>
            <a:chExt cx="3572561" cy="1154405"/>
          </a:xfrm>
        </p:grpSpPr>
        <p:sp>
          <p:nvSpPr>
            <p:cNvPr name="Freeform 37" id="37"/>
            <p:cNvSpPr/>
            <p:nvPr/>
          </p:nvSpPr>
          <p:spPr>
            <a:xfrm flipH="false" flipV="false" rot="0">
              <a:off x="0" y="0"/>
              <a:ext cx="3572510" cy="1154430"/>
            </a:xfrm>
            <a:custGeom>
              <a:avLst/>
              <a:gdLst/>
              <a:ahLst/>
              <a:cxnLst/>
              <a:rect r="r" b="b" t="t" l="l"/>
              <a:pathLst>
                <a:path h="1154430" w="3572510">
                  <a:moveTo>
                    <a:pt x="0" y="0"/>
                  </a:moveTo>
                  <a:lnTo>
                    <a:pt x="3572510" y="0"/>
                  </a:lnTo>
                  <a:lnTo>
                    <a:pt x="3572510" y="1154430"/>
                  </a:lnTo>
                  <a:lnTo>
                    <a:pt x="0" y="1154430"/>
                  </a:lnTo>
                  <a:lnTo>
                    <a:pt x="0" y="0"/>
                  </a:lnTo>
                  <a:close/>
                </a:path>
              </a:pathLst>
            </a:custGeom>
            <a:blipFill>
              <a:blip r:embed="rId12"/>
              <a:stretch>
                <a:fillRect l="-21110" t="-147255" r="-22761" b="-197973"/>
              </a:stretch>
            </a:blipFill>
          </p:spPr>
          <p:txBody>
            <a:bodyPr/>
            <a:p/>
          </p:txBody>
        </p:sp>
      </p:grpSp>
      <p:grpSp>
        <p:nvGrpSpPr>
          <p:cNvPr name="Group 38" id="38"/>
          <p:cNvGrpSpPr/>
          <p:nvPr/>
        </p:nvGrpSpPr>
        <p:grpSpPr>
          <a:xfrm rot="0">
            <a:off x="14651431" y="685800"/>
            <a:ext cx="2836469" cy="370332"/>
            <a:chOff x="0" y="0"/>
            <a:chExt cx="3781958" cy="493776"/>
          </a:xfrm>
        </p:grpSpPr>
        <p:sp>
          <p:nvSpPr>
            <p:cNvPr name="Freeform 39" id="39"/>
            <p:cNvSpPr/>
            <p:nvPr/>
          </p:nvSpPr>
          <p:spPr>
            <a:xfrm flipH="false" flipV="false" rot="0">
              <a:off x="0" y="0"/>
              <a:ext cx="3781933" cy="493776"/>
            </a:xfrm>
            <a:custGeom>
              <a:avLst/>
              <a:gdLst/>
              <a:ahLst/>
              <a:cxnLst/>
              <a:rect r="r" b="b" t="t" l="l"/>
              <a:pathLst>
                <a:path h="493776" w="3781933">
                  <a:moveTo>
                    <a:pt x="0" y="246888"/>
                  </a:moveTo>
                  <a:cubicBezTo>
                    <a:pt x="0" y="110490"/>
                    <a:pt x="110490" y="0"/>
                    <a:pt x="246888" y="0"/>
                  </a:cubicBezTo>
                  <a:lnTo>
                    <a:pt x="3535045" y="0"/>
                  </a:lnTo>
                  <a:cubicBezTo>
                    <a:pt x="3671443" y="0"/>
                    <a:pt x="3781933" y="110490"/>
                    <a:pt x="3781933" y="246888"/>
                  </a:cubicBezTo>
                  <a:cubicBezTo>
                    <a:pt x="3781933" y="383286"/>
                    <a:pt x="3671443" y="493776"/>
                    <a:pt x="3535045" y="493776"/>
                  </a:cubicBezTo>
                  <a:lnTo>
                    <a:pt x="246888" y="493776"/>
                  </a:lnTo>
                  <a:cubicBezTo>
                    <a:pt x="110490" y="493776"/>
                    <a:pt x="0" y="383286"/>
                    <a:pt x="0" y="246888"/>
                  </a:cubicBezTo>
                  <a:close/>
                </a:path>
              </a:pathLst>
            </a:custGeom>
            <a:solidFill>
              <a:srgbClr val="E0F2FE"/>
            </a:solidFill>
          </p:spPr>
          <p:txBody>
            <a:bodyPr/>
            <a:p/>
          </p:txBody>
        </p:sp>
        <p:sp>
          <p:nvSpPr>
            <p:cNvPr name="TextBox 40" id="40"/>
            <p:cNvSpPr txBox="true"/>
            <p:nvPr/>
          </p:nvSpPr>
          <p:spPr>
            <a:xfrm>
              <a:off x="0" y="0"/>
              <a:ext cx="3781958" cy="493776"/>
            </a:xfrm>
            <a:prstGeom prst="rect">
              <a:avLst/>
            </a:prstGeom>
          </p:spPr>
          <p:txBody>
            <a:bodyPr anchor="ctr" rtlCol="false" tIns="50800" lIns="50800" bIns="50800" rIns="50800"/>
            <a:lstStyle/>
            <a:p>
              <a:pPr algn="ctr">
                <a:lnSpc>
                  <a:spcPts val="1350"/>
                </a:lnSpc>
              </a:pPr>
              <a:r>
                <a:rPr lang="en-US" sz="1125" b="true">
                  <a:solidFill>
                    <a:srgbClr val="0369A1"/>
                  </a:solidFill>
                  <a:latin typeface="DM Sans Bold"/>
                  <a:ea typeface="DM Sans Bold"/>
                  <a:cs typeface="DM Sans Bold"/>
                  <a:sym typeface="DM Sans Bold"/>
                </a:rPr>
                <a:t>EVIDENCE FROM PUBLISHED SOURCES</a:t>
              </a:r>
            </a:p>
          </p:txBody>
        </p:sp>
      </p:grpSp>
      <p:grpSp>
        <p:nvGrpSpPr>
          <p:cNvPr name="Group 41" id="41"/>
          <p:cNvGrpSpPr/>
          <p:nvPr/>
        </p:nvGrpSpPr>
        <p:grpSpPr>
          <a:xfrm rot="0">
            <a:off x="818636" y="2619756"/>
            <a:ext cx="8101089" cy="5390388"/>
            <a:chOff x="0" y="0"/>
            <a:chExt cx="10801452" cy="7187184"/>
          </a:xfrm>
        </p:grpSpPr>
        <p:sp>
          <p:nvSpPr>
            <p:cNvPr name="Freeform 42" id="42" descr="fig_problem.png"/>
            <p:cNvSpPr/>
            <p:nvPr/>
          </p:nvSpPr>
          <p:spPr>
            <a:xfrm flipH="false" flipV="false" rot="0">
              <a:off x="0" y="0"/>
              <a:ext cx="10801477" cy="7187184"/>
            </a:xfrm>
            <a:custGeom>
              <a:avLst/>
              <a:gdLst/>
              <a:ahLst/>
              <a:cxnLst/>
              <a:rect r="r" b="b" t="t" l="l"/>
              <a:pathLst>
                <a:path h="7187184" w="10801477">
                  <a:moveTo>
                    <a:pt x="0" y="0"/>
                  </a:moveTo>
                  <a:lnTo>
                    <a:pt x="10801477" y="0"/>
                  </a:lnTo>
                  <a:lnTo>
                    <a:pt x="10801477" y="7187184"/>
                  </a:lnTo>
                  <a:lnTo>
                    <a:pt x="0" y="7187184"/>
                  </a:lnTo>
                  <a:lnTo>
                    <a:pt x="0" y="0"/>
                  </a:lnTo>
                  <a:close/>
                </a:path>
              </a:pathLst>
            </a:custGeom>
            <a:blipFill>
              <a:blip r:embed="rId13"/>
              <a:stretch>
                <a:fillRect l="0" t="0" r="0" b="0"/>
              </a:stretch>
            </a:blipFill>
          </p:spPr>
          <p:txBody>
            <a:bodyPr/>
            <a:p/>
          </p:txBody>
        </p:sp>
      </p:grpSp>
      <p:sp>
        <p:nvSpPr>
          <p:cNvPr name="TextBox 43" id="43"/>
          <p:cNvSpPr txBox="true"/>
          <p:nvPr/>
        </p:nvSpPr>
        <p:spPr>
          <a:xfrm rot="0">
            <a:off x="9715500" y="3583686"/>
            <a:ext cx="7507224" cy="2949854"/>
          </a:xfrm>
          <a:prstGeom prst="rect">
            <a:avLst/>
          </a:prstGeom>
        </p:spPr>
        <p:txBody>
          <a:bodyPr anchor="t" rtlCol="false" tIns="0" lIns="0" bIns="0" rIns="0">
            <a:spAutoFit/>
          </a:bodyPr>
          <a:lstStyle/>
          <a:p>
            <a:pPr algn="l" marL="0" indent="0" lvl="0">
              <a:lnSpc>
                <a:spcPts val="2332"/>
              </a:lnSpc>
              <a:spcBef>
                <a:spcPct val="0"/>
              </a:spcBef>
            </a:pPr>
            <a:r>
              <a:rPr lang="en-US" sz="1800" strike="noStrike" u="none">
                <a:solidFill>
                  <a:srgbClr val="059669"/>
                </a:solidFill>
                <a:latin typeface="DM Sans"/>
                <a:ea typeface="DM Sans"/>
                <a:cs typeface="DM Sans"/>
                <a:sym typeface="DM Sans"/>
              </a:rPr>
              <a:t>▪  Problem:  a carer cannot see whether a covered foam dressing has reached its maker’s change line.</a:t>
            </a:r>
          </a:p>
          <a:p>
            <a:pPr algn="l" marL="0" indent="0" lvl="0">
              <a:lnSpc>
                <a:spcPts val="2332"/>
              </a:lnSpc>
              <a:spcBef>
                <a:spcPct val="0"/>
              </a:spcBef>
            </a:pPr>
            <a:r>
              <a:rPr lang="en-US" sz="1800" strike="noStrike" u="none">
                <a:solidFill>
                  <a:srgbClr val="059669"/>
                </a:solidFill>
                <a:latin typeface="DM Sans"/>
                <a:ea typeface="DM Sans"/>
                <a:cs typeface="DM Sans"/>
                <a:sym typeface="DM Sans"/>
              </a:rPr>
              <a:t>▪  Result:  early changes mean needless pain and waste; late changes risk strike-through leakage [2] and periwound maceration (moisture-damaged skin) [21].</a:t>
            </a:r>
          </a:p>
          <a:p>
            <a:pPr algn="l" marL="0" indent="0" lvl="0">
              <a:lnSpc>
                <a:spcPts val="2332"/>
              </a:lnSpc>
              <a:spcBef>
                <a:spcPct val="0"/>
              </a:spcBef>
            </a:pPr>
            <a:r>
              <a:rPr lang="en-US" sz="1800" strike="noStrike" u="none">
                <a:solidFill>
                  <a:srgbClr val="059669"/>
                </a:solidFill>
                <a:latin typeface="DM Sans"/>
                <a:ea typeface="DM Sans"/>
                <a:cs typeface="DM Sans"/>
                <a:sym typeface="DM Sans"/>
              </a:rPr>
              <a:t>▪  Who:  nurses and family carers supporting people with draining chronic wounds, including diabetic foot, leg and pressure ulcers.</a:t>
            </a:r>
          </a:p>
          <a:p>
            <a:pPr algn="l" marL="0" indent="0" lvl="0">
              <a:lnSpc>
                <a:spcPts val="2332"/>
              </a:lnSpc>
              <a:spcBef>
                <a:spcPct val="0"/>
              </a:spcBef>
            </a:pPr>
            <a:r>
              <a:rPr lang="en-US" sz="1800" strike="noStrike" u="none">
                <a:solidFill>
                  <a:srgbClr val="059669"/>
                </a:solidFill>
                <a:latin typeface="DM Sans"/>
                <a:ea typeface="DM Sans"/>
                <a:cs typeface="DM Sans"/>
                <a:sym typeface="DM Sans"/>
              </a:rPr>
              <a:t>▪  We will:  show when that change line is reached, from outside, without lifting the dressing.</a:t>
            </a:r>
          </a:p>
        </p:txBody>
      </p:sp>
    </p:spTree>
  </p:cSld>
  <p:clrMapOvr>
    <a:masterClrMapping/>
  </p:clrMapOvr>
</p:sld>
</file>

<file path=ppt/slides/slide3.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0"/>
            <a:ext cx="18288000" cy="10287000"/>
            <a:chOff x="0" y="0"/>
            <a:chExt cx="24384000" cy="13716000"/>
          </a:xfrm>
        </p:grpSpPr>
        <p:sp>
          <p:nvSpPr>
            <p:cNvPr name="Freeform 3" id="3" descr="image.png"/>
            <p:cNvSpPr/>
            <p:nvPr/>
          </p:nvSpPr>
          <p:spPr>
            <a:xfrm flipH="false" flipV="false" rot="0">
              <a:off x="0" y="0"/>
              <a:ext cx="24384000" cy="13716000"/>
            </a:xfrm>
            <a:custGeom>
              <a:avLst/>
              <a:gdLst/>
              <a:ahLst/>
              <a:cxnLst/>
              <a:rect r="r" b="b" t="t" l="l"/>
              <a:pathLst>
                <a:path h="13716000" w="24384000">
                  <a:moveTo>
                    <a:pt x="0" y="0"/>
                  </a:moveTo>
                  <a:lnTo>
                    <a:pt x="24384000" y="0"/>
                  </a:lnTo>
                  <a:lnTo>
                    <a:pt x="24384000" y="13716000"/>
                  </a:lnTo>
                  <a:lnTo>
                    <a:pt x="0" y="13716000"/>
                  </a:lnTo>
                  <a:lnTo>
                    <a:pt x="0" y="0"/>
                  </a:lnTo>
                  <a:close/>
                </a:path>
              </a:pathLst>
            </a:custGeom>
            <a:blipFill>
              <a:blip r:embed="rId3"/>
              <a:stretch>
                <a:fillRect l="0" t="0" r="0" b="0"/>
              </a:stretch>
            </a:blipFill>
          </p:spPr>
          <p:txBody>
            <a:bodyPr/>
            <a:p/>
          </p:txBody>
        </p:sp>
      </p:grpSp>
      <p:grpSp>
        <p:nvGrpSpPr>
          <p:cNvPr name="Group 4" id="4"/>
          <p:cNvGrpSpPr/>
          <p:nvPr/>
        </p:nvGrpSpPr>
        <p:grpSpPr>
          <a:xfrm rot="0">
            <a:off x="800100" y="8571957"/>
            <a:ext cx="16687800" cy="544706"/>
            <a:chOff x="0" y="0"/>
            <a:chExt cx="22250400" cy="726275"/>
          </a:xfrm>
        </p:grpSpPr>
        <p:sp>
          <p:nvSpPr>
            <p:cNvPr name="Freeform 5" id="5" descr="image.png"/>
            <p:cNvSpPr/>
            <p:nvPr/>
          </p:nvSpPr>
          <p:spPr>
            <a:xfrm flipH="false" flipV="false" rot="0">
              <a:off x="0" y="0"/>
              <a:ext cx="22250400" cy="726313"/>
            </a:xfrm>
            <a:custGeom>
              <a:avLst/>
              <a:gdLst/>
              <a:ahLst/>
              <a:cxnLst/>
              <a:rect r="r" b="b" t="t" l="l"/>
              <a:pathLst>
                <a:path h="726313" w="22250400">
                  <a:moveTo>
                    <a:pt x="0" y="0"/>
                  </a:moveTo>
                  <a:lnTo>
                    <a:pt x="22250400" y="0"/>
                  </a:lnTo>
                  <a:lnTo>
                    <a:pt x="22250400" y="726313"/>
                  </a:lnTo>
                  <a:lnTo>
                    <a:pt x="0" y="726313"/>
                  </a:lnTo>
                  <a:lnTo>
                    <a:pt x="0" y="0"/>
                  </a:lnTo>
                  <a:close/>
                </a:path>
              </a:pathLst>
            </a:custGeom>
            <a:blipFill>
              <a:blip r:embed="rId4"/>
              <a:stretch>
                <a:fillRect l="0" t="0" r="0" b="-2290"/>
              </a:stretch>
            </a:blipFill>
          </p:spPr>
          <p:txBody>
            <a:bodyPr/>
            <a:p/>
          </p:txBody>
        </p:sp>
      </p:grpSp>
      <p:grpSp>
        <p:nvGrpSpPr>
          <p:cNvPr name="Group 6" id="6"/>
          <p:cNvGrpSpPr/>
          <p:nvPr/>
        </p:nvGrpSpPr>
        <p:grpSpPr>
          <a:xfrm rot="0">
            <a:off x="9344025" y="1440180"/>
            <a:ext cx="8143875" cy="6885432"/>
            <a:chOff x="0" y="0"/>
            <a:chExt cx="10858500" cy="9180576"/>
          </a:xfrm>
        </p:grpSpPr>
        <p:sp>
          <p:nvSpPr>
            <p:cNvPr name="Freeform 7" id="7" descr="image.png"/>
            <p:cNvSpPr/>
            <p:nvPr/>
          </p:nvSpPr>
          <p:spPr>
            <a:xfrm flipH="false" flipV="false" rot="0">
              <a:off x="0" y="0"/>
              <a:ext cx="10858500" cy="9180576"/>
            </a:xfrm>
            <a:custGeom>
              <a:avLst/>
              <a:gdLst/>
              <a:ahLst/>
              <a:cxnLst/>
              <a:rect r="r" b="b" t="t" l="l"/>
              <a:pathLst>
                <a:path h="9180576" w="10858500">
                  <a:moveTo>
                    <a:pt x="0" y="0"/>
                  </a:moveTo>
                  <a:lnTo>
                    <a:pt x="10858500" y="0"/>
                  </a:lnTo>
                  <a:lnTo>
                    <a:pt x="10858500" y="9180576"/>
                  </a:lnTo>
                  <a:lnTo>
                    <a:pt x="0" y="9180576"/>
                  </a:lnTo>
                  <a:lnTo>
                    <a:pt x="0" y="0"/>
                  </a:lnTo>
                  <a:close/>
                </a:path>
              </a:pathLst>
            </a:custGeom>
            <a:blipFill>
              <a:blip r:embed="rId5"/>
              <a:stretch>
                <a:fillRect l="0" t="0" r="-9031" b="0"/>
              </a:stretch>
            </a:blipFill>
          </p:spPr>
          <p:txBody>
            <a:bodyPr/>
            <a:p/>
          </p:txBody>
        </p:sp>
      </p:grpSp>
      <p:grpSp>
        <p:nvGrpSpPr>
          <p:cNvPr name="Group 8" id="8"/>
          <p:cNvGrpSpPr/>
          <p:nvPr/>
        </p:nvGrpSpPr>
        <p:grpSpPr>
          <a:xfrm rot="0">
            <a:off x="800100" y="1440180"/>
            <a:ext cx="8143875" cy="6885432"/>
            <a:chOff x="0" y="0"/>
            <a:chExt cx="10858500" cy="9180576"/>
          </a:xfrm>
        </p:grpSpPr>
        <p:sp>
          <p:nvSpPr>
            <p:cNvPr name="Freeform 9" id="9" descr="image.png"/>
            <p:cNvSpPr/>
            <p:nvPr/>
          </p:nvSpPr>
          <p:spPr>
            <a:xfrm flipH="false" flipV="false" rot="0">
              <a:off x="0" y="0"/>
              <a:ext cx="10858500" cy="9180576"/>
            </a:xfrm>
            <a:custGeom>
              <a:avLst/>
              <a:gdLst/>
              <a:ahLst/>
              <a:cxnLst/>
              <a:rect r="r" b="b" t="t" l="l"/>
              <a:pathLst>
                <a:path h="9180576" w="10858500">
                  <a:moveTo>
                    <a:pt x="0" y="0"/>
                  </a:moveTo>
                  <a:lnTo>
                    <a:pt x="10858500" y="0"/>
                  </a:lnTo>
                  <a:lnTo>
                    <a:pt x="10858500" y="9180576"/>
                  </a:lnTo>
                  <a:lnTo>
                    <a:pt x="0" y="9180576"/>
                  </a:lnTo>
                  <a:lnTo>
                    <a:pt x="0" y="0"/>
                  </a:lnTo>
                  <a:close/>
                </a:path>
              </a:pathLst>
            </a:custGeom>
            <a:blipFill>
              <a:blip r:embed="rId6"/>
              <a:stretch>
                <a:fillRect l="0" t="0" r="-88249" b="0"/>
              </a:stretch>
            </a:blipFill>
          </p:spPr>
          <p:txBody>
            <a:bodyPr/>
            <a:p/>
          </p:txBody>
        </p:sp>
      </p:grpSp>
      <p:grpSp>
        <p:nvGrpSpPr>
          <p:cNvPr name="Group 10" id="10"/>
          <p:cNvGrpSpPr/>
          <p:nvPr/>
        </p:nvGrpSpPr>
        <p:grpSpPr>
          <a:xfrm rot="0">
            <a:off x="800100" y="657225"/>
            <a:ext cx="12893040" cy="754049"/>
            <a:chOff x="0" y="0"/>
            <a:chExt cx="17190720" cy="1005399"/>
          </a:xfrm>
        </p:grpSpPr>
        <p:sp>
          <p:nvSpPr>
            <p:cNvPr name="Freeform 11" id="11"/>
            <p:cNvSpPr/>
            <p:nvPr/>
          </p:nvSpPr>
          <p:spPr>
            <a:xfrm flipH="false" flipV="false" rot="0">
              <a:off x="0" y="0"/>
              <a:ext cx="17190720" cy="1005396"/>
            </a:xfrm>
            <a:custGeom>
              <a:avLst/>
              <a:gdLst/>
              <a:ahLst/>
              <a:cxnLst/>
              <a:rect r="r" b="b" t="t" l="l"/>
              <a:pathLst>
                <a:path h="1005396" w="17190720">
                  <a:moveTo>
                    <a:pt x="0" y="0"/>
                  </a:moveTo>
                  <a:lnTo>
                    <a:pt x="17190720" y="0"/>
                  </a:lnTo>
                  <a:lnTo>
                    <a:pt x="17190720" y="1005396"/>
                  </a:lnTo>
                  <a:lnTo>
                    <a:pt x="0" y="1005396"/>
                  </a:lnTo>
                  <a:close/>
                </a:path>
              </a:pathLst>
            </a:custGeom>
            <a:blipFill>
              <a:blip r:embed="rId7">
                <a:alphaModFix amt="0"/>
              </a:blip>
              <a:stretch>
                <a:fillRect l="0" t="-302477" r="0" b="-263850"/>
              </a:stretch>
            </a:blipFill>
          </p:spPr>
          <p:txBody>
            <a:bodyPr/>
            <a:p/>
          </p:txBody>
        </p:sp>
        <p:sp>
          <p:nvSpPr>
            <p:cNvPr name="TextBox 12" id="12"/>
            <p:cNvSpPr txBox="true"/>
            <p:nvPr/>
          </p:nvSpPr>
          <p:spPr>
            <a:xfrm>
              <a:off x="0" y="-104775"/>
              <a:ext cx="17190720" cy="1110174"/>
            </a:xfrm>
            <a:prstGeom prst="rect">
              <a:avLst/>
            </a:prstGeom>
          </p:spPr>
          <p:txBody>
            <a:bodyPr anchor="ctr" rtlCol="false" tIns="0" lIns="0" bIns="0" rIns="0"/>
            <a:lstStyle/>
            <a:p>
              <a:pPr algn="l">
                <a:lnSpc>
                  <a:spcPts val="4372"/>
                </a:lnSpc>
              </a:pPr>
              <a:r>
                <a:rPr lang="en-US" sz="3037">
                  <a:solidFill>
                    <a:srgbClr val="0F172A"/>
                  </a:solidFill>
                  <a:latin typeface="Poppins"/>
                  <a:ea typeface="Poppins"/>
                  <a:cs typeface="Poppins"/>
                  <a:sym typeface="Poppins"/>
                </a:rPr>
                <a:t>What carers can use today — and what is still missing</a:t>
              </a:r>
            </a:p>
          </p:txBody>
        </p:sp>
      </p:grpSp>
      <p:sp>
        <p:nvSpPr>
          <p:cNvPr name="TextBox 13" id="13"/>
          <p:cNvSpPr txBox="true"/>
          <p:nvPr/>
        </p:nvSpPr>
        <p:spPr>
          <a:xfrm rot="0">
            <a:off x="1042988" y="8681780"/>
            <a:ext cx="16047720" cy="291689"/>
          </a:xfrm>
          <a:prstGeom prst="rect">
            <a:avLst/>
          </a:prstGeom>
        </p:spPr>
        <p:txBody>
          <a:bodyPr anchor="t" rtlCol="false" tIns="0" lIns="0" bIns="0" rIns="0">
            <a:spAutoFit/>
          </a:bodyPr>
          <a:lstStyle/>
          <a:p>
            <a:pPr algn="l">
              <a:lnSpc>
                <a:spcPts val="2506"/>
              </a:lnSpc>
            </a:pPr>
            <a:r>
              <a:rPr lang="en-US" b="true" sz="1439">
                <a:solidFill>
                  <a:srgbClr val="0F172A"/>
                </a:solidFill>
                <a:latin typeface="DM Sans Bold"/>
                <a:ea typeface="DM Sans Bold"/>
                <a:cs typeface="DM Sans Bold"/>
                <a:sym typeface="DM Sans Bold"/>
              </a:rPr>
              <a:t>Question we are trying to answer: </a:t>
            </a:r>
            <a:r>
              <a:rPr lang="en-US" b="true" sz="1439">
                <a:solidFill>
                  <a:srgbClr val="334155"/>
                </a:solidFill>
                <a:latin typeface="DM Sans Bold"/>
                <a:ea typeface="DM Sans Bold"/>
                <a:cs typeface="DM Sans Bold"/>
                <a:sym typeface="DM Sans Bold"/>
              </a:rPr>
              <a:t>How can a carer tell when a covered dressing needs changing without lifting it?</a:t>
            </a:r>
          </a:p>
        </p:txBody>
      </p:sp>
      <p:grpSp>
        <p:nvGrpSpPr>
          <p:cNvPr name="Group 14" id="14"/>
          <p:cNvGrpSpPr/>
          <p:nvPr/>
        </p:nvGrpSpPr>
        <p:grpSpPr>
          <a:xfrm rot="0">
            <a:off x="9672638" y="1755648"/>
            <a:ext cx="231505" cy="228600"/>
            <a:chOff x="0" y="0"/>
            <a:chExt cx="308674" cy="304800"/>
          </a:xfrm>
        </p:grpSpPr>
        <p:sp>
          <p:nvSpPr>
            <p:cNvPr name="Freeform 15" id="15" descr="image.png"/>
            <p:cNvSpPr/>
            <p:nvPr/>
          </p:nvSpPr>
          <p:spPr>
            <a:xfrm flipH="false" flipV="false" rot="0">
              <a:off x="0" y="0"/>
              <a:ext cx="308610" cy="304800"/>
            </a:xfrm>
            <a:custGeom>
              <a:avLst/>
              <a:gdLst/>
              <a:ahLst/>
              <a:cxnLst/>
              <a:rect r="r" b="b" t="t" l="l"/>
              <a:pathLst>
                <a:path h="304800" w="308610">
                  <a:moveTo>
                    <a:pt x="0" y="0"/>
                  </a:moveTo>
                  <a:lnTo>
                    <a:pt x="308610" y="0"/>
                  </a:lnTo>
                  <a:lnTo>
                    <a:pt x="308610" y="304800"/>
                  </a:lnTo>
                  <a:lnTo>
                    <a:pt x="0" y="304800"/>
                  </a:lnTo>
                  <a:lnTo>
                    <a:pt x="0" y="0"/>
                  </a:lnTo>
                  <a:close/>
                </a:path>
              </a:pathLst>
            </a:custGeom>
            <a:blipFill>
              <a:blip r:embed="rId8"/>
              <a:stretch>
                <a:fillRect l="0" t="0" r="-20" b="-1270"/>
              </a:stretch>
            </a:blipFill>
          </p:spPr>
          <p:txBody>
            <a:bodyPr/>
            <a:p/>
          </p:txBody>
        </p:sp>
      </p:grpSp>
      <p:sp>
        <p:nvSpPr>
          <p:cNvPr name="TextBox 16" id="16"/>
          <p:cNvSpPr txBox="true"/>
          <p:nvPr/>
        </p:nvSpPr>
        <p:spPr>
          <a:xfrm rot="0">
            <a:off x="10047018" y="1737741"/>
            <a:ext cx="7269480" cy="247650"/>
          </a:xfrm>
          <a:prstGeom prst="rect">
            <a:avLst/>
          </a:prstGeom>
        </p:spPr>
        <p:txBody>
          <a:bodyPr anchor="t" rtlCol="false" tIns="0" lIns="0" bIns="0" rIns="0">
            <a:spAutoFit/>
          </a:bodyPr>
          <a:lstStyle/>
          <a:p>
            <a:pPr algn="l">
              <a:lnSpc>
                <a:spcPts val="2070"/>
              </a:lnSpc>
            </a:pPr>
            <a:r>
              <a:rPr lang="en-US" b="true" sz="1725">
                <a:solidFill>
                  <a:srgbClr val="0F172A"/>
                </a:solidFill>
                <a:latin typeface="DM Sans Bold"/>
                <a:ea typeface="DM Sans Bold"/>
                <a:cs typeface="DM Sans Bold"/>
                <a:sym typeface="DM Sans Bold"/>
              </a:rPr>
              <a:t>What we searched and what we are testing</a:t>
            </a:r>
          </a:p>
        </p:txBody>
      </p:sp>
      <p:grpSp>
        <p:nvGrpSpPr>
          <p:cNvPr name="Group 17" id="17"/>
          <p:cNvGrpSpPr/>
          <p:nvPr/>
        </p:nvGrpSpPr>
        <p:grpSpPr>
          <a:xfrm rot="0">
            <a:off x="16642794" y="9421197"/>
            <a:ext cx="1645206" cy="865803"/>
            <a:chOff x="0" y="0"/>
            <a:chExt cx="2193608" cy="1154405"/>
          </a:xfrm>
        </p:grpSpPr>
        <p:sp>
          <p:nvSpPr>
            <p:cNvPr name="Freeform 18" id="18"/>
            <p:cNvSpPr/>
            <p:nvPr/>
          </p:nvSpPr>
          <p:spPr>
            <a:xfrm flipH="false" flipV="false" rot="0">
              <a:off x="0" y="0"/>
              <a:ext cx="2193671" cy="1154430"/>
            </a:xfrm>
            <a:custGeom>
              <a:avLst/>
              <a:gdLst/>
              <a:ahLst/>
              <a:cxnLst/>
              <a:rect r="r" b="b" t="t" l="l"/>
              <a:pathLst>
                <a:path h="1154430" w="2193671">
                  <a:moveTo>
                    <a:pt x="0" y="0"/>
                  </a:moveTo>
                  <a:lnTo>
                    <a:pt x="2193671" y="0"/>
                  </a:lnTo>
                  <a:lnTo>
                    <a:pt x="2193671" y="1154430"/>
                  </a:lnTo>
                  <a:lnTo>
                    <a:pt x="0" y="1154430"/>
                  </a:lnTo>
                  <a:lnTo>
                    <a:pt x="0" y="0"/>
                  </a:lnTo>
                  <a:close/>
                </a:path>
              </a:pathLst>
            </a:custGeom>
            <a:blipFill>
              <a:blip r:embed="rId9"/>
              <a:stretch>
                <a:fillRect l="0" t="0" r="2" b="2"/>
              </a:stretch>
            </a:blipFill>
          </p:spPr>
          <p:txBody>
            <a:bodyPr/>
            <a:p/>
          </p:txBody>
        </p:sp>
      </p:grpSp>
      <p:grpSp>
        <p:nvGrpSpPr>
          <p:cNvPr name="Group 19" id="19"/>
          <p:cNvGrpSpPr/>
          <p:nvPr/>
        </p:nvGrpSpPr>
        <p:grpSpPr>
          <a:xfrm rot="0">
            <a:off x="0" y="9421197"/>
            <a:ext cx="2679421" cy="865803"/>
            <a:chOff x="0" y="0"/>
            <a:chExt cx="3572561" cy="1154405"/>
          </a:xfrm>
        </p:grpSpPr>
        <p:sp>
          <p:nvSpPr>
            <p:cNvPr name="Freeform 20" id="20"/>
            <p:cNvSpPr/>
            <p:nvPr/>
          </p:nvSpPr>
          <p:spPr>
            <a:xfrm flipH="false" flipV="false" rot="0">
              <a:off x="0" y="0"/>
              <a:ext cx="3572510" cy="1154430"/>
            </a:xfrm>
            <a:custGeom>
              <a:avLst/>
              <a:gdLst/>
              <a:ahLst/>
              <a:cxnLst/>
              <a:rect r="r" b="b" t="t" l="l"/>
              <a:pathLst>
                <a:path h="1154430" w="3572510">
                  <a:moveTo>
                    <a:pt x="0" y="0"/>
                  </a:moveTo>
                  <a:lnTo>
                    <a:pt x="3572510" y="0"/>
                  </a:lnTo>
                  <a:lnTo>
                    <a:pt x="3572510" y="1154430"/>
                  </a:lnTo>
                  <a:lnTo>
                    <a:pt x="0" y="1154430"/>
                  </a:lnTo>
                  <a:lnTo>
                    <a:pt x="0" y="0"/>
                  </a:lnTo>
                  <a:close/>
                </a:path>
              </a:pathLst>
            </a:custGeom>
            <a:blipFill>
              <a:blip r:embed="rId10"/>
              <a:stretch>
                <a:fillRect l="-21110" t="-147255" r="-22761" b="-197973"/>
              </a:stretch>
            </a:blipFill>
          </p:spPr>
          <p:txBody>
            <a:bodyPr/>
            <a:p/>
          </p:txBody>
        </p:sp>
      </p:grpSp>
      <p:grpSp>
        <p:nvGrpSpPr>
          <p:cNvPr name="Group 21" id="21"/>
          <p:cNvGrpSpPr/>
          <p:nvPr/>
        </p:nvGrpSpPr>
        <p:grpSpPr>
          <a:xfrm rot="0">
            <a:off x="14278356" y="685800"/>
            <a:ext cx="3209544" cy="370332"/>
            <a:chOff x="0" y="0"/>
            <a:chExt cx="4279392" cy="493776"/>
          </a:xfrm>
        </p:grpSpPr>
        <p:sp>
          <p:nvSpPr>
            <p:cNvPr name="Freeform 22" id="22"/>
            <p:cNvSpPr/>
            <p:nvPr/>
          </p:nvSpPr>
          <p:spPr>
            <a:xfrm flipH="false" flipV="false" rot="0">
              <a:off x="0" y="0"/>
              <a:ext cx="4279392" cy="493776"/>
            </a:xfrm>
            <a:custGeom>
              <a:avLst/>
              <a:gdLst/>
              <a:ahLst/>
              <a:cxnLst/>
              <a:rect r="r" b="b" t="t" l="l"/>
              <a:pathLst>
                <a:path h="493776" w="4279392">
                  <a:moveTo>
                    <a:pt x="0" y="246888"/>
                  </a:moveTo>
                  <a:cubicBezTo>
                    <a:pt x="0" y="110490"/>
                    <a:pt x="110490" y="0"/>
                    <a:pt x="246888" y="0"/>
                  </a:cubicBezTo>
                  <a:lnTo>
                    <a:pt x="4032504" y="0"/>
                  </a:lnTo>
                  <a:cubicBezTo>
                    <a:pt x="4168902" y="0"/>
                    <a:pt x="4279392" y="110490"/>
                    <a:pt x="4279392" y="246888"/>
                  </a:cubicBezTo>
                  <a:cubicBezTo>
                    <a:pt x="4279392" y="383286"/>
                    <a:pt x="4168902" y="493776"/>
                    <a:pt x="4032504" y="493776"/>
                  </a:cubicBezTo>
                  <a:lnTo>
                    <a:pt x="246888" y="493776"/>
                  </a:lnTo>
                  <a:cubicBezTo>
                    <a:pt x="110490" y="493776"/>
                    <a:pt x="0" y="383286"/>
                    <a:pt x="0" y="246888"/>
                  </a:cubicBezTo>
                  <a:close/>
                </a:path>
              </a:pathLst>
            </a:custGeom>
            <a:solidFill>
              <a:srgbClr val="E0F2FE"/>
            </a:solidFill>
          </p:spPr>
          <p:txBody>
            <a:bodyPr/>
            <a:p/>
          </p:txBody>
        </p:sp>
        <p:sp>
          <p:nvSpPr>
            <p:cNvPr name="TextBox 23" id="23"/>
            <p:cNvSpPr txBox="true"/>
            <p:nvPr/>
          </p:nvSpPr>
          <p:spPr>
            <a:xfrm>
              <a:off x="0" y="0"/>
              <a:ext cx="4279392" cy="493776"/>
            </a:xfrm>
            <a:prstGeom prst="rect">
              <a:avLst/>
            </a:prstGeom>
          </p:spPr>
          <p:txBody>
            <a:bodyPr anchor="ctr" rtlCol="false" tIns="50800" lIns="50800" bIns="50800" rIns="50800"/>
            <a:lstStyle/>
            <a:p>
              <a:pPr algn="ctr">
                <a:lnSpc>
                  <a:spcPts val="1350"/>
                </a:lnSpc>
              </a:pPr>
              <a:r>
                <a:rPr lang="en-US" sz="1125" b="true">
                  <a:solidFill>
                    <a:srgbClr val="0369A1"/>
                  </a:solidFill>
                  <a:latin typeface="DM Sans Bold"/>
                  <a:ea typeface="DM Sans Bold"/>
                  <a:cs typeface="DM Sans Bold"/>
                  <a:sym typeface="DM Sans Bold"/>
                </a:rPr>
                <a:t>EARLY SEARCH · NOT EXHAUSTIVE</a:t>
              </a:r>
            </a:p>
          </p:txBody>
        </p:sp>
      </p:grpSp>
      <p:sp>
        <p:nvSpPr>
          <p:cNvPr name="TextBox 24" id="24"/>
          <p:cNvSpPr txBox="true"/>
          <p:nvPr/>
        </p:nvSpPr>
        <p:spPr>
          <a:xfrm rot="0">
            <a:off x="1088136" y="1618107"/>
            <a:ext cx="7644384" cy="264719"/>
          </a:xfrm>
          <a:prstGeom prst="rect">
            <a:avLst/>
          </a:prstGeom>
        </p:spPr>
        <p:txBody>
          <a:bodyPr anchor="t" rtlCol="false" tIns="0" lIns="0" bIns="0" rIns="0">
            <a:spAutoFit/>
          </a:bodyPr>
          <a:lstStyle/>
          <a:p>
            <a:pPr algn="l">
              <a:lnSpc>
                <a:spcPts val="2235"/>
              </a:lnSpc>
            </a:pPr>
            <a:r>
              <a:rPr lang="en-US" sz="1725" b="true">
                <a:solidFill>
                  <a:srgbClr val="0F172A"/>
                </a:solidFill>
                <a:latin typeface="DM Sans Bold"/>
                <a:ea typeface="DM Sans Bold"/>
                <a:cs typeface="DM Sans Bold"/>
                <a:sym typeface="DM Sans Bold"/>
              </a:rPr>
              <a:t>Current options and their limits</a:t>
            </a:r>
          </a:p>
        </p:txBody>
      </p:sp>
      <p:graphicFrame>
        <p:nvGraphicFramePr>
          <p:cNvPr name="Table 25" id="25"/>
          <p:cNvGraphicFramePr>
            <a:graphicFrameLocks noGrp="true"/>
          </p:cNvGraphicFramePr>
          <p:nvPr/>
        </p:nvGraphicFramePr>
        <p:xfrm>
          <a:off x="987552" y="2194560"/>
          <a:ext cx="7734300" cy="5029200"/>
        </p:xfrm>
        <a:graphic>
          <a:graphicData uri="http://schemas.openxmlformats.org/drawingml/2006/table">
            <a:tbl>
              <a:tblPr/>
              <a:tblGrid>
                <a:gridCol w="2386685"/>
                <a:gridCol w="1312647"/>
                <a:gridCol w="1312647"/>
                <a:gridCol w="2722321"/>
              </a:tblGrid>
              <a:tr h="641173">
                <a:tc>
                  <a:txBody>
                    <a:bodyPr anchor="t" rtlCol="false"/>
                    <a:lstStyle/>
                    <a:p>
                      <a:pPr algn="l">
                        <a:lnSpc>
                          <a:spcPts val="1547"/>
                        </a:lnSpc>
                        <a:defRPr/>
                      </a:pPr>
                      <a:r>
                        <a:rPr lang="en-US" sz="1289" b="true">
                          <a:solidFill>
                            <a:srgbClr val="0F172A"/>
                          </a:solidFill>
                          <a:latin typeface="DM Sans Bold"/>
                          <a:ea typeface="DM Sans Bold"/>
                          <a:cs typeface="DM Sans Bold"/>
                          <a:sym typeface="DM Sans Bold"/>
                        </a:rPr>
                        <a:t>Today's option</a:t>
                      </a:r>
                      <a:endParaRPr lang="en-US" sz="1100"/>
                    </a:p>
                  </a:txBody>
                  <a:tcPr marL="36576" marR="36576" marT="36576" marB="36576" anchor="ctr">
                    <a:lnL cmpd="sng" algn="ctr" cap="flat" w="12700">
                      <a:solidFill>
                        <a:srgbClr val="000000"/>
                      </a:solidFill>
                      <a:prstDash val="solid"/>
                      <a:round/>
                      <a:headEnd type="none" w="med" len="med"/>
                      <a:tailEnd type="none" w="med" len="med"/>
                    </a:lnL>
                    <a:lnR cmpd="sng" algn="ctr" cap="flat" w="12700">
                      <a:solidFill>
                        <a:srgbClr val="000000"/>
                      </a:solidFill>
                      <a:prstDash val="solid"/>
                      <a:round/>
                      <a:headEnd type="none" w="med" len="med"/>
                      <a:tailEnd type="none" w="med" len="med"/>
                    </a:lnR>
                    <a:lnT cmpd="sng" algn="ctr" cap="flat" w="12700">
                      <a:solidFill>
                        <a:srgbClr val="000000"/>
                      </a:solidFill>
                      <a:prstDash val="solid"/>
                      <a:round/>
                      <a:headEnd type="none" w="med" len="med"/>
                      <a:tailEnd type="none" w="med" len="med"/>
                    </a:lnT>
                    <a:lnB cmpd="sng" algn="ctr" cap="flat" w="12700">
                      <a:solidFill>
                        <a:srgbClr val="CBD5E1"/>
                      </a:solidFill>
                      <a:prstDash val="solid"/>
                      <a:round/>
                      <a:headEnd type="none" w="med" len="med"/>
                      <a:tailEnd type="none" w="med" len="med"/>
                    </a:lnB>
                  </a:tcPr>
                </a:tc>
                <a:tc>
                  <a:txBody>
                    <a:bodyPr anchor="t" rtlCol="false"/>
                    <a:lstStyle/>
                    <a:p>
                      <a:pPr algn="l">
                        <a:lnSpc>
                          <a:spcPts val="1547"/>
                        </a:lnSpc>
                        <a:defRPr/>
                      </a:pPr>
                      <a:r>
                        <a:rPr lang="en-US" sz="1289" b="true">
                          <a:solidFill>
                            <a:srgbClr val="0F172A"/>
                          </a:solidFill>
                          <a:latin typeface="DM Sans Bold"/>
                          <a:ea typeface="DM Sans Bold"/>
                          <a:cs typeface="DM Sans Bold"/>
                          <a:sym typeface="DM Sans Bold"/>
                        </a:rPr>
                        <a:t>Without lifting?</a:t>
                      </a:r>
                      <a:endParaRPr lang="en-US" sz="1100"/>
                    </a:p>
                  </a:txBody>
                  <a:tcPr marL="36576" marR="36576" marT="36576" marB="36576" anchor="ctr">
                    <a:lnL cmpd="sng" algn="ctr" cap="flat" w="12700">
                      <a:solidFill>
                        <a:srgbClr val="000000"/>
                      </a:solidFill>
                      <a:prstDash val="solid"/>
                      <a:round/>
                      <a:headEnd type="none" w="med" len="med"/>
                      <a:tailEnd type="none" w="med" len="med"/>
                    </a:lnL>
                    <a:lnR cmpd="sng" algn="ctr" cap="flat" w="12700">
                      <a:solidFill>
                        <a:srgbClr val="000000"/>
                      </a:solidFill>
                      <a:prstDash val="solid"/>
                      <a:round/>
                      <a:headEnd type="none" w="med" len="med"/>
                      <a:tailEnd type="none" w="med" len="med"/>
                    </a:lnR>
                    <a:lnT cmpd="sng" algn="ctr" cap="flat" w="12700">
                      <a:solidFill>
                        <a:srgbClr val="000000"/>
                      </a:solidFill>
                      <a:prstDash val="solid"/>
                      <a:round/>
                      <a:headEnd type="none" w="med" len="med"/>
                      <a:tailEnd type="none" w="med" len="med"/>
                    </a:lnT>
                    <a:lnB cmpd="sng" algn="ctr" cap="flat" w="12700">
                      <a:solidFill>
                        <a:srgbClr val="CBD5E1"/>
                      </a:solidFill>
                      <a:prstDash val="solid"/>
                      <a:round/>
                      <a:headEnd type="none" w="med" len="med"/>
                      <a:tailEnd type="none" w="med" len="med"/>
                    </a:lnB>
                  </a:tcPr>
                </a:tc>
                <a:tc>
                  <a:txBody>
                    <a:bodyPr anchor="t" rtlCol="false"/>
                    <a:lstStyle/>
                    <a:p>
                      <a:pPr algn="l">
                        <a:lnSpc>
                          <a:spcPts val="1547"/>
                        </a:lnSpc>
                        <a:defRPr/>
                      </a:pPr>
                      <a:r>
                        <a:rPr lang="en-US" sz="1289" b="true">
                          <a:solidFill>
                            <a:srgbClr val="0F172A"/>
                          </a:solidFill>
                          <a:latin typeface="DM Sans Bold"/>
                          <a:ea typeface="DM Sans Bold"/>
                          <a:cs typeface="DM Sans Bold"/>
                          <a:sym typeface="DM Sans Bold"/>
                        </a:rPr>
                        <a:t>Maker's rule?</a:t>
                      </a:r>
                      <a:endParaRPr lang="en-US" sz="1100"/>
                    </a:p>
                  </a:txBody>
                  <a:tcPr marL="36576" marR="36576" marT="36576" marB="36576" anchor="ctr">
                    <a:lnL cmpd="sng" algn="ctr" cap="flat" w="12700">
                      <a:solidFill>
                        <a:srgbClr val="000000"/>
                      </a:solidFill>
                      <a:prstDash val="solid"/>
                      <a:round/>
                      <a:headEnd type="none" w="med" len="med"/>
                      <a:tailEnd type="none" w="med" len="med"/>
                    </a:lnL>
                    <a:lnR cmpd="sng" algn="ctr" cap="flat" w="12700">
                      <a:solidFill>
                        <a:srgbClr val="000000"/>
                      </a:solidFill>
                      <a:prstDash val="solid"/>
                      <a:round/>
                      <a:headEnd type="none" w="med" len="med"/>
                      <a:tailEnd type="none" w="med" len="med"/>
                    </a:lnR>
                    <a:lnT cmpd="sng" algn="ctr" cap="flat" w="12700">
                      <a:solidFill>
                        <a:srgbClr val="000000"/>
                      </a:solidFill>
                      <a:prstDash val="solid"/>
                      <a:round/>
                      <a:headEnd type="none" w="med" len="med"/>
                      <a:tailEnd type="none" w="med" len="med"/>
                    </a:lnT>
                    <a:lnB cmpd="sng" algn="ctr" cap="flat" w="12700">
                      <a:solidFill>
                        <a:srgbClr val="CBD5E1"/>
                      </a:solidFill>
                      <a:prstDash val="solid"/>
                      <a:round/>
                      <a:headEnd type="none" w="med" len="med"/>
                      <a:tailEnd type="none" w="med" len="med"/>
                    </a:lnB>
                  </a:tcPr>
                </a:tc>
                <a:tc>
                  <a:txBody>
                    <a:bodyPr anchor="t" rtlCol="false"/>
                    <a:lstStyle/>
                    <a:p>
                      <a:pPr algn="l">
                        <a:lnSpc>
                          <a:spcPts val="1547"/>
                        </a:lnSpc>
                        <a:defRPr/>
                      </a:pPr>
                      <a:r>
                        <a:rPr lang="en-US" sz="1289" b="true">
                          <a:solidFill>
                            <a:srgbClr val="0F172A"/>
                          </a:solidFill>
                          <a:latin typeface="DM Sans Bold"/>
                          <a:ea typeface="DM Sans Bold"/>
                          <a:cs typeface="DM Sans Bold"/>
                          <a:sym typeface="DM Sans Bold"/>
                        </a:rPr>
                        <a:t>What limits it</a:t>
                      </a:r>
                      <a:endParaRPr lang="en-US" sz="1100"/>
                    </a:p>
                  </a:txBody>
                  <a:tcPr marL="36576" marR="36576" marT="36576" marB="36576" anchor="ctr">
                    <a:lnL cmpd="sng" algn="ctr" cap="flat" w="12700">
                      <a:solidFill>
                        <a:srgbClr val="000000"/>
                      </a:solidFill>
                      <a:prstDash val="solid"/>
                      <a:round/>
                      <a:headEnd type="none" w="med" len="med"/>
                      <a:tailEnd type="none" w="med" len="med"/>
                    </a:lnL>
                    <a:lnR cmpd="sng" algn="ctr" cap="flat" w="12700">
                      <a:solidFill>
                        <a:srgbClr val="000000"/>
                      </a:solidFill>
                      <a:prstDash val="solid"/>
                      <a:round/>
                      <a:headEnd type="none" w="med" len="med"/>
                      <a:tailEnd type="none" w="med" len="med"/>
                    </a:lnR>
                    <a:lnT cmpd="sng" algn="ctr" cap="flat" w="12700">
                      <a:solidFill>
                        <a:srgbClr val="000000"/>
                      </a:solidFill>
                      <a:prstDash val="solid"/>
                      <a:round/>
                      <a:headEnd type="none" w="med" len="med"/>
                      <a:tailEnd type="none" w="med" len="med"/>
                    </a:lnT>
                    <a:lnB cmpd="sng" algn="ctr" cap="flat" w="12700">
                      <a:solidFill>
                        <a:srgbClr val="CBD5E1"/>
                      </a:solidFill>
                      <a:prstDash val="solid"/>
                      <a:round/>
                      <a:headEnd type="none" w="med" len="med"/>
                      <a:tailEnd type="none" w="med" len="med"/>
                    </a:lnB>
                  </a:tcPr>
                </a:tc>
              </a:tr>
              <a:tr h="626861">
                <a:tc>
                  <a:txBody>
                    <a:bodyPr anchor="t" rtlCol="false"/>
                    <a:lstStyle/>
                    <a:p>
                      <a:pPr algn="l">
                        <a:lnSpc>
                          <a:spcPts val="1620"/>
                        </a:lnSpc>
                        <a:defRPr/>
                      </a:pPr>
                      <a:r>
                        <a:rPr lang="en-US" sz="1350" b="true">
                          <a:solidFill>
                            <a:srgbClr val="0F172A"/>
                          </a:solidFill>
                          <a:latin typeface="DM Sans Bold"/>
                          <a:ea typeface="DM Sans Bold"/>
                          <a:cs typeface="DM Sans Bold"/>
                          <a:sym typeface="DM Sans Bold"/>
                        </a:rPr>
                        <a:t>Fixed schedule (clock)</a:t>
                      </a:r>
                      <a:endParaRPr lang="en-US" sz="1100"/>
                    </a:p>
                  </a:txBody>
                  <a:tcPr marL="36576" marR="36576" marT="36576" marB="36576" anchor="ctr">
                    <a:lnL cmpd="sng" algn="ctr" cap="flat" w="7620">
                      <a:solidFill>
                        <a:srgbClr val="000000"/>
                      </a:solidFill>
                      <a:prstDash val="solid"/>
                      <a:round/>
                      <a:headEnd type="none" w="med" len="med"/>
                      <a:tailEnd type="none" w="med" len="med"/>
                    </a:lnL>
                    <a:lnR cmpd="sng" algn="ctr" cap="flat" w="7620">
                      <a:solidFill>
                        <a:srgbClr val="000000"/>
                      </a:solidFill>
                      <a:prstDash val="solid"/>
                      <a:round/>
                      <a:headEnd type="none" w="med" len="med"/>
                      <a:tailEnd type="none" w="med" len="med"/>
                    </a:lnR>
                    <a:lnT cmpd="sng" algn="ctr" cap="flat" w="7620">
                      <a:solidFill>
                        <a:srgbClr val="000000"/>
                      </a:solidFill>
                      <a:prstDash val="solid"/>
                      <a:round/>
                      <a:headEnd type="none" w="med" len="med"/>
                      <a:tailEnd type="none" w="med" len="med"/>
                    </a:lnT>
                    <a:lnB cmpd="sng" algn="ctr" cap="flat" w="7620">
                      <a:solidFill>
                        <a:srgbClr val="E2E8F0"/>
                      </a:solidFill>
                      <a:prstDash val="solid"/>
                      <a:round/>
                      <a:headEnd type="none" w="med" len="med"/>
                      <a:tailEnd type="none" w="med" len="med"/>
                    </a:lnB>
                  </a:tcPr>
                </a:tc>
                <a:tc>
                  <a:txBody>
                    <a:bodyPr anchor="t" rtlCol="false"/>
                    <a:lstStyle/>
                    <a:p>
                      <a:pPr algn="l">
                        <a:lnSpc>
                          <a:spcPts val="1620"/>
                        </a:lnSpc>
                        <a:defRPr/>
                      </a:pPr>
                      <a:r>
                        <a:rPr lang="en-US" sz="1350" b="true">
                          <a:solidFill>
                            <a:srgbClr val="DC2626"/>
                          </a:solidFill>
                          <a:latin typeface="Arial Bold"/>
                          <a:ea typeface="Arial Bold"/>
                          <a:cs typeface="Arial Bold"/>
                          <a:sym typeface="Arial Bold"/>
                        </a:rPr>
                        <a:t>✗</a:t>
                      </a:r>
                      <a:endParaRPr lang="en-US" sz="1100"/>
                    </a:p>
                  </a:txBody>
                  <a:tcPr marL="36576" marR="36576" marT="36576" marB="36576" anchor="ctr">
                    <a:lnL cmpd="sng" algn="ctr" cap="flat" w="7620">
                      <a:solidFill>
                        <a:srgbClr val="000000"/>
                      </a:solidFill>
                      <a:prstDash val="solid"/>
                      <a:round/>
                      <a:headEnd type="none" w="med" len="med"/>
                      <a:tailEnd type="none" w="med" len="med"/>
                    </a:lnL>
                    <a:lnR cmpd="sng" algn="ctr" cap="flat" w="7620">
                      <a:solidFill>
                        <a:srgbClr val="000000"/>
                      </a:solidFill>
                      <a:prstDash val="solid"/>
                      <a:round/>
                      <a:headEnd type="none" w="med" len="med"/>
                      <a:tailEnd type="none" w="med" len="med"/>
                    </a:lnR>
                    <a:lnT cmpd="sng" algn="ctr" cap="flat" w="7620">
                      <a:solidFill>
                        <a:srgbClr val="000000"/>
                      </a:solidFill>
                      <a:prstDash val="solid"/>
                      <a:round/>
                      <a:headEnd type="none" w="med" len="med"/>
                      <a:tailEnd type="none" w="med" len="med"/>
                    </a:lnT>
                    <a:lnB cmpd="sng" algn="ctr" cap="flat" w="7620">
                      <a:solidFill>
                        <a:srgbClr val="E2E8F0"/>
                      </a:solidFill>
                      <a:prstDash val="solid"/>
                      <a:round/>
                      <a:headEnd type="none" w="med" len="med"/>
                      <a:tailEnd type="none" w="med" len="med"/>
                    </a:lnB>
                  </a:tcPr>
                </a:tc>
                <a:tc>
                  <a:txBody>
                    <a:bodyPr anchor="t" rtlCol="false"/>
                    <a:lstStyle/>
                    <a:p>
                      <a:pPr algn="l">
                        <a:lnSpc>
                          <a:spcPts val="1620"/>
                        </a:lnSpc>
                        <a:defRPr/>
                      </a:pPr>
                      <a:r>
                        <a:rPr lang="en-US" sz="1350" b="true">
                          <a:solidFill>
                            <a:srgbClr val="DC2626"/>
                          </a:solidFill>
                          <a:latin typeface="Arial Bold"/>
                          <a:ea typeface="Arial Bold"/>
                          <a:cs typeface="Arial Bold"/>
                          <a:sym typeface="Arial Bold"/>
                        </a:rPr>
                        <a:t>✗</a:t>
                      </a:r>
                      <a:endParaRPr lang="en-US" sz="1100"/>
                    </a:p>
                  </a:txBody>
                  <a:tcPr marL="36576" marR="36576" marT="36576" marB="36576" anchor="ctr">
                    <a:lnL cmpd="sng" algn="ctr" cap="flat" w="7620">
                      <a:solidFill>
                        <a:srgbClr val="000000"/>
                      </a:solidFill>
                      <a:prstDash val="solid"/>
                      <a:round/>
                      <a:headEnd type="none" w="med" len="med"/>
                      <a:tailEnd type="none" w="med" len="med"/>
                    </a:lnL>
                    <a:lnR cmpd="sng" algn="ctr" cap="flat" w="7620">
                      <a:solidFill>
                        <a:srgbClr val="000000"/>
                      </a:solidFill>
                      <a:prstDash val="solid"/>
                      <a:round/>
                      <a:headEnd type="none" w="med" len="med"/>
                      <a:tailEnd type="none" w="med" len="med"/>
                    </a:lnR>
                    <a:lnT cmpd="sng" algn="ctr" cap="flat" w="7620">
                      <a:solidFill>
                        <a:srgbClr val="000000"/>
                      </a:solidFill>
                      <a:prstDash val="solid"/>
                      <a:round/>
                      <a:headEnd type="none" w="med" len="med"/>
                      <a:tailEnd type="none" w="med" len="med"/>
                    </a:lnT>
                    <a:lnB cmpd="sng" algn="ctr" cap="flat" w="7620">
                      <a:solidFill>
                        <a:srgbClr val="E2E8F0"/>
                      </a:solidFill>
                      <a:prstDash val="solid"/>
                      <a:round/>
                      <a:headEnd type="none" w="med" len="med"/>
                      <a:tailEnd type="none" w="med" len="med"/>
                    </a:lnB>
                  </a:tcPr>
                </a:tc>
                <a:tc>
                  <a:txBody>
                    <a:bodyPr anchor="t" rtlCol="false"/>
                    <a:lstStyle/>
                    <a:p>
                      <a:pPr algn="l">
                        <a:lnSpc>
                          <a:spcPts val="1620"/>
                        </a:lnSpc>
                        <a:defRPr/>
                      </a:pPr>
                      <a:r>
                        <a:rPr lang="en-US" sz="1350">
                          <a:solidFill>
                            <a:srgbClr val="334155"/>
                          </a:solidFill>
                          <a:latin typeface="DM Sans"/>
                          <a:ea typeface="DM Sans"/>
                          <a:cs typeface="DM Sans"/>
                          <a:sym typeface="DM Sans"/>
                        </a:rPr>
                        <a:t>hard to predict because fluid amounts vary &gt;10×⁶</a:t>
                      </a:r>
                      <a:endParaRPr lang="en-US" sz="1100"/>
                    </a:p>
                  </a:txBody>
                  <a:tcPr marL="36576" marR="36576" marT="36576" marB="36576" anchor="ctr">
                    <a:lnL cmpd="sng" algn="ctr" cap="flat" w="7620">
                      <a:solidFill>
                        <a:srgbClr val="000000"/>
                      </a:solidFill>
                      <a:prstDash val="solid"/>
                      <a:round/>
                      <a:headEnd type="none" w="med" len="med"/>
                      <a:tailEnd type="none" w="med" len="med"/>
                    </a:lnL>
                    <a:lnR cmpd="sng" algn="ctr" cap="flat" w="7620">
                      <a:solidFill>
                        <a:srgbClr val="000000"/>
                      </a:solidFill>
                      <a:prstDash val="solid"/>
                      <a:round/>
                      <a:headEnd type="none" w="med" len="med"/>
                      <a:tailEnd type="none" w="med" len="med"/>
                    </a:lnR>
                    <a:lnT cmpd="sng" algn="ctr" cap="flat" w="7620">
                      <a:solidFill>
                        <a:srgbClr val="000000"/>
                      </a:solidFill>
                      <a:prstDash val="solid"/>
                      <a:round/>
                      <a:headEnd type="none" w="med" len="med"/>
                      <a:tailEnd type="none" w="med" len="med"/>
                    </a:lnT>
                    <a:lnB cmpd="sng" algn="ctr" cap="flat" w="7620">
                      <a:solidFill>
                        <a:srgbClr val="E2E8F0"/>
                      </a:solidFill>
                      <a:prstDash val="solid"/>
                      <a:round/>
                      <a:headEnd type="none" w="med" len="med"/>
                      <a:tailEnd type="none" w="med" len="med"/>
                    </a:lnB>
                  </a:tcPr>
                </a:tc>
              </a:tr>
              <a:tr h="626861">
                <a:tc>
                  <a:txBody>
                    <a:bodyPr anchor="t" rtlCol="false"/>
                    <a:lstStyle/>
                    <a:p>
                      <a:pPr algn="l">
                        <a:lnSpc>
                          <a:spcPts val="1620"/>
                        </a:lnSpc>
                        <a:defRPr/>
                      </a:pPr>
                      <a:r>
                        <a:rPr lang="en-US" sz="1350" b="true">
                          <a:solidFill>
                            <a:srgbClr val="0F172A"/>
                          </a:solidFill>
                          <a:latin typeface="DM Sans Bold"/>
                          <a:ea typeface="DM Sans Bold"/>
                          <a:cs typeface="DM Sans Bold"/>
                          <a:sym typeface="DM Sans Bold"/>
                        </a:rPr>
                        <a:t>Lift and look</a:t>
                      </a:r>
                      <a:endParaRPr lang="en-US" sz="1100"/>
                    </a:p>
                  </a:txBody>
                  <a:tcPr marL="36576" marR="36576" marT="36576" marB="36576" anchor="ctr">
                    <a:lnL cmpd="sng" algn="ctr" cap="flat" w="7620">
                      <a:solidFill>
                        <a:srgbClr val="000000"/>
                      </a:solidFill>
                      <a:prstDash val="solid"/>
                      <a:round/>
                      <a:headEnd type="none" w="med" len="med"/>
                      <a:tailEnd type="none" w="med" len="med"/>
                    </a:lnL>
                    <a:lnR cmpd="sng" algn="ctr" cap="flat" w="7620">
                      <a:solidFill>
                        <a:srgbClr val="000000"/>
                      </a:solidFill>
                      <a:prstDash val="solid"/>
                      <a:round/>
                      <a:headEnd type="none" w="med" len="med"/>
                      <a:tailEnd type="none" w="med" len="med"/>
                    </a:lnR>
                    <a:lnT cmpd="sng" algn="ctr" cap="flat" w="7620">
                      <a:solidFill>
                        <a:srgbClr val="000000"/>
                      </a:solidFill>
                      <a:prstDash val="solid"/>
                      <a:round/>
                      <a:headEnd type="none" w="med" len="med"/>
                      <a:tailEnd type="none" w="med" len="med"/>
                    </a:lnT>
                    <a:lnB cmpd="sng" algn="ctr" cap="flat" w="7620">
                      <a:solidFill>
                        <a:srgbClr val="E2E8F0"/>
                      </a:solidFill>
                      <a:prstDash val="solid"/>
                      <a:round/>
                      <a:headEnd type="none" w="med" len="med"/>
                      <a:tailEnd type="none" w="med" len="med"/>
                    </a:lnB>
                  </a:tcPr>
                </a:tc>
                <a:tc>
                  <a:txBody>
                    <a:bodyPr anchor="t" rtlCol="false"/>
                    <a:lstStyle/>
                    <a:p>
                      <a:pPr algn="l">
                        <a:lnSpc>
                          <a:spcPts val="1620"/>
                        </a:lnSpc>
                        <a:defRPr/>
                      </a:pPr>
                      <a:r>
                        <a:rPr lang="en-US" sz="1350" b="true">
                          <a:solidFill>
                            <a:srgbClr val="DC2626"/>
                          </a:solidFill>
                          <a:latin typeface="Arial Bold"/>
                          <a:ea typeface="Arial Bold"/>
                          <a:cs typeface="Arial Bold"/>
                          <a:sym typeface="Arial Bold"/>
                        </a:rPr>
                        <a:t>✗</a:t>
                      </a:r>
                      <a:endParaRPr lang="en-US" sz="1100"/>
                    </a:p>
                  </a:txBody>
                  <a:tcPr marL="36576" marR="36576" marT="36576" marB="36576" anchor="ctr">
                    <a:lnL cmpd="sng" algn="ctr" cap="flat" w="7620">
                      <a:solidFill>
                        <a:srgbClr val="000000"/>
                      </a:solidFill>
                      <a:prstDash val="solid"/>
                      <a:round/>
                      <a:headEnd type="none" w="med" len="med"/>
                      <a:tailEnd type="none" w="med" len="med"/>
                    </a:lnL>
                    <a:lnR cmpd="sng" algn="ctr" cap="flat" w="7620">
                      <a:solidFill>
                        <a:srgbClr val="000000"/>
                      </a:solidFill>
                      <a:prstDash val="solid"/>
                      <a:round/>
                      <a:headEnd type="none" w="med" len="med"/>
                      <a:tailEnd type="none" w="med" len="med"/>
                    </a:lnR>
                    <a:lnT cmpd="sng" algn="ctr" cap="flat" w="7620">
                      <a:solidFill>
                        <a:srgbClr val="000000"/>
                      </a:solidFill>
                      <a:prstDash val="solid"/>
                      <a:round/>
                      <a:headEnd type="none" w="med" len="med"/>
                      <a:tailEnd type="none" w="med" len="med"/>
                    </a:lnT>
                    <a:lnB cmpd="sng" algn="ctr" cap="flat" w="7620">
                      <a:solidFill>
                        <a:srgbClr val="E2E8F0"/>
                      </a:solidFill>
                      <a:prstDash val="solid"/>
                      <a:round/>
                      <a:headEnd type="none" w="med" len="med"/>
                      <a:tailEnd type="none" w="med" len="med"/>
                    </a:lnB>
                  </a:tcPr>
                </a:tc>
                <a:tc>
                  <a:txBody>
                    <a:bodyPr anchor="t" rtlCol="false"/>
                    <a:lstStyle/>
                    <a:p>
                      <a:pPr algn="l">
                        <a:lnSpc>
                          <a:spcPts val="1620"/>
                        </a:lnSpc>
                        <a:defRPr/>
                      </a:pPr>
                      <a:r>
                        <a:rPr lang="en-US" sz="1350" b="true">
                          <a:solidFill>
                            <a:srgbClr val="059669"/>
                          </a:solidFill>
                          <a:latin typeface="Arial Bold"/>
                          <a:ea typeface="Arial Bold"/>
                          <a:cs typeface="Arial Bold"/>
                          <a:sym typeface="Arial Bold"/>
                        </a:rPr>
                        <a:t>✓</a:t>
                      </a:r>
                      <a:endParaRPr lang="en-US" sz="1100"/>
                    </a:p>
                  </a:txBody>
                  <a:tcPr marL="36576" marR="36576" marT="36576" marB="36576" anchor="ctr">
                    <a:lnL cmpd="sng" algn="ctr" cap="flat" w="7620">
                      <a:solidFill>
                        <a:srgbClr val="000000"/>
                      </a:solidFill>
                      <a:prstDash val="solid"/>
                      <a:round/>
                      <a:headEnd type="none" w="med" len="med"/>
                      <a:tailEnd type="none" w="med" len="med"/>
                    </a:lnL>
                    <a:lnR cmpd="sng" algn="ctr" cap="flat" w="7620">
                      <a:solidFill>
                        <a:srgbClr val="000000"/>
                      </a:solidFill>
                      <a:prstDash val="solid"/>
                      <a:round/>
                      <a:headEnd type="none" w="med" len="med"/>
                      <a:tailEnd type="none" w="med" len="med"/>
                    </a:lnR>
                    <a:lnT cmpd="sng" algn="ctr" cap="flat" w="7620">
                      <a:solidFill>
                        <a:srgbClr val="000000"/>
                      </a:solidFill>
                      <a:prstDash val="solid"/>
                      <a:round/>
                      <a:headEnd type="none" w="med" len="med"/>
                      <a:tailEnd type="none" w="med" len="med"/>
                    </a:lnT>
                    <a:lnB cmpd="sng" algn="ctr" cap="flat" w="7620">
                      <a:solidFill>
                        <a:srgbClr val="E2E8F0"/>
                      </a:solidFill>
                      <a:prstDash val="solid"/>
                      <a:round/>
                      <a:headEnd type="none" w="med" len="med"/>
                      <a:tailEnd type="none" w="med" len="med"/>
                    </a:lnB>
                  </a:tcPr>
                </a:tc>
                <a:tc>
                  <a:txBody>
                    <a:bodyPr anchor="t" rtlCol="false"/>
                    <a:lstStyle/>
                    <a:p>
                      <a:pPr algn="l">
                        <a:lnSpc>
                          <a:spcPts val="1620"/>
                        </a:lnSpc>
                        <a:defRPr/>
                      </a:pPr>
                      <a:r>
                        <a:rPr lang="en-US" sz="1350">
                          <a:solidFill>
                            <a:srgbClr val="334155"/>
                          </a:solidFill>
                          <a:latin typeface="DM Sans"/>
                          <a:ea typeface="DM Sans"/>
                          <a:cs typeface="DM Sans"/>
                          <a:sym typeface="DM Sans"/>
                        </a:rPr>
                        <a:t>requires removing the dressing; removal can hurt²⁰</a:t>
                      </a:r>
                      <a:endParaRPr lang="en-US" sz="1100"/>
                    </a:p>
                  </a:txBody>
                  <a:tcPr marL="36576" marR="36576" marT="36576" marB="36576" anchor="ctr">
                    <a:lnL cmpd="sng" algn="ctr" cap="flat" w="7620">
                      <a:solidFill>
                        <a:srgbClr val="000000"/>
                      </a:solidFill>
                      <a:prstDash val="solid"/>
                      <a:round/>
                      <a:headEnd type="none" w="med" len="med"/>
                      <a:tailEnd type="none" w="med" len="med"/>
                    </a:lnL>
                    <a:lnR cmpd="sng" algn="ctr" cap="flat" w="7620">
                      <a:solidFill>
                        <a:srgbClr val="000000"/>
                      </a:solidFill>
                      <a:prstDash val="solid"/>
                      <a:round/>
                      <a:headEnd type="none" w="med" len="med"/>
                      <a:tailEnd type="none" w="med" len="med"/>
                    </a:lnR>
                    <a:lnT cmpd="sng" algn="ctr" cap="flat" w="7620">
                      <a:solidFill>
                        <a:srgbClr val="000000"/>
                      </a:solidFill>
                      <a:prstDash val="solid"/>
                      <a:round/>
                      <a:headEnd type="none" w="med" len="med"/>
                      <a:tailEnd type="none" w="med" len="med"/>
                    </a:lnT>
                    <a:lnB cmpd="sng" algn="ctr" cap="flat" w="7620">
                      <a:solidFill>
                        <a:srgbClr val="E2E8F0"/>
                      </a:solidFill>
                      <a:prstDash val="solid"/>
                      <a:round/>
                      <a:headEnd type="none" w="med" len="med"/>
                      <a:tailEnd type="none" w="med" len="med"/>
                    </a:lnB>
                  </a:tcPr>
                </a:tc>
              </a:tr>
              <a:tr h="626861">
                <a:tc>
                  <a:txBody>
                    <a:bodyPr anchor="t" rtlCol="false"/>
                    <a:lstStyle/>
                    <a:p>
                      <a:pPr algn="l">
                        <a:lnSpc>
                          <a:spcPts val="1620"/>
                        </a:lnSpc>
                        <a:defRPr/>
                      </a:pPr>
                      <a:r>
                        <a:rPr lang="en-US" sz="1350" b="true">
                          <a:solidFill>
                            <a:srgbClr val="0F172A"/>
                          </a:solidFill>
                          <a:latin typeface="DM Sans Bold"/>
                          <a:ea typeface="DM Sans Bold"/>
                          <a:cs typeface="DM Sans Bold"/>
                          <a:sym typeface="DM Sans Bold"/>
                        </a:rPr>
                        <a:t>Visual change indicator¹⁴</a:t>
                      </a:r>
                      <a:endParaRPr lang="en-US" sz="1100"/>
                    </a:p>
                  </a:txBody>
                  <a:tcPr marL="36576" marR="36576" marT="36576" marB="36576" anchor="ctr">
                    <a:lnL cmpd="sng" algn="ctr" cap="flat" w="7620">
                      <a:solidFill>
                        <a:srgbClr val="000000"/>
                      </a:solidFill>
                      <a:prstDash val="solid"/>
                      <a:round/>
                      <a:headEnd type="none" w="med" len="med"/>
                      <a:tailEnd type="none" w="med" len="med"/>
                    </a:lnL>
                    <a:lnR cmpd="sng" algn="ctr" cap="flat" w="7620">
                      <a:solidFill>
                        <a:srgbClr val="000000"/>
                      </a:solidFill>
                      <a:prstDash val="solid"/>
                      <a:round/>
                      <a:headEnd type="none" w="med" len="med"/>
                      <a:tailEnd type="none" w="med" len="med"/>
                    </a:lnR>
                    <a:lnT cmpd="sng" algn="ctr" cap="flat" w="7620">
                      <a:solidFill>
                        <a:srgbClr val="000000"/>
                      </a:solidFill>
                      <a:prstDash val="solid"/>
                      <a:round/>
                      <a:headEnd type="none" w="med" len="med"/>
                      <a:tailEnd type="none" w="med" len="med"/>
                    </a:lnT>
                    <a:lnB cmpd="sng" algn="ctr" cap="flat" w="7620">
                      <a:solidFill>
                        <a:srgbClr val="E2E8F0"/>
                      </a:solidFill>
                      <a:prstDash val="solid"/>
                      <a:round/>
                      <a:headEnd type="none" w="med" len="med"/>
                      <a:tailEnd type="none" w="med" len="med"/>
                    </a:lnB>
                  </a:tcPr>
                </a:tc>
                <a:tc>
                  <a:txBody>
                    <a:bodyPr anchor="t" rtlCol="false"/>
                    <a:lstStyle/>
                    <a:p>
                      <a:pPr algn="l">
                        <a:lnSpc>
                          <a:spcPts val="1620"/>
                        </a:lnSpc>
                        <a:defRPr/>
                      </a:pPr>
                      <a:r>
                        <a:rPr lang="en-US" sz="1350" b="true">
                          <a:solidFill>
                            <a:srgbClr val="DC2626"/>
                          </a:solidFill>
                          <a:latin typeface="Arial Bold"/>
                          <a:ea typeface="Arial Bold"/>
                          <a:cs typeface="Arial Bold"/>
                          <a:sym typeface="Arial Bold"/>
                        </a:rPr>
                        <a:t>✗</a:t>
                      </a:r>
                      <a:endParaRPr lang="en-US" sz="1100"/>
                    </a:p>
                  </a:txBody>
                  <a:tcPr marL="36576" marR="36576" marT="36576" marB="36576" anchor="ctr">
                    <a:lnL cmpd="sng" algn="ctr" cap="flat" w="7620">
                      <a:solidFill>
                        <a:srgbClr val="000000"/>
                      </a:solidFill>
                      <a:prstDash val="solid"/>
                      <a:round/>
                      <a:headEnd type="none" w="med" len="med"/>
                      <a:tailEnd type="none" w="med" len="med"/>
                    </a:lnL>
                    <a:lnR cmpd="sng" algn="ctr" cap="flat" w="7620">
                      <a:solidFill>
                        <a:srgbClr val="000000"/>
                      </a:solidFill>
                      <a:prstDash val="solid"/>
                      <a:round/>
                      <a:headEnd type="none" w="med" len="med"/>
                      <a:tailEnd type="none" w="med" len="med"/>
                    </a:lnR>
                    <a:lnT cmpd="sng" algn="ctr" cap="flat" w="7620">
                      <a:solidFill>
                        <a:srgbClr val="000000"/>
                      </a:solidFill>
                      <a:prstDash val="solid"/>
                      <a:round/>
                      <a:headEnd type="none" w="med" len="med"/>
                      <a:tailEnd type="none" w="med" len="med"/>
                    </a:lnT>
                    <a:lnB cmpd="sng" algn="ctr" cap="flat" w="7620">
                      <a:solidFill>
                        <a:srgbClr val="E2E8F0"/>
                      </a:solidFill>
                      <a:prstDash val="solid"/>
                      <a:round/>
                      <a:headEnd type="none" w="med" len="med"/>
                      <a:tailEnd type="none" w="med" len="med"/>
                    </a:lnB>
                  </a:tcPr>
                </a:tc>
                <a:tc>
                  <a:txBody>
                    <a:bodyPr anchor="t" rtlCol="false"/>
                    <a:lstStyle/>
                    <a:p>
                      <a:pPr algn="l">
                        <a:lnSpc>
                          <a:spcPts val="1620"/>
                        </a:lnSpc>
                        <a:defRPr/>
                      </a:pPr>
                      <a:r>
                        <a:rPr lang="en-US" sz="1350" b="true">
                          <a:solidFill>
                            <a:srgbClr val="059669"/>
                          </a:solidFill>
                          <a:latin typeface="Arial Bold"/>
                          <a:ea typeface="Arial Bold"/>
                          <a:cs typeface="Arial Bold"/>
                          <a:sym typeface="Arial Bold"/>
                        </a:rPr>
                        <a:t>✓</a:t>
                      </a:r>
                      <a:endParaRPr lang="en-US" sz="1100"/>
                    </a:p>
                  </a:txBody>
                  <a:tcPr marL="36576" marR="36576" marT="36576" marB="36576" anchor="ctr">
                    <a:lnL cmpd="sng" algn="ctr" cap="flat" w="7620">
                      <a:solidFill>
                        <a:srgbClr val="000000"/>
                      </a:solidFill>
                      <a:prstDash val="solid"/>
                      <a:round/>
                      <a:headEnd type="none" w="med" len="med"/>
                      <a:tailEnd type="none" w="med" len="med"/>
                    </a:lnL>
                    <a:lnR cmpd="sng" algn="ctr" cap="flat" w="7620">
                      <a:solidFill>
                        <a:srgbClr val="000000"/>
                      </a:solidFill>
                      <a:prstDash val="solid"/>
                      <a:round/>
                      <a:headEnd type="none" w="med" len="med"/>
                      <a:tailEnd type="none" w="med" len="med"/>
                    </a:lnR>
                    <a:lnT cmpd="sng" algn="ctr" cap="flat" w="7620">
                      <a:solidFill>
                        <a:srgbClr val="000000"/>
                      </a:solidFill>
                      <a:prstDash val="solid"/>
                      <a:round/>
                      <a:headEnd type="none" w="med" len="med"/>
                      <a:tailEnd type="none" w="med" len="med"/>
                    </a:lnT>
                    <a:lnB cmpd="sng" algn="ctr" cap="flat" w="7620">
                      <a:solidFill>
                        <a:srgbClr val="E2E8F0"/>
                      </a:solidFill>
                      <a:prstDash val="solid"/>
                      <a:round/>
                      <a:headEnd type="none" w="med" len="med"/>
                      <a:tailEnd type="none" w="med" len="med"/>
                    </a:lnB>
                  </a:tcPr>
                </a:tc>
                <a:tc>
                  <a:txBody>
                    <a:bodyPr anchor="t" rtlCol="false"/>
                    <a:lstStyle/>
                    <a:p>
                      <a:pPr algn="l">
                        <a:lnSpc>
                          <a:spcPts val="1620"/>
                        </a:lnSpc>
                        <a:defRPr/>
                      </a:pPr>
                      <a:r>
                        <a:rPr lang="en-US" sz="1350">
                          <a:solidFill>
                            <a:srgbClr val="334155"/>
                          </a:solidFill>
                          <a:latin typeface="DM Sans"/>
                          <a:ea typeface="DM Sans"/>
                          <a:cs typeface="DM Sans"/>
                          <a:sym typeface="DM Sans"/>
                        </a:rPr>
                        <a:t>only works when the indicator is visible</a:t>
                      </a:r>
                      <a:endParaRPr lang="en-US" sz="1100"/>
                    </a:p>
                  </a:txBody>
                  <a:tcPr marL="36576" marR="36576" marT="36576" marB="36576" anchor="ctr">
                    <a:lnL cmpd="sng" algn="ctr" cap="flat" w="7620">
                      <a:solidFill>
                        <a:srgbClr val="000000"/>
                      </a:solidFill>
                      <a:prstDash val="solid"/>
                      <a:round/>
                      <a:headEnd type="none" w="med" len="med"/>
                      <a:tailEnd type="none" w="med" len="med"/>
                    </a:lnL>
                    <a:lnR cmpd="sng" algn="ctr" cap="flat" w="7620">
                      <a:solidFill>
                        <a:srgbClr val="000000"/>
                      </a:solidFill>
                      <a:prstDash val="solid"/>
                      <a:round/>
                      <a:headEnd type="none" w="med" len="med"/>
                      <a:tailEnd type="none" w="med" len="med"/>
                    </a:lnR>
                    <a:lnT cmpd="sng" algn="ctr" cap="flat" w="7620">
                      <a:solidFill>
                        <a:srgbClr val="000000"/>
                      </a:solidFill>
                      <a:prstDash val="solid"/>
                      <a:round/>
                      <a:headEnd type="none" w="med" len="med"/>
                      <a:tailEnd type="none" w="med" len="med"/>
                    </a:lnT>
                    <a:lnB cmpd="sng" algn="ctr" cap="flat" w="7620">
                      <a:solidFill>
                        <a:srgbClr val="E2E8F0"/>
                      </a:solidFill>
                      <a:prstDash val="solid"/>
                      <a:round/>
                      <a:headEnd type="none" w="med" len="med"/>
                      <a:tailEnd type="none" w="med" len="med"/>
                    </a:lnB>
                  </a:tcPr>
                </a:tc>
              </a:tr>
              <a:tr h="626861">
                <a:tc>
                  <a:txBody>
                    <a:bodyPr anchor="t" rtlCol="false"/>
                    <a:lstStyle/>
                    <a:p>
                      <a:pPr algn="l">
                        <a:lnSpc>
                          <a:spcPts val="1620"/>
                        </a:lnSpc>
                        <a:defRPr/>
                      </a:pPr>
                      <a:r>
                        <a:rPr lang="en-US" sz="1350" b="true">
                          <a:solidFill>
                            <a:srgbClr val="0F172A"/>
                          </a:solidFill>
                          <a:latin typeface="DM Sans Bold"/>
                          <a:ea typeface="DM Sans Bold"/>
                          <a:cs typeface="DM Sans Bold"/>
                          <a:sym typeface="DM Sans Bold"/>
                        </a:rPr>
                        <a:t>Single-point moisture sensor¹</a:t>
                      </a:r>
                      <a:endParaRPr lang="en-US" sz="1100"/>
                    </a:p>
                  </a:txBody>
                  <a:tcPr marL="36576" marR="36576" marT="36576" marB="36576" anchor="ctr">
                    <a:lnL cmpd="sng" algn="ctr" cap="flat" w="7620">
                      <a:solidFill>
                        <a:srgbClr val="000000"/>
                      </a:solidFill>
                      <a:prstDash val="solid"/>
                      <a:round/>
                      <a:headEnd type="none" w="med" len="med"/>
                      <a:tailEnd type="none" w="med" len="med"/>
                    </a:lnL>
                    <a:lnR cmpd="sng" algn="ctr" cap="flat" w="7620">
                      <a:solidFill>
                        <a:srgbClr val="000000"/>
                      </a:solidFill>
                      <a:prstDash val="solid"/>
                      <a:round/>
                      <a:headEnd type="none" w="med" len="med"/>
                      <a:tailEnd type="none" w="med" len="med"/>
                    </a:lnR>
                    <a:lnT cmpd="sng" algn="ctr" cap="flat" w="7620">
                      <a:solidFill>
                        <a:srgbClr val="000000"/>
                      </a:solidFill>
                      <a:prstDash val="solid"/>
                      <a:round/>
                      <a:headEnd type="none" w="med" len="med"/>
                      <a:tailEnd type="none" w="med" len="med"/>
                    </a:lnT>
                    <a:lnB cmpd="sng" algn="ctr" cap="flat" w="7620">
                      <a:solidFill>
                        <a:srgbClr val="E2E8F0"/>
                      </a:solidFill>
                      <a:prstDash val="solid"/>
                      <a:round/>
                      <a:headEnd type="none" w="med" len="med"/>
                      <a:tailEnd type="none" w="med" len="med"/>
                    </a:lnB>
                  </a:tcPr>
                </a:tc>
                <a:tc>
                  <a:txBody>
                    <a:bodyPr anchor="t" rtlCol="false"/>
                    <a:lstStyle/>
                    <a:p>
                      <a:pPr algn="l">
                        <a:lnSpc>
                          <a:spcPts val="1620"/>
                        </a:lnSpc>
                        <a:defRPr/>
                      </a:pPr>
                      <a:r>
                        <a:rPr lang="en-US" sz="1350" b="true">
                          <a:solidFill>
                            <a:srgbClr val="B45309"/>
                          </a:solidFill>
                          <a:latin typeface="Arial Bold"/>
                          <a:ea typeface="Arial Bold"/>
                          <a:cs typeface="Arial Bold"/>
                          <a:sym typeface="Arial Bold"/>
                        </a:rPr>
                        <a:t>◐</a:t>
                      </a:r>
                      <a:endParaRPr lang="en-US" sz="1100"/>
                    </a:p>
                  </a:txBody>
                  <a:tcPr marL="36576" marR="36576" marT="36576" marB="36576" anchor="ctr">
                    <a:lnL cmpd="sng" algn="ctr" cap="flat" w="7620">
                      <a:solidFill>
                        <a:srgbClr val="000000"/>
                      </a:solidFill>
                      <a:prstDash val="solid"/>
                      <a:round/>
                      <a:headEnd type="none" w="med" len="med"/>
                      <a:tailEnd type="none" w="med" len="med"/>
                    </a:lnL>
                    <a:lnR cmpd="sng" algn="ctr" cap="flat" w="7620">
                      <a:solidFill>
                        <a:srgbClr val="000000"/>
                      </a:solidFill>
                      <a:prstDash val="solid"/>
                      <a:round/>
                      <a:headEnd type="none" w="med" len="med"/>
                      <a:tailEnd type="none" w="med" len="med"/>
                    </a:lnR>
                    <a:lnT cmpd="sng" algn="ctr" cap="flat" w="7620">
                      <a:solidFill>
                        <a:srgbClr val="000000"/>
                      </a:solidFill>
                      <a:prstDash val="solid"/>
                      <a:round/>
                      <a:headEnd type="none" w="med" len="med"/>
                      <a:tailEnd type="none" w="med" len="med"/>
                    </a:lnT>
                    <a:lnB cmpd="sng" algn="ctr" cap="flat" w="7620">
                      <a:solidFill>
                        <a:srgbClr val="E2E8F0"/>
                      </a:solidFill>
                      <a:prstDash val="solid"/>
                      <a:round/>
                      <a:headEnd type="none" w="med" len="med"/>
                      <a:tailEnd type="none" w="med" len="med"/>
                    </a:lnB>
                  </a:tcPr>
                </a:tc>
                <a:tc>
                  <a:txBody>
                    <a:bodyPr anchor="t" rtlCol="false"/>
                    <a:lstStyle/>
                    <a:p>
                      <a:pPr algn="l">
                        <a:lnSpc>
                          <a:spcPts val="1620"/>
                        </a:lnSpc>
                        <a:defRPr/>
                      </a:pPr>
                      <a:r>
                        <a:rPr lang="en-US" sz="1350" b="true">
                          <a:solidFill>
                            <a:srgbClr val="DC2626"/>
                          </a:solidFill>
                          <a:latin typeface="Arial Bold"/>
                          <a:ea typeface="Arial Bold"/>
                          <a:cs typeface="Arial Bold"/>
                          <a:sym typeface="Arial Bold"/>
                        </a:rPr>
                        <a:t>✗</a:t>
                      </a:r>
                      <a:endParaRPr lang="en-US" sz="1100"/>
                    </a:p>
                  </a:txBody>
                  <a:tcPr marL="36576" marR="36576" marT="36576" marB="36576" anchor="ctr">
                    <a:lnL cmpd="sng" algn="ctr" cap="flat" w="7620">
                      <a:solidFill>
                        <a:srgbClr val="000000"/>
                      </a:solidFill>
                      <a:prstDash val="solid"/>
                      <a:round/>
                      <a:headEnd type="none" w="med" len="med"/>
                      <a:tailEnd type="none" w="med" len="med"/>
                    </a:lnL>
                    <a:lnR cmpd="sng" algn="ctr" cap="flat" w="7620">
                      <a:solidFill>
                        <a:srgbClr val="000000"/>
                      </a:solidFill>
                      <a:prstDash val="solid"/>
                      <a:round/>
                      <a:headEnd type="none" w="med" len="med"/>
                      <a:tailEnd type="none" w="med" len="med"/>
                    </a:lnR>
                    <a:lnT cmpd="sng" algn="ctr" cap="flat" w="7620">
                      <a:solidFill>
                        <a:srgbClr val="000000"/>
                      </a:solidFill>
                      <a:prstDash val="solid"/>
                      <a:round/>
                      <a:headEnd type="none" w="med" len="med"/>
                      <a:tailEnd type="none" w="med" len="med"/>
                    </a:lnT>
                    <a:lnB cmpd="sng" algn="ctr" cap="flat" w="7620">
                      <a:solidFill>
                        <a:srgbClr val="E2E8F0"/>
                      </a:solidFill>
                      <a:prstDash val="solid"/>
                      <a:round/>
                      <a:headEnd type="none" w="med" len="med"/>
                      <a:tailEnd type="none" w="med" len="med"/>
                    </a:lnB>
                  </a:tcPr>
                </a:tc>
                <a:tc>
                  <a:txBody>
                    <a:bodyPr anchor="t" rtlCol="false"/>
                    <a:lstStyle/>
                    <a:p>
                      <a:pPr algn="l">
                        <a:lnSpc>
                          <a:spcPts val="1620"/>
                        </a:lnSpc>
                        <a:defRPr/>
                      </a:pPr>
                      <a:r>
                        <a:rPr lang="en-US" sz="1350">
                          <a:solidFill>
                            <a:srgbClr val="334155"/>
                          </a:solidFill>
                          <a:latin typeface="DM Sans"/>
                          <a:ea typeface="DM Sans"/>
                          <a:cs typeface="DM Sans"/>
                          <a:sym typeface="DM Sans"/>
                        </a:rPr>
                        <a:t>measures moisture at one point</a:t>
                      </a:r>
                      <a:endParaRPr lang="en-US" sz="1100"/>
                    </a:p>
                  </a:txBody>
                  <a:tcPr marL="36576" marR="36576" marT="36576" marB="36576" anchor="ctr">
                    <a:lnL cmpd="sng" algn="ctr" cap="flat" w="7620">
                      <a:solidFill>
                        <a:srgbClr val="000000"/>
                      </a:solidFill>
                      <a:prstDash val="solid"/>
                      <a:round/>
                      <a:headEnd type="none" w="med" len="med"/>
                      <a:tailEnd type="none" w="med" len="med"/>
                    </a:lnL>
                    <a:lnR cmpd="sng" algn="ctr" cap="flat" w="7620">
                      <a:solidFill>
                        <a:srgbClr val="000000"/>
                      </a:solidFill>
                      <a:prstDash val="solid"/>
                      <a:round/>
                      <a:headEnd type="none" w="med" len="med"/>
                      <a:tailEnd type="none" w="med" len="med"/>
                    </a:lnR>
                    <a:lnT cmpd="sng" algn="ctr" cap="flat" w="7620">
                      <a:solidFill>
                        <a:srgbClr val="000000"/>
                      </a:solidFill>
                      <a:prstDash val="solid"/>
                      <a:round/>
                      <a:headEnd type="none" w="med" len="med"/>
                      <a:tailEnd type="none" w="med" len="med"/>
                    </a:lnT>
                    <a:lnB cmpd="sng" algn="ctr" cap="flat" w="7620">
                      <a:solidFill>
                        <a:srgbClr val="E2E8F0"/>
                      </a:solidFill>
                      <a:prstDash val="solid"/>
                      <a:round/>
                      <a:headEnd type="none" w="med" len="med"/>
                      <a:tailEnd type="none" w="med" len="med"/>
                    </a:lnB>
                  </a:tcPr>
                </a:tc>
              </a:tr>
              <a:tr h="626861">
                <a:tc>
                  <a:txBody>
                    <a:bodyPr anchor="t" rtlCol="false"/>
                    <a:lstStyle/>
                    <a:p>
                      <a:pPr algn="l">
                        <a:lnSpc>
                          <a:spcPts val="1620"/>
                        </a:lnSpc>
                        <a:defRPr/>
                      </a:pPr>
                      <a:r>
                        <a:rPr lang="en-US" sz="1350" b="true">
                          <a:solidFill>
                            <a:srgbClr val="0F172A"/>
                          </a:solidFill>
                          <a:latin typeface="DM Sans Bold"/>
                          <a:ea typeface="DM Sans Bold"/>
                          <a:cs typeface="DM Sans Bold"/>
                          <a:sym typeface="DM Sans Bold"/>
                        </a:rPr>
                        <a:t>Closed-loop smart bandage⁵</a:t>
                      </a:r>
                      <a:endParaRPr lang="en-US" sz="1100"/>
                    </a:p>
                  </a:txBody>
                  <a:tcPr marL="36576" marR="36576" marT="36576" marB="36576" anchor="ctr">
                    <a:lnL cmpd="sng" algn="ctr" cap="flat" w="7620">
                      <a:solidFill>
                        <a:srgbClr val="000000"/>
                      </a:solidFill>
                      <a:prstDash val="solid"/>
                      <a:round/>
                      <a:headEnd type="none" w="med" len="med"/>
                      <a:tailEnd type="none" w="med" len="med"/>
                    </a:lnL>
                    <a:lnR cmpd="sng" algn="ctr" cap="flat" w="7620">
                      <a:solidFill>
                        <a:srgbClr val="000000"/>
                      </a:solidFill>
                      <a:prstDash val="solid"/>
                      <a:round/>
                      <a:headEnd type="none" w="med" len="med"/>
                      <a:tailEnd type="none" w="med" len="med"/>
                    </a:lnR>
                    <a:lnT cmpd="sng" algn="ctr" cap="flat" w="7620">
                      <a:solidFill>
                        <a:srgbClr val="000000"/>
                      </a:solidFill>
                      <a:prstDash val="solid"/>
                      <a:round/>
                      <a:headEnd type="none" w="med" len="med"/>
                      <a:tailEnd type="none" w="med" len="med"/>
                    </a:lnT>
                    <a:lnB cmpd="sng" algn="ctr" cap="flat" w="7620">
                      <a:solidFill>
                        <a:srgbClr val="E2E8F0"/>
                      </a:solidFill>
                      <a:prstDash val="solid"/>
                      <a:round/>
                      <a:headEnd type="none" w="med" len="med"/>
                      <a:tailEnd type="none" w="med" len="med"/>
                    </a:lnB>
                  </a:tcPr>
                </a:tc>
                <a:tc>
                  <a:txBody>
                    <a:bodyPr anchor="t" rtlCol="false"/>
                    <a:lstStyle/>
                    <a:p>
                      <a:pPr algn="l">
                        <a:lnSpc>
                          <a:spcPts val="1620"/>
                        </a:lnSpc>
                        <a:defRPr/>
                      </a:pPr>
                      <a:r>
                        <a:rPr lang="en-US" sz="1350" b="true">
                          <a:solidFill>
                            <a:srgbClr val="059669"/>
                          </a:solidFill>
                          <a:latin typeface="Arial Bold"/>
                          <a:ea typeface="Arial Bold"/>
                          <a:cs typeface="Arial Bold"/>
                          <a:sym typeface="Arial Bold"/>
                        </a:rPr>
                        <a:t>✓</a:t>
                      </a:r>
                      <a:endParaRPr lang="en-US" sz="1100"/>
                    </a:p>
                  </a:txBody>
                  <a:tcPr marL="36576" marR="36576" marT="36576" marB="36576" anchor="ctr">
                    <a:lnL cmpd="sng" algn="ctr" cap="flat" w="7620">
                      <a:solidFill>
                        <a:srgbClr val="000000"/>
                      </a:solidFill>
                      <a:prstDash val="solid"/>
                      <a:round/>
                      <a:headEnd type="none" w="med" len="med"/>
                      <a:tailEnd type="none" w="med" len="med"/>
                    </a:lnL>
                    <a:lnR cmpd="sng" algn="ctr" cap="flat" w="7620">
                      <a:solidFill>
                        <a:srgbClr val="000000"/>
                      </a:solidFill>
                      <a:prstDash val="solid"/>
                      <a:round/>
                      <a:headEnd type="none" w="med" len="med"/>
                      <a:tailEnd type="none" w="med" len="med"/>
                    </a:lnR>
                    <a:lnT cmpd="sng" algn="ctr" cap="flat" w="7620">
                      <a:solidFill>
                        <a:srgbClr val="000000"/>
                      </a:solidFill>
                      <a:prstDash val="solid"/>
                      <a:round/>
                      <a:headEnd type="none" w="med" len="med"/>
                      <a:tailEnd type="none" w="med" len="med"/>
                    </a:lnT>
                    <a:lnB cmpd="sng" algn="ctr" cap="flat" w="7620">
                      <a:solidFill>
                        <a:srgbClr val="E2E8F0"/>
                      </a:solidFill>
                      <a:prstDash val="solid"/>
                      <a:round/>
                      <a:headEnd type="none" w="med" len="med"/>
                      <a:tailEnd type="none" w="med" len="med"/>
                    </a:lnB>
                  </a:tcPr>
                </a:tc>
                <a:tc>
                  <a:txBody>
                    <a:bodyPr anchor="t" rtlCol="false"/>
                    <a:lstStyle/>
                    <a:p>
                      <a:pPr algn="l">
                        <a:lnSpc>
                          <a:spcPts val="1620"/>
                        </a:lnSpc>
                        <a:defRPr/>
                      </a:pPr>
                      <a:r>
                        <a:rPr lang="en-US" sz="1350" b="true">
                          <a:solidFill>
                            <a:srgbClr val="DC2626"/>
                          </a:solidFill>
                          <a:latin typeface="Arial Bold"/>
                          <a:ea typeface="Arial Bold"/>
                          <a:cs typeface="Arial Bold"/>
                          <a:sym typeface="Arial Bold"/>
                        </a:rPr>
                        <a:t>✗</a:t>
                      </a:r>
                      <a:endParaRPr lang="en-US" sz="1100"/>
                    </a:p>
                  </a:txBody>
                  <a:tcPr marL="36576" marR="36576" marT="36576" marB="36576" anchor="ctr">
                    <a:lnL cmpd="sng" algn="ctr" cap="flat" w="7620">
                      <a:solidFill>
                        <a:srgbClr val="000000"/>
                      </a:solidFill>
                      <a:prstDash val="solid"/>
                      <a:round/>
                      <a:headEnd type="none" w="med" len="med"/>
                      <a:tailEnd type="none" w="med" len="med"/>
                    </a:lnL>
                    <a:lnR cmpd="sng" algn="ctr" cap="flat" w="7620">
                      <a:solidFill>
                        <a:srgbClr val="000000"/>
                      </a:solidFill>
                      <a:prstDash val="solid"/>
                      <a:round/>
                      <a:headEnd type="none" w="med" len="med"/>
                      <a:tailEnd type="none" w="med" len="med"/>
                    </a:lnR>
                    <a:lnT cmpd="sng" algn="ctr" cap="flat" w="7620">
                      <a:solidFill>
                        <a:srgbClr val="000000"/>
                      </a:solidFill>
                      <a:prstDash val="solid"/>
                      <a:round/>
                      <a:headEnd type="none" w="med" len="med"/>
                      <a:tailEnd type="none" w="med" len="med"/>
                    </a:lnT>
                    <a:lnB cmpd="sng" algn="ctr" cap="flat" w="7620">
                      <a:solidFill>
                        <a:srgbClr val="E2E8F0"/>
                      </a:solidFill>
                      <a:prstDash val="solid"/>
                      <a:round/>
                      <a:headEnd type="none" w="med" len="med"/>
                      <a:tailEnd type="none" w="med" len="med"/>
                    </a:lnB>
                  </a:tcPr>
                </a:tc>
                <a:tc>
                  <a:txBody>
                    <a:bodyPr anchor="t" rtlCol="false"/>
                    <a:lstStyle/>
                    <a:p>
                      <a:pPr algn="l" marL="0" indent="0" lvl="0">
                        <a:lnSpc>
                          <a:spcPts val="1620"/>
                        </a:lnSpc>
                        <a:spcBef>
                          <a:spcPct val="0"/>
                        </a:spcBef>
                        <a:defRPr/>
                      </a:pPr>
                      <a:r>
                        <a:rPr lang="en-US" sz="1350" strike="noStrike" u="none">
                          <a:solidFill>
                            <a:srgbClr val="334155"/>
                          </a:solidFill>
                          <a:latin typeface="DM Sans"/>
                          <a:ea typeface="DM Sans"/>
                          <a:cs typeface="DM Sans"/>
                          <a:sym typeface="DM Sans"/>
                        </a:rPr>
                        <a:t>tested in mice; active therapy adds cost and a regulatory burden [5]</a:t>
                      </a:r>
                      <a:endParaRPr lang="en-US" sz="1100"/>
                    </a:p>
                  </a:txBody>
                  <a:tcPr marL="36576" marR="36576" marT="36576" marB="36576" anchor="ctr">
                    <a:lnL cmpd="sng" algn="ctr" cap="flat" w="7620">
                      <a:solidFill>
                        <a:srgbClr val="000000"/>
                      </a:solidFill>
                      <a:prstDash val="solid"/>
                      <a:round/>
                      <a:headEnd type="none" w="med" len="med"/>
                      <a:tailEnd type="none" w="med" len="med"/>
                    </a:lnL>
                    <a:lnR cmpd="sng" algn="ctr" cap="flat" w="7620">
                      <a:solidFill>
                        <a:srgbClr val="000000"/>
                      </a:solidFill>
                      <a:prstDash val="solid"/>
                      <a:round/>
                      <a:headEnd type="none" w="med" len="med"/>
                      <a:tailEnd type="none" w="med" len="med"/>
                    </a:lnR>
                    <a:lnT cmpd="sng" algn="ctr" cap="flat" w="7620">
                      <a:solidFill>
                        <a:srgbClr val="000000"/>
                      </a:solidFill>
                      <a:prstDash val="solid"/>
                      <a:round/>
                      <a:headEnd type="none" w="med" len="med"/>
                      <a:tailEnd type="none" w="med" len="med"/>
                    </a:lnT>
                    <a:lnB cmpd="sng" algn="ctr" cap="flat" w="7620">
                      <a:solidFill>
                        <a:srgbClr val="E2E8F0"/>
                      </a:solidFill>
                      <a:prstDash val="solid"/>
                      <a:round/>
                      <a:headEnd type="none" w="med" len="med"/>
                      <a:tailEnd type="none" w="med" len="med"/>
                    </a:lnB>
                  </a:tcPr>
                </a:tc>
              </a:tr>
              <a:tr h="626861">
                <a:tc>
                  <a:txBody>
                    <a:bodyPr anchor="t" rtlCol="false"/>
                    <a:lstStyle/>
                    <a:p>
                      <a:pPr algn="l">
                        <a:lnSpc>
                          <a:spcPts val="1620"/>
                        </a:lnSpc>
                        <a:defRPr/>
                      </a:pPr>
                      <a:r>
                        <a:rPr lang="en-US" sz="1350" b="true">
                          <a:solidFill>
                            <a:srgbClr val="0F172A"/>
                          </a:solidFill>
                          <a:latin typeface="DM Sans Bold"/>
                          <a:ea typeface="DM Sans Bold"/>
                          <a:cs typeface="DM Sans Bold"/>
                          <a:sym typeface="DM Sans Bold"/>
                        </a:rPr>
                        <a:t>Diaper wetness strip⁴</a:t>
                      </a:r>
                      <a:endParaRPr lang="en-US" sz="1100"/>
                    </a:p>
                  </a:txBody>
                  <a:tcPr marL="36576" marR="36576" marT="36576" marB="36576" anchor="ctr">
                    <a:lnL cmpd="sng" algn="ctr" cap="flat" w="7620">
                      <a:solidFill>
                        <a:srgbClr val="000000"/>
                      </a:solidFill>
                      <a:prstDash val="solid"/>
                      <a:round/>
                      <a:headEnd type="none" w="med" len="med"/>
                      <a:tailEnd type="none" w="med" len="med"/>
                    </a:lnL>
                    <a:lnR cmpd="sng" algn="ctr" cap="flat" w="7620">
                      <a:solidFill>
                        <a:srgbClr val="000000"/>
                      </a:solidFill>
                      <a:prstDash val="solid"/>
                      <a:round/>
                      <a:headEnd type="none" w="med" len="med"/>
                      <a:tailEnd type="none" w="med" len="med"/>
                    </a:lnR>
                    <a:lnT cmpd="sng" algn="ctr" cap="flat" w="7620">
                      <a:solidFill>
                        <a:srgbClr val="000000"/>
                      </a:solidFill>
                      <a:prstDash val="solid"/>
                      <a:round/>
                      <a:headEnd type="none" w="med" len="med"/>
                      <a:tailEnd type="none" w="med" len="med"/>
                    </a:lnT>
                    <a:lnB cmpd="sng" algn="ctr" cap="flat" w="7620">
                      <a:solidFill>
                        <a:srgbClr val="E2E8F0"/>
                      </a:solidFill>
                      <a:prstDash val="solid"/>
                      <a:round/>
                      <a:headEnd type="none" w="med" len="med"/>
                      <a:tailEnd type="none" w="med" len="med"/>
                    </a:lnB>
                  </a:tcPr>
                </a:tc>
                <a:tc>
                  <a:txBody>
                    <a:bodyPr anchor="t" rtlCol="false"/>
                    <a:lstStyle/>
                    <a:p>
                      <a:pPr algn="l">
                        <a:lnSpc>
                          <a:spcPts val="1620"/>
                        </a:lnSpc>
                        <a:defRPr/>
                      </a:pPr>
                      <a:r>
                        <a:rPr lang="en-US" sz="1350" b="true">
                          <a:solidFill>
                            <a:srgbClr val="059669"/>
                          </a:solidFill>
                          <a:latin typeface="Arial Bold"/>
                          <a:ea typeface="Arial Bold"/>
                          <a:cs typeface="Arial Bold"/>
                          <a:sym typeface="Arial Bold"/>
                        </a:rPr>
                        <a:t>✓</a:t>
                      </a:r>
                      <a:endParaRPr lang="en-US" sz="1100"/>
                    </a:p>
                  </a:txBody>
                  <a:tcPr marL="36576" marR="36576" marT="36576" marB="36576" anchor="ctr">
                    <a:lnL cmpd="sng" algn="ctr" cap="flat" w="7620">
                      <a:solidFill>
                        <a:srgbClr val="000000"/>
                      </a:solidFill>
                      <a:prstDash val="solid"/>
                      <a:round/>
                      <a:headEnd type="none" w="med" len="med"/>
                      <a:tailEnd type="none" w="med" len="med"/>
                    </a:lnL>
                    <a:lnR cmpd="sng" algn="ctr" cap="flat" w="7620">
                      <a:solidFill>
                        <a:srgbClr val="000000"/>
                      </a:solidFill>
                      <a:prstDash val="solid"/>
                      <a:round/>
                      <a:headEnd type="none" w="med" len="med"/>
                      <a:tailEnd type="none" w="med" len="med"/>
                    </a:lnR>
                    <a:lnT cmpd="sng" algn="ctr" cap="flat" w="7620">
                      <a:solidFill>
                        <a:srgbClr val="000000"/>
                      </a:solidFill>
                      <a:prstDash val="solid"/>
                      <a:round/>
                      <a:headEnd type="none" w="med" len="med"/>
                      <a:tailEnd type="none" w="med" len="med"/>
                    </a:lnT>
                    <a:lnB cmpd="sng" algn="ctr" cap="flat" w="7620">
                      <a:solidFill>
                        <a:srgbClr val="E2E8F0"/>
                      </a:solidFill>
                      <a:prstDash val="solid"/>
                      <a:round/>
                      <a:headEnd type="none" w="med" len="med"/>
                      <a:tailEnd type="none" w="med" len="med"/>
                    </a:lnB>
                  </a:tcPr>
                </a:tc>
                <a:tc>
                  <a:txBody>
                    <a:bodyPr anchor="t" rtlCol="false"/>
                    <a:lstStyle/>
                    <a:p>
                      <a:pPr algn="l">
                        <a:lnSpc>
                          <a:spcPts val="1620"/>
                        </a:lnSpc>
                        <a:defRPr/>
                      </a:pPr>
                      <a:r>
                        <a:rPr lang="en-US" sz="1350" b="true">
                          <a:solidFill>
                            <a:srgbClr val="DC2626"/>
                          </a:solidFill>
                          <a:latin typeface="Arial Bold"/>
                          <a:ea typeface="Arial Bold"/>
                          <a:cs typeface="Arial Bold"/>
                          <a:sym typeface="Arial Bold"/>
                        </a:rPr>
                        <a:t>✗</a:t>
                      </a:r>
                      <a:endParaRPr lang="en-US" sz="1100"/>
                    </a:p>
                  </a:txBody>
                  <a:tcPr marL="36576" marR="36576" marT="36576" marB="36576" anchor="ctr">
                    <a:lnL cmpd="sng" algn="ctr" cap="flat" w="7620">
                      <a:solidFill>
                        <a:srgbClr val="000000"/>
                      </a:solidFill>
                      <a:prstDash val="solid"/>
                      <a:round/>
                      <a:headEnd type="none" w="med" len="med"/>
                      <a:tailEnd type="none" w="med" len="med"/>
                    </a:lnL>
                    <a:lnR cmpd="sng" algn="ctr" cap="flat" w="7620">
                      <a:solidFill>
                        <a:srgbClr val="000000"/>
                      </a:solidFill>
                      <a:prstDash val="solid"/>
                      <a:round/>
                      <a:headEnd type="none" w="med" len="med"/>
                      <a:tailEnd type="none" w="med" len="med"/>
                    </a:lnR>
                    <a:lnT cmpd="sng" algn="ctr" cap="flat" w="7620">
                      <a:solidFill>
                        <a:srgbClr val="000000"/>
                      </a:solidFill>
                      <a:prstDash val="solid"/>
                      <a:round/>
                      <a:headEnd type="none" w="med" len="med"/>
                      <a:tailEnd type="none" w="med" len="med"/>
                    </a:lnT>
                    <a:lnB cmpd="sng" algn="ctr" cap="flat" w="7620">
                      <a:solidFill>
                        <a:srgbClr val="E2E8F0"/>
                      </a:solidFill>
                      <a:prstDash val="solid"/>
                      <a:round/>
                      <a:headEnd type="none" w="med" len="med"/>
                      <a:tailEnd type="none" w="med" len="med"/>
                    </a:lnB>
                  </a:tcPr>
                </a:tc>
                <a:tc>
                  <a:txBody>
                    <a:bodyPr anchor="t" rtlCol="false"/>
                    <a:lstStyle/>
                    <a:p>
                      <a:pPr algn="l">
                        <a:lnSpc>
                          <a:spcPts val="1620"/>
                        </a:lnSpc>
                        <a:defRPr/>
                      </a:pPr>
                      <a:r>
                        <a:rPr lang="en-US" sz="1350">
                          <a:solidFill>
                            <a:srgbClr val="334155"/>
                          </a:solidFill>
                          <a:latin typeface="DM Sans"/>
                          <a:ea typeface="DM Sans"/>
                          <a:cs typeface="DM Sans"/>
                          <a:sym typeface="DM Sans"/>
                        </a:rPr>
                        <a:t>designed for diapers, not wound dressings</a:t>
                      </a:r>
                      <a:endParaRPr lang="en-US" sz="1100"/>
                    </a:p>
                  </a:txBody>
                  <a:tcPr marL="36576" marR="36576" marT="36576" marB="36576" anchor="ctr">
                    <a:lnL cmpd="sng" algn="ctr" cap="flat" w="7620">
                      <a:solidFill>
                        <a:srgbClr val="000000"/>
                      </a:solidFill>
                      <a:prstDash val="solid"/>
                      <a:round/>
                      <a:headEnd type="none" w="med" len="med"/>
                      <a:tailEnd type="none" w="med" len="med"/>
                    </a:lnL>
                    <a:lnR cmpd="sng" algn="ctr" cap="flat" w="7620">
                      <a:solidFill>
                        <a:srgbClr val="000000"/>
                      </a:solidFill>
                      <a:prstDash val="solid"/>
                      <a:round/>
                      <a:headEnd type="none" w="med" len="med"/>
                      <a:tailEnd type="none" w="med" len="med"/>
                    </a:lnR>
                    <a:lnT cmpd="sng" algn="ctr" cap="flat" w="7620">
                      <a:solidFill>
                        <a:srgbClr val="000000"/>
                      </a:solidFill>
                      <a:prstDash val="solid"/>
                      <a:round/>
                      <a:headEnd type="none" w="med" len="med"/>
                      <a:tailEnd type="none" w="med" len="med"/>
                    </a:lnT>
                    <a:lnB cmpd="sng" algn="ctr" cap="flat" w="7620">
                      <a:solidFill>
                        <a:srgbClr val="E2E8F0"/>
                      </a:solidFill>
                      <a:prstDash val="solid"/>
                      <a:round/>
                      <a:headEnd type="none" w="med" len="med"/>
                      <a:tailEnd type="none" w="med" len="med"/>
                    </a:lnB>
                  </a:tcPr>
                </a:tc>
              </a:tr>
              <a:tr h="626861">
                <a:tc>
                  <a:txBody>
                    <a:bodyPr anchor="t" rtlCol="false"/>
                    <a:lstStyle/>
                    <a:p>
                      <a:pPr algn="l">
                        <a:lnSpc>
                          <a:spcPts val="1620"/>
                        </a:lnSpc>
                        <a:defRPr/>
                      </a:pPr>
                      <a:r>
                        <a:rPr lang="en-US" sz="1350" b="true">
                          <a:solidFill>
                            <a:srgbClr val="0F172A"/>
                          </a:solidFill>
                          <a:latin typeface="DM Sans Bold"/>
                          <a:ea typeface="DM Sans Bold"/>
                          <a:cs typeface="DM Sans Bold"/>
                          <a:sym typeface="DM Sans Bold"/>
                        </a:rPr>
                        <a:t>Dermasense (proposed)</a:t>
                      </a:r>
                      <a:endParaRPr lang="en-US" sz="1100"/>
                    </a:p>
                  </a:txBody>
                  <a:tcPr marL="36576" marR="36576" marT="36576" marB="36576" anchor="ctr">
                    <a:lnL cmpd="sng" algn="ctr" cap="flat" w="7620">
                      <a:solidFill>
                        <a:srgbClr val="000000"/>
                      </a:solidFill>
                      <a:prstDash val="solid"/>
                      <a:round/>
                      <a:headEnd type="none" w="med" len="med"/>
                      <a:tailEnd type="none" w="med" len="med"/>
                    </a:lnL>
                    <a:lnR cmpd="sng" algn="ctr" cap="flat" w="7620">
                      <a:solidFill>
                        <a:srgbClr val="000000"/>
                      </a:solidFill>
                      <a:prstDash val="solid"/>
                      <a:round/>
                      <a:headEnd type="none" w="med" len="med"/>
                      <a:tailEnd type="none" w="med" len="med"/>
                    </a:lnR>
                    <a:lnT cmpd="sng" algn="ctr" cap="flat" w="7620">
                      <a:solidFill>
                        <a:srgbClr val="000000"/>
                      </a:solidFill>
                      <a:prstDash val="solid"/>
                      <a:round/>
                      <a:headEnd type="none" w="med" len="med"/>
                      <a:tailEnd type="none" w="med" len="med"/>
                    </a:lnT>
                    <a:lnB cmpd="sng" algn="ctr" cap="flat" w="7620">
                      <a:solidFill>
                        <a:srgbClr val="E2E8F0"/>
                      </a:solidFill>
                      <a:prstDash val="solid"/>
                      <a:round/>
                      <a:headEnd type="none" w="med" len="med"/>
                      <a:tailEnd type="none" w="med" len="med"/>
                    </a:lnB>
                  </a:tcPr>
                </a:tc>
                <a:tc>
                  <a:txBody>
                    <a:bodyPr anchor="t" rtlCol="false"/>
                    <a:lstStyle/>
                    <a:p>
                      <a:pPr algn="l">
                        <a:lnSpc>
                          <a:spcPts val="1620"/>
                        </a:lnSpc>
                        <a:defRPr/>
                      </a:pPr>
                      <a:r>
                        <a:rPr lang="en-US" sz="1350" b="true">
                          <a:solidFill>
                            <a:srgbClr val="059669"/>
                          </a:solidFill>
                          <a:latin typeface="Arial Bold"/>
                          <a:ea typeface="Arial Bold"/>
                          <a:cs typeface="Arial Bold"/>
                          <a:sym typeface="Arial Bold"/>
                        </a:rPr>
                        <a:t>✓</a:t>
                      </a:r>
                      <a:endParaRPr lang="en-US" sz="1100"/>
                    </a:p>
                  </a:txBody>
                  <a:tcPr marL="36576" marR="36576" marT="36576" marB="36576" anchor="ctr">
                    <a:lnL cmpd="sng" algn="ctr" cap="flat" w="7620">
                      <a:solidFill>
                        <a:srgbClr val="000000"/>
                      </a:solidFill>
                      <a:prstDash val="solid"/>
                      <a:round/>
                      <a:headEnd type="none" w="med" len="med"/>
                      <a:tailEnd type="none" w="med" len="med"/>
                    </a:lnL>
                    <a:lnR cmpd="sng" algn="ctr" cap="flat" w="7620">
                      <a:solidFill>
                        <a:srgbClr val="000000"/>
                      </a:solidFill>
                      <a:prstDash val="solid"/>
                      <a:round/>
                      <a:headEnd type="none" w="med" len="med"/>
                      <a:tailEnd type="none" w="med" len="med"/>
                    </a:lnR>
                    <a:lnT cmpd="sng" algn="ctr" cap="flat" w="7620">
                      <a:solidFill>
                        <a:srgbClr val="000000"/>
                      </a:solidFill>
                      <a:prstDash val="solid"/>
                      <a:round/>
                      <a:headEnd type="none" w="med" len="med"/>
                      <a:tailEnd type="none" w="med" len="med"/>
                    </a:lnT>
                    <a:lnB cmpd="sng" algn="ctr" cap="flat" w="7620">
                      <a:solidFill>
                        <a:srgbClr val="E2E8F0"/>
                      </a:solidFill>
                      <a:prstDash val="solid"/>
                      <a:round/>
                      <a:headEnd type="none" w="med" len="med"/>
                      <a:tailEnd type="none" w="med" len="med"/>
                    </a:lnB>
                  </a:tcPr>
                </a:tc>
                <a:tc>
                  <a:txBody>
                    <a:bodyPr anchor="t" rtlCol="false"/>
                    <a:lstStyle/>
                    <a:p>
                      <a:pPr algn="l">
                        <a:lnSpc>
                          <a:spcPts val="1620"/>
                        </a:lnSpc>
                        <a:defRPr/>
                      </a:pPr>
                      <a:r>
                        <a:rPr lang="en-US" sz="1350" b="true">
                          <a:solidFill>
                            <a:srgbClr val="059669"/>
                          </a:solidFill>
                          <a:latin typeface="Arial Bold"/>
                          <a:ea typeface="Arial Bold"/>
                          <a:cs typeface="Arial Bold"/>
                          <a:sym typeface="Arial Bold"/>
                        </a:rPr>
                        <a:t>✓</a:t>
                      </a:r>
                      <a:endParaRPr lang="en-US" sz="1100"/>
                    </a:p>
                  </a:txBody>
                  <a:tcPr marL="36576" marR="36576" marT="36576" marB="36576" anchor="ctr">
                    <a:lnL cmpd="sng" algn="ctr" cap="flat" w="7620">
                      <a:solidFill>
                        <a:srgbClr val="000000"/>
                      </a:solidFill>
                      <a:prstDash val="solid"/>
                      <a:round/>
                      <a:headEnd type="none" w="med" len="med"/>
                      <a:tailEnd type="none" w="med" len="med"/>
                    </a:lnL>
                    <a:lnR cmpd="sng" algn="ctr" cap="flat" w="7620">
                      <a:solidFill>
                        <a:srgbClr val="000000"/>
                      </a:solidFill>
                      <a:prstDash val="solid"/>
                      <a:round/>
                      <a:headEnd type="none" w="med" len="med"/>
                      <a:tailEnd type="none" w="med" len="med"/>
                    </a:lnR>
                    <a:lnT cmpd="sng" algn="ctr" cap="flat" w="7620">
                      <a:solidFill>
                        <a:srgbClr val="000000"/>
                      </a:solidFill>
                      <a:prstDash val="solid"/>
                      <a:round/>
                      <a:headEnd type="none" w="med" len="med"/>
                      <a:tailEnd type="none" w="med" len="med"/>
                    </a:lnT>
                    <a:lnB cmpd="sng" algn="ctr" cap="flat" w="7620">
                      <a:solidFill>
                        <a:srgbClr val="E2E8F0"/>
                      </a:solidFill>
                      <a:prstDash val="solid"/>
                      <a:round/>
                      <a:headEnd type="none" w="med" len="med"/>
                      <a:tailEnd type="none" w="med" len="med"/>
                    </a:lnB>
                  </a:tcPr>
                </a:tc>
                <a:tc>
                  <a:txBody>
                    <a:bodyPr anchor="t" rtlCol="false"/>
                    <a:lstStyle/>
                    <a:p>
                      <a:pPr algn="l">
                        <a:lnSpc>
                          <a:spcPts val="1620"/>
                        </a:lnSpc>
                        <a:defRPr/>
                      </a:pPr>
                      <a:r>
                        <a:rPr lang="en-US" sz="1350" b="true">
                          <a:solidFill>
                            <a:srgbClr val="B45309"/>
                          </a:solidFill>
                          <a:latin typeface="DM Sans Bold"/>
                          <a:ea typeface="DM Sans Bold"/>
                          <a:cs typeface="DM Sans Bold"/>
                          <a:sym typeface="DM Sans Bold"/>
                        </a:rPr>
                        <a:t>not yet tested; E2 and E4 will evaluate it</a:t>
                      </a:r>
                      <a:endParaRPr lang="en-US" sz="1100"/>
                    </a:p>
                  </a:txBody>
                  <a:tcPr marL="36576" marR="36576" marT="36576" marB="36576" anchor="ctr">
                    <a:lnL cmpd="sng" algn="ctr" cap="flat" w="7620">
                      <a:solidFill>
                        <a:srgbClr val="000000"/>
                      </a:solidFill>
                      <a:prstDash val="solid"/>
                      <a:round/>
                      <a:headEnd type="none" w="med" len="med"/>
                      <a:tailEnd type="none" w="med" len="med"/>
                    </a:lnL>
                    <a:lnR cmpd="sng" algn="ctr" cap="flat" w="7620">
                      <a:solidFill>
                        <a:srgbClr val="000000"/>
                      </a:solidFill>
                      <a:prstDash val="solid"/>
                      <a:round/>
                      <a:headEnd type="none" w="med" len="med"/>
                      <a:tailEnd type="none" w="med" len="med"/>
                    </a:lnR>
                    <a:lnT cmpd="sng" algn="ctr" cap="flat" w="7620">
                      <a:solidFill>
                        <a:srgbClr val="000000"/>
                      </a:solidFill>
                      <a:prstDash val="solid"/>
                      <a:round/>
                      <a:headEnd type="none" w="med" len="med"/>
                      <a:tailEnd type="none" w="med" len="med"/>
                    </a:lnT>
                    <a:lnB cmpd="sng" algn="ctr" cap="flat" w="7620">
                      <a:solidFill>
                        <a:srgbClr val="E2E8F0"/>
                      </a:solidFill>
                      <a:prstDash val="solid"/>
                      <a:round/>
                      <a:headEnd type="none" w="med" len="med"/>
                      <a:tailEnd type="none" w="med" len="med"/>
                    </a:lnB>
                  </a:tcPr>
                </a:tc>
              </a:tr>
            </a:tbl>
          </a:graphicData>
        </a:graphic>
      </p:graphicFrame>
      <p:sp>
        <p:nvSpPr>
          <p:cNvPr name="TextBox 26" id="26"/>
          <p:cNvSpPr txBox="true"/>
          <p:nvPr/>
        </p:nvSpPr>
        <p:spPr>
          <a:xfrm rot="0">
            <a:off x="1088136" y="7474839"/>
            <a:ext cx="7644384" cy="194572"/>
          </a:xfrm>
          <a:prstGeom prst="rect">
            <a:avLst/>
          </a:prstGeom>
        </p:spPr>
        <p:txBody>
          <a:bodyPr anchor="t" rtlCol="false" tIns="0" lIns="0" bIns="0" rIns="0">
            <a:spAutoFit/>
          </a:bodyPr>
          <a:lstStyle/>
          <a:p>
            <a:pPr algn="l">
              <a:lnSpc>
                <a:spcPts val="1592"/>
              </a:lnSpc>
            </a:pPr>
            <a:r>
              <a:rPr lang="en-US" sz="1228" b="true">
                <a:solidFill>
                  <a:srgbClr val="64748B"/>
                </a:solidFill>
                <a:latin typeface="DM Sans Bold"/>
                <a:ea typeface="DM Sans Bold"/>
                <a:cs typeface="DM Sans Bold"/>
                <a:sym typeface="DM Sans Bold"/>
              </a:rPr>
              <a:t>✓ yes   ✗ no   ◐ partly.   Our search of papers, patents and products was not exhaustive.</a:t>
            </a:r>
          </a:p>
        </p:txBody>
      </p:sp>
      <p:sp>
        <p:nvSpPr>
          <p:cNvPr name="TextBox 27" id="27"/>
          <p:cNvSpPr txBox="true"/>
          <p:nvPr/>
        </p:nvSpPr>
        <p:spPr>
          <a:xfrm rot="0">
            <a:off x="9715500" y="2399919"/>
            <a:ext cx="7507224" cy="2474519"/>
          </a:xfrm>
          <a:prstGeom prst="rect">
            <a:avLst/>
          </a:prstGeom>
        </p:spPr>
        <p:txBody>
          <a:bodyPr anchor="t" rtlCol="false" tIns="0" lIns="0" bIns="0" rIns="0">
            <a:spAutoFit/>
          </a:bodyPr>
          <a:lstStyle/>
          <a:p>
            <a:pPr algn="l" marL="0" indent="0" lvl="0">
              <a:lnSpc>
                <a:spcPts val="2235"/>
              </a:lnSpc>
              <a:spcBef>
                <a:spcPct val="0"/>
              </a:spcBef>
            </a:pPr>
            <a:r>
              <a:rPr lang="en-US" sz="1725" strike="noStrike" u="none">
                <a:solidFill>
                  <a:srgbClr val="059669"/>
                </a:solidFill>
                <a:latin typeface="DM Sans"/>
                <a:ea typeface="DM Sans"/>
                <a:cs typeface="DM Sans"/>
                <a:sym typeface="DM Sans"/>
              </a:rPr>
              <a:t>▪  Searched:  papers, patents and products [1, 3, 4, 5, 14].</a:t>
            </a:r>
          </a:p>
          <a:p>
            <a:pPr algn="l" marL="0" indent="0" lvl="0">
              <a:lnSpc>
                <a:spcPts val="2235"/>
              </a:lnSpc>
              <a:spcBef>
                <a:spcPct val="0"/>
              </a:spcBef>
            </a:pPr>
            <a:r>
              <a:rPr lang="en-US" sz="1725" strike="noStrike" u="none">
                <a:solidFill>
                  <a:srgbClr val="059669"/>
                </a:solidFill>
                <a:latin typeface="DM Sans"/>
                <a:ea typeface="DM Sans"/>
                <a:cs typeface="DM Sans"/>
                <a:sym typeface="DM Sans"/>
              </a:rPr>
              <a:t>▪  Found:  in our search, no low-cost sensor reads a dressing’s own change line.</a:t>
            </a:r>
          </a:p>
          <a:p>
            <a:pPr algn="l" marL="0" indent="0" lvl="0">
              <a:lnSpc>
                <a:spcPts val="2235"/>
              </a:lnSpc>
              <a:spcBef>
                <a:spcPct val="0"/>
              </a:spcBef>
            </a:pPr>
            <a:r>
              <a:rPr lang="en-US" sz="1725" strike="noStrike" u="none">
                <a:solidFill>
                  <a:srgbClr val="059669"/>
                </a:solidFill>
                <a:latin typeface="DM Sans"/>
                <a:ea typeface="DM Sans"/>
                <a:cs typeface="DM Sans"/>
                <a:sym typeface="DM Sans"/>
              </a:rPr>
              <a:t>▪  Our focus:  show when fluid reaches that change line, without lifting the dressing.</a:t>
            </a:r>
          </a:p>
          <a:p>
            <a:pPr algn="l" marL="0" indent="0" lvl="0">
              <a:lnSpc>
                <a:spcPts val="2235"/>
              </a:lnSpc>
              <a:spcBef>
                <a:spcPct val="0"/>
              </a:spcBef>
            </a:pPr>
            <a:r>
              <a:rPr lang="en-US" sz="1725" strike="noStrike" u="none">
                <a:solidFill>
                  <a:srgbClr val="059669"/>
                </a:solidFill>
                <a:latin typeface="DM Sans"/>
                <a:ea typeface="DM Sans"/>
                <a:cs typeface="DM Sans"/>
                <a:sym typeface="DM Sans"/>
              </a:rPr>
              <a:t>▪  Why now:  carbon can be laser-written on polyimide in one pass [7], and dressing makers already define a change line [2, 14].</a:t>
            </a:r>
          </a:p>
          <a:p>
            <a:pPr algn="l" marL="0" indent="0" lvl="0">
              <a:lnSpc>
                <a:spcPts val="2235"/>
              </a:lnSpc>
              <a:spcBef>
                <a:spcPct val="0"/>
              </a:spcBef>
            </a:pPr>
            <a:r>
              <a:rPr lang="en-US" sz="1725" strike="noStrike" u="none">
                <a:solidFill>
                  <a:srgbClr val="059669"/>
                </a:solidFill>
                <a:latin typeface="DM Sans"/>
                <a:ea typeface="DM Sans"/>
                <a:cs typeface="DM Sans"/>
                <a:sym typeface="DM Sans"/>
              </a:rPr>
              <a:t>▪  Not our goal:  diagnosis or treatment. We are exploring a way to report how full the dressing is.</a:t>
            </a:r>
          </a:p>
        </p:txBody>
      </p:sp>
    </p:spTree>
  </p:cSld>
  <p:clrMapOvr>
    <a:masterClrMapping/>
  </p:clrMapOvr>
</p:sld>
</file>

<file path=ppt/slides/slide4.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0"/>
            <a:ext cx="18288000" cy="10287000"/>
            <a:chOff x="0" y="0"/>
            <a:chExt cx="24384000" cy="13716000"/>
          </a:xfrm>
        </p:grpSpPr>
        <p:sp>
          <p:nvSpPr>
            <p:cNvPr name="Freeform 3" id="3" descr="image.png"/>
            <p:cNvSpPr/>
            <p:nvPr/>
          </p:nvSpPr>
          <p:spPr>
            <a:xfrm flipH="false" flipV="false" rot="0">
              <a:off x="0" y="0"/>
              <a:ext cx="24384000" cy="13716000"/>
            </a:xfrm>
            <a:custGeom>
              <a:avLst/>
              <a:gdLst/>
              <a:ahLst/>
              <a:cxnLst/>
              <a:rect r="r" b="b" t="t" l="l"/>
              <a:pathLst>
                <a:path h="13716000" w="24384000">
                  <a:moveTo>
                    <a:pt x="0" y="0"/>
                  </a:moveTo>
                  <a:lnTo>
                    <a:pt x="24384000" y="0"/>
                  </a:lnTo>
                  <a:lnTo>
                    <a:pt x="24384000" y="13716000"/>
                  </a:lnTo>
                  <a:lnTo>
                    <a:pt x="0" y="13716000"/>
                  </a:lnTo>
                  <a:lnTo>
                    <a:pt x="0" y="0"/>
                  </a:lnTo>
                  <a:close/>
                </a:path>
              </a:pathLst>
            </a:custGeom>
            <a:blipFill>
              <a:blip r:embed="rId3"/>
              <a:stretch>
                <a:fillRect l="0" t="0" r="0" b="0"/>
              </a:stretch>
            </a:blipFill>
          </p:spPr>
          <p:txBody>
            <a:bodyPr/>
            <a:p/>
          </p:txBody>
        </p:sp>
      </p:grpSp>
      <p:grpSp>
        <p:nvGrpSpPr>
          <p:cNvPr name="Group 4" id="4"/>
          <p:cNvGrpSpPr/>
          <p:nvPr/>
        </p:nvGrpSpPr>
        <p:grpSpPr>
          <a:xfrm rot="0">
            <a:off x="800100" y="8571957"/>
            <a:ext cx="16687800" cy="544706"/>
            <a:chOff x="0" y="0"/>
            <a:chExt cx="22250400" cy="726275"/>
          </a:xfrm>
        </p:grpSpPr>
        <p:sp>
          <p:nvSpPr>
            <p:cNvPr name="Freeform 5" id="5" descr="image.png"/>
            <p:cNvSpPr/>
            <p:nvPr/>
          </p:nvSpPr>
          <p:spPr>
            <a:xfrm flipH="false" flipV="false" rot="0">
              <a:off x="0" y="0"/>
              <a:ext cx="22250400" cy="726313"/>
            </a:xfrm>
            <a:custGeom>
              <a:avLst/>
              <a:gdLst/>
              <a:ahLst/>
              <a:cxnLst/>
              <a:rect r="r" b="b" t="t" l="l"/>
              <a:pathLst>
                <a:path h="726313" w="22250400">
                  <a:moveTo>
                    <a:pt x="0" y="0"/>
                  </a:moveTo>
                  <a:lnTo>
                    <a:pt x="22250400" y="0"/>
                  </a:lnTo>
                  <a:lnTo>
                    <a:pt x="22250400" y="726313"/>
                  </a:lnTo>
                  <a:lnTo>
                    <a:pt x="0" y="726313"/>
                  </a:lnTo>
                  <a:lnTo>
                    <a:pt x="0" y="0"/>
                  </a:lnTo>
                  <a:close/>
                </a:path>
              </a:pathLst>
            </a:custGeom>
            <a:blipFill>
              <a:blip r:embed="rId4"/>
              <a:stretch>
                <a:fillRect l="0" t="0" r="0" b="-2290"/>
              </a:stretch>
            </a:blipFill>
          </p:spPr>
          <p:txBody>
            <a:bodyPr/>
            <a:p/>
          </p:txBody>
        </p:sp>
      </p:grpSp>
      <p:grpSp>
        <p:nvGrpSpPr>
          <p:cNvPr name="Group 6" id="6"/>
          <p:cNvGrpSpPr/>
          <p:nvPr/>
        </p:nvGrpSpPr>
        <p:grpSpPr>
          <a:xfrm rot="0">
            <a:off x="800100" y="1434332"/>
            <a:ext cx="4000500" cy="974227"/>
            <a:chOff x="0" y="0"/>
            <a:chExt cx="5334000" cy="1298969"/>
          </a:xfrm>
        </p:grpSpPr>
        <p:sp>
          <p:nvSpPr>
            <p:cNvPr name="Freeform 7" id="7" descr="image.png"/>
            <p:cNvSpPr/>
            <p:nvPr/>
          </p:nvSpPr>
          <p:spPr>
            <a:xfrm flipH="false" flipV="false" rot="0">
              <a:off x="0" y="0"/>
              <a:ext cx="5334000" cy="1298956"/>
            </a:xfrm>
            <a:custGeom>
              <a:avLst/>
              <a:gdLst/>
              <a:ahLst/>
              <a:cxnLst/>
              <a:rect r="r" b="b" t="t" l="l"/>
              <a:pathLst>
                <a:path h="1298956" w="5334000">
                  <a:moveTo>
                    <a:pt x="0" y="0"/>
                  </a:moveTo>
                  <a:lnTo>
                    <a:pt x="5334000" y="0"/>
                  </a:lnTo>
                  <a:lnTo>
                    <a:pt x="5334000" y="1298956"/>
                  </a:lnTo>
                  <a:lnTo>
                    <a:pt x="0" y="1298956"/>
                  </a:lnTo>
                  <a:lnTo>
                    <a:pt x="0" y="0"/>
                  </a:lnTo>
                  <a:close/>
                </a:path>
              </a:pathLst>
            </a:custGeom>
            <a:blipFill>
              <a:blip r:embed="rId5"/>
              <a:stretch>
                <a:fillRect l="0" t="0" r="0" b="-1192"/>
              </a:stretch>
            </a:blipFill>
          </p:spPr>
          <p:txBody>
            <a:bodyPr/>
            <a:p/>
          </p:txBody>
        </p:sp>
      </p:grpSp>
      <p:grpSp>
        <p:nvGrpSpPr>
          <p:cNvPr name="Group 8" id="8"/>
          <p:cNvGrpSpPr/>
          <p:nvPr/>
        </p:nvGrpSpPr>
        <p:grpSpPr>
          <a:xfrm rot="0">
            <a:off x="5029200" y="1434332"/>
            <a:ext cx="4000500" cy="974227"/>
            <a:chOff x="0" y="0"/>
            <a:chExt cx="5334000" cy="1298969"/>
          </a:xfrm>
        </p:grpSpPr>
        <p:sp>
          <p:nvSpPr>
            <p:cNvPr name="Freeform 9" id="9" descr="image.png"/>
            <p:cNvSpPr/>
            <p:nvPr/>
          </p:nvSpPr>
          <p:spPr>
            <a:xfrm flipH="false" flipV="false" rot="0">
              <a:off x="0" y="0"/>
              <a:ext cx="5334000" cy="1298956"/>
            </a:xfrm>
            <a:custGeom>
              <a:avLst/>
              <a:gdLst/>
              <a:ahLst/>
              <a:cxnLst/>
              <a:rect r="r" b="b" t="t" l="l"/>
              <a:pathLst>
                <a:path h="1298956" w="5334000">
                  <a:moveTo>
                    <a:pt x="0" y="0"/>
                  </a:moveTo>
                  <a:lnTo>
                    <a:pt x="5334000" y="0"/>
                  </a:lnTo>
                  <a:lnTo>
                    <a:pt x="5334000" y="1298956"/>
                  </a:lnTo>
                  <a:lnTo>
                    <a:pt x="0" y="1298956"/>
                  </a:lnTo>
                  <a:lnTo>
                    <a:pt x="0" y="0"/>
                  </a:lnTo>
                  <a:close/>
                </a:path>
              </a:pathLst>
            </a:custGeom>
            <a:blipFill>
              <a:blip r:embed="rId6"/>
              <a:stretch>
                <a:fillRect l="0" t="0" r="0" b="-1192"/>
              </a:stretch>
            </a:blipFill>
          </p:spPr>
          <p:txBody>
            <a:bodyPr/>
            <a:p/>
          </p:txBody>
        </p:sp>
      </p:grpSp>
      <p:grpSp>
        <p:nvGrpSpPr>
          <p:cNvPr name="Group 10" id="10"/>
          <p:cNvGrpSpPr/>
          <p:nvPr/>
        </p:nvGrpSpPr>
        <p:grpSpPr>
          <a:xfrm rot="0">
            <a:off x="9258300" y="1434332"/>
            <a:ext cx="4000500" cy="974227"/>
            <a:chOff x="0" y="0"/>
            <a:chExt cx="5334000" cy="1298969"/>
          </a:xfrm>
        </p:grpSpPr>
        <p:sp>
          <p:nvSpPr>
            <p:cNvPr name="Freeform 11" id="11" descr="image.png"/>
            <p:cNvSpPr/>
            <p:nvPr/>
          </p:nvSpPr>
          <p:spPr>
            <a:xfrm flipH="false" flipV="false" rot="0">
              <a:off x="0" y="0"/>
              <a:ext cx="5334000" cy="1298956"/>
            </a:xfrm>
            <a:custGeom>
              <a:avLst/>
              <a:gdLst/>
              <a:ahLst/>
              <a:cxnLst/>
              <a:rect r="r" b="b" t="t" l="l"/>
              <a:pathLst>
                <a:path h="1298956" w="5334000">
                  <a:moveTo>
                    <a:pt x="0" y="0"/>
                  </a:moveTo>
                  <a:lnTo>
                    <a:pt x="5334000" y="0"/>
                  </a:lnTo>
                  <a:lnTo>
                    <a:pt x="5334000" y="1298956"/>
                  </a:lnTo>
                  <a:lnTo>
                    <a:pt x="0" y="1298956"/>
                  </a:lnTo>
                  <a:lnTo>
                    <a:pt x="0" y="0"/>
                  </a:lnTo>
                  <a:close/>
                </a:path>
              </a:pathLst>
            </a:custGeom>
            <a:blipFill>
              <a:blip r:embed="rId7"/>
              <a:stretch>
                <a:fillRect l="0" t="0" r="0" b="-1192"/>
              </a:stretch>
            </a:blipFill>
          </p:spPr>
          <p:txBody>
            <a:bodyPr/>
            <a:p/>
          </p:txBody>
        </p:sp>
      </p:grpSp>
      <p:grpSp>
        <p:nvGrpSpPr>
          <p:cNvPr name="Group 12" id="12"/>
          <p:cNvGrpSpPr/>
          <p:nvPr/>
        </p:nvGrpSpPr>
        <p:grpSpPr>
          <a:xfrm rot="0">
            <a:off x="13487400" y="1434332"/>
            <a:ext cx="4000500" cy="974227"/>
            <a:chOff x="0" y="0"/>
            <a:chExt cx="5334000" cy="1298969"/>
          </a:xfrm>
        </p:grpSpPr>
        <p:sp>
          <p:nvSpPr>
            <p:cNvPr name="Freeform 13" id="13" descr="image.png"/>
            <p:cNvSpPr/>
            <p:nvPr/>
          </p:nvSpPr>
          <p:spPr>
            <a:xfrm flipH="false" flipV="false" rot="0">
              <a:off x="0" y="0"/>
              <a:ext cx="5334000" cy="1298956"/>
            </a:xfrm>
            <a:custGeom>
              <a:avLst/>
              <a:gdLst/>
              <a:ahLst/>
              <a:cxnLst/>
              <a:rect r="r" b="b" t="t" l="l"/>
              <a:pathLst>
                <a:path h="1298956" w="5334000">
                  <a:moveTo>
                    <a:pt x="0" y="0"/>
                  </a:moveTo>
                  <a:lnTo>
                    <a:pt x="5334000" y="0"/>
                  </a:lnTo>
                  <a:lnTo>
                    <a:pt x="5334000" y="1298956"/>
                  </a:lnTo>
                  <a:lnTo>
                    <a:pt x="0" y="1298956"/>
                  </a:lnTo>
                  <a:lnTo>
                    <a:pt x="0" y="0"/>
                  </a:lnTo>
                  <a:close/>
                </a:path>
              </a:pathLst>
            </a:custGeom>
            <a:blipFill>
              <a:blip r:embed="rId7"/>
              <a:stretch>
                <a:fillRect l="0" t="0" r="0" b="-1192"/>
              </a:stretch>
            </a:blipFill>
          </p:spPr>
          <p:txBody>
            <a:bodyPr/>
            <a:p/>
          </p:txBody>
        </p:sp>
      </p:grpSp>
      <p:grpSp>
        <p:nvGrpSpPr>
          <p:cNvPr name="Group 14" id="14"/>
          <p:cNvGrpSpPr/>
          <p:nvPr/>
        </p:nvGrpSpPr>
        <p:grpSpPr>
          <a:xfrm rot="0">
            <a:off x="9344025" y="2606040"/>
            <a:ext cx="8143875" cy="5829300"/>
            <a:chOff x="0" y="0"/>
            <a:chExt cx="10858500" cy="7772400"/>
          </a:xfrm>
        </p:grpSpPr>
        <p:sp>
          <p:nvSpPr>
            <p:cNvPr name="Freeform 15" id="15" descr="image.png"/>
            <p:cNvSpPr/>
            <p:nvPr/>
          </p:nvSpPr>
          <p:spPr>
            <a:xfrm flipH="false" flipV="false" rot="0">
              <a:off x="0" y="0"/>
              <a:ext cx="10858500" cy="7772400"/>
            </a:xfrm>
            <a:custGeom>
              <a:avLst/>
              <a:gdLst/>
              <a:ahLst/>
              <a:cxnLst/>
              <a:rect r="r" b="b" t="t" l="l"/>
              <a:pathLst>
                <a:path h="7772400" w="10858500">
                  <a:moveTo>
                    <a:pt x="0" y="0"/>
                  </a:moveTo>
                  <a:lnTo>
                    <a:pt x="10858500" y="0"/>
                  </a:lnTo>
                  <a:lnTo>
                    <a:pt x="10858500" y="7772400"/>
                  </a:lnTo>
                  <a:lnTo>
                    <a:pt x="0" y="7772400"/>
                  </a:lnTo>
                  <a:lnTo>
                    <a:pt x="0" y="0"/>
                  </a:lnTo>
                  <a:close/>
                </a:path>
              </a:pathLst>
            </a:custGeom>
            <a:blipFill>
              <a:blip r:embed="rId8"/>
              <a:stretch>
                <a:fillRect l="0" t="0" r="0" b="-8333"/>
              </a:stretch>
            </a:blipFill>
          </p:spPr>
          <p:txBody>
            <a:bodyPr/>
            <a:p/>
          </p:txBody>
        </p:sp>
      </p:grpSp>
      <p:grpSp>
        <p:nvGrpSpPr>
          <p:cNvPr name="Group 16" id="16"/>
          <p:cNvGrpSpPr/>
          <p:nvPr/>
        </p:nvGrpSpPr>
        <p:grpSpPr>
          <a:xfrm rot="0">
            <a:off x="795528" y="2606040"/>
            <a:ext cx="8147304" cy="5417820"/>
            <a:chOff x="0" y="0"/>
            <a:chExt cx="10863072" cy="7223760"/>
          </a:xfrm>
        </p:grpSpPr>
        <p:sp>
          <p:nvSpPr>
            <p:cNvPr name="Freeform 17" id="17" descr="image.png"/>
            <p:cNvSpPr/>
            <p:nvPr/>
          </p:nvSpPr>
          <p:spPr>
            <a:xfrm flipH="false" flipV="false" rot="0">
              <a:off x="0" y="0"/>
              <a:ext cx="10863072" cy="7223760"/>
            </a:xfrm>
            <a:custGeom>
              <a:avLst/>
              <a:gdLst/>
              <a:ahLst/>
              <a:cxnLst/>
              <a:rect r="r" b="b" t="t" l="l"/>
              <a:pathLst>
                <a:path h="7223760" w="10863072">
                  <a:moveTo>
                    <a:pt x="0" y="0"/>
                  </a:moveTo>
                  <a:lnTo>
                    <a:pt x="10863072" y="0"/>
                  </a:lnTo>
                  <a:lnTo>
                    <a:pt x="10863072" y="7223760"/>
                  </a:lnTo>
                  <a:lnTo>
                    <a:pt x="0" y="7223760"/>
                  </a:lnTo>
                  <a:lnTo>
                    <a:pt x="0" y="0"/>
                  </a:lnTo>
                  <a:close/>
                </a:path>
              </a:pathLst>
            </a:custGeom>
            <a:blipFill>
              <a:blip r:embed="rId9"/>
              <a:stretch>
                <a:fillRect l="0" t="0" r="-48062" b="0"/>
              </a:stretch>
            </a:blipFill>
          </p:spPr>
          <p:txBody>
            <a:bodyPr/>
            <a:p/>
          </p:txBody>
        </p:sp>
      </p:grpSp>
      <p:grpSp>
        <p:nvGrpSpPr>
          <p:cNvPr name="Group 18" id="18"/>
          <p:cNvGrpSpPr/>
          <p:nvPr/>
        </p:nvGrpSpPr>
        <p:grpSpPr>
          <a:xfrm rot="0">
            <a:off x="800100" y="657225"/>
            <a:ext cx="12893040" cy="462782"/>
            <a:chOff x="0" y="0"/>
            <a:chExt cx="17190720" cy="617042"/>
          </a:xfrm>
        </p:grpSpPr>
        <p:sp>
          <p:nvSpPr>
            <p:cNvPr name="Freeform 19" id="19"/>
            <p:cNvSpPr/>
            <p:nvPr/>
          </p:nvSpPr>
          <p:spPr>
            <a:xfrm flipH="false" flipV="false" rot="0">
              <a:off x="0" y="0"/>
              <a:ext cx="17190720" cy="617040"/>
            </a:xfrm>
            <a:custGeom>
              <a:avLst/>
              <a:gdLst/>
              <a:ahLst/>
              <a:cxnLst/>
              <a:rect r="r" b="b" t="t" l="l"/>
              <a:pathLst>
                <a:path h="617040" w="17190720">
                  <a:moveTo>
                    <a:pt x="0" y="0"/>
                  </a:moveTo>
                  <a:lnTo>
                    <a:pt x="17190720" y="0"/>
                  </a:lnTo>
                  <a:lnTo>
                    <a:pt x="17190720" y="617040"/>
                  </a:lnTo>
                  <a:lnTo>
                    <a:pt x="0" y="617040"/>
                  </a:lnTo>
                  <a:close/>
                </a:path>
              </a:pathLst>
            </a:custGeom>
            <a:blipFill>
              <a:blip r:embed="rId10">
                <a:alphaModFix amt="0"/>
              </a:blip>
              <a:stretch>
                <a:fillRect l="0" t="-492852" r="0" b="-492852"/>
              </a:stretch>
            </a:blipFill>
          </p:spPr>
          <p:txBody>
            <a:bodyPr/>
            <a:p/>
          </p:txBody>
        </p:sp>
        <p:sp>
          <p:nvSpPr>
            <p:cNvPr name="TextBox 20" id="20"/>
            <p:cNvSpPr txBox="true"/>
            <p:nvPr/>
          </p:nvSpPr>
          <p:spPr>
            <a:xfrm>
              <a:off x="0" y="-104775"/>
              <a:ext cx="17190720" cy="721817"/>
            </a:xfrm>
            <a:prstGeom prst="rect">
              <a:avLst/>
            </a:prstGeom>
          </p:spPr>
          <p:txBody>
            <a:bodyPr anchor="ctr" rtlCol="false" tIns="0" lIns="0" bIns="0" rIns="0"/>
            <a:lstStyle/>
            <a:p>
              <a:pPr algn="l">
                <a:lnSpc>
                  <a:spcPts val="4372"/>
                </a:lnSpc>
              </a:pPr>
              <a:r>
                <a:rPr lang="en-US" sz="3037">
                  <a:solidFill>
                    <a:srgbClr val="0F172A"/>
                  </a:solidFill>
                  <a:latin typeface="Poppins"/>
                  <a:ea typeface="Poppins"/>
                  <a:cs typeface="Poppins"/>
                  <a:sym typeface="Poppins"/>
                </a:rPr>
                <a:t>User Journey: Before State</a:t>
              </a:r>
            </a:p>
          </p:txBody>
        </p:sp>
      </p:grpSp>
      <p:sp>
        <p:nvSpPr>
          <p:cNvPr name="TextBox 21" id="21"/>
          <p:cNvSpPr txBox="true"/>
          <p:nvPr/>
        </p:nvSpPr>
        <p:spPr>
          <a:xfrm rot="0">
            <a:off x="1042988" y="8681780"/>
            <a:ext cx="16047720" cy="291689"/>
          </a:xfrm>
          <a:prstGeom prst="rect">
            <a:avLst/>
          </a:prstGeom>
        </p:spPr>
        <p:txBody>
          <a:bodyPr anchor="t" rtlCol="false" tIns="0" lIns="0" bIns="0" rIns="0">
            <a:spAutoFit/>
          </a:bodyPr>
          <a:lstStyle/>
          <a:p>
            <a:pPr algn="l">
              <a:lnSpc>
                <a:spcPts val="2506"/>
              </a:lnSpc>
            </a:pPr>
            <a:r>
              <a:rPr lang="en-US" b="true" sz="1439">
                <a:solidFill>
                  <a:srgbClr val="0F172A"/>
                </a:solidFill>
                <a:latin typeface="DM Sans Bold"/>
                <a:ea typeface="DM Sans Bold"/>
                <a:cs typeface="DM Sans Bold"/>
                <a:sym typeface="DM Sans Bold"/>
              </a:rPr>
              <a:t>Insight: </a:t>
            </a:r>
            <a:r>
              <a:rPr lang="en-US" b="true" sz="1439">
                <a:solidFill>
                  <a:srgbClr val="334155"/>
                </a:solidFill>
                <a:latin typeface="DM Sans Bold"/>
                <a:ea typeface="DM Sans Bold"/>
                <a:cs typeface="DM Sans Bold"/>
                <a:sym typeface="DM Sans Bold"/>
              </a:rPr>
              <a:t>when a dressing is covered, a carer cannot see whether it has reached its change line.</a:t>
            </a:r>
          </a:p>
        </p:txBody>
      </p:sp>
      <p:sp>
        <p:nvSpPr>
          <p:cNvPr name="TextBox 22" id="22"/>
          <p:cNvSpPr txBox="true"/>
          <p:nvPr/>
        </p:nvSpPr>
        <p:spPr>
          <a:xfrm rot="0">
            <a:off x="1042988" y="1498092"/>
            <a:ext cx="3514725" cy="490728"/>
          </a:xfrm>
          <a:prstGeom prst="rect">
            <a:avLst/>
          </a:prstGeom>
        </p:spPr>
        <p:txBody>
          <a:bodyPr anchor="t" rtlCol="false" tIns="0" lIns="0" bIns="0" rIns="0">
            <a:spAutoFit/>
          </a:bodyPr>
          <a:lstStyle/>
          <a:p>
            <a:pPr algn="ctr">
              <a:lnSpc>
                <a:spcPts val="2572"/>
              </a:lnSpc>
            </a:pPr>
            <a:r>
              <a:rPr lang="en-US" sz="1950">
                <a:solidFill>
                  <a:srgbClr val="0369A1"/>
                </a:solidFill>
                <a:latin typeface="Poppins"/>
                <a:ea typeface="Poppins"/>
                <a:cs typeface="Poppins"/>
                <a:sym typeface="Poppins"/>
              </a:rPr>
              <a:t>1.9–4.5 per 1,000</a:t>
            </a:r>
          </a:p>
        </p:txBody>
      </p:sp>
      <p:sp>
        <p:nvSpPr>
          <p:cNvPr name="TextBox 23" id="23"/>
          <p:cNvSpPr txBox="true"/>
          <p:nvPr/>
        </p:nvSpPr>
        <p:spPr>
          <a:xfrm rot="0">
            <a:off x="1042988" y="2016252"/>
            <a:ext cx="3514725" cy="342900"/>
          </a:xfrm>
          <a:prstGeom prst="rect">
            <a:avLst/>
          </a:prstGeom>
        </p:spPr>
        <p:txBody>
          <a:bodyPr anchor="t" rtlCol="false" tIns="0" lIns="0" bIns="0" rIns="0">
            <a:spAutoFit/>
          </a:bodyPr>
          <a:lstStyle/>
          <a:p>
            <a:pPr algn="ctr" marL="0" indent="0" lvl="0">
              <a:lnSpc>
                <a:spcPts val="1367"/>
              </a:lnSpc>
              <a:spcBef>
                <a:spcPct val="0"/>
              </a:spcBef>
            </a:pPr>
            <a:r>
              <a:rPr lang="en-US" sz="1139" strike="noStrike" u="none">
                <a:solidFill>
                  <a:srgbClr val="64748B"/>
                </a:solidFill>
                <a:latin typeface="DM Sans"/>
                <a:ea typeface="DM Sans"/>
                <a:cs typeface="DM Sans"/>
                <a:sym typeface="DM Sans"/>
              </a:rPr>
              <a:t>CHRONIC WOUND PREVALENCE IN TWO INDIAN SURVEYS [16, 17]</a:t>
            </a:r>
          </a:p>
        </p:txBody>
      </p:sp>
      <p:sp>
        <p:nvSpPr>
          <p:cNvPr name="TextBox 24" id="24"/>
          <p:cNvSpPr txBox="true"/>
          <p:nvPr/>
        </p:nvSpPr>
        <p:spPr>
          <a:xfrm rot="0">
            <a:off x="5272088" y="1488567"/>
            <a:ext cx="3514725" cy="500253"/>
          </a:xfrm>
          <a:prstGeom prst="rect">
            <a:avLst/>
          </a:prstGeom>
        </p:spPr>
        <p:txBody>
          <a:bodyPr anchor="t" rtlCol="false" tIns="0" lIns="0" bIns="0" rIns="0">
            <a:spAutoFit/>
          </a:bodyPr>
          <a:lstStyle/>
          <a:p>
            <a:pPr algn="ctr">
              <a:lnSpc>
                <a:spcPts val="2968"/>
              </a:lnSpc>
            </a:pPr>
            <a:r>
              <a:rPr lang="en-US" sz="2250">
                <a:solidFill>
                  <a:srgbClr val="0369A1"/>
                </a:solidFill>
                <a:latin typeface="Poppins"/>
                <a:ea typeface="Poppins"/>
                <a:cs typeface="Poppins"/>
                <a:sym typeface="Poppins"/>
              </a:rPr>
              <a:t>101 million</a:t>
            </a:r>
          </a:p>
        </p:txBody>
      </p:sp>
      <p:sp>
        <p:nvSpPr>
          <p:cNvPr name="TextBox 25" id="25"/>
          <p:cNvSpPr txBox="true"/>
          <p:nvPr/>
        </p:nvSpPr>
        <p:spPr>
          <a:xfrm rot="0">
            <a:off x="5272088" y="2016252"/>
            <a:ext cx="3514725" cy="171450"/>
          </a:xfrm>
          <a:prstGeom prst="rect">
            <a:avLst/>
          </a:prstGeom>
        </p:spPr>
        <p:txBody>
          <a:bodyPr anchor="t" rtlCol="false" tIns="0" lIns="0" bIns="0" rIns="0">
            <a:spAutoFit/>
          </a:bodyPr>
          <a:lstStyle/>
          <a:p>
            <a:pPr algn="ctr">
              <a:lnSpc>
                <a:spcPts val="1367"/>
              </a:lnSpc>
            </a:pPr>
            <a:r>
              <a:rPr lang="en-US" sz="1139">
                <a:solidFill>
                  <a:srgbClr val="64748B"/>
                </a:solidFill>
                <a:latin typeface="DM Sans"/>
                <a:ea typeface="DM Sans"/>
                <a:cs typeface="DM Sans"/>
                <a:sym typeface="DM Sans"/>
              </a:rPr>
              <a:t>PEOPLE IN INDIA LIVING WITH DIABETES¹⁸</a:t>
            </a:r>
          </a:p>
        </p:txBody>
      </p:sp>
      <p:sp>
        <p:nvSpPr>
          <p:cNvPr name="TextBox 26" id="26"/>
          <p:cNvSpPr txBox="true"/>
          <p:nvPr/>
        </p:nvSpPr>
        <p:spPr>
          <a:xfrm rot="0">
            <a:off x="9501188" y="1488567"/>
            <a:ext cx="3514725" cy="500253"/>
          </a:xfrm>
          <a:prstGeom prst="rect">
            <a:avLst/>
          </a:prstGeom>
        </p:spPr>
        <p:txBody>
          <a:bodyPr anchor="t" rtlCol="false" tIns="0" lIns="0" bIns="0" rIns="0">
            <a:spAutoFit/>
          </a:bodyPr>
          <a:lstStyle/>
          <a:p>
            <a:pPr algn="ctr">
              <a:lnSpc>
                <a:spcPts val="2968"/>
              </a:lnSpc>
            </a:pPr>
            <a:r>
              <a:rPr lang="en-US" sz="2250">
                <a:solidFill>
                  <a:srgbClr val="0369A1"/>
                </a:solidFill>
                <a:latin typeface="Poppins"/>
                <a:ea typeface="Poppins"/>
                <a:cs typeface="Poppins"/>
                <a:sym typeface="Poppins"/>
              </a:rPr>
              <a:t>19–34 %</a:t>
            </a:r>
          </a:p>
        </p:txBody>
      </p:sp>
      <p:sp>
        <p:nvSpPr>
          <p:cNvPr name="TextBox 27" id="27"/>
          <p:cNvSpPr txBox="true"/>
          <p:nvPr/>
        </p:nvSpPr>
        <p:spPr>
          <a:xfrm rot="0">
            <a:off x="9501188" y="2016252"/>
            <a:ext cx="3514725" cy="342900"/>
          </a:xfrm>
          <a:prstGeom prst="rect">
            <a:avLst/>
          </a:prstGeom>
        </p:spPr>
        <p:txBody>
          <a:bodyPr anchor="t" rtlCol="false" tIns="0" lIns="0" bIns="0" rIns="0">
            <a:spAutoFit/>
          </a:bodyPr>
          <a:lstStyle/>
          <a:p>
            <a:pPr algn="ctr">
              <a:lnSpc>
                <a:spcPts val="1367"/>
              </a:lnSpc>
            </a:pPr>
            <a:r>
              <a:rPr lang="en-US" sz="1139">
                <a:solidFill>
                  <a:srgbClr val="64748B"/>
                </a:solidFill>
                <a:latin typeface="DM Sans"/>
                <a:ea typeface="DM Sans"/>
                <a:cs typeface="DM Sans"/>
                <a:sym typeface="DM Sans"/>
              </a:rPr>
              <a:t>ESTIMATED LIFETIME FOOT-ULCER RISK WITH DIABETES¹⁹</a:t>
            </a:r>
          </a:p>
        </p:txBody>
      </p:sp>
      <p:sp>
        <p:nvSpPr>
          <p:cNvPr name="TextBox 28" id="28"/>
          <p:cNvSpPr txBox="true"/>
          <p:nvPr/>
        </p:nvSpPr>
        <p:spPr>
          <a:xfrm rot="0">
            <a:off x="13730288" y="1488567"/>
            <a:ext cx="3514725" cy="500253"/>
          </a:xfrm>
          <a:prstGeom prst="rect">
            <a:avLst/>
          </a:prstGeom>
        </p:spPr>
        <p:txBody>
          <a:bodyPr anchor="t" rtlCol="false" tIns="0" lIns="0" bIns="0" rIns="0">
            <a:spAutoFit/>
          </a:bodyPr>
          <a:lstStyle/>
          <a:p>
            <a:pPr algn="ctr">
              <a:lnSpc>
                <a:spcPts val="2968"/>
              </a:lnSpc>
            </a:pPr>
            <a:r>
              <a:rPr lang="en-US" sz="2250">
                <a:solidFill>
                  <a:srgbClr val="0369A1"/>
                </a:solidFill>
                <a:latin typeface="Poppins"/>
                <a:ea typeface="Poppins"/>
                <a:cs typeface="Poppins"/>
                <a:sym typeface="Poppins"/>
              </a:rPr>
              <a:t>40.3 %</a:t>
            </a:r>
          </a:p>
        </p:txBody>
      </p:sp>
      <p:sp>
        <p:nvSpPr>
          <p:cNvPr name="TextBox 29" id="29"/>
          <p:cNvSpPr txBox="true"/>
          <p:nvPr/>
        </p:nvSpPr>
        <p:spPr>
          <a:xfrm rot="0">
            <a:off x="13730288" y="2016252"/>
            <a:ext cx="3514725" cy="342900"/>
          </a:xfrm>
          <a:prstGeom prst="rect">
            <a:avLst/>
          </a:prstGeom>
        </p:spPr>
        <p:txBody>
          <a:bodyPr anchor="t" rtlCol="false" tIns="0" lIns="0" bIns="0" rIns="0">
            <a:spAutoFit/>
          </a:bodyPr>
          <a:lstStyle/>
          <a:p>
            <a:pPr algn="ctr">
              <a:lnSpc>
                <a:spcPts val="1367"/>
              </a:lnSpc>
            </a:pPr>
            <a:r>
              <a:rPr lang="en-US" sz="1139">
                <a:solidFill>
                  <a:srgbClr val="64748B"/>
                </a:solidFill>
                <a:latin typeface="DM Sans"/>
                <a:ea typeface="DM Sans"/>
                <a:cs typeface="DM Sans"/>
                <a:sym typeface="DM Sans"/>
              </a:rPr>
              <a:t>PATIENTS SAY DRESSING-CHANGE PAIN IS THE WORST PART²⁰</a:t>
            </a:r>
          </a:p>
        </p:txBody>
      </p:sp>
      <p:sp>
        <p:nvSpPr>
          <p:cNvPr name="TextBox 30" id="30"/>
          <p:cNvSpPr txBox="true"/>
          <p:nvPr/>
        </p:nvSpPr>
        <p:spPr>
          <a:xfrm rot="0">
            <a:off x="800100" y="8035290"/>
            <a:ext cx="8143875" cy="226600"/>
          </a:xfrm>
          <a:prstGeom prst="rect">
            <a:avLst/>
          </a:prstGeom>
        </p:spPr>
        <p:txBody>
          <a:bodyPr anchor="t" rtlCol="false" tIns="0" lIns="0" bIns="0" rIns="0">
            <a:spAutoFit/>
          </a:bodyPr>
          <a:lstStyle/>
          <a:p>
            <a:pPr algn="r">
              <a:lnSpc>
                <a:spcPts val="1983"/>
              </a:lnSpc>
            </a:pPr>
            <a:r>
              <a:rPr lang="en-US" sz="1139">
                <a:solidFill>
                  <a:srgbClr val="64748B"/>
                </a:solidFill>
                <a:latin typeface="DM Sans"/>
                <a:ea typeface="DM Sans"/>
                <a:cs typeface="DM Sans"/>
                <a:sym typeface="DM Sans"/>
              </a:rPr>
              <a:t>Illustrative care journey based on published data; the persona is not a real patient.</a:t>
            </a:r>
          </a:p>
        </p:txBody>
      </p:sp>
      <p:grpSp>
        <p:nvGrpSpPr>
          <p:cNvPr name="Group 31" id="31"/>
          <p:cNvGrpSpPr/>
          <p:nvPr/>
        </p:nvGrpSpPr>
        <p:grpSpPr>
          <a:xfrm rot="0">
            <a:off x="9672638" y="2937196"/>
            <a:ext cx="231505" cy="228600"/>
            <a:chOff x="0" y="0"/>
            <a:chExt cx="308674" cy="304800"/>
          </a:xfrm>
        </p:grpSpPr>
        <p:sp>
          <p:nvSpPr>
            <p:cNvPr name="Freeform 32" id="32" descr="image.png"/>
            <p:cNvSpPr/>
            <p:nvPr/>
          </p:nvSpPr>
          <p:spPr>
            <a:xfrm flipH="false" flipV="false" rot="0">
              <a:off x="0" y="0"/>
              <a:ext cx="308610" cy="304800"/>
            </a:xfrm>
            <a:custGeom>
              <a:avLst/>
              <a:gdLst/>
              <a:ahLst/>
              <a:cxnLst/>
              <a:rect r="r" b="b" t="t" l="l"/>
              <a:pathLst>
                <a:path h="304800" w="308610">
                  <a:moveTo>
                    <a:pt x="0" y="0"/>
                  </a:moveTo>
                  <a:lnTo>
                    <a:pt x="308610" y="0"/>
                  </a:lnTo>
                  <a:lnTo>
                    <a:pt x="308610" y="304800"/>
                  </a:lnTo>
                  <a:lnTo>
                    <a:pt x="0" y="304800"/>
                  </a:lnTo>
                  <a:lnTo>
                    <a:pt x="0" y="0"/>
                  </a:lnTo>
                  <a:close/>
                </a:path>
              </a:pathLst>
            </a:custGeom>
            <a:blipFill>
              <a:blip r:embed="rId11"/>
              <a:stretch>
                <a:fillRect l="0" t="0" r="-20" b="-1270"/>
              </a:stretch>
            </a:blipFill>
          </p:spPr>
          <p:txBody>
            <a:bodyPr/>
            <a:p/>
          </p:txBody>
        </p:sp>
      </p:grpSp>
      <p:sp>
        <p:nvSpPr>
          <p:cNvPr name="TextBox 33" id="33"/>
          <p:cNvSpPr txBox="true"/>
          <p:nvPr/>
        </p:nvSpPr>
        <p:spPr>
          <a:xfrm rot="0">
            <a:off x="10047018" y="2918146"/>
            <a:ext cx="7269480" cy="247650"/>
          </a:xfrm>
          <a:prstGeom prst="rect">
            <a:avLst/>
          </a:prstGeom>
        </p:spPr>
        <p:txBody>
          <a:bodyPr anchor="t" rtlCol="false" tIns="0" lIns="0" bIns="0" rIns="0">
            <a:spAutoFit/>
          </a:bodyPr>
          <a:lstStyle/>
          <a:p>
            <a:pPr algn="l">
              <a:lnSpc>
                <a:spcPts val="2070"/>
              </a:lnSpc>
            </a:pPr>
            <a:r>
              <a:rPr lang="en-US" b="true" sz="1725">
                <a:solidFill>
                  <a:srgbClr val="0F172A"/>
                </a:solidFill>
                <a:latin typeface="DM Sans Bold"/>
                <a:ea typeface="DM Sans Bold"/>
                <a:cs typeface="DM Sans Bold"/>
                <a:sym typeface="DM Sans Bold"/>
              </a:rPr>
              <a:t>What published studies tell us</a:t>
            </a:r>
          </a:p>
        </p:txBody>
      </p:sp>
      <p:grpSp>
        <p:nvGrpSpPr>
          <p:cNvPr name="Group 34" id="34"/>
          <p:cNvGrpSpPr/>
          <p:nvPr/>
        </p:nvGrpSpPr>
        <p:grpSpPr>
          <a:xfrm rot="0">
            <a:off x="16642794" y="9421197"/>
            <a:ext cx="1645206" cy="865803"/>
            <a:chOff x="0" y="0"/>
            <a:chExt cx="2193608" cy="1154405"/>
          </a:xfrm>
        </p:grpSpPr>
        <p:sp>
          <p:nvSpPr>
            <p:cNvPr name="Freeform 35" id="35"/>
            <p:cNvSpPr/>
            <p:nvPr/>
          </p:nvSpPr>
          <p:spPr>
            <a:xfrm flipH="false" flipV="false" rot="0">
              <a:off x="0" y="0"/>
              <a:ext cx="2193671" cy="1154430"/>
            </a:xfrm>
            <a:custGeom>
              <a:avLst/>
              <a:gdLst/>
              <a:ahLst/>
              <a:cxnLst/>
              <a:rect r="r" b="b" t="t" l="l"/>
              <a:pathLst>
                <a:path h="1154430" w="2193671">
                  <a:moveTo>
                    <a:pt x="0" y="0"/>
                  </a:moveTo>
                  <a:lnTo>
                    <a:pt x="2193671" y="0"/>
                  </a:lnTo>
                  <a:lnTo>
                    <a:pt x="2193671" y="1154430"/>
                  </a:lnTo>
                  <a:lnTo>
                    <a:pt x="0" y="1154430"/>
                  </a:lnTo>
                  <a:lnTo>
                    <a:pt x="0" y="0"/>
                  </a:lnTo>
                  <a:close/>
                </a:path>
              </a:pathLst>
            </a:custGeom>
            <a:blipFill>
              <a:blip r:embed="rId12"/>
              <a:stretch>
                <a:fillRect l="0" t="0" r="2" b="2"/>
              </a:stretch>
            </a:blipFill>
          </p:spPr>
          <p:txBody>
            <a:bodyPr/>
            <a:p/>
          </p:txBody>
        </p:sp>
      </p:grpSp>
      <p:grpSp>
        <p:nvGrpSpPr>
          <p:cNvPr name="Group 36" id="36"/>
          <p:cNvGrpSpPr/>
          <p:nvPr/>
        </p:nvGrpSpPr>
        <p:grpSpPr>
          <a:xfrm rot="0">
            <a:off x="0" y="9421197"/>
            <a:ext cx="2679421" cy="865803"/>
            <a:chOff x="0" y="0"/>
            <a:chExt cx="3572561" cy="1154405"/>
          </a:xfrm>
        </p:grpSpPr>
        <p:sp>
          <p:nvSpPr>
            <p:cNvPr name="Freeform 37" id="37"/>
            <p:cNvSpPr/>
            <p:nvPr/>
          </p:nvSpPr>
          <p:spPr>
            <a:xfrm flipH="false" flipV="false" rot="0">
              <a:off x="0" y="0"/>
              <a:ext cx="3572510" cy="1154430"/>
            </a:xfrm>
            <a:custGeom>
              <a:avLst/>
              <a:gdLst/>
              <a:ahLst/>
              <a:cxnLst/>
              <a:rect r="r" b="b" t="t" l="l"/>
              <a:pathLst>
                <a:path h="1154430" w="3572510">
                  <a:moveTo>
                    <a:pt x="0" y="0"/>
                  </a:moveTo>
                  <a:lnTo>
                    <a:pt x="3572510" y="0"/>
                  </a:lnTo>
                  <a:lnTo>
                    <a:pt x="3572510" y="1154430"/>
                  </a:lnTo>
                  <a:lnTo>
                    <a:pt x="0" y="1154430"/>
                  </a:lnTo>
                  <a:lnTo>
                    <a:pt x="0" y="0"/>
                  </a:lnTo>
                  <a:close/>
                </a:path>
              </a:pathLst>
            </a:custGeom>
            <a:blipFill>
              <a:blip r:embed="rId13"/>
              <a:stretch>
                <a:fillRect l="-21110" t="-147255" r="-22761" b="-197973"/>
              </a:stretch>
            </a:blipFill>
          </p:spPr>
          <p:txBody>
            <a:bodyPr/>
            <a:p/>
          </p:txBody>
        </p:sp>
      </p:grpSp>
      <p:grpSp>
        <p:nvGrpSpPr>
          <p:cNvPr name="Group 38" id="38"/>
          <p:cNvGrpSpPr/>
          <p:nvPr/>
        </p:nvGrpSpPr>
        <p:grpSpPr>
          <a:xfrm rot="0">
            <a:off x="15117775" y="685800"/>
            <a:ext cx="2370125" cy="462248"/>
            <a:chOff x="0" y="0"/>
            <a:chExt cx="3160166" cy="616331"/>
          </a:xfrm>
        </p:grpSpPr>
        <p:sp>
          <p:nvSpPr>
            <p:cNvPr name="Freeform 39" id="39"/>
            <p:cNvSpPr/>
            <p:nvPr/>
          </p:nvSpPr>
          <p:spPr>
            <a:xfrm flipH="false" flipV="false" rot="0">
              <a:off x="0" y="0"/>
              <a:ext cx="3160141" cy="616331"/>
            </a:xfrm>
            <a:custGeom>
              <a:avLst/>
              <a:gdLst/>
              <a:ahLst/>
              <a:cxnLst/>
              <a:rect r="r" b="b" t="t" l="l"/>
              <a:pathLst>
                <a:path h="616331" w="3160141">
                  <a:moveTo>
                    <a:pt x="0" y="308166"/>
                  </a:moveTo>
                  <a:cubicBezTo>
                    <a:pt x="0" y="137914"/>
                    <a:pt x="110490" y="0"/>
                    <a:pt x="246888" y="0"/>
                  </a:cubicBezTo>
                  <a:lnTo>
                    <a:pt x="2913253" y="0"/>
                  </a:lnTo>
                  <a:cubicBezTo>
                    <a:pt x="3049651" y="0"/>
                    <a:pt x="3160141" y="137914"/>
                    <a:pt x="3160141" y="308166"/>
                  </a:cubicBezTo>
                  <a:cubicBezTo>
                    <a:pt x="3160141" y="478417"/>
                    <a:pt x="3049651" y="616331"/>
                    <a:pt x="2913253" y="616331"/>
                  </a:cubicBezTo>
                  <a:lnTo>
                    <a:pt x="246888" y="616331"/>
                  </a:lnTo>
                  <a:cubicBezTo>
                    <a:pt x="110490" y="616331"/>
                    <a:pt x="0" y="478417"/>
                    <a:pt x="0" y="308166"/>
                  </a:cubicBezTo>
                  <a:close/>
                </a:path>
              </a:pathLst>
            </a:custGeom>
            <a:solidFill>
              <a:srgbClr val="E0F2FE"/>
            </a:solidFill>
          </p:spPr>
          <p:txBody>
            <a:bodyPr/>
            <a:p/>
          </p:txBody>
        </p:sp>
        <p:sp>
          <p:nvSpPr>
            <p:cNvPr name="TextBox 40" id="40"/>
            <p:cNvSpPr txBox="true"/>
            <p:nvPr/>
          </p:nvSpPr>
          <p:spPr>
            <a:xfrm>
              <a:off x="0" y="0"/>
              <a:ext cx="3160166" cy="616331"/>
            </a:xfrm>
            <a:prstGeom prst="rect">
              <a:avLst/>
            </a:prstGeom>
          </p:spPr>
          <p:txBody>
            <a:bodyPr anchor="ctr" rtlCol="false" tIns="50800" lIns="50800" bIns="50800" rIns="50800"/>
            <a:lstStyle/>
            <a:p>
              <a:pPr algn="ctr">
                <a:lnSpc>
                  <a:spcPts val="1350"/>
                </a:lnSpc>
              </a:pPr>
              <a:r>
                <a:rPr lang="en-US" sz="1125" b="true">
                  <a:solidFill>
                    <a:srgbClr val="0369A1"/>
                  </a:solidFill>
                  <a:latin typeface="DM Sans Bold"/>
                  <a:ea typeface="DM Sans Bold"/>
                  <a:cs typeface="DM Sans Bold"/>
                  <a:sym typeface="DM Sans Bold"/>
                </a:rPr>
                <a:t>CURRENT CARE · PUBLISHED EVIDENCE</a:t>
              </a:r>
            </a:p>
          </p:txBody>
        </p:sp>
      </p:grpSp>
      <p:sp>
        <p:nvSpPr>
          <p:cNvPr name="TextBox 41" id="41"/>
          <p:cNvSpPr txBox="true"/>
          <p:nvPr/>
        </p:nvSpPr>
        <p:spPr>
          <a:xfrm rot="0">
            <a:off x="9715500" y="3583686"/>
            <a:ext cx="7507224" cy="3245129"/>
          </a:xfrm>
          <a:prstGeom prst="rect">
            <a:avLst/>
          </a:prstGeom>
        </p:spPr>
        <p:txBody>
          <a:bodyPr anchor="t" rtlCol="false" tIns="0" lIns="0" bIns="0" rIns="0">
            <a:spAutoFit/>
          </a:bodyPr>
          <a:lstStyle/>
          <a:p>
            <a:pPr algn="l" marL="0" indent="0" lvl="0">
              <a:lnSpc>
                <a:spcPts val="2332"/>
              </a:lnSpc>
              <a:spcBef>
                <a:spcPct val="0"/>
              </a:spcBef>
            </a:pPr>
            <a:r>
              <a:rPr lang="en-US" sz="1800" strike="noStrike" u="none">
                <a:solidFill>
                  <a:srgbClr val="059669"/>
                </a:solidFill>
                <a:latin typeface="DM Sans"/>
                <a:ea typeface="DM Sans"/>
                <a:cs typeface="DM Sans"/>
                <a:sym typeface="DM Sans"/>
              </a:rPr>
              <a:t>▪  Time:  One UK patient survey reported about 18 minutes per dressing visit and five visits a week [13].</a:t>
            </a:r>
          </a:p>
          <a:p>
            <a:pPr algn="l" marL="0" indent="0" lvl="0">
              <a:lnSpc>
                <a:spcPts val="2332"/>
              </a:lnSpc>
              <a:spcBef>
                <a:spcPct val="0"/>
              </a:spcBef>
            </a:pPr>
            <a:r>
              <a:rPr lang="en-US" sz="1800" strike="noStrike" u="none">
                <a:solidFill>
                  <a:srgbClr val="059669"/>
                </a:solidFill>
                <a:latin typeface="DM Sans"/>
                <a:ea typeface="DM Sans"/>
                <a:cs typeface="DM Sans"/>
                <a:sym typeface="DM Sans"/>
              </a:rPr>
              <a:t>▪  Waste:  In one study, 44.9% of recorded changes happened while moisture was still in the optimal range [1].</a:t>
            </a:r>
          </a:p>
          <a:p>
            <a:pPr algn="l" marL="0" indent="0" lvl="0">
              <a:lnSpc>
                <a:spcPts val="2332"/>
              </a:lnSpc>
              <a:spcBef>
                <a:spcPct val="0"/>
              </a:spcBef>
            </a:pPr>
            <a:r>
              <a:rPr lang="en-US" sz="1800" strike="noStrike" u="none">
                <a:solidFill>
                  <a:srgbClr val="059669"/>
                </a:solidFill>
                <a:latin typeface="DM Sans"/>
                <a:ea typeface="DM Sans"/>
                <a:cs typeface="DM Sans"/>
                <a:sym typeface="DM Sans"/>
              </a:rPr>
              <a:t>▪  Cost:  Indian retail listings show ₹242–514 for one 10 × 10 cm foam dressing [15]; every premature change discards one.</a:t>
            </a:r>
          </a:p>
          <a:p>
            <a:pPr algn="l" marL="0" indent="0" lvl="0">
              <a:lnSpc>
                <a:spcPts val="2332"/>
              </a:lnSpc>
              <a:spcBef>
                <a:spcPct val="0"/>
              </a:spcBef>
            </a:pPr>
            <a:r>
              <a:rPr lang="en-US" sz="1800" strike="noStrike" u="none">
                <a:solidFill>
                  <a:srgbClr val="059669"/>
                </a:solidFill>
                <a:latin typeface="DM Sans"/>
                <a:ea typeface="DM Sans"/>
                <a:cs typeface="DM Sans"/>
                <a:sym typeface="DM Sans"/>
              </a:rPr>
              <a:t>▪  Safety:  a dressing left on too long can leak and macerate the surrounding skin [21]; removal can hurt [20].</a:t>
            </a:r>
          </a:p>
          <a:p>
            <a:pPr algn="l" marL="0" indent="0" lvl="0">
              <a:lnSpc>
                <a:spcPts val="2332"/>
              </a:lnSpc>
              <a:spcBef>
                <a:spcPct val="0"/>
              </a:spcBef>
            </a:pPr>
            <a:r>
              <a:rPr lang="en-US" sz="1800" strike="noStrike" u="none">
                <a:solidFill>
                  <a:srgbClr val="059669"/>
                </a:solidFill>
                <a:latin typeface="DM Sans"/>
                <a:ea typeface="DM Sans"/>
                <a:cs typeface="DM Sans"/>
                <a:sym typeface="DM Sans"/>
              </a:rPr>
              <a:t>▪  Who carries it:  the patient, family carer and nurse all manage this routine.</a:t>
            </a:r>
          </a:p>
        </p:txBody>
      </p:sp>
      <p:grpSp>
        <p:nvGrpSpPr>
          <p:cNvPr name="Group 42" id="42"/>
          <p:cNvGrpSpPr/>
          <p:nvPr/>
        </p:nvGrpSpPr>
        <p:grpSpPr>
          <a:xfrm rot="0">
            <a:off x="932688" y="2715768"/>
            <a:ext cx="7872984" cy="685800"/>
            <a:chOff x="0" y="0"/>
            <a:chExt cx="10497312" cy="914400"/>
          </a:xfrm>
        </p:grpSpPr>
        <p:sp>
          <p:nvSpPr>
            <p:cNvPr name="Freeform 43" id="43"/>
            <p:cNvSpPr/>
            <p:nvPr/>
          </p:nvSpPr>
          <p:spPr>
            <a:xfrm flipH="false" flipV="false" rot="0">
              <a:off x="0" y="0"/>
              <a:ext cx="10497312" cy="914400"/>
            </a:xfrm>
            <a:custGeom>
              <a:avLst/>
              <a:gdLst/>
              <a:ahLst/>
              <a:cxnLst/>
              <a:rect r="r" b="b" t="t" l="l"/>
              <a:pathLst>
                <a:path h="914400" w="10497312">
                  <a:moveTo>
                    <a:pt x="0" y="109728"/>
                  </a:moveTo>
                  <a:cubicBezTo>
                    <a:pt x="0" y="49149"/>
                    <a:pt x="49149" y="0"/>
                    <a:pt x="109728" y="0"/>
                  </a:cubicBezTo>
                  <a:lnTo>
                    <a:pt x="10387584" y="0"/>
                  </a:lnTo>
                  <a:cubicBezTo>
                    <a:pt x="10448163" y="0"/>
                    <a:pt x="10497312" y="49149"/>
                    <a:pt x="10497312" y="109728"/>
                  </a:cubicBezTo>
                  <a:lnTo>
                    <a:pt x="10497312" y="804672"/>
                  </a:lnTo>
                  <a:cubicBezTo>
                    <a:pt x="10497312" y="865251"/>
                    <a:pt x="10448163" y="914400"/>
                    <a:pt x="10387584" y="914400"/>
                  </a:cubicBezTo>
                  <a:lnTo>
                    <a:pt x="109728" y="914400"/>
                  </a:lnTo>
                  <a:cubicBezTo>
                    <a:pt x="49149" y="914400"/>
                    <a:pt x="0" y="865251"/>
                    <a:pt x="0" y="804672"/>
                  </a:cubicBezTo>
                  <a:close/>
                </a:path>
              </a:pathLst>
            </a:custGeom>
            <a:solidFill>
              <a:srgbClr val="F1F5F9"/>
            </a:solidFill>
          </p:spPr>
          <p:txBody>
            <a:bodyPr/>
            <a:p/>
          </p:txBody>
        </p:sp>
        <p:sp>
          <p:nvSpPr>
            <p:cNvPr name="TextBox 44" id="44"/>
            <p:cNvSpPr txBox="true"/>
            <p:nvPr/>
          </p:nvSpPr>
          <p:spPr>
            <a:xfrm>
              <a:off x="0" y="-9525"/>
              <a:ext cx="10497312" cy="923925"/>
            </a:xfrm>
            <a:prstGeom prst="rect">
              <a:avLst/>
            </a:prstGeom>
          </p:spPr>
          <p:txBody>
            <a:bodyPr anchor="ctr" rtlCol="false" tIns="50800" lIns="50800" bIns="50800" rIns="50800"/>
            <a:lstStyle/>
            <a:p>
              <a:pPr algn="l">
                <a:lnSpc>
                  <a:spcPts val="1547"/>
                </a:lnSpc>
              </a:pPr>
              <a:r>
                <a:rPr lang="en-US" sz="1289">
                  <a:solidFill>
                    <a:srgbClr val="334155"/>
                  </a:solidFill>
                  <a:latin typeface="DM Sans"/>
                  <a:ea typeface="DM Sans"/>
                  <a:cs typeface="DM Sans"/>
                  <a:sym typeface="DM Sans"/>
                </a:rPr>
                <a:t>Illustrative persona, not a real patient: a person with a diabetic foot ulcer living at home with family support and periodic nursing visits.</a:t>
              </a:r>
            </a:p>
          </p:txBody>
        </p:sp>
      </p:grpSp>
      <p:grpSp>
        <p:nvGrpSpPr>
          <p:cNvPr name="Group 45" id="45"/>
          <p:cNvGrpSpPr/>
          <p:nvPr/>
        </p:nvGrpSpPr>
        <p:grpSpPr>
          <a:xfrm rot="0">
            <a:off x="932688" y="3566160"/>
            <a:ext cx="768096" cy="754380"/>
            <a:chOff x="0" y="0"/>
            <a:chExt cx="1024128" cy="1005840"/>
          </a:xfrm>
        </p:grpSpPr>
        <p:sp>
          <p:nvSpPr>
            <p:cNvPr name="Freeform 46" id="46"/>
            <p:cNvSpPr/>
            <p:nvPr/>
          </p:nvSpPr>
          <p:spPr>
            <a:xfrm flipH="false" flipV="false" rot="0">
              <a:off x="0" y="0"/>
              <a:ext cx="1024128" cy="1005840"/>
            </a:xfrm>
            <a:custGeom>
              <a:avLst/>
              <a:gdLst/>
              <a:ahLst/>
              <a:cxnLst/>
              <a:rect r="r" b="b" t="t" l="l"/>
              <a:pathLst>
                <a:path h="1005840" w="1024128">
                  <a:moveTo>
                    <a:pt x="0" y="120650"/>
                  </a:moveTo>
                  <a:cubicBezTo>
                    <a:pt x="0" y="54102"/>
                    <a:pt x="54102" y="0"/>
                    <a:pt x="120650" y="0"/>
                  </a:cubicBezTo>
                  <a:lnTo>
                    <a:pt x="903478" y="0"/>
                  </a:lnTo>
                  <a:cubicBezTo>
                    <a:pt x="970153" y="0"/>
                    <a:pt x="1024128" y="54102"/>
                    <a:pt x="1024128" y="120650"/>
                  </a:cubicBezTo>
                  <a:lnTo>
                    <a:pt x="1024128" y="885190"/>
                  </a:lnTo>
                  <a:cubicBezTo>
                    <a:pt x="1024128" y="951865"/>
                    <a:pt x="970026" y="1005840"/>
                    <a:pt x="903478" y="1005840"/>
                  </a:cubicBezTo>
                  <a:lnTo>
                    <a:pt x="120650" y="1005840"/>
                  </a:lnTo>
                  <a:cubicBezTo>
                    <a:pt x="54102" y="1005840"/>
                    <a:pt x="0" y="951738"/>
                    <a:pt x="0" y="885190"/>
                  </a:cubicBezTo>
                  <a:close/>
                </a:path>
              </a:pathLst>
            </a:custGeom>
            <a:solidFill>
              <a:srgbClr val="FFFFFF"/>
            </a:solidFill>
          </p:spPr>
          <p:txBody>
            <a:bodyPr/>
            <a:p/>
          </p:txBody>
        </p:sp>
        <p:sp>
          <p:nvSpPr>
            <p:cNvPr name="TextBox 47" id="47"/>
            <p:cNvSpPr txBox="true"/>
            <p:nvPr/>
          </p:nvSpPr>
          <p:spPr>
            <a:xfrm>
              <a:off x="0" y="0"/>
              <a:ext cx="1024128" cy="1005840"/>
            </a:xfrm>
            <a:prstGeom prst="rect">
              <a:avLst/>
            </a:prstGeom>
          </p:spPr>
          <p:txBody>
            <a:bodyPr anchor="ctr" rtlCol="false" tIns="50800" lIns="50800" bIns="50800" rIns="50800"/>
            <a:lstStyle/>
            <a:p>
              <a:pPr algn="l">
                <a:lnSpc>
                  <a:spcPts val="1367"/>
                </a:lnSpc>
              </a:pPr>
              <a:r>
                <a:rPr lang="en-US" sz="1139" b="true">
                  <a:solidFill>
                    <a:srgbClr val="64748B"/>
                  </a:solidFill>
                  <a:latin typeface="DM Sans Bold"/>
                  <a:ea typeface="DM Sans Bold"/>
                  <a:cs typeface="DM Sans Bold"/>
                  <a:sym typeface="DM Sans Bold"/>
                </a:rPr>
                <a:t>STAGE</a:t>
              </a:r>
            </a:p>
          </p:txBody>
        </p:sp>
      </p:grpSp>
      <p:grpSp>
        <p:nvGrpSpPr>
          <p:cNvPr name="Group 48" id="48"/>
          <p:cNvGrpSpPr/>
          <p:nvPr/>
        </p:nvGrpSpPr>
        <p:grpSpPr>
          <a:xfrm rot="0">
            <a:off x="932688" y="4430268"/>
            <a:ext cx="768096" cy="1714500"/>
            <a:chOff x="0" y="0"/>
            <a:chExt cx="1024128" cy="2286000"/>
          </a:xfrm>
        </p:grpSpPr>
        <p:sp>
          <p:nvSpPr>
            <p:cNvPr name="Freeform 49" id="49"/>
            <p:cNvSpPr/>
            <p:nvPr/>
          </p:nvSpPr>
          <p:spPr>
            <a:xfrm flipH="false" flipV="false" rot="0">
              <a:off x="0" y="0"/>
              <a:ext cx="1024128" cy="2286000"/>
            </a:xfrm>
            <a:custGeom>
              <a:avLst/>
              <a:gdLst/>
              <a:ahLst/>
              <a:cxnLst/>
              <a:rect r="r" b="b" t="t" l="l"/>
              <a:pathLst>
                <a:path h="2286000" w="1024128">
                  <a:moveTo>
                    <a:pt x="0" y="122936"/>
                  </a:moveTo>
                  <a:cubicBezTo>
                    <a:pt x="0" y="54991"/>
                    <a:pt x="54991" y="0"/>
                    <a:pt x="122936" y="0"/>
                  </a:cubicBezTo>
                  <a:lnTo>
                    <a:pt x="901192" y="0"/>
                  </a:lnTo>
                  <a:cubicBezTo>
                    <a:pt x="969010" y="0"/>
                    <a:pt x="1024128" y="54991"/>
                    <a:pt x="1024128" y="122936"/>
                  </a:cubicBezTo>
                  <a:lnTo>
                    <a:pt x="1024128" y="2163064"/>
                  </a:lnTo>
                  <a:cubicBezTo>
                    <a:pt x="1024128" y="2230882"/>
                    <a:pt x="969137" y="2286000"/>
                    <a:pt x="901192" y="2286000"/>
                  </a:cubicBezTo>
                  <a:lnTo>
                    <a:pt x="122936" y="2286000"/>
                  </a:lnTo>
                  <a:cubicBezTo>
                    <a:pt x="54991" y="2286000"/>
                    <a:pt x="0" y="2231009"/>
                    <a:pt x="0" y="2163064"/>
                  </a:cubicBezTo>
                  <a:close/>
                </a:path>
              </a:pathLst>
            </a:custGeom>
            <a:solidFill>
              <a:srgbClr val="FFFFFF"/>
            </a:solidFill>
          </p:spPr>
          <p:txBody>
            <a:bodyPr/>
            <a:p/>
          </p:txBody>
        </p:sp>
        <p:sp>
          <p:nvSpPr>
            <p:cNvPr name="TextBox 50" id="50"/>
            <p:cNvSpPr txBox="true"/>
            <p:nvPr/>
          </p:nvSpPr>
          <p:spPr>
            <a:xfrm>
              <a:off x="0" y="0"/>
              <a:ext cx="1024128" cy="2286000"/>
            </a:xfrm>
            <a:prstGeom prst="rect">
              <a:avLst/>
            </a:prstGeom>
          </p:spPr>
          <p:txBody>
            <a:bodyPr anchor="ctr" rtlCol="false" tIns="50800" lIns="50800" bIns="50800" rIns="50800"/>
            <a:lstStyle/>
            <a:p>
              <a:pPr algn="l">
                <a:lnSpc>
                  <a:spcPts val="1367"/>
                </a:lnSpc>
              </a:pPr>
              <a:r>
                <a:rPr lang="en-US" sz="1139" b="true">
                  <a:solidFill>
                    <a:srgbClr val="64748B"/>
                  </a:solidFill>
                  <a:latin typeface="DM Sans Bold"/>
                  <a:ea typeface="DM Sans Bold"/>
                  <a:cs typeface="DM Sans Bold"/>
                  <a:sym typeface="DM Sans Bold"/>
                </a:rPr>
                <a:t>WHAT HAPPENS</a:t>
              </a:r>
            </a:p>
          </p:txBody>
        </p:sp>
      </p:grpSp>
      <p:grpSp>
        <p:nvGrpSpPr>
          <p:cNvPr name="Group 51" id="51"/>
          <p:cNvGrpSpPr/>
          <p:nvPr/>
        </p:nvGrpSpPr>
        <p:grpSpPr>
          <a:xfrm rot="0">
            <a:off x="932688" y="6254496"/>
            <a:ext cx="768096" cy="1440180"/>
            <a:chOff x="0" y="0"/>
            <a:chExt cx="1024128" cy="1920240"/>
          </a:xfrm>
        </p:grpSpPr>
        <p:sp>
          <p:nvSpPr>
            <p:cNvPr name="Freeform 52" id="52"/>
            <p:cNvSpPr/>
            <p:nvPr/>
          </p:nvSpPr>
          <p:spPr>
            <a:xfrm flipH="false" flipV="false" rot="0">
              <a:off x="0" y="0"/>
              <a:ext cx="1024128" cy="1920240"/>
            </a:xfrm>
            <a:custGeom>
              <a:avLst/>
              <a:gdLst/>
              <a:ahLst/>
              <a:cxnLst/>
              <a:rect r="r" b="b" t="t" l="l"/>
              <a:pathLst>
                <a:path h="1920240" w="1024128">
                  <a:moveTo>
                    <a:pt x="0" y="122936"/>
                  </a:moveTo>
                  <a:cubicBezTo>
                    <a:pt x="0" y="54991"/>
                    <a:pt x="54991" y="0"/>
                    <a:pt x="122936" y="0"/>
                  </a:cubicBezTo>
                  <a:lnTo>
                    <a:pt x="901192" y="0"/>
                  </a:lnTo>
                  <a:cubicBezTo>
                    <a:pt x="969010" y="0"/>
                    <a:pt x="1024128" y="54991"/>
                    <a:pt x="1024128" y="122936"/>
                  </a:cubicBezTo>
                  <a:lnTo>
                    <a:pt x="1024128" y="1797304"/>
                  </a:lnTo>
                  <a:cubicBezTo>
                    <a:pt x="1024128" y="1865122"/>
                    <a:pt x="969137" y="1920240"/>
                    <a:pt x="901192" y="1920240"/>
                  </a:cubicBezTo>
                  <a:lnTo>
                    <a:pt x="122936" y="1920240"/>
                  </a:lnTo>
                  <a:cubicBezTo>
                    <a:pt x="55118" y="1920240"/>
                    <a:pt x="0" y="1865249"/>
                    <a:pt x="0" y="1797304"/>
                  </a:cubicBezTo>
                  <a:close/>
                </a:path>
              </a:pathLst>
            </a:custGeom>
            <a:solidFill>
              <a:srgbClr val="FFFFFF"/>
            </a:solidFill>
          </p:spPr>
          <p:txBody>
            <a:bodyPr/>
            <a:p/>
          </p:txBody>
        </p:sp>
        <p:sp>
          <p:nvSpPr>
            <p:cNvPr name="TextBox 53" id="53"/>
            <p:cNvSpPr txBox="true"/>
            <p:nvPr/>
          </p:nvSpPr>
          <p:spPr>
            <a:xfrm>
              <a:off x="0" y="0"/>
              <a:ext cx="1024128" cy="1920240"/>
            </a:xfrm>
            <a:prstGeom prst="rect">
              <a:avLst/>
            </a:prstGeom>
          </p:spPr>
          <p:txBody>
            <a:bodyPr anchor="ctr" rtlCol="false" tIns="50800" lIns="50800" bIns="50800" rIns="50800"/>
            <a:lstStyle/>
            <a:p>
              <a:pPr algn="l">
                <a:lnSpc>
                  <a:spcPts val="1367"/>
                </a:lnSpc>
              </a:pPr>
              <a:r>
                <a:rPr lang="en-US" sz="1139" b="true">
                  <a:solidFill>
                    <a:srgbClr val="64748B"/>
                  </a:solidFill>
                  <a:latin typeface="DM Sans Bold"/>
                  <a:ea typeface="DM Sans Bold"/>
                  <a:cs typeface="DM Sans Bold"/>
                  <a:sym typeface="DM Sans Bold"/>
                </a:rPr>
                <a:t>PAIN POINT</a:t>
              </a:r>
            </a:p>
          </p:txBody>
        </p:sp>
      </p:grpSp>
      <p:grpSp>
        <p:nvGrpSpPr>
          <p:cNvPr name="Group 54" id="54"/>
          <p:cNvGrpSpPr/>
          <p:nvPr/>
        </p:nvGrpSpPr>
        <p:grpSpPr>
          <a:xfrm rot="0">
            <a:off x="1770698" y="3553778"/>
            <a:ext cx="1297610" cy="779145"/>
            <a:chOff x="0" y="0"/>
            <a:chExt cx="1730146" cy="1038860"/>
          </a:xfrm>
        </p:grpSpPr>
        <p:sp>
          <p:nvSpPr>
            <p:cNvPr name="Freeform 55" id="55"/>
            <p:cNvSpPr/>
            <p:nvPr/>
          </p:nvSpPr>
          <p:spPr>
            <a:xfrm flipH="false" flipV="false" rot="0">
              <a:off x="0" y="0"/>
              <a:ext cx="1730248" cy="1038860"/>
            </a:xfrm>
            <a:custGeom>
              <a:avLst/>
              <a:gdLst/>
              <a:ahLst/>
              <a:cxnLst/>
              <a:rect r="r" b="b" t="t" l="l"/>
              <a:pathLst>
                <a:path h="1038860" w="1730248">
                  <a:moveTo>
                    <a:pt x="0" y="124714"/>
                  </a:moveTo>
                  <a:cubicBezTo>
                    <a:pt x="0" y="55753"/>
                    <a:pt x="55753" y="0"/>
                    <a:pt x="124714" y="0"/>
                  </a:cubicBezTo>
                  <a:lnTo>
                    <a:pt x="1605534" y="0"/>
                  </a:lnTo>
                  <a:cubicBezTo>
                    <a:pt x="1674368" y="0"/>
                    <a:pt x="1730248" y="55753"/>
                    <a:pt x="1730248" y="124714"/>
                  </a:cubicBezTo>
                  <a:lnTo>
                    <a:pt x="1730248" y="914146"/>
                  </a:lnTo>
                  <a:cubicBezTo>
                    <a:pt x="1730248" y="982980"/>
                    <a:pt x="1674495" y="1038860"/>
                    <a:pt x="1605534" y="1038860"/>
                  </a:cubicBezTo>
                  <a:lnTo>
                    <a:pt x="124714" y="1038860"/>
                  </a:lnTo>
                  <a:cubicBezTo>
                    <a:pt x="55753" y="1038860"/>
                    <a:pt x="0" y="983107"/>
                    <a:pt x="0" y="914146"/>
                  </a:cubicBezTo>
                  <a:close/>
                </a:path>
              </a:pathLst>
            </a:custGeom>
            <a:solidFill>
              <a:srgbClr val="EFF6FF"/>
            </a:solidFill>
            <a:ln w="24765" cap="sq">
              <a:solidFill>
                <a:srgbClr val="0369A1"/>
              </a:solidFill>
              <a:prstDash val="solid"/>
              <a:miter/>
            </a:ln>
          </p:spPr>
          <p:txBody>
            <a:bodyPr/>
            <a:p/>
          </p:txBody>
        </p:sp>
        <p:sp>
          <p:nvSpPr>
            <p:cNvPr name="TextBox 56" id="56"/>
            <p:cNvSpPr txBox="true"/>
            <p:nvPr/>
          </p:nvSpPr>
          <p:spPr>
            <a:xfrm>
              <a:off x="0" y="0"/>
              <a:ext cx="1730146" cy="1038860"/>
            </a:xfrm>
            <a:prstGeom prst="rect">
              <a:avLst/>
            </a:prstGeom>
          </p:spPr>
          <p:txBody>
            <a:bodyPr anchor="ctr" rtlCol="false" tIns="50800" lIns="50800" bIns="50800" rIns="50800"/>
            <a:lstStyle/>
            <a:p>
              <a:pPr algn="ctr">
                <a:lnSpc>
                  <a:spcPts val="1620"/>
                </a:lnSpc>
              </a:pPr>
              <a:r>
                <a:rPr lang="en-US" sz="1350" b="true">
                  <a:solidFill>
                    <a:srgbClr val="0369A1"/>
                  </a:solidFill>
                  <a:latin typeface="DM Sans Bold"/>
                  <a:ea typeface="DM Sans Bold"/>
                  <a:cs typeface="DM Sans Bold"/>
                  <a:sym typeface="DM Sans Bold"/>
                </a:rPr>
                <a:t>1  </a:t>
              </a:r>
              <a:r>
                <a:rPr lang="en-US" sz="1350" b="true">
                  <a:solidFill>
                    <a:srgbClr val="0F172A"/>
                  </a:solidFill>
                  <a:latin typeface="DM Sans Bold"/>
                  <a:ea typeface="DM Sans Bold"/>
                  <a:cs typeface="DM Sans Bold"/>
                  <a:sym typeface="DM Sans Bold"/>
                </a:rPr>
                <a:t>Dressing is applied</a:t>
              </a:r>
            </a:p>
          </p:txBody>
        </p:sp>
      </p:grpSp>
      <p:grpSp>
        <p:nvGrpSpPr>
          <p:cNvPr name="Group 57" id="57"/>
          <p:cNvGrpSpPr/>
          <p:nvPr/>
        </p:nvGrpSpPr>
        <p:grpSpPr>
          <a:xfrm rot="0">
            <a:off x="1773555" y="4420743"/>
            <a:ext cx="1291895" cy="1733550"/>
            <a:chOff x="0" y="0"/>
            <a:chExt cx="1722526" cy="2311400"/>
          </a:xfrm>
        </p:grpSpPr>
        <p:sp>
          <p:nvSpPr>
            <p:cNvPr name="Freeform 58" id="58"/>
            <p:cNvSpPr/>
            <p:nvPr/>
          </p:nvSpPr>
          <p:spPr>
            <a:xfrm flipH="false" flipV="false" rot="0">
              <a:off x="0" y="0"/>
              <a:ext cx="1722628" cy="2311400"/>
            </a:xfrm>
            <a:custGeom>
              <a:avLst/>
              <a:gdLst/>
              <a:ahLst/>
              <a:cxnLst/>
              <a:rect r="r" b="b" t="t" l="l"/>
              <a:pathLst>
                <a:path h="2311400" w="1722628">
                  <a:moveTo>
                    <a:pt x="0" y="206756"/>
                  </a:moveTo>
                  <a:cubicBezTo>
                    <a:pt x="0" y="92583"/>
                    <a:pt x="92583" y="0"/>
                    <a:pt x="206756" y="0"/>
                  </a:cubicBezTo>
                  <a:lnTo>
                    <a:pt x="1515872" y="0"/>
                  </a:lnTo>
                  <a:cubicBezTo>
                    <a:pt x="1630045" y="0"/>
                    <a:pt x="1722628" y="92583"/>
                    <a:pt x="1722628" y="206756"/>
                  </a:cubicBezTo>
                  <a:lnTo>
                    <a:pt x="1722628" y="2104644"/>
                  </a:lnTo>
                  <a:cubicBezTo>
                    <a:pt x="1722628" y="2218817"/>
                    <a:pt x="1630045" y="2311400"/>
                    <a:pt x="1515872" y="2311400"/>
                  </a:cubicBezTo>
                  <a:lnTo>
                    <a:pt x="206756" y="2311400"/>
                  </a:lnTo>
                  <a:cubicBezTo>
                    <a:pt x="92583" y="2311400"/>
                    <a:pt x="0" y="2218817"/>
                    <a:pt x="0" y="2104644"/>
                  </a:cubicBezTo>
                  <a:close/>
                </a:path>
              </a:pathLst>
            </a:custGeom>
            <a:solidFill>
              <a:srgbClr val="FFFFFF"/>
            </a:solidFill>
            <a:ln w="19050" cap="sq">
              <a:solidFill>
                <a:srgbClr val="E2E8F0"/>
              </a:solidFill>
              <a:prstDash val="solid"/>
              <a:miter/>
            </a:ln>
          </p:spPr>
          <p:txBody>
            <a:bodyPr/>
            <a:p/>
          </p:txBody>
        </p:sp>
        <p:sp>
          <p:nvSpPr>
            <p:cNvPr name="TextBox 59" id="59"/>
            <p:cNvSpPr txBox="true"/>
            <p:nvPr/>
          </p:nvSpPr>
          <p:spPr>
            <a:xfrm>
              <a:off x="0" y="-9525"/>
              <a:ext cx="1722526" cy="2320925"/>
            </a:xfrm>
            <a:prstGeom prst="rect">
              <a:avLst/>
            </a:prstGeom>
          </p:spPr>
          <p:txBody>
            <a:bodyPr anchor="ctr" rtlCol="false" tIns="50800" lIns="50800" bIns="50800" rIns="50800"/>
            <a:lstStyle/>
            <a:p>
              <a:pPr algn="ctr">
                <a:lnSpc>
                  <a:spcPts val="1512"/>
                </a:lnSpc>
              </a:pPr>
              <a:r>
                <a:rPr lang="en-US" sz="1260">
                  <a:solidFill>
                    <a:srgbClr val="334155"/>
                  </a:solidFill>
                  <a:latin typeface="DM Sans"/>
                  <a:ea typeface="DM Sans"/>
                  <a:cs typeface="DM Sans"/>
                  <a:sym typeface="DM Sans"/>
                </a:rPr>
                <a:t>A foam dressing sits under a bandage or sock</a:t>
              </a:r>
            </a:p>
          </p:txBody>
        </p:sp>
      </p:grpSp>
      <p:grpSp>
        <p:nvGrpSpPr>
          <p:cNvPr name="Group 60" id="60"/>
          <p:cNvGrpSpPr/>
          <p:nvPr/>
        </p:nvGrpSpPr>
        <p:grpSpPr>
          <a:xfrm rot="0">
            <a:off x="1783080" y="6254496"/>
            <a:ext cx="1272845" cy="1440180"/>
            <a:chOff x="0" y="0"/>
            <a:chExt cx="1697126" cy="1920240"/>
          </a:xfrm>
        </p:grpSpPr>
        <p:sp>
          <p:nvSpPr>
            <p:cNvPr name="Freeform 61" id="61"/>
            <p:cNvSpPr/>
            <p:nvPr/>
          </p:nvSpPr>
          <p:spPr>
            <a:xfrm flipH="false" flipV="false" rot="0">
              <a:off x="0" y="0"/>
              <a:ext cx="1697228" cy="1920240"/>
            </a:xfrm>
            <a:custGeom>
              <a:avLst/>
              <a:gdLst/>
              <a:ahLst/>
              <a:cxnLst/>
              <a:rect r="r" b="b" t="t" l="l"/>
              <a:pathLst>
                <a:path h="1920240" w="1697228">
                  <a:moveTo>
                    <a:pt x="0" y="203708"/>
                  </a:moveTo>
                  <a:cubicBezTo>
                    <a:pt x="0" y="91186"/>
                    <a:pt x="91186" y="0"/>
                    <a:pt x="203708" y="0"/>
                  </a:cubicBezTo>
                  <a:lnTo>
                    <a:pt x="1493520" y="0"/>
                  </a:lnTo>
                  <a:cubicBezTo>
                    <a:pt x="1606042" y="0"/>
                    <a:pt x="1697228" y="91186"/>
                    <a:pt x="1697228" y="203708"/>
                  </a:cubicBezTo>
                  <a:lnTo>
                    <a:pt x="1697228" y="1716532"/>
                  </a:lnTo>
                  <a:cubicBezTo>
                    <a:pt x="1697228" y="1829054"/>
                    <a:pt x="1606042" y="1920240"/>
                    <a:pt x="1493520" y="1920240"/>
                  </a:cubicBezTo>
                  <a:lnTo>
                    <a:pt x="203708" y="1920240"/>
                  </a:lnTo>
                  <a:cubicBezTo>
                    <a:pt x="91186" y="1920240"/>
                    <a:pt x="0" y="1829054"/>
                    <a:pt x="0" y="1716532"/>
                  </a:cubicBezTo>
                  <a:close/>
                </a:path>
              </a:pathLst>
            </a:custGeom>
            <a:solidFill>
              <a:srgbClr val="EFF6FF"/>
            </a:solidFill>
          </p:spPr>
          <p:txBody>
            <a:bodyPr/>
            <a:p/>
          </p:txBody>
        </p:sp>
        <p:sp>
          <p:nvSpPr>
            <p:cNvPr name="TextBox 62" id="62"/>
            <p:cNvSpPr txBox="true"/>
            <p:nvPr/>
          </p:nvSpPr>
          <p:spPr>
            <a:xfrm>
              <a:off x="0" y="-9525"/>
              <a:ext cx="1697126" cy="1929765"/>
            </a:xfrm>
            <a:prstGeom prst="rect">
              <a:avLst/>
            </a:prstGeom>
          </p:spPr>
          <p:txBody>
            <a:bodyPr anchor="ctr" rtlCol="false" tIns="50800" lIns="50800" bIns="50800" rIns="50800"/>
            <a:lstStyle/>
            <a:p>
              <a:pPr algn="ctr">
                <a:lnSpc>
                  <a:spcPts val="1512"/>
                </a:lnSpc>
              </a:pPr>
              <a:r>
                <a:rPr lang="en-US" sz="1260" b="true">
                  <a:solidFill>
                    <a:srgbClr val="0369A1"/>
                  </a:solidFill>
                  <a:latin typeface="DM Sans Bold"/>
                  <a:ea typeface="DM Sans Bold"/>
                  <a:cs typeface="DM Sans Bold"/>
                  <a:sym typeface="DM Sans Bold"/>
                </a:rPr>
                <a:t>The change line is hidden under the cover</a:t>
              </a:r>
            </a:p>
          </p:txBody>
        </p:sp>
      </p:grpSp>
      <p:grpSp>
        <p:nvGrpSpPr>
          <p:cNvPr name="Group 63" id="63"/>
          <p:cNvGrpSpPr/>
          <p:nvPr/>
        </p:nvGrpSpPr>
        <p:grpSpPr>
          <a:xfrm rot="0">
            <a:off x="3028493" y="3806190"/>
            <a:ext cx="219456" cy="274320"/>
            <a:chOff x="0" y="0"/>
            <a:chExt cx="292608" cy="365760"/>
          </a:xfrm>
        </p:grpSpPr>
        <p:sp>
          <p:nvSpPr>
            <p:cNvPr name="Freeform 64" id="64"/>
            <p:cNvSpPr/>
            <p:nvPr/>
          </p:nvSpPr>
          <p:spPr>
            <a:xfrm flipH="false" flipV="false" rot="0">
              <a:off x="0" y="0"/>
              <a:ext cx="292608" cy="365760"/>
            </a:xfrm>
            <a:custGeom>
              <a:avLst/>
              <a:gdLst/>
              <a:ahLst/>
              <a:cxnLst/>
              <a:rect r="r" b="b" t="t" l="l"/>
              <a:pathLst>
                <a:path h="365760" w="292608">
                  <a:moveTo>
                    <a:pt x="0" y="91440"/>
                  </a:moveTo>
                  <a:lnTo>
                    <a:pt x="146304" y="91440"/>
                  </a:lnTo>
                  <a:lnTo>
                    <a:pt x="146304" y="0"/>
                  </a:lnTo>
                  <a:lnTo>
                    <a:pt x="292608" y="182880"/>
                  </a:lnTo>
                  <a:lnTo>
                    <a:pt x="146304" y="365760"/>
                  </a:lnTo>
                  <a:lnTo>
                    <a:pt x="146304" y="274320"/>
                  </a:lnTo>
                  <a:lnTo>
                    <a:pt x="0" y="274320"/>
                  </a:lnTo>
                  <a:close/>
                </a:path>
              </a:pathLst>
            </a:custGeom>
            <a:solidFill>
              <a:srgbClr val="94A3B8"/>
            </a:solidFill>
          </p:spPr>
          <p:txBody>
            <a:bodyPr/>
            <a:p/>
          </p:txBody>
        </p:sp>
      </p:grpSp>
      <p:grpSp>
        <p:nvGrpSpPr>
          <p:cNvPr name="Group 65" id="65"/>
          <p:cNvGrpSpPr/>
          <p:nvPr/>
        </p:nvGrpSpPr>
        <p:grpSpPr>
          <a:xfrm rot="0">
            <a:off x="3208134" y="3553778"/>
            <a:ext cx="1297610" cy="779145"/>
            <a:chOff x="0" y="0"/>
            <a:chExt cx="1730146" cy="1038860"/>
          </a:xfrm>
        </p:grpSpPr>
        <p:sp>
          <p:nvSpPr>
            <p:cNvPr name="Freeform 66" id="66"/>
            <p:cNvSpPr/>
            <p:nvPr/>
          </p:nvSpPr>
          <p:spPr>
            <a:xfrm flipH="false" flipV="false" rot="0">
              <a:off x="0" y="0"/>
              <a:ext cx="1730248" cy="1038860"/>
            </a:xfrm>
            <a:custGeom>
              <a:avLst/>
              <a:gdLst/>
              <a:ahLst/>
              <a:cxnLst/>
              <a:rect r="r" b="b" t="t" l="l"/>
              <a:pathLst>
                <a:path h="1038860" w="1730248">
                  <a:moveTo>
                    <a:pt x="0" y="124714"/>
                  </a:moveTo>
                  <a:cubicBezTo>
                    <a:pt x="0" y="55753"/>
                    <a:pt x="55753" y="0"/>
                    <a:pt x="124714" y="0"/>
                  </a:cubicBezTo>
                  <a:lnTo>
                    <a:pt x="1605534" y="0"/>
                  </a:lnTo>
                  <a:cubicBezTo>
                    <a:pt x="1674368" y="0"/>
                    <a:pt x="1730248" y="55753"/>
                    <a:pt x="1730248" y="124714"/>
                  </a:cubicBezTo>
                  <a:lnTo>
                    <a:pt x="1730248" y="914146"/>
                  </a:lnTo>
                  <a:cubicBezTo>
                    <a:pt x="1730248" y="982980"/>
                    <a:pt x="1674495" y="1038860"/>
                    <a:pt x="1605534" y="1038860"/>
                  </a:cubicBezTo>
                  <a:lnTo>
                    <a:pt x="124714" y="1038860"/>
                  </a:lnTo>
                  <a:cubicBezTo>
                    <a:pt x="55753" y="1038860"/>
                    <a:pt x="0" y="983107"/>
                    <a:pt x="0" y="914146"/>
                  </a:cubicBezTo>
                  <a:close/>
                </a:path>
              </a:pathLst>
            </a:custGeom>
            <a:solidFill>
              <a:srgbClr val="FEF2F2"/>
            </a:solidFill>
            <a:ln w="24765" cap="sq">
              <a:solidFill>
                <a:srgbClr val="DC2626"/>
              </a:solidFill>
              <a:prstDash val="solid"/>
              <a:miter/>
            </a:ln>
          </p:spPr>
          <p:txBody>
            <a:bodyPr/>
            <a:p/>
          </p:txBody>
        </p:sp>
        <p:sp>
          <p:nvSpPr>
            <p:cNvPr name="TextBox 67" id="67"/>
            <p:cNvSpPr txBox="true"/>
            <p:nvPr/>
          </p:nvSpPr>
          <p:spPr>
            <a:xfrm>
              <a:off x="0" y="0"/>
              <a:ext cx="1730146" cy="1038860"/>
            </a:xfrm>
            <a:prstGeom prst="rect">
              <a:avLst/>
            </a:prstGeom>
          </p:spPr>
          <p:txBody>
            <a:bodyPr anchor="ctr" rtlCol="false" tIns="50800" lIns="50800" bIns="50800" rIns="50800"/>
            <a:lstStyle/>
            <a:p>
              <a:pPr algn="ctr">
                <a:lnSpc>
                  <a:spcPts val="1620"/>
                </a:lnSpc>
              </a:pPr>
              <a:r>
                <a:rPr lang="en-US" sz="1350" b="true">
                  <a:solidFill>
                    <a:srgbClr val="DC2626"/>
                  </a:solidFill>
                  <a:latin typeface="DM Sans Bold"/>
                  <a:ea typeface="DM Sans Bold"/>
                  <a:cs typeface="DM Sans Bold"/>
                  <a:sym typeface="DM Sans Bold"/>
                </a:rPr>
                <a:t>2  </a:t>
              </a:r>
              <a:r>
                <a:rPr lang="en-US" sz="1350" b="true">
                  <a:solidFill>
                    <a:srgbClr val="0F172A"/>
                  </a:solidFill>
                  <a:latin typeface="DM Sans Bold"/>
                  <a:ea typeface="DM Sans Bold"/>
                  <a:cs typeface="DM Sans Bold"/>
                  <a:sym typeface="DM Sans Bold"/>
                </a:rPr>
                <a:t>Dressing fills over time</a:t>
              </a:r>
            </a:p>
          </p:txBody>
        </p:sp>
      </p:grpSp>
      <p:grpSp>
        <p:nvGrpSpPr>
          <p:cNvPr name="Group 68" id="68"/>
          <p:cNvGrpSpPr/>
          <p:nvPr/>
        </p:nvGrpSpPr>
        <p:grpSpPr>
          <a:xfrm rot="0">
            <a:off x="3210992" y="4420743"/>
            <a:ext cx="1291895" cy="1733550"/>
            <a:chOff x="0" y="0"/>
            <a:chExt cx="1722526" cy="2311400"/>
          </a:xfrm>
        </p:grpSpPr>
        <p:sp>
          <p:nvSpPr>
            <p:cNvPr name="Freeform 69" id="69"/>
            <p:cNvSpPr/>
            <p:nvPr/>
          </p:nvSpPr>
          <p:spPr>
            <a:xfrm flipH="false" flipV="false" rot="0">
              <a:off x="0" y="0"/>
              <a:ext cx="1722628" cy="2311400"/>
            </a:xfrm>
            <a:custGeom>
              <a:avLst/>
              <a:gdLst/>
              <a:ahLst/>
              <a:cxnLst/>
              <a:rect r="r" b="b" t="t" l="l"/>
              <a:pathLst>
                <a:path h="2311400" w="1722628">
                  <a:moveTo>
                    <a:pt x="0" y="206756"/>
                  </a:moveTo>
                  <a:cubicBezTo>
                    <a:pt x="0" y="92583"/>
                    <a:pt x="92583" y="0"/>
                    <a:pt x="206756" y="0"/>
                  </a:cubicBezTo>
                  <a:lnTo>
                    <a:pt x="1515872" y="0"/>
                  </a:lnTo>
                  <a:cubicBezTo>
                    <a:pt x="1630045" y="0"/>
                    <a:pt x="1722628" y="92583"/>
                    <a:pt x="1722628" y="206756"/>
                  </a:cubicBezTo>
                  <a:lnTo>
                    <a:pt x="1722628" y="2104644"/>
                  </a:lnTo>
                  <a:cubicBezTo>
                    <a:pt x="1722628" y="2218817"/>
                    <a:pt x="1630045" y="2311400"/>
                    <a:pt x="1515872" y="2311400"/>
                  </a:cubicBezTo>
                  <a:lnTo>
                    <a:pt x="206756" y="2311400"/>
                  </a:lnTo>
                  <a:cubicBezTo>
                    <a:pt x="92583" y="2311400"/>
                    <a:pt x="0" y="2218817"/>
                    <a:pt x="0" y="2104644"/>
                  </a:cubicBezTo>
                  <a:close/>
                </a:path>
              </a:pathLst>
            </a:custGeom>
            <a:solidFill>
              <a:srgbClr val="FFFFFF"/>
            </a:solidFill>
            <a:ln w="19050" cap="sq">
              <a:solidFill>
                <a:srgbClr val="E2E8F0"/>
              </a:solidFill>
              <a:prstDash val="solid"/>
              <a:miter/>
            </a:ln>
          </p:spPr>
          <p:txBody>
            <a:bodyPr/>
            <a:p/>
          </p:txBody>
        </p:sp>
        <p:sp>
          <p:nvSpPr>
            <p:cNvPr name="TextBox 70" id="70"/>
            <p:cNvSpPr txBox="true"/>
            <p:nvPr/>
          </p:nvSpPr>
          <p:spPr>
            <a:xfrm>
              <a:off x="0" y="-9525"/>
              <a:ext cx="1722526" cy="2320925"/>
            </a:xfrm>
            <a:prstGeom prst="rect">
              <a:avLst/>
            </a:prstGeom>
          </p:spPr>
          <p:txBody>
            <a:bodyPr anchor="ctr" rtlCol="false" tIns="50800" lIns="50800" bIns="50800" rIns="50800"/>
            <a:lstStyle/>
            <a:p>
              <a:pPr algn="ctr">
                <a:lnSpc>
                  <a:spcPts val="1512"/>
                </a:lnSpc>
              </a:pPr>
              <a:r>
                <a:rPr lang="en-US" sz="1260">
                  <a:solidFill>
                    <a:srgbClr val="334155"/>
                  </a:solidFill>
                  <a:latin typeface="DM Sans"/>
                  <a:ea typeface="DM Sans"/>
                  <a:cs typeface="DM Sans"/>
                  <a:sym typeface="DM Sans"/>
                </a:rPr>
                <a:t>Fluid builds up beneath the cover</a:t>
              </a:r>
            </a:p>
          </p:txBody>
        </p:sp>
      </p:grpSp>
      <p:grpSp>
        <p:nvGrpSpPr>
          <p:cNvPr name="Group 71" id="71"/>
          <p:cNvGrpSpPr/>
          <p:nvPr/>
        </p:nvGrpSpPr>
        <p:grpSpPr>
          <a:xfrm rot="0">
            <a:off x="3220517" y="6254496"/>
            <a:ext cx="1272845" cy="1440180"/>
            <a:chOff x="0" y="0"/>
            <a:chExt cx="1697126" cy="1920240"/>
          </a:xfrm>
        </p:grpSpPr>
        <p:sp>
          <p:nvSpPr>
            <p:cNvPr name="Freeform 72" id="72"/>
            <p:cNvSpPr/>
            <p:nvPr/>
          </p:nvSpPr>
          <p:spPr>
            <a:xfrm flipH="false" flipV="false" rot="0">
              <a:off x="0" y="0"/>
              <a:ext cx="1697228" cy="1920240"/>
            </a:xfrm>
            <a:custGeom>
              <a:avLst/>
              <a:gdLst/>
              <a:ahLst/>
              <a:cxnLst/>
              <a:rect r="r" b="b" t="t" l="l"/>
              <a:pathLst>
                <a:path h="1920240" w="1697228">
                  <a:moveTo>
                    <a:pt x="0" y="203708"/>
                  </a:moveTo>
                  <a:cubicBezTo>
                    <a:pt x="0" y="91186"/>
                    <a:pt x="91186" y="0"/>
                    <a:pt x="203708" y="0"/>
                  </a:cubicBezTo>
                  <a:lnTo>
                    <a:pt x="1493520" y="0"/>
                  </a:lnTo>
                  <a:cubicBezTo>
                    <a:pt x="1606042" y="0"/>
                    <a:pt x="1697228" y="91186"/>
                    <a:pt x="1697228" y="203708"/>
                  </a:cubicBezTo>
                  <a:lnTo>
                    <a:pt x="1697228" y="1716532"/>
                  </a:lnTo>
                  <a:cubicBezTo>
                    <a:pt x="1697228" y="1829054"/>
                    <a:pt x="1606042" y="1920240"/>
                    <a:pt x="1493520" y="1920240"/>
                  </a:cubicBezTo>
                  <a:lnTo>
                    <a:pt x="203708" y="1920240"/>
                  </a:lnTo>
                  <a:cubicBezTo>
                    <a:pt x="91186" y="1920240"/>
                    <a:pt x="0" y="1829054"/>
                    <a:pt x="0" y="1716532"/>
                  </a:cubicBezTo>
                  <a:close/>
                </a:path>
              </a:pathLst>
            </a:custGeom>
            <a:solidFill>
              <a:srgbClr val="FEF2F2"/>
            </a:solidFill>
          </p:spPr>
          <p:txBody>
            <a:bodyPr/>
            <a:p/>
          </p:txBody>
        </p:sp>
        <p:sp>
          <p:nvSpPr>
            <p:cNvPr name="TextBox 73" id="73"/>
            <p:cNvSpPr txBox="true"/>
            <p:nvPr/>
          </p:nvSpPr>
          <p:spPr>
            <a:xfrm>
              <a:off x="0" y="-9525"/>
              <a:ext cx="1697126" cy="1929765"/>
            </a:xfrm>
            <a:prstGeom prst="rect">
              <a:avLst/>
            </a:prstGeom>
          </p:spPr>
          <p:txBody>
            <a:bodyPr anchor="ctr" rtlCol="false" tIns="50800" lIns="50800" bIns="50800" rIns="50800"/>
            <a:lstStyle/>
            <a:p>
              <a:pPr algn="ctr">
                <a:lnSpc>
                  <a:spcPts val="1512"/>
                </a:lnSpc>
              </a:pPr>
              <a:r>
                <a:rPr lang="en-US" sz="1260" b="true">
                  <a:solidFill>
                    <a:srgbClr val="B91C1C"/>
                  </a:solidFill>
                  <a:latin typeface="DM Sans Bold"/>
                  <a:ea typeface="DM Sans Bold"/>
                  <a:cs typeface="DM Sans Bold"/>
                  <a:sym typeface="DM Sans Bold"/>
                </a:rPr>
                <a:t>There is no clear signal</a:t>
              </a:r>
            </a:p>
          </p:txBody>
        </p:sp>
      </p:grpSp>
      <p:grpSp>
        <p:nvGrpSpPr>
          <p:cNvPr name="Group 74" id="74"/>
          <p:cNvGrpSpPr/>
          <p:nvPr/>
        </p:nvGrpSpPr>
        <p:grpSpPr>
          <a:xfrm rot="0">
            <a:off x="4465930" y="3806190"/>
            <a:ext cx="219456" cy="274320"/>
            <a:chOff x="0" y="0"/>
            <a:chExt cx="292608" cy="365760"/>
          </a:xfrm>
        </p:grpSpPr>
        <p:sp>
          <p:nvSpPr>
            <p:cNvPr name="Freeform 75" id="75"/>
            <p:cNvSpPr/>
            <p:nvPr/>
          </p:nvSpPr>
          <p:spPr>
            <a:xfrm flipH="false" flipV="false" rot="0">
              <a:off x="0" y="0"/>
              <a:ext cx="292608" cy="365760"/>
            </a:xfrm>
            <a:custGeom>
              <a:avLst/>
              <a:gdLst/>
              <a:ahLst/>
              <a:cxnLst/>
              <a:rect r="r" b="b" t="t" l="l"/>
              <a:pathLst>
                <a:path h="365760" w="292608">
                  <a:moveTo>
                    <a:pt x="0" y="91440"/>
                  </a:moveTo>
                  <a:lnTo>
                    <a:pt x="146304" y="91440"/>
                  </a:lnTo>
                  <a:lnTo>
                    <a:pt x="146304" y="0"/>
                  </a:lnTo>
                  <a:lnTo>
                    <a:pt x="292608" y="182880"/>
                  </a:lnTo>
                  <a:lnTo>
                    <a:pt x="146304" y="365760"/>
                  </a:lnTo>
                  <a:lnTo>
                    <a:pt x="146304" y="274320"/>
                  </a:lnTo>
                  <a:lnTo>
                    <a:pt x="0" y="274320"/>
                  </a:lnTo>
                  <a:close/>
                </a:path>
              </a:pathLst>
            </a:custGeom>
            <a:solidFill>
              <a:srgbClr val="94A3B8"/>
            </a:solidFill>
          </p:spPr>
          <p:txBody>
            <a:bodyPr/>
            <a:p/>
          </p:txBody>
        </p:sp>
      </p:grpSp>
      <p:grpSp>
        <p:nvGrpSpPr>
          <p:cNvPr name="Group 76" id="76"/>
          <p:cNvGrpSpPr/>
          <p:nvPr/>
        </p:nvGrpSpPr>
        <p:grpSpPr>
          <a:xfrm rot="0">
            <a:off x="4645571" y="3553778"/>
            <a:ext cx="1297610" cy="779145"/>
            <a:chOff x="0" y="0"/>
            <a:chExt cx="1730146" cy="1038860"/>
          </a:xfrm>
        </p:grpSpPr>
        <p:sp>
          <p:nvSpPr>
            <p:cNvPr name="Freeform 77" id="77"/>
            <p:cNvSpPr/>
            <p:nvPr/>
          </p:nvSpPr>
          <p:spPr>
            <a:xfrm flipH="false" flipV="false" rot="0">
              <a:off x="0" y="0"/>
              <a:ext cx="1730248" cy="1038860"/>
            </a:xfrm>
            <a:custGeom>
              <a:avLst/>
              <a:gdLst/>
              <a:ahLst/>
              <a:cxnLst/>
              <a:rect r="r" b="b" t="t" l="l"/>
              <a:pathLst>
                <a:path h="1038860" w="1730248">
                  <a:moveTo>
                    <a:pt x="0" y="124714"/>
                  </a:moveTo>
                  <a:cubicBezTo>
                    <a:pt x="0" y="55753"/>
                    <a:pt x="55753" y="0"/>
                    <a:pt x="124714" y="0"/>
                  </a:cubicBezTo>
                  <a:lnTo>
                    <a:pt x="1605534" y="0"/>
                  </a:lnTo>
                  <a:cubicBezTo>
                    <a:pt x="1674368" y="0"/>
                    <a:pt x="1730248" y="55753"/>
                    <a:pt x="1730248" y="124714"/>
                  </a:cubicBezTo>
                  <a:lnTo>
                    <a:pt x="1730248" y="914146"/>
                  </a:lnTo>
                  <a:cubicBezTo>
                    <a:pt x="1730248" y="982980"/>
                    <a:pt x="1674495" y="1038860"/>
                    <a:pt x="1605534" y="1038860"/>
                  </a:cubicBezTo>
                  <a:lnTo>
                    <a:pt x="124714" y="1038860"/>
                  </a:lnTo>
                  <a:cubicBezTo>
                    <a:pt x="55753" y="1038860"/>
                    <a:pt x="0" y="983107"/>
                    <a:pt x="0" y="914146"/>
                  </a:cubicBezTo>
                  <a:close/>
                </a:path>
              </a:pathLst>
            </a:custGeom>
            <a:solidFill>
              <a:srgbClr val="FEF2F2"/>
            </a:solidFill>
            <a:ln w="24765" cap="sq">
              <a:solidFill>
                <a:srgbClr val="DC2626"/>
              </a:solidFill>
              <a:prstDash val="solid"/>
              <a:miter/>
            </a:ln>
          </p:spPr>
          <p:txBody>
            <a:bodyPr/>
            <a:p/>
          </p:txBody>
        </p:sp>
        <p:sp>
          <p:nvSpPr>
            <p:cNvPr name="TextBox 78" id="78"/>
            <p:cNvSpPr txBox="true"/>
            <p:nvPr/>
          </p:nvSpPr>
          <p:spPr>
            <a:xfrm>
              <a:off x="0" y="0"/>
              <a:ext cx="1730146" cy="1038860"/>
            </a:xfrm>
            <a:prstGeom prst="rect">
              <a:avLst/>
            </a:prstGeom>
          </p:spPr>
          <p:txBody>
            <a:bodyPr anchor="ctr" rtlCol="false" tIns="50800" lIns="50800" bIns="50800" rIns="50800"/>
            <a:lstStyle/>
            <a:p>
              <a:pPr algn="ctr">
                <a:lnSpc>
                  <a:spcPts val="1620"/>
                </a:lnSpc>
              </a:pPr>
              <a:r>
                <a:rPr lang="en-US" sz="1350" b="true">
                  <a:solidFill>
                    <a:srgbClr val="DC2626"/>
                  </a:solidFill>
                  <a:latin typeface="DM Sans Bold"/>
                  <a:ea typeface="DM Sans Bold"/>
                  <a:cs typeface="DM Sans Bold"/>
                  <a:sym typeface="DM Sans Bold"/>
                </a:rPr>
                <a:t>3  </a:t>
              </a:r>
              <a:r>
                <a:rPr lang="en-US" sz="1350" b="true">
                  <a:solidFill>
                    <a:srgbClr val="0F172A"/>
                  </a:solidFill>
                  <a:latin typeface="DM Sans Bold"/>
                  <a:ea typeface="DM Sans Bold"/>
                  <a:cs typeface="DM Sans Bold"/>
                  <a:sym typeface="DM Sans Bold"/>
                </a:rPr>
                <a:t>Carer decides</a:t>
              </a:r>
            </a:p>
          </p:txBody>
        </p:sp>
      </p:grpSp>
      <p:grpSp>
        <p:nvGrpSpPr>
          <p:cNvPr name="Group 79" id="79"/>
          <p:cNvGrpSpPr/>
          <p:nvPr/>
        </p:nvGrpSpPr>
        <p:grpSpPr>
          <a:xfrm rot="0">
            <a:off x="4648429" y="4420743"/>
            <a:ext cx="1291895" cy="1733550"/>
            <a:chOff x="0" y="0"/>
            <a:chExt cx="1722526" cy="2311400"/>
          </a:xfrm>
        </p:grpSpPr>
        <p:sp>
          <p:nvSpPr>
            <p:cNvPr name="Freeform 80" id="80"/>
            <p:cNvSpPr/>
            <p:nvPr/>
          </p:nvSpPr>
          <p:spPr>
            <a:xfrm flipH="false" flipV="false" rot="0">
              <a:off x="0" y="0"/>
              <a:ext cx="1722628" cy="2311400"/>
            </a:xfrm>
            <a:custGeom>
              <a:avLst/>
              <a:gdLst/>
              <a:ahLst/>
              <a:cxnLst/>
              <a:rect r="r" b="b" t="t" l="l"/>
              <a:pathLst>
                <a:path h="2311400" w="1722628">
                  <a:moveTo>
                    <a:pt x="0" y="206756"/>
                  </a:moveTo>
                  <a:cubicBezTo>
                    <a:pt x="0" y="92583"/>
                    <a:pt x="92583" y="0"/>
                    <a:pt x="206756" y="0"/>
                  </a:cubicBezTo>
                  <a:lnTo>
                    <a:pt x="1515872" y="0"/>
                  </a:lnTo>
                  <a:cubicBezTo>
                    <a:pt x="1630045" y="0"/>
                    <a:pt x="1722628" y="92583"/>
                    <a:pt x="1722628" y="206756"/>
                  </a:cubicBezTo>
                  <a:lnTo>
                    <a:pt x="1722628" y="2104644"/>
                  </a:lnTo>
                  <a:cubicBezTo>
                    <a:pt x="1722628" y="2218817"/>
                    <a:pt x="1630045" y="2311400"/>
                    <a:pt x="1515872" y="2311400"/>
                  </a:cubicBezTo>
                  <a:lnTo>
                    <a:pt x="206756" y="2311400"/>
                  </a:lnTo>
                  <a:cubicBezTo>
                    <a:pt x="92583" y="2311400"/>
                    <a:pt x="0" y="2218817"/>
                    <a:pt x="0" y="2104644"/>
                  </a:cubicBezTo>
                  <a:close/>
                </a:path>
              </a:pathLst>
            </a:custGeom>
            <a:solidFill>
              <a:srgbClr val="FFFFFF"/>
            </a:solidFill>
            <a:ln w="19050" cap="sq">
              <a:solidFill>
                <a:srgbClr val="E2E8F0"/>
              </a:solidFill>
              <a:prstDash val="solid"/>
              <a:miter/>
            </a:ln>
          </p:spPr>
          <p:txBody>
            <a:bodyPr/>
            <a:p/>
          </p:txBody>
        </p:sp>
        <p:sp>
          <p:nvSpPr>
            <p:cNvPr name="TextBox 81" id="81"/>
            <p:cNvSpPr txBox="true"/>
            <p:nvPr/>
          </p:nvSpPr>
          <p:spPr>
            <a:xfrm>
              <a:off x="0" y="-9525"/>
              <a:ext cx="1722526" cy="2320925"/>
            </a:xfrm>
            <a:prstGeom prst="rect">
              <a:avLst/>
            </a:prstGeom>
          </p:spPr>
          <p:txBody>
            <a:bodyPr anchor="ctr" rtlCol="false" tIns="50800" lIns="50800" bIns="50800" rIns="50800"/>
            <a:lstStyle/>
            <a:p>
              <a:pPr algn="ctr">
                <a:lnSpc>
                  <a:spcPts val="1512"/>
                </a:lnSpc>
              </a:pPr>
              <a:r>
                <a:rPr lang="en-US" sz="1260">
                  <a:solidFill>
                    <a:srgbClr val="334155"/>
                  </a:solidFill>
                  <a:latin typeface="DM Sans"/>
                  <a:ea typeface="DM Sans"/>
                  <a:cs typeface="DM Sans"/>
                  <a:sym typeface="DM Sans"/>
                </a:rPr>
                <a:t>Follow a schedule, take a look, or wait for leakage</a:t>
              </a:r>
            </a:p>
          </p:txBody>
        </p:sp>
      </p:grpSp>
      <p:grpSp>
        <p:nvGrpSpPr>
          <p:cNvPr name="Group 82" id="82"/>
          <p:cNvGrpSpPr/>
          <p:nvPr/>
        </p:nvGrpSpPr>
        <p:grpSpPr>
          <a:xfrm rot="0">
            <a:off x="4657954" y="6254496"/>
            <a:ext cx="1272845" cy="1440180"/>
            <a:chOff x="0" y="0"/>
            <a:chExt cx="1697126" cy="1920240"/>
          </a:xfrm>
        </p:grpSpPr>
        <p:sp>
          <p:nvSpPr>
            <p:cNvPr name="Freeform 83" id="83"/>
            <p:cNvSpPr/>
            <p:nvPr/>
          </p:nvSpPr>
          <p:spPr>
            <a:xfrm flipH="false" flipV="false" rot="0">
              <a:off x="0" y="0"/>
              <a:ext cx="1697228" cy="1920240"/>
            </a:xfrm>
            <a:custGeom>
              <a:avLst/>
              <a:gdLst/>
              <a:ahLst/>
              <a:cxnLst/>
              <a:rect r="r" b="b" t="t" l="l"/>
              <a:pathLst>
                <a:path h="1920240" w="1697228">
                  <a:moveTo>
                    <a:pt x="0" y="203708"/>
                  </a:moveTo>
                  <a:cubicBezTo>
                    <a:pt x="0" y="91186"/>
                    <a:pt x="91186" y="0"/>
                    <a:pt x="203708" y="0"/>
                  </a:cubicBezTo>
                  <a:lnTo>
                    <a:pt x="1493520" y="0"/>
                  </a:lnTo>
                  <a:cubicBezTo>
                    <a:pt x="1606042" y="0"/>
                    <a:pt x="1697228" y="91186"/>
                    <a:pt x="1697228" y="203708"/>
                  </a:cubicBezTo>
                  <a:lnTo>
                    <a:pt x="1697228" y="1716532"/>
                  </a:lnTo>
                  <a:cubicBezTo>
                    <a:pt x="1697228" y="1829054"/>
                    <a:pt x="1606042" y="1920240"/>
                    <a:pt x="1493520" y="1920240"/>
                  </a:cubicBezTo>
                  <a:lnTo>
                    <a:pt x="203708" y="1920240"/>
                  </a:lnTo>
                  <a:cubicBezTo>
                    <a:pt x="91186" y="1920240"/>
                    <a:pt x="0" y="1829054"/>
                    <a:pt x="0" y="1716532"/>
                  </a:cubicBezTo>
                  <a:close/>
                </a:path>
              </a:pathLst>
            </a:custGeom>
            <a:solidFill>
              <a:srgbClr val="FEF2F2"/>
            </a:solidFill>
          </p:spPr>
          <p:txBody>
            <a:bodyPr/>
            <a:p/>
          </p:txBody>
        </p:sp>
        <p:sp>
          <p:nvSpPr>
            <p:cNvPr name="TextBox 84" id="84"/>
            <p:cNvSpPr txBox="true"/>
            <p:nvPr/>
          </p:nvSpPr>
          <p:spPr>
            <a:xfrm>
              <a:off x="0" y="-9525"/>
              <a:ext cx="1697126" cy="1929765"/>
            </a:xfrm>
            <a:prstGeom prst="rect">
              <a:avLst/>
            </a:prstGeom>
          </p:spPr>
          <p:txBody>
            <a:bodyPr anchor="ctr" rtlCol="false" tIns="50800" lIns="50800" bIns="50800" rIns="50800"/>
            <a:lstStyle/>
            <a:p>
              <a:pPr algn="ctr">
                <a:lnSpc>
                  <a:spcPts val="1512"/>
                </a:lnSpc>
              </a:pPr>
              <a:r>
                <a:rPr lang="en-US" sz="1260" b="true">
                  <a:solidFill>
                    <a:srgbClr val="B91C1C"/>
                  </a:solidFill>
                  <a:latin typeface="DM Sans Bold"/>
                  <a:ea typeface="DM Sans Bold"/>
                  <a:cs typeface="DM Sans Bold"/>
                  <a:sym typeface="DM Sans Bold"/>
                </a:rPr>
                <a:t>The decision is uncertain</a:t>
              </a:r>
            </a:p>
          </p:txBody>
        </p:sp>
      </p:grpSp>
      <p:grpSp>
        <p:nvGrpSpPr>
          <p:cNvPr name="Group 85" id="85"/>
          <p:cNvGrpSpPr/>
          <p:nvPr/>
        </p:nvGrpSpPr>
        <p:grpSpPr>
          <a:xfrm rot="0">
            <a:off x="5903366" y="3806190"/>
            <a:ext cx="219456" cy="274320"/>
            <a:chOff x="0" y="0"/>
            <a:chExt cx="292608" cy="365760"/>
          </a:xfrm>
        </p:grpSpPr>
        <p:sp>
          <p:nvSpPr>
            <p:cNvPr name="Freeform 86" id="86"/>
            <p:cNvSpPr/>
            <p:nvPr/>
          </p:nvSpPr>
          <p:spPr>
            <a:xfrm flipH="false" flipV="false" rot="0">
              <a:off x="0" y="0"/>
              <a:ext cx="292608" cy="365760"/>
            </a:xfrm>
            <a:custGeom>
              <a:avLst/>
              <a:gdLst/>
              <a:ahLst/>
              <a:cxnLst/>
              <a:rect r="r" b="b" t="t" l="l"/>
              <a:pathLst>
                <a:path h="365760" w="292608">
                  <a:moveTo>
                    <a:pt x="0" y="91440"/>
                  </a:moveTo>
                  <a:lnTo>
                    <a:pt x="146304" y="91440"/>
                  </a:lnTo>
                  <a:lnTo>
                    <a:pt x="146304" y="0"/>
                  </a:lnTo>
                  <a:lnTo>
                    <a:pt x="292608" y="182880"/>
                  </a:lnTo>
                  <a:lnTo>
                    <a:pt x="146304" y="365760"/>
                  </a:lnTo>
                  <a:lnTo>
                    <a:pt x="146304" y="274320"/>
                  </a:lnTo>
                  <a:lnTo>
                    <a:pt x="0" y="274320"/>
                  </a:lnTo>
                  <a:close/>
                </a:path>
              </a:pathLst>
            </a:custGeom>
            <a:solidFill>
              <a:srgbClr val="94A3B8"/>
            </a:solidFill>
          </p:spPr>
          <p:txBody>
            <a:bodyPr/>
            <a:p/>
          </p:txBody>
        </p:sp>
      </p:grpSp>
      <p:grpSp>
        <p:nvGrpSpPr>
          <p:cNvPr name="Group 87" id="87"/>
          <p:cNvGrpSpPr/>
          <p:nvPr/>
        </p:nvGrpSpPr>
        <p:grpSpPr>
          <a:xfrm rot="0">
            <a:off x="6083008" y="3553778"/>
            <a:ext cx="1297610" cy="779145"/>
            <a:chOff x="0" y="0"/>
            <a:chExt cx="1730146" cy="1038860"/>
          </a:xfrm>
        </p:grpSpPr>
        <p:sp>
          <p:nvSpPr>
            <p:cNvPr name="Freeform 88" id="88"/>
            <p:cNvSpPr/>
            <p:nvPr/>
          </p:nvSpPr>
          <p:spPr>
            <a:xfrm flipH="false" flipV="false" rot="0">
              <a:off x="0" y="0"/>
              <a:ext cx="1730248" cy="1038860"/>
            </a:xfrm>
            <a:custGeom>
              <a:avLst/>
              <a:gdLst/>
              <a:ahLst/>
              <a:cxnLst/>
              <a:rect r="r" b="b" t="t" l="l"/>
              <a:pathLst>
                <a:path h="1038860" w="1730248">
                  <a:moveTo>
                    <a:pt x="0" y="124714"/>
                  </a:moveTo>
                  <a:cubicBezTo>
                    <a:pt x="0" y="55753"/>
                    <a:pt x="55753" y="0"/>
                    <a:pt x="124714" y="0"/>
                  </a:cubicBezTo>
                  <a:lnTo>
                    <a:pt x="1605534" y="0"/>
                  </a:lnTo>
                  <a:cubicBezTo>
                    <a:pt x="1674368" y="0"/>
                    <a:pt x="1730248" y="55753"/>
                    <a:pt x="1730248" y="124714"/>
                  </a:cubicBezTo>
                  <a:lnTo>
                    <a:pt x="1730248" y="914146"/>
                  </a:lnTo>
                  <a:cubicBezTo>
                    <a:pt x="1730248" y="982980"/>
                    <a:pt x="1674495" y="1038860"/>
                    <a:pt x="1605534" y="1038860"/>
                  </a:cubicBezTo>
                  <a:lnTo>
                    <a:pt x="124714" y="1038860"/>
                  </a:lnTo>
                  <a:cubicBezTo>
                    <a:pt x="55753" y="1038860"/>
                    <a:pt x="0" y="983107"/>
                    <a:pt x="0" y="914146"/>
                  </a:cubicBezTo>
                  <a:close/>
                </a:path>
              </a:pathLst>
            </a:custGeom>
            <a:solidFill>
              <a:srgbClr val="FEF2F2"/>
            </a:solidFill>
            <a:ln w="24765" cap="sq">
              <a:solidFill>
                <a:srgbClr val="DC2626"/>
              </a:solidFill>
              <a:prstDash val="solid"/>
              <a:miter/>
            </a:ln>
          </p:spPr>
          <p:txBody>
            <a:bodyPr/>
            <a:p/>
          </p:txBody>
        </p:sp>
        <p:sp>
          <p:nvSpPr>
            <p:cNvPr name="TextBox 89" id="89"/>
            <p:cNvSpPr txBox="true"/>
            <p:nvPr/>
          </p:nvSpPr>
          <p:spPr>
            <a:xfrm>
              <a:off x="0" y="0"/>
              <a:ext cx="1730146" cy="1038860"/>
            </a:xfrm>
            <a:prstGeom prst="rect">
              <a:avLst/>
            </a:prstGeom>
          </p:spPr>
          <p:txBody>
            <a:bodyPr anchor="ctr" rtlCol="false" tIns="50800" lIns="50800" bIns="50800" rIns="50800"/>
            <a:lstStyle/>
            <a:p>
              <a:pPr algn="ctr">
                <a:lnSpc>
                  <a:spcPts val="1620"/>
                </a:lnSpc>
              </a:pPr>
              <a:r>
                <a:rPr lang="en-US" sz="1350" b="true">
                  <a:solidFill>
                    <a:srgbClr val="DC2626"/>
                  </a:solidFill>
                  <a:latin typeface="DM Sans Bold"/>
                  <a:ea typeface="DM Sans Bold"/>
                  <a:cs typeface="DM Sans Bold"/>
                  <a:sym typeface="DM Sans Bold"/>
                </a:rPr>
                <a:t>4  </a:t>
              </a:r>
              <a:r>
                <a:rPr lang="en-US" sz="1350" b="true">
                  <a:solidFill>
                    <a:srgbClr val="0F172A"/>
                  </a:solidFill>
                  <a:latin typeface="DM Sans Bold"/>
                  <a:ea typeface="DM Sans Bold"/>
                  <a:cs typeface="DM Sans Bold"/>
                  <a:sym typeface="DM Sans Bold"/>
                </a:rPr>
                <a:t>Change</a:t>
              </a:r>
            </a:p>
          </p:txBody>
        </p:sp>
      </p:grpSp>
      <p:grpSp>
        <p:nvGrpSpPr>
          <p:cNvPr name="Group 90" id="90"/>
          <p:cNvGrpSpPr/>
          <p:nvPr/>
        </p:nvGrpSpPr>
        <p:grpSpPr>
          <a:xfrm rot="0">
            <a:off x="6085865" y="4420743"/>
            <a:ext cx="1291895" cy="1733550"/>
            <a:chOff x="0" y="0"/>
            <a:chExt cx="1722526" cy="2311400"/>
          </a:xfrm>
        </p:grpSpPr>
        <p:sp>
          <p:nvSpPr>
            <p:cNvPr name="Freeform 91" id="91"/>
            <p:cNvSpPr/>
            <p:nvPr/>
          </p:nvSpPr>
          <p:spPr>
            <a:xfrm flipH="false" flipV="false" rot="0">
              <a:off x="0" y="0"/>
              <a:ext cx="1722628" cy="2311400"/>
            </a:xfrm>
            <a:custGeom>
              <a:avLst/>
              <a:gdLst/>
              <a:ahLst/>
              <a:cxnLst/>
              <a:rect r="r" b="b" t="t" l="l"/>
              <a:pathLst>
                <a:path h="2311400" w="1722628">
                  <a:moveTo>
                    <a:pt x="0" y="206756"/>
                  </a:moveTo>
                  <a:cubicBezTo>
                    <a:pt x="0" y="92583"/>
                    <a:pt x="92583" y="0"/>
                    <a:pt x="206756" y="0"/>
                  </a:cubicBezTo>
                  <a:lnTo>
                    <a:pt x="1515872" y="0"/>
                  </a:lnTo>
                  <a:cubicBezTo>
                    <a:pt x="1630045" y="0"/>
                    <a:pt x="1722628" y="92583"/>
                    <a:pt x="1722628" y="206756"/>
                  </a:cubicBezTo>
                  <a:lnTo>
                    <a:pt x="1722628" y="2104644"/>
                  </a:lnTo>
                  <a:cubicBezTo>
                    <a:pt x="1722628" y="2218817"/>
                    <a:pt x="1630045" y="2311400"/>
                    <a:pt x="1515872" y="2311400"/>
                  </a:cubicBezTo>
                  <a:lnTo>
                    <a:pt x="206756" y="2311400"/>
                  </a:lnTo>
                  <a:cubicBezTo>
                    <a:pt x="92583" y="2311400"/>
                    <a:pt x="0" y="2218817"/>
                    <a:pt x="0" y="2104644"/>
                  </a:cubicBezTo>
                  <a:close/>
                </a:path>
              </a:pathLst>
            </a:custGeom>
            <a:solidFill>
              <a:srgbClr val="FFFFFF"/>
            </a:solidFill>
            <a:ln w="19050" cap="sq">
              <a:solidFill>
                <a:srgbClr val="E2E8F0"/>
              </a:solidFill>
              <a:prstDash val="solid"/>
              <a:miter/>
            </a:ln>
          </p:spPr>
          <p:txBody>
            <a:bodyPr/>
            <a:p/>
          </p:txBody>
        </p:sp>
        <p:sp>
          <p:nvSpPr>
            <p:cNvPr name="TextBox 92" id="92"/>
            <p:cNvSpPr txBox="true"/>
            <p:nvPr/>
          </p:nvSpPr>
          <p:spPr>
            <a:xfrm>
              <a:off x="0" y="-9525"/>
              <a:ext cx="1722526" cy="2320925"/>
            </a:xfrm>
            <a:prstGeom prst="rect">
              <a:avLst/>
            </a:prstGeom>
          </p:spPr>
          <p:txBody>
            <a:bodyPr anchor="ctr" rtlCol="false" tIns="50800" lIns="50800" bIns="50800" rIns="50800"/>
            <a:lstStyle/>
            <a:p>
              <a:pPr algn="ctr">
                <a:lnSpc>
                  <a:spcPts val="1512"/>
                </a:lnSpc>
              </a:pPr>
              <a:r>
                <a:rPr lang="en-US" sz="1260">
                  <a:solidFill>
                    <a:srgbClr val="334155"/>
                  </a:solidFill>
                  <a:latin typeface="DM Sans"/>
                  <a:ea typeface="DM Sans"/>
                  <a:cs typeface="DM Sans"/>
                  <a:sym typeface="DM Sans"/>
                </a:rPr>
                <a:t>Too early or too late</a:t>
              </a:r>
            </a:p>
          </p:txBody>
        </p:sp>
      </p:grpSp>
      <p:grpSp>
        <p:nvGrpSpPr>
          <p:cNvPr name="Group 93" id="93"/>
          <p:cNvGrpSpPr/>
          <p:nvPr/>
        </p:nvGrpSpPr>
        <p:grpSpPr>
          <a:xfrm rot="0">
            <a:off x="6095390" y="6254496"/>
            <a:ext cx="1272845" cy="1440180"/>
            <a:chOff x="0" y="0"/>
            <a:chExt cx="1697126" cy="1920240"/>
          </a:xfrm>
        </p:grpSpPr>
        <p:sp>
          <p:nvSpPr>
            <p:cNvPr name="Freeform 94" id="94"/>
            <p:cNvSpPr/>
            <p:nvPr/>
          </p:nvSpPr>
          <p:spPr>
            <a:xfrm flipH="false" flipV="false" rot="0">
              <a:off x="0" y="0"/>
              <a:ext cx="1697228" cy="1920240"/>
            </a:xfrm>
            <a:custGeom>
              <a:avLst/>
              <a:gdLst/>
              <a:ahLst/>
              <a:cxnLst/>
              <a:rect r="r" b="b" t="t" l="l"/>
              <a:pathLst>
                <a:path h="1920240" w="1697228">
                  <a:moveTo>
                    <a:pt x="0" y="203708"/>
                  </a:moveTo>
                  <a:cubicBezTo>
                    <a:pt x="0" y="91186"/>
                    <a:pt x="91186" y="0"/>
                    <a:pt x="203708" y="0"/>
                  </a:cubicBezTo>
                  <a:lnTo>
                    <a:pt x="1493520" y="0"/>
                  </a:lnTo>
                  <a:cubicBezTo>
                    <a:pt x="1606042" y="0"/>
                    <a:pt x="1697228" y="91186"/>
                    <a:pt x="1697228" y="203708"/>
                  </a:cubicBezTo>
                  <a:lnTo>
                    <a:pt x="1697228" y="1716532"/>
                  </a:lnTo>
                  <a:cubicBezTo>
                    <a:pt x="1697228" y="1829054"/>
                    <a:pt x="1606042" y="1920240"/>
                    <a:pt x="1493520" y="1920240"/>
                  </a:cubicBezTo>
                  <a:lnTo>
                    <a:pt x="203708" y="1920240"/>
                  </a:lnTo>
                  <a:cubicBezTo>
                    <a:pt x="91186" y="1920240"/>
                    <a:pt x="0" y="1829054"/>
                    <a:pt x="0" y="1716532"/>
                  </a:cubicBezTo>
                  <a:close/>
                </a:path>
              </a:pathLst>
            </a:custGeom>
            <a:solidFill>
              <a:srgbClr val="FEF2F2"/>
            </a:solidFill>
          </p:spPr>
          <p:txBody>
            <a:bodyPr/>
            <a:p/>
          </p:txBody>
        </p:sp>
        <p:sp>
          <p:nvSpPr>
            <p:cNvPr name="TextBox 95" id="95"/>
            <p:cNvSpPr txBox="true"/>
            <p:nvPr/>
          </p:nvSpPr>
          <p:spPr>
            <a:xfrm>
              <a:off x="0" y="-9525"/>
              <a:ext cx="1697126" cy="1929765"/>
            </a:xfrm>
            <a:prstGeom prst="rect">
              <a:avLst/>
            </a:prstGeom>
          </p:spPr>
          <p:txBody>
            <a:bodyPr anchor="ctr" rtlCol="false" tIns="50800" lIns="50800" bIns="50800" rIns="50800"/>
            <a:lstStyle/>
            <a:p>
              <a:pPr algn="ctr" marL="0" indent="0" lvl="0">
                <a:lnSpc>
                  <a:spcPts val="1512"/>
                </a:lnSpc>
                <a:spcBef>
                  <a:spcPct val="0"/>
                </a:spcBef>
              </a:pPr>
              <a:r>
                <a:rPr lang="en-US" b="true" sz="1260" strike="noStrike" u="none">
                  <a:solidFill>
                    <a:srgbClr val="B91C1C"/>
                  </a:solidFill>
                  <a:latin typeface="DM Sans Bold"/>
                  <a:ea typeface="DM Sans Bold"/>
                  <a:cs typeface="DM Sans Bold"/>
                  <a:sym typeface="DM Sans Bold"/>
                </a:rPr>
                <a:t>Painful removal and a wasted dressing, or leakage and skin maceration</a:t>
              </a:r>
            </a:p>
          </p:txBody>
        </p:sp>
      </p:grpSp>
      <p:grpSp>
        <p:nvGrpSpPr>
          <p:cNvPr name="Group 96" id="96"/>
          <p:cNvGrpSpPr/>
          <p:nvPr/>
        </p:nvGrpSpPr>
        <p:grpSpPr>
          <a:xfrm rot="0">
            <a:off x="7340803" y="3806190"/>
            <a:ext cx="219456" cy="274320"/>
            <a:chOff x="0" y="0"/>
            <a:chExt cx="292608" cy="365760"/>
          </a:xfrm>
        </p:grpSpPr>
        <p:sp>
          <p:nvSpPr>
            <p:cNvPr name="Freeform 97" id="97"/>
            <p:cNvSpPr/>
            <p:nvPr/>
          </p:nvSpPr>
          <p:spPr>
            <a:xfrm flipH="false" flipV="false" rot="0">
              <a:off x="0" y="0"/>
              <a:ext cx="292608" cy="365760"/>
            </a:xfrm>
            <a:custGeom>
              <a:avLst/>
              <a:gdLst/>
              <a:ahLst/>
              <a:cxnLst/>
              <a:rect r="r" b="b" t="t" l="l"/>
              <a:pathLst>
                <a:path h="365760" w="292608">
                  <a:moveTo>
                    <a:pt x="0" y="91440"/>
                  </a:moveTo>
                  <a:lnTo>
                    <a:pt x="146304" y="91440"/>
                  </a:lnTo>
                  <a:lnTo>
                    <a:pt x="146304" y="0"/>
                  </a:lnTo>
                  <a:lnTo>
                    <a:pt x="292608" y="182880"/>
                  </a:lnTo>
                  <a:lnTo>
                    <a:pt x="146304" y="365760"/>
                  </a:lnTo>
                  <a:lnTo>
                    <a:pt x="146304" y="274320"/>
                  </a:lnTo>
                  <a:lnTo>
                    <a:pt x="0" y="274320"/>
                  </a:lnTo>
                  <a:close/>
                </a:path>
              </a:pathLst>
            </a:custGeom>
            <a:solidFill>
              <a:srgbClr val="94A3B8"/>
            </a:solidFill>
          </p:spPr>
          <p:txBody>
            <a:bodyPr/>
            <a:p/>
          </p:txBody>
        </p:sp>
      </p:grpSp>
      <p:grpSp>
        <p:nvGrpSpPr>
          <p:cNvPr name="Group 98" id="98"/>
          <p:cNvGrpSpPr/>
          <p:nvPr/>
        </p:nvGrpSpPr>
        <p:grpSpPr>
          <a:xfrm rot="0">
            <a:off x="7520445" y="3553778"/>
            <a:ext cx="1297610" cy="779145"/>
            <a:chOff x="0" y="0"/>
            <a:chExt cx="1730146" cy="1038860"/>
          </a:xfrm>
        </p:grpSpPr>
        <p:sp>
          <p:nvSpPr>
            <p:cNvPr name="Freeform 99" id="99"/>
            <p:cNvSpPr/>
            <p:nvPr/>
          </p:nvSpPr>
          <p:spPr>
            <a:xfrm flipH="false" flipV="false" rot="0">
              <a:off x="0" y="0"/>
              <a:ext cx="1730248" cy="1038860"/>
            </a:xfrm>
            <a:custGeom>
              <a:avLst/>
              <a:gdLst/>
              <a:ahLst/>
              <a:cxnLst/>
              <a:rect r="r" b="b" t="t" l="l"/>
              <a:pathLst>
                <a:path h="1038860" w="1730248">
                  <a:moveTo>
                    <a:pt x="0" y="124714"/>
                  </a:moveTo>
                  <a:cubicBezTo>
                    <a:pt x="0" y="55753"/>
                    <a:pt x="55753" y="0"/>
                    <a:pt x="124714" y="0"/>
                  </a:cubicBezTo>
                  <a:lnTo>
                    <a:pt x="1605534" y="0"/>
                  </a:lnTo>
                  <a:cubicBezTo>
                    <a:pt x="1674368" y="0"/>
                    <a:pt x="1730248" y="55753"/>
                    <a:pt x="1730248" y="124714"/>
                  </a:cubicBezTo>
                  <a:lnTo>
                    <a:pt x="1730248" y="914146"/>
                  </a:lnTo>
                  <a:cubicBezTo>
                    <a:pt x="1730248" y="982980"/>
                    <a:pt x="1674495" y="1038860"/>
                    <a:pt x="1605534" y="1038860"/>
                  </a:cubicBezTo>
                  <a:lnTo>
                    <a:pt x="124714" y="1038860"/>
                  </a:lnTo>
                  <a:cubicBezTo>
                    <a:pt x="55753" y="1038860"/>
                    <a:pt x="0" y="983107"/>
                    <a:pt x="0" y="914146"/>
                  </a:cubicBezTo>
                  <a:close/>
                </a:path>
              </a:pathLst>
            </a:custGeom>
            <a:solidFill>
              <a:srgbClr val="FEF2F2"/>
            </a:solidFill>
            <a:ln w="24765" cap="sq">
              <a:solidFill>
                <a:srgbClr val="DC2626"/>
              </a:solidFill>
              <a:prstDash val="solid"/>
              <a:miter/>
            </a:ln>
          </p:spPr>
          <p:txBody>
            <a:bodyPr/>
            <a:p/>
          </p:txBody>
        </p:sp>
        <p:sp>
          <p:nvSpPr>
            <p:cNvPr name="TextBox 100" id="100"/>
            <p:cNvSpPr txBox="true"/>
            <p:nvPr/>
          </p:nvSpPr>
          <p:spPr>
            <a:xfrm>
              <a:off x="0" y="0"/>
              <a:ext cx="1730146" cy="1038860"/>
            </a:xfrm>
            <a:prstGeom prst="rect">
              <a:avLst/>
            </a:prstGeom>
          </p:spPr>
          <p:txBody>
            <a:bodyPr anchor="ctr" rtlCol="false" tIns="50800" lIns="50800" bIns="50800" rIns="50800"/>
            <a:lstStyle/>
            <a:p>
              <a:pPr algn="ctr">
                <a:lnSpc>
                  <a:spcPts val="1620"/>
                </a:lnSpc>
              </a:pPr>
              <a:r>
                <a:rPr lang="en-US" sz="1350" b="true">
                  <a:solidFill>
                    <a:srgbClr val="DC2626"/>
                  </a:solidFill>
                  <a:latin typeface="DM Sans Bold"/>
                  <a:ea typeface="DM Sans Bold"/>
                  <a:cs typeface="DM Sans Bold"/>
                  <a:sym typeface="DM Sans Bold"/>
                </a:rPr>
                <a:t>5  </a:t>
              </a:r>
              <a:r>
                <a:rPr lang="en-US" sz="1350" b="true">
                  <a:solidFill>
                    <a:srgbClr val="0F172A"/>
                  </a:solidFill>
                  <a:latin typeface="DM Sans Bold"/>
                  <a:ea typeface="DM Sans Bold"/>
                  <a:cs typeface="DM Sans Bold"/>
                  <a:sym typeface="DM Sans Bold"/>
                </a:rPr>
                <a:t>Repeat</a:t>
              </a:r>
            </a:p>
          </p:txBody>
        </p:sp>
      </p:grpSp>
      <p:grpSp>
        <p:nvGrpSpPr>
          <p:cNvPr name="Group 101" id="101"/>
          <p:cNvGrpSpPr/>
          <p:nvPr/>
        </p:nvGrpSpPr>
        <p:grpSpPr>
          <a:xfrm rot="0">
            <a:off x="7523302" y="4420743"/>
            <a:ext cx="1291895" cy="1733550"/>
            <a:chOff x="0" y="0"/>
            <a:chExt cx="1722526" cy="2311400"/>
          </a:xfrm>
        </p:grpSpPr>
        <p:sp>
          <p:nvSpPr>
            <p:cNvPr name="Freeform 102" id="102"/>
            <p:cNvSpPr/>
            <p:nvPr/>
          </p:nvSpPr>
          <p:spPr>
            <a:xfrm flipH="false" flipV="false" rot="0">
              <a:off x="0" y="0"/>
              <a:ext cx="1722628" cy="2311400"/>
            </a:xfrm>
            <a:custGeom>
              <a:avLst/>
              <a:gdLst/>
              <a:ahLst/>
              <a:cxnLst/>
              <a:rect r="r" b="b" t="t" l="l"/>
              <a:pathLst>
                <a:path h="2311400" w="1722628">
                  <a:moveTo>
                    <a:pt x="0" y="206756"/>
                  </a:moveTo>
                  <a:cubicBezTo>
                    <a:pt x="0" y="92583"/>
                    <a:pt x="92583" y="0"/>
                    <a:pt x="206756" y="0"/>
                  </a:cubicBezTo>
                  <a:lnTo>
                    <a:pt x="1515872" y="0"/>
                  </a:lnTo>
                  <a:cubicBezTo>
                    <a:pt x="1630045" y="0"/>
                    <a:pt x="1722628" y="92583"/>
                    <a:pt x="1722628" y="206756"/>
                  </a:cubicBezTo>
                  <a:lnTo>
                    <a:pt x="1722628" y="2104644"/>
                  </a:lnTo>
                  <a:cubicBezTo>
                    <a:pt x="1722628" y="2218817"/>
                    <a:pt x="1630045" y="2311400"/>
                    <a:pt x="1515872" y="2311400"/>
                  </a:cubicBezTo>
                  <a:lnTo>
                    <a:pt x="206756" y="2311400"/>
                  </a:lnTo>
                  <a:cubicBezTo>
                    <a:pt x="92583" y="2311400"/>
                    <a:pt x="0" y="2218817"/>
                    <a:pt x="0" y="2104644"/>
                  </a:cubicBezTo>
                  <a:close/>
                </a:path>
              </a:pathLst>
            </a:custGeom>
            <a:solidFill>
              <a:srgbClr val="FFFFFF"/>
            </a:solidFill>
            <a:ln w="19050" cap="sq">
              <a:solidFill>
                <a:srgbClr val="E2E8F0"/>
              </a:solidFill>
              <a:prstDash val="solid"/>
              <a:miter/>
            </a:ln>
          </p:spPr>
          <p:txBody>
            <a:bodyPr/>
            <a:p/>
          </p:txBody>
        </p:sp>
        <p:sp>
          <p:nvSpPr>
            <p:cNvPr name="TextBox 103" id="103"/>
            <p:cNvSpPr txBox="true"/>
            <p:nvPr/>
          </p:nvSpPr>
          <p:spPr>
            <a:xfrm>
              <a:off x="0" y="-9525"/>
              <a:ext cx="1722526" cy="2320925"/>
            </a:xfrm>
            <a:prstGeom prst="rect">
              <a:avLst/>
            </a:prstGeom>
          </p:spPr>
          <p:txBody>
            <a:bodyPr anchor="ctr" rtlCol="false" tIns="50800" lIns="50800" bIns="50800" rIns="50800"/>
            <a:lstStyle/>
            <a:p>
              <a:pPr algn="ctr">
                <a:lnSpc>
                  <a:spcPts val="1512"/>
                </a:lnSpc>
              </a:pPr>
              <a:r>
                <a:rPr lang="en-US" sz="1260">
                  <a:solidFill>
                    <a:srgbClr val="334155"/>
                  </a:solidFill>
                  <a:latin typeface="DM Sans"/>
                  <a:ea typeface="DM Sans"/>
                  <a:cs typeface="DM Sans"/>
                  <a:sym typeface="DM Sans"/>
                </a:rPr>
                <a:t>About five visits a week¹³</a:t>
              </a:r>
            </a:p>
          </p:txBody>
        </p:sp>
      </p:grpSp>
      <p:grpSp>
        <p:nvGrpSpPr>
          <p:cNvPr name="Group 104" id="104"/>
          <p:cNvGrpSpPr/>
          <p:nvPr/>
        </p:nvGrpSpPr>
        <p:grpSpPr>
          <a:xfrm rot="0">
            <a:off x="7532827" y="6254496"/>
            <a:ext cx="1272845" cy="1440180"/>
            <a:chOff x="0" y="0"/>
            <a:chExt cx="1697126" cy="1920240"/>
          </a:xfrm>
        </p:grpSpPr>
        <p:sp>
          <p:nvSpPr>
            <p:cNvPr name="Freeform 105" id="105"/>
            <p:cNvSpPr/>
            <p:nvPr/>
          </p:nvSpPr>
          <p:spPr>
            <a:xfrm flipH="false" flipV="false" rot="0">
              <a:off x="0" y="0"/>
              <a:ext cx="1697228" cy="1920240"/>
            </a:xfrm>
            <a:custGeom>
              <a:avLst/>
              <a:gdLst/>
              <a:ahLst/>
              <a:cxnLst/>
              <a:rect r="r" b="b" t="t" l="l"/>
              <a:pathLst>
                <a:path h="1920240" w="1697228">
                  <a:moveTo>
                    <a:pt x="0" y="203708"/>
                  </a:moveTo>
                  <a:cubicBezTo>
                    <a:pt x="0" y="91186"/>
                    <a:pt x="91186" y="0"/>
                    <a:pt x="203708" y="0"/>
                  </a:cubicBezTo>
                  <a:lnTo>
                    <a:pt x="1493520" y="0"/>
                  </a:lnTo>
                  <a:cubicBezTo>
                    <a:pt x="1606042" y="0"/>
                    <a:pt x="1697228" y="91186"/>
                    <a:pt x="1697228" y="203708"/>
                  </a:cubicBezTo>
                  <a:lnTo>
                    <a:pt x="1697228" y="1716532"/>
                  </a:lnTo>
                  <a:cubicBezTo>
                    <a:pt x="1697228" y="1829054"/>
                    <a:pt x="1606042" y="1920240"/>
                    <a:pt x="1493520" y="1920240"/>
                  </a:cubicBezTo>
                  <a:lnTo>
                    <a:pt x="203708" y="1920240"/>
                  </a:lnTo>
                  <a:cubicBezTo>
                    <a:pt x="91186" y="1920240"/>
                    <a:pt x="0" y="1829054"/>
                    <a:pt x="0" y="1716532"/>
                  </a:cubicBezTo>
                  <a:close/>
                </a:path>
              </a:pathLst>
            </a:custGeom>
            <a:solidFill>
              <a:srgbClr val="FEF2F2"/>
            </a:solidFill>
          </p:spPr>
          <p:txBody>
            <a:bodyPr/>
            <a:p/>
          </p:txBody>
        </p:sp>
        <p:sp>
          <p:nvSpPr>
            <p:cNvPr name="TextBox 106" id="106"/>
            <p:cNvSpPr txBox="true"/>
            <p:nvPr/>
          </p:nvSpPr>
          <p:spPr>
            <a:xfrm>
              <a:off x="0" y="-9525"/>
              <a:ext cx="1697126" cy="1929765"/>
            </a:xfrm>
            <a:prstGeom prst="rect">
              <a:avLst/>
            </a:prstGeom>
          </p:spPr>
          <p:txBody>
            <a:bodyPr anchor="ctr" rtlCol="false" tIns="50800" lIns="50800" bIns="50800" rIns="50800"/>
            <a:lstStyle/>
            <a:p>
              <a:pPr algn="ctr">
                <a:lnSpc>
                  <a:spcPts val="1512"/>
                </a:lnSpc>
              </a:pPr>
              <a:r>
                <a:rPr lang="en-US" sz="1260" b="true">
                  <a:solidFill>
                    <a:srgbClr val="B91C1C"/>
                  </a:solidFill>
                  <a:latin typeface="DM Sans Bold"/>
                  <a:ea typeface="DM Sans Bold"/>
                  <a:cs typeface="DM Sans Bold"/>
                  <a:sym typeface="DM Sans Bold"/>
                </a:rPr>
                <a:t>About 18 minutes per visit¹³</a:t>
              </a:r>
            </a:p>
          </p:txBody>
        </p:sp>
      </p:grpSp>
    </p:spTree>
  </p:cSld>
  <p:clrMapOvr>
    <a:masterClrMapping/>
  </p:clrMapOvr>
</p:sld>
</file>

<file path=ppt/slides/slide5.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0"/>
            <a:ext cx="18288000" cy="10287000"/>
            <a:chOff x="0" y="0"/>
            <a:chExt cx="24384000" cy="13716000"/>
          </a:xfrm>
        </p:grpSpPr>
        <p:sp>
          <p:nvSpPr>
            <p:cNvPr name="Freeform 3" id="3" descr="image.png"/>
            <p:cNvSpPr/>
            <p:nvPr/>
          </p:nvSpPr>
          <p:spPr>
            <a:xfrm flipH="false" flipV="false" rot="0">
              <a:off x="0" y="0"/>
              <a:ext cx="24384000" cy="13716000"/>
            </a:xfrm>
            <a:custGeom>
              <a:avLst/>
              <a:gdLst/>
              <a:ahLst/>
              <a:cxnLst/>
              <a:rect r="r" b="b" t="t" l="l"/>
              <a:pathLst>
                <a:path h="13716000" w="24384000">
                  <a:moveTo>
                    <a:pt x="0" y="0"/>
                  </a:moveTo>
                  <a:lnTo>
                    <a:pt x="24384000" y="0"/>
                  </a:lnTo>
                  <a:lnTo>
                    <a:pt x="24384000" y="13716000"/>
                  </a:lnTo>
                  <a:lnTo>
                    <a:pt x="0" y="13716000"/>
                  </a:lnTo>
                  <a:lnTo>
                    <a:pt x="0" y="0"/>
                  </a:lnTo>
                  <a:close/>
                </a:path>
              </a:pathLst>
            </a:custGeom>
            <a:blipFill>
              <a:blip r:embed="rId3"/>
              <a:stretch>
                <a:fillRect l="0" t="0" r="0" b="0"/>
              </a:stretch>
            </a:blipFill>
          </p:spPr>
          <p:txBody>
            <a:bodyPr/>
            <a:p/>
          </p:txBody>
        </p:sp>
      </p:grpSp>
      <p:grpSp>
        <p:nvGrpSpPr>
          <p:cNvPr name="Group 4" id="4"/>
          <p:cNvGrpSpPr/>
          <p:nvPr/>
        </p:nvGrpSpPr>
        <p:grpSpPr>
          <a:xfrm rot="0">
            <a:off x="800100" y="8571957"/>
            <a:ext cx="16687800" cy="544706"/>
            <a:chOff x="0" y="0"/>
            <a:chExt cx="22250400" cy="726275"/>
          </a:xfrm>
        </p:grpSpPr>
        <p:sp>
          <p:nvSpPr>
            <p:cNvPr name="Freeform 5" id="5" descr="image.png"/>
            <p:cNvSpPr/>
            <p:nvPr/>
          </p:nvSpPr>
          <p:spPr>
            <a:xfrm flipH="false" flipV="false" rot="0">
              <a:off x="0" y="0"/>
              <a:ext cx="22250400" cy="726313"/>
            </a:xfrm>
            <a:custGeom>
              <a:avLst/>
              <a:gdLst/>
              <a:ahLst/>
              <a:cxnLst/>
              <a:rect r="r" b="b" t="t" l="l"/>
              <a:pathLst>
                <a:path h="726313" w="22250400">
                  <a:moveTo>
                    <a:pt x="0" y="0"/>
                  </a:moveTo>
                  <a:lnTo>
                    <a:pt x="22250400" y="0"/>
                  </a:lnTo>
                  <a:lnTo>
                    <a:pt x="22250400" y="726313"/>
                  </a:lnTo>
                  <a:lnTo>
                    <a:pt x="0" y="726313"/>
                  </a:lnTo>
                  <a:lnTo>
                    <a:pt x="0" y="0"/>
                  </a:lnTo>
                  <a:close/>
                </a:path>
              </a:pathLst>
            </a:custGeom>
            <a:blipFill>
              <a:blip r:embed="rId4"/>
              <a:stretch>
                <a:fillRect l="0" t="0" r="0" b="-2290"/>
              </a:stretch>
            </a:blipFill>
          </p:spPr>
          <p:txBody>
            <a:bodyPr/>
            <a:p/>
          </p:txBody>
        </p:sp>
      </p:grpSp>
      <p:grpSp>
        <p:nvGrpSpPr>
          <p:cNvPr name="Group 6" id="6"/>
          <p:cNvGrpSpPr/>
          <p:nvPr/>
        </p:nvGrpSpPr>
        <p:grpSpPr>
          <a:xfrm rot="0">
            <a:off x="800100" y="1434332"/>
            <a:ext cx="4000500" cy="974227"/>
            <a:chOff x="0" y="0"/>
            <a:chExt cx="5334000" cy="1298969"/>
          </a:xfrm>
        </p:grpSpPr>
        <p:sp>
          <p:nvSpPr>
            <p:cNvPr name="Freeform 7" id="7" descr="image.png"/>
            <p:cNvSpPr/>
            <p:nvPr/>
          </p:nvSpPr>
          <p:spPr>
            <a:xfrm flipH="false" flipV="false" rot="0">
              <a:off x="0" y="0"/>
              <a:ext cx="5334000" cy="1298956"/>
            </a:xfrm>
            <a:custGeom>
              <a:avLst/>
              <a:gdLst/>
              <a:ahLst/>
              <a:cxnLst/>
              <a:rect r="r" b="b" t="t" l="l"/>
              <a:pathLst>
                <a:path h="1298956" w="5334000">
                  <a:moveTo>
                    <a:pt x="0" y="0"/>
                  </a:moveTo>
                  <a:lnTo>
                    <a:pt x="5334000" y="0"/>
                  </a:lnTo>
                  <a:lnTo>
                    <a:pt x="5334000" y="1298956"/>
                  </a:lnTo>
                  <a:lnTo>
                    <a:pt x="0" y="1298956"/>
                  </a:lnTo>
                  <a:lnTo>
                    <a:pt x="0" y="0"/>
                  </a:lnTo>
                  <a:close/>
                </a:path>
              </a:pathLst>
            </a:custGeom>
            <a:blipFill>
              <a:blip r:embed="rId5"/>
              <a:stretch>
                <a:fillRect l="0" t="0" r="0" b="-1192"/>
              </a:stretch>
            </a:blipFill>
          </p:spPr>
          <p:txBody>
            <a:bodyPr/>
            <a:p/>
          </p:txBody>
        </p:sp>
      </p:grpSp>
      <p:grpSp>
        <p:nvGrpSpPr>
          <p:cNvPr name="Group 8" id="8"/>
          <p:cNvGrpSpPr/>
          <p:nvPr/>
        </p:nvGrpSpPr>
        <p:grpSpPr>
          <a:xfrm rot="0">
            <a:off x="5029200" y="1434332"/>
            <a:ext cx="4000500" cy="974227"/>
            <a:chOff x="0" y="0"/>
            <a:chExt cx="5334000" cy="1298969"/>
          </a:xfrm>
        </p:grpSpPr>
        <p:sp>
          <p:nvSpPr>
            <p:cNvPr name="Freeform 9" id="9" descr="image.png"/>
            <p:cNvSpPr/>
            <p:nvPr/>
          </p:nvSpPr>
          <p:spPr>
            <a:xfrm flipH="false" flipV="false" rot="0">
              <a:off x="0" y="0"/>
              <a:ext cx="5334000" cy="1298956"/>
            </a:xfrm>
            <a:custGeom>
              <a:avLst/>
              <a:gdLst/>
              <a:ahLst/>
              <a:cxnLst/>
              <a:rect r="r" b="b" t="t" l="l"/>
              <a:pathLst>
                <a:path h="1298956" w="5334000">
                  <a:moveTo>
                    <a:pt x="0" y="0"/>
                  </a:moveTo>
                  <a:lnTo>
                    <a:pt x="5334000" y="0"/>
                  </a:lnTo>
                  <a:lnTo>
                    <a:pt x="5334000" y="1298956"/>
                  </a:lnTo>
                  <a:lnTo>
                    <a:pt x="0" y="1298956"/>
                  </a:lnTo>
                  <a:lnTo>
                    <a:pt x="0" y="0"/>
                  </a:lnTo>
                  <a:close/>
                </a:path>
              </a:pathLst>
            </a:custGeom>
            <a:blipFill>
              <a:blip r:embed="rId6"/>
              <a:stretch>
                <a:fillRect l="0" t="0" r="0" b="-1192"/>
              </a:stretch>
            </a:blipFill>
          </p:spPr>
          <p:txBody>
            <a:bodyPr/>
            <a:p/>
          </p:txBody>
        </p:sp>
      </p:grpSp>
      <p:grpSp>
        <p:nvGrpSpPr>
          <p:cNvPr name="Group 10" id="10"/>
          <p:cNvGrpSpPr/>
          <p:nvPr/>
        </p:nvGrpSpPr>
        <p:grpSpPr>
          <a:xfrm rot="0">
            <a:off x="9258300" y="1434332"/>
            <a:ext cx="4000500" cy="974227"/>
            <a:chOff x="0" y="0"/>
            <a:chExt cx="5334000" cy="1298969"/>
          </a:xfrm>
        </p:grpSpPr>
        <p:sp>
          <p:nvSpPr>
            <p:cNvPr name="Freeform 11" id="11" descr="image.png"/>
            <p:cNvSpPr/>
            <p:nvPr/>
          </p:nvSpPr>
          <p:spPr>
            <a:xfrm flipH="false" flipV="false" rot="0">
              <a:off x="0" y="0"/>
              <a:ext cx="5334000" cy="1298956"/>
            </a:xfrm>
            <a:custGeom>
              <a:avLst/>
              <a:gdLst/>
              <a:ahLst/>
              <a:cxnLst/>
              <a:rect r="r" b="b" t="t" l="l"/>
              <a:pathLst>
                <a:path h="1298956" w="5334000">
                  <a:moveTo>
                    <a:pt x="0" y="0"/>
                  </a:moveTo>
                  <a:lnTo>
                    <a:pt x="5334000" y="0"/>
                  </a:lnTo>
                  <a:lnTo>
                    <a:pt x="5334000" y="1298956"/>
                  </a:lnTo>
                  <a:lnTo>
                    <a:pt x="0" y="1298956"/>
                  </a:lnTo>
                  <a:lnTo>
                    <a:pt x="0" y="0"/>
                  </a:lnTo>
                  <a:close/>
                </a:path>
              </a:pathLst>
            </a:custGeom>
            <a:blipFill>
              <a:blip r:embed="rId7"/>
              <a:stretch>
                <a:fillRect l="0" t="0" r="0" b="-1192"/>
              </a:stretch>
            </a:blipFill>
          </p:spPr>
          <p:txBody>
            <a:bodyPr/>
            <a:p/>
          </p:txBody>
        </p:sp>
      </p:grpSp>
      <p:grpSp>
        <p:nvGrpSpPr>
          <p:cNvPr name="Group 12" id="12"/>
          <p:cNvGrpSpPr/>
          <p:nvPr/>
        </p:nvGrpSpPr>
        <p:grpSpPr>
          <a:xfrm rot="0">
            <a:off x="13487400" y="1434332"/>
            <a:ext cx="4000500" cy="974227"/>
            <a:chOff x="0" y="0"/>
            <a:chExt cx="5334000" cy="1298969"/>
          </a:xfrm>
        </p:grpSpPr>
        <p:sp>
          <p:nvSpPr>
            <p:cNvPr name="Freeform 13" id="13" descr="image.png"/>
            <p:cNvSpPr/>
            <p:nvPr/>
          </p:nvSpPr>
          <p:spPr>
            <a:xfrm flipH="false" flipV="false" rot="0">
              <a:off x="0" y="0"/>
              <a:ext cx="5334000" cy="1298956"/>
            </a:xfrm>
            <a:custGeom>
              <a:avLst/>
              <a:gdLst/>
              <a:ahLst/>
              <a:cxnLst/>
              <a:rect r="r" b="b" t="t" l="l"/>
              <a:pathLst>
                <a:path h="1298956" w="5334000">
                  <a:moveTo>
                    <a:pt x="0" y="0"/>
                  </a:moveTo>
                  <a:lnTo>
                    <a:pt x="5334000" y="0"/>
                  </a:lnTo>
                  <a:lnTo>
                    <a:pt x="5334000" y="1298956"/>
                  </a:lnTo>
                  <a:lnTo>
                    <a:pt x="0" y="1298956"/>
                  </a:lnTo>
                  <a:lnTo>
                    <a:pt x="0" y="0"/>
                  </a:lnTo>
                  <a:close/>
                </a:path>
              </a:pathLst>
            </a:custGeom>
            <a:blipFill>
              <a:blip r:embed="rId7"/>
              <a:stretch>
                <a:fillRect l="0" t="0" r="0" b="-1192"/>
              </a:stretch>
            </a:blipFill>
          </p:spPr>
          <p:txBody>
            <a:bodyPr/>
            <a:p/>
          </p:txBody>
        </p:sp>
      </p:grpSp>
      <p:grpSp>
        <p:nvGrpSpPr>
          <p:cNvPr name="Group 14" id="14"/>
          <p:cNvGrpSpPr/>
          <p:nvPr/>
        </p:nvGrpSpPr>
        <p:grpSpPr>
          <a:xfrm rot="0">
            <a:off x="9344025" y="2606040"/>
            <a:ext cx="8143875" cy="5829300"/>
            <a:chOff x="0" y="0"/>
            <a:chExt cx="10858500" cy="7772400"/>
          </a:xfrm>
        </p:grpSpPr>
        <p:sp>
          <p:nvSpPr>
            <p:cNvPr name="Freeform 15" id="15" descr="image.png"/>
            <p:cNvSpPr/>
            <p:nvPr/>
          </p:nvSpPr>
          <p:spPr>
            <a:xfrm flipH="false" flipV="false" rot="0">
              <a:off x="0" y="0"/>
              <a:ext cx="10858500" cy="7772400"/>
            </a:xfrm>
            <a:custGeom>
              <a:avLst/>
              <a:gdLst/>
              <a:ahLst/>
              <a:cxnLst/>
              <a:rect r="r" b="b" t="t" l="l"/>
              <a:pathLst>
                <a:path h="7772400" w="10858500">
                  <a:moveTo>
                    <a:pt x="0" y="0"/>
                  </a:moveTo>
                  <a:lnTo>
                    <a:pt x="10858500" y="0"/>
                  </a:lnTo>
                  <a:lnTo>
                    <a:pt x="10858500" y="7772400"/>
                  </a:lnTo>
                  <a:lnTo>
                    <a:pt x="0" y="7772400"/>
                  </a:lnTo>
                  <a:lnTo>
                    <a:pt x="0" y="0"/>
                  </a:lnTo>
                  <a:close/>
                </a:path>
              </a:pathLst>
            </a:custGeom>
            <a:blipFill>
              <a:blip r:embed="rId8"/>
              <a:stretch>
                <a:fillRect l="0" t="0" r="0" b="-8333"/>
              </a:stretch>
            </a:blipFill>
          </p:spPr>
          <p:txBody>
            <a:bodyPr/>
            <a:p/>
          </p:txBody>
        </p:sp>
      </p:grpSp>
      <p:grpSp>
        <p:nvGrpSpPr>
          <p:cNvPr name="Group 16" id="16"/>
          <p:cNvGrpSpPr/>
          <p:nvPr/>
        </p:nvGrpSpPr>
        <p:grpSpPr>
          <a:xfrm rot="0">
            <a:off x="795528" y="2606040"/>
            <a:ext cx="8147304" cy="5417820"/>
            <a:chOff x="0" y="0"/>
            <a:chExt cx="10863072" cy="7223760"/>
          </a:xfrm>
        </p:grpSpPr>
        <p:sp>
          <p:nvSpPr>
            <p:cNvPr name="Freeform 17" id="17" descr="image.png"/>
            <p:cNvSpPr/>
            <p:nvPr/>
          </p:nvSpPr>
          <p:spPr>
            <a:xfrm flipH="false" flipV="false" rot="0">
              <a:off x="0" y="0"/>
              <a:ext cx="10863072" cy="7223760"/>
            </a:xfrm>
            <a:custGeom>
              <a:avLst/>
              <a:gdLst/>
              <a:ahLst/>
              <a:cxnLst/>
              <a:rect r="r" b="b" t="t" l="l"/>
              <a:pathLst>
                <a:path h="7223760" w="10863072">
                  <a:moveTo>
                    <a:pt x="0" y="0"/>
                  </a:moveTo>
                  <a:lnTo>
                    <a:pt x="10863072" y="0"/>
                  </a:lnTo>
                  <a:lnTo>
                    <a:pt x="10863072" y="7223760"/>
                  </a:lnTo>
                  <a:lnTo>
                    <a:pt x="0" y="7223760"/>
                  </a:lnTo>
                  <a:lnTo>
                    <a:pt x="0" y="0"/>
                  </a:lnTo>
                  <a:close/>
                </a:path>
              </a:pathLst>
            </a:custGeom>
            <a:blipFill>
              <a:blip r:embed="rId9"/>
              <a:stretch>
                <a:fillRect l="0" t="0" r="-48062" b="0"/>
              </a:stretch>
            </a:blipFill>
          </p:spPr>
          <p:txBody>
            <a:bodyPr/>
            <a:p/>
          </p:txBody>
        </p:sp>
      </p:grpSp>
      <p:grpSp>
        <p:nvGrpSpPr>
          <p:cNvPr name="Group 18" id="18"/>
          <p:cNvGrpSpPr/>
          <p:nvPr/>
        </p:nvGrpSpPr>
        <p:grpSpPr>
          <a:xfrm rot="0">
            <a:off x="800100" y="657225"/>
            <a:ext cx="12893040" cy="462782"/>
            <a:chOff x="0" y="0"/>
            <a:chExt cx="17190720" cy="617042"/>
          </a:xfrm>
        </p:grpSpPr>
        <p:sp>
          <p:nvSpPr>
            <p:cNvPr name="Freeform 19" id="19"/>
            <p:cNvSpPr/>
            <p:nvPr/>
          </p:nvSpPr>
          <p:spPr>
            <a:xfrm flipH="false" flipV="false" rot="0">
              <a:off x="0" y="0"/>
              <a:ext cx="17190720" cy="617040"/>
            </a:xfrm>
            <a:custGeom>
              <a:avLst/>
              <a:gdLst/>
              <a:ahLst/>
              <a:cxnLst/>
              <a:rect r="r" b="b" t="t" l="l"/>
              <a:pathLst>
                <a:path h="617040" w="17190720">
                  <a:moveTo>
                    <a:pt x="0" y="0"/>
                  </a:moveTo>
                  <a:lnTo>
                    <a:pt x="17190720" y="0"/>
                  </a:lnTo>
                  <a:lnTo>
                    <a:pt x="17190720" y="617040"/>
                  </a:lnTo>
                  <a:lnTo>
                    <a:pt x="0" y="617040"/>
                  </a:lnTo>
                  <a:close/>
                </a:path>
              </a:pathLst>
            </a:custGeom>
            <a:blipFill>
              <a:blip r:embed="rId10">
                <a:alphaModFix amt="0"/>
              </a:blip>
              <a:stretch>
                <a:fillRect l="0" t="-492852" r="0" b="-492852"/>
              </a:stretch>
            </a:blipFill>
          </p:spPr>
          <p:txBody>
            <a:bodyPr/>
            <a:p/>
          </p:txBody>
        </p:sp>
        <p:sp>
          <p:nvSpPr>
            <p:cNvPr name="TextBox 20" id="20"/>
            <p:cNvSpPr txBox="true"/>
            <p:nvPr/>
          </p:nvSpPr>
          <p:spPr>
            <a:xfrm>
              <a:off x="0" y="-104775"/>
              <a:ext cx="17190720" cy="721817"/>
            </a:xfrm>
            <a:prstGeom prst="rect">
              <a:avLst/>
            </a:prstGeom>
          </p:spPr>
          <p:txBody>
            <a:bodyPr anchor="ctr" rtlCol="false" tIns="0" lIns="0" bIns="0" rIns="0"/>
            <a:lstStyle/>
            <a:p>
              <a:pPr algn="l">
                <a:lnSpc>
                  <a:spcPts val="4372"/>
                </a:lnSpc>
              </a:pPr>
              <a:r>
                <a:rPr lang="en-US" sz="3037">
                  <a:solidFill>
                    <a:srgbClr val="0F172A"/>
                  </a:solidFill>
                  <a:latin typeface="Poppins"/>
                  <a:ea typeface="Poppins"/>
                  <a:cs typeface="Poppins"/>
                  <a:sym typeface="Poppins"/>
                </a:rPr>
                <a:t>User Journey: After State (Intended)</a:t>
              </a:r>
            </a:p>
          </p:txBody>
        </p:sp>
      </p:grpSp>
      <p:sp>
        <p:nvSpPr>
          <p:cNvPr name="TextBox 21" id="21"/>
          <p:cNvSpPr txBox="true"/>
          <p:nvPr/>
        </p:nvSpPr>
        <p:spPr>
          <a:xfrm rot="0">
            <a:off x="1042988" y="8681780"/>
            <a:ext cx="16047720" cy="291689"/>
          </a:xfrm>
          <a:prstGeom prst="rect">
            <a:avLst/>
          </a:prstGeom>
        </p:spPr>
        <p:txBody>
          <a:bodyPr anchor="t" rtlCol="false" tIns="0" lIns="0" bIns="0" rIns="0">
            <a:spAutoFit/>
          </a:bodyPr>
          <a:lstStyle/>
          <a:p>
            <a:pPr algn="l">
              <a:lnSpc>
                <a:spcPts val="2506"/>
              </a:lnSpc>
            </a:pPr>
            <a:r>
              <a:rPr lang="en-US" b="true" sz="1439">
                <a:solidFill>
                  <a:srgbClr val="0F172A"/>
                </a:solidFill>
                <a:latin typeface="DM Sans Bold"/>
                <a:ea typeface="DM Sans Bold"/>
                <a:cs typeface="DM Sans Bold"/>
                <a:sym typeface="DM Sans Bold"/>
              </a:rPr>
              <a:t>Design Principle: </a:t>
            </a:r>
            <a:r>
              <a:rPr lang="en-US" b="true" sz="1439">
                <a:solidFill>
                  <a:srgbClr val="334155"/>
                </a:solidFill>
                <a:latin typeface="DM Sans Bold"/>
                <a:ea typeface="DM Sans Bold"/>
                <a:cs typeface="DM Sans Bold"/>
                <a:sym typeface="DM Sans Bold"/>
              </a:rPr>
              <a:t>The intended setup keeps the usual care routine. The strip sits on the dressing’s outer face; the reader is reused. E4 will test the ±10% alert target.</a:t>
            </a:r>
          </a:p>
        </p:txBody>
      </p:sp>
      <p:sp>
        <p:nvSpPr>
          <p:cNvPr name="TextBox 22" id="22"/>
          <p:cNvSpPr txBox="true"/>
          <p:nvPr/>
        </p:nvSpPr>
        <p:spPr>
          <a:xfrm rot="0">
            <a:off x="1042988" y="1488567"/>
            <a:ext cx="3514725" cy="500253"/>
          </a:xfrm>
          <a:prstGeom prst="rect">
            <a:avLst/>
          </a:prstGeom>
        </p:spPr>
        <p:txBody>
          <a:bodyPr anchor="t" rtlCol="false" tIns="0" lIns="0" bIns="0" rIns="0">
            <a:spAutoFit/>
          </a:bodyPr>
          <a:lstStyle/>
          <a:p>
            <a:pPr algn="ctr">
              <a:lnSpc>
                <a:spcPts val="2968"/>
              </a:lnSpc>
            </a:pPr>
            <a:r>
              <a:rPr lang="en-US" sz="2250">
                <a:solidFill>
                  <a:srgbClr val="0369A1"/>
                </a:solidFill>
                <a:latin typeface="Poppins"/>
                <a:ea typeface="Poppins"/>
                <a:cs typeface="Poppins"/>
                <a:sym typeface="Poppins"/>
              </a:rPr>
              <a:t>0 lifts</a:t>
            </a:r>
          </a:p>
        </p:txBody>
      </p:sp>
      <p:sp>
        <p:nvSpPr>
          <p:cNvPr name="TextBox 23" id="23"/>
          <p:cNvSpPr txBox="true"/>
          <p:nvPr/>
        </p:nvSpPr>
        <p:spPr>
          <a:xfrm rot="0">
            <a:off x="1042988" y="2016252"/>
            <a:ext cx="3514725" cy="171450"/>
          </a:xfrm>
          <a:prstGeom prst="rect">
            <a:avLst/>
          </a:prstGeom>
        </p:spPr>
        <p:txBody>
          <a:bodyPr anchor="t" rtlCol="false" tIns="0" lIns="0" bIns="0" rIns="0">
            <a:spAutoFit/>
          </a:bodyPr>
          <a:lstStyle/>
          <a:p>
            <a:pPr algn="ctr">
              <a:lnSpc>
                <a:spcPts val="1367"/>
              </a:lnSpc>
            </a:pPr>
            <a:r>
              <a:rPr lang="en-US" sz="1139">
                <a:solidFill>
                  <a:srgbClr val="64748B"/>
                </a:solidFill>
                <a:latin typeface="DM Sans"/>
                <a:ea typeface="DM Sans"/>
                <a:cs typeface="DM Sans"/>
                <a:sym typeface="DM Sans"/>
              </a:rPr>
              <a:t>DESIGN GOAL: CHECK WITHOUT LIFTING</a:t>
            </a:r>
          </a:p>
        </p:txBody>
      </p:sp>
      <p:sp>
        <p:nvSpPr>
          <p:cNvPr name="TextBox 24" id="24"/>
          <p:cNvSpPr txBox="true"/>
          <p:nvPr/>
        </p:nvSpPr>
        <p:spPr>
          <a:xfrm rot="0">
            <a:off x="5272088" y="1498092"/>
            <a:ext cx="3514725" cy="332413"/>
          </a:xfrm>
          <a:prstGeom prst="rect">
            <a:avLst/>
          </a:prstGeom>
        </p:spPr>
        <p:txBody>
          <a:bodyPr anchor="t" rtlCol="false" tIns="0" lIns="0" bIns="0" rIns="0">
            <a:spAutoFit/>
          </a:bodyPr>
          <a:lstStyle/>
          <a:p>
            <a:pPr algn="ctr">
              <a:lnSpc>
                <a:spcPts val="2572"/>
              </a:lnSpc>
            </a:pPr>
            <a:r>
              <a:rPr lang="en-US" sz="1950">
                <a:solidFill>
                  <a:srgbClr val="0369A1"/>
                </a:solidFill>
                <a:latin typeface="Poppins"/>
                <a:ea typeface="Poppins"/>
                <a:cs typeface="Poppins"/>
                <a:sym typeface="Poppins"/>
              </a:rPr>
              <a:t>up to 44.9 %</a:t>
            </a:r>
          </a:p>
        </p:txBody>
      </p:sp>
      <p:sp>
        <p:nvSpPr>
          <p:cNvPr name="TextBox 25" id="25"/>
          <p:cNvSpPr txBox="true"/>
          <p:nvPr/>
        </p:nvSpPr>
        <p:spPr>
          <a:xfrm rot="0">
            <a:off x="5272088" y="2016252"/>
            <a:ext cx="3514725" cy="342900"/>
          </a:xfrm>
          <a:prstGeom prst="rect">
            <a:avLst/>
          </a:prstGeom>
        </p:spPr>
        <p:txBody>
          <a:bodyPr anchor="t" rtlCol="false" tIns="0" lIns="0" bIns="0" rIns="0">
            <a:spAutoFit/>
          </a:bodyPr>
          <a:lstStyle/>
          <a:p>
            <a:pPr algn="ctr">
              <a:lnSpc>
                <a:spcPts val="1367"/>
              </a:lnSpc>
            </a:pPr>
            <a:r>
              <a:rPr lang="en-US" sz="1139">
                <a:solidFill>
                  <a:srgbClr val="64748B"/>
                </a:solidFill>
                <a:latin typeface="DM Sans"/>
                <a:ea typeface="DM Sans"/>
                <a:cs typeface="DM Sans"/>
                <a:sym typeface="DM Sans"/>
              </a:rPr>
              <a:t>EARLY CHANGES A RELIABLE ALERT COULD AVOID¹</a:t>
            </a:r>
          </a:p>
        </p:txBody>
      </p:sp>
      <p:sp>
        <p:nvSpPr>
          <p:cNvPr name="TextBox 26" id="26"/>
          <p:cNvSpPr txBox="true"/>
          <p:nvPr/>
        </p:nvSpPr>
        <p:spPr>
          <a:xfrm rot="0">
            <a:off x="9501188" y="1488567"/>
            <a:ext cx="3514725" cy="385019"/>
          </a:xfrm>
          <a:prstGeom prst="rect">
            <a:avLst/>
          </a:prstGeom>
        </p:spPr>
        <p:txBody>
          <a:bodyPr anchor="t" rtlCol="false" tIns="0" lIns="0" bIns="0" rIns="0">
            <a:spAutoFit/>
          </a:bodyPr>
          <a:lstStyle/>
          <a:p>
            <a:pPr algn="ctr" marL="0" indent="0" lvl="0">
              <a:lnSpc>
                <a:spcPts val="2968"/>
              </a:lnSpc>
              <a:spcBef>
                <a:spcPct val="0"/>
              </a:spcBef>
            </a:pPr>
            <a:r>
              <a:rPr lang="en-US" sz="2250" strike="noStrike" u="none">
                <a:solidFill>
                  <a:srgbClr val="0369A1"/>
                </a:solidFill>
                <a:latin typeface="Poppins"/>
                <a:ea typeface="Poppins"/>
                <a:cs typeface="Poppins"/>
                <a:sym typeface="Poppins"/>
              </a:rPr>
              <a:t>≤ ₹100</a:t>
            </a:r>
          </a:p>
        </p:txBody>
      </p:sp>
      <p:sp>
        <p:nvSpPr>
          <p:cNvPr name="TextBox 27" id="27"/>
          <p:cNvSpPr txBox="true"/>
          <p:nvPr/>
        </p:nvSpPr>
        <p:spPr>
          <a:xfrm rot="0">
            <a:off x="9501188" y="2016252"/>
            <a:ext cx="3514725" cy="171450"/>
          </a:xfrm>
          <a:prstGeom prst="rect">
            <a:avLst/>
          </a:prstGeom>
        </p:spPr>
        <p:txBody>
          <a:bodyPr anchor="t" rtlCol="false" tIns="0" lIns="0" bIns="0" rIns="0">
            <a:spAutoFit/>
          </a:bodyPr>
          <a:lstStyle/>
          <a:p>
            <a:pPr algn="ctr" marL="0" indent="0" lvl="0">
              <a:lnSpc>
                <a:spcPts val="1367"/>
              </a:lnSpc>
              <a:spcBef>
                <a:spcPct val="0"/>
              </a:spcBef>
            </a:pPr>
            <a:r>
              <a:rPr lang="en-US" sz="1139" strike="noStrike" u="none">
                <a:solidFill>
                  <a:srgbClr val="64748B"/>
                </a:solidFill>
                <a:latin typeface="DM Sans"/>
                <a:ea typeface="DM Sans"/>
                <a:cs typeface="DM Sans"/>
                <a:sym typeface="DM Sans"/>
              </a:rPr>
              <a:t>TARGET STRIP COST (ESTIMATE)</a:t>
            </a:r>
          </a:p>
        </p:txBody>
      </p:sp>
      <p:sp>
        <p:nvSpPr>
          <p:cNvPr name="TextBox 28" id="28"/>
          <p:cNvSpPr txBox="true"/>
          <p:nvPr/>
        </p:nvSpPr>
        <p:spPr>
          <a:xfrm rot="0">
            <a:off x="13730288" y="1488567"/>
            <a:ext cx="3514725" cy="385019"/>
          </a:xfrm>
          <a:prstGeom prst="rect">
            <a:avLst/>
          </a:prstGeom>
        </p:spPr>
        <p:txBody>
          <a:bodyPr anchor="t" rtlCol="false" tIns="0" lIns="0" bIns="0" rIns="0">
            <a:spAutoFit/>
          </a:bodyPr>
          <a:lstStyle/>
          <a:p>
            <a:pPr algn="ctr" marL="0" indent="0" lvl="0">
              <a:lnSpc>
                <a:spcPts val="2968"/>
              </a:lnSpc>
              <a:spcBef>
                <a:spcPct val="0"/>
              </a:spcBef>
            </a:pPr>
            <a:r>
              <a:rPr lang="en-US" sz="2250" strike="noStrike" u="none">
                <a:solidFill>
                  <a:srgbClr val="0369A1"/>
                </a:solidFill>
                <a:latin typeface="Poppins"/>
                <a:ea typeface="Poppins"/>
                <a:cs typeface="Poppins"/>
                <a:sym typeface="Poppins"/>
              </a:rPr>
              <a:t>2–5 strips</a:t>
            </a:r>
          </a:p>
        </p:txBody>
      </p:sp>
      <p:sp>
        <p:nvSpPr>
          <p:cNvPr name="TextBox 29" id="29"/>
          <p:cNvSpPr txBox="true"/>
          <p:nvPr/>
        </p:nvSpPr>
        <p:spPr>
          <a:xfrm rot="0">
            <a:off x="13730288" y="2016252"/>
            <a:ext cx="3514725" cy="171450"/>
          </a:xfrm>
          <a:prstGeom prst="rect">
            <a:avLst/>
          </a:prstGeom>
        </p:spPr>
        <p:txBody>
          <a:bodyPr anchor="t" rtlCol="false" tIns="0" lIns="0" bIns="0" rIns="0">
            <a:spAutoFit/>
          </a:bodyPr>
          <a:lstStyle/>
          <a:p>
            <a:pPr algn="ctr" marL="0" indent="0" lvl="0">
              <a:lnSpc>
                <a:spcPts val="1367"/>
              </a:lnSpc>
              <a:spcBef>
                <a:spcPct val="0"/>
              </a:spcBef>
            </a:pPr>
            <a:r>
              <a:rPr lang="en-US" sz="1139" strike="noStrike" u="none">
                <a:solidFill>
                  <a:srgbClr val="64748B"/>
                </a:solidFill>
                <a:latin typeface="DM Sans"/>
                <a:ea typeface="DM Sans"/>
                <a:cs typeface="DM Sans"/>
                <a:sym typeface="DM Sans"/>
              </a:rPr>
              <a:t>PAID BY ONE AVOIDED CHANGE (PROJECTION)¹⁵</a:t>
            </a:r>
          </a:p>
        </p:txBody>
      </p:sp>
      <p:sp>
        <p:nvSpPr>
          <p:cNvPr name="TextBox 30" id="30"/>
          <p:cNvSpPr txBox="true"/>
          <p:nvPr/>
        </p:nvSpPr>
        <p:spPr>
          <a:xfrm rot="0">
            <a:off x="800100" y="8035290"/>
            <a:ext cx="8143875" cy="226600"/>
          </a:xfrm>
          <a:prstGeom prst="rect">
            <a:avLst/>
          </a:prstGeom>
        </p:spPr>
        <p:txBody>
          <a:bodyPr anchor="t" rtlCol="false" tIns="0" lIns="0" bIns="0" rIns="0">
            <a:spAutoFit/>
          </a:bodyPr>
          <a:lstStyle/>
          <a:p>
            <a:pPr algn="r">
              <a:lnSpc>
                <a:spcPts val="1983"/>
              </a:lnSpc>
            </a:pPr>
            <a:r>
              <a:rPr lang="en-US" sz="1139">
                <a:solidFill>
                  <a:srgbClr val="64748B"/>
                </a:solidFill>
                <a:latin typeface="DM Sans"/>
                <a:ea typeface="DM Sans"/>
                <a:cs typeface="DM Sans"/>
                <a:sym typeface="DM Sans"/>
              </a:rPr>
              <a:t>Intended workflow only. Bench testing comes first; the device has not been tested on people.</a:t>
            </a:r>
          </a:p>
        </p:txBody>
      </p:sp>
      <p:grpSp>
        <p:nvGrpSpPr>
          <p:cNvPr name="Group 31" id="31"/>
          <p:cNvGrpSpPr/>
          <p:nvPr/>
        </p:nvGrpSpPr>
        <p:grpSpPr>
          <a:xfrm rot="0">
            <a:off x="9672638" y="2937196"/>
            <a:ext cx="231505" cy="228600"/>
            <a:chOff x="0" y="0"/>
            <a:chExt cx="308674" cy="304800"/>
          </a:xfrm>
        </p:grpSpPr>
        <p:sp>
          <p:nvSpPr>
            <p:cNvPr name="Freeform 32" id="32" descr="image.png"/>
            <p:cNvSpPr/>
            <p:nvPr/>
          </p:nvSpPr>
          <p:spPr>
            <a:xfrm flipH="false" flipV="false" rot="0">
              <a:off x="0" y="0"/>
              <a:ext cx="308610" cy="304800"/>
            </a:xfrm>
            <a:custGeom>
              <a:avLst/>
              <a:gdLst/>
              <a:ahLst/>
              <a:cxnLst/>
              <a:rect r="r" b="b" t="t" l="l"/>
              <a:pathLst>
                <a:path h="304800" w="308610">
                  <a:moveTo>
                    <a:pt x="0" y="0"/>
                  </a:moveTo>
                  <a:lnTo>
                    <a:pt x="308610" y="0"/>
                  </a:lnTo>
                  <a:lnTo>
                    <a:pt x="308610" y="304800"/>
                  </a:lnTo>
                  <a:lnTo>
                    <a:pt x="0" y="304800"/>
                  </a:lnTo>
                  <a:lnTo>
                    <a:pt x="0" y="0"/>
                  </a:lnTo>
                  <a:close/>
                </a:path>
              </a:pathLst>
            </a:custGeom>
            <a:blipFill>
              <a:blip r:embed="rId11"/>
              <a:stretch>
                <a:fillRect l="0" t="0" r="-20" b="-1270"/>
              </a:stretch>
            </a:blipFill>
          </p:spPr>
          <p:txBody>
            <a:bodyPr/>
            <a:p/>
          </p:txBody>
        </p:sp>
      </p:grpSp>
      <p:sp>
        <p:nvSpPr>
          <p:cNvPr name="TextBox 33" id="33"/>
          <p:cNvSpPr txBox="true"/>
          <p:nvPr/>
        </p:nvSpPr>
        <p:spPr>
          <a:xfrm rot="0">
            <a:off x="10047018" y="2918146"/>
            <a:ext cx="7269480" cy="247650"/>
          </a:xfrm>
          <a:prstGeom prst="rect">
            <a:avLst/>
          </a:prstGeom>
        </p:spPr>
        <p:txBody>
          <a:bodyPr anchor="t" rtlCol="false" tIns="0" lIns="0" bIns="0" rIns="0">
            <a:spAutoFit/>
          </a:bodyPr>
          <a:lstStyle/>
          <a:p>
            <a:pPr algn="l">
              <a:lnSpc>
                <a:spcPts val="2070"/>
              </a:lnSpc>
            </a:pPr>
            <a:r>
              <a:rPr lang="en-US" b="true" sz="1725">
                <a:solidFill>
                  <a:srgbClr val="0F172A"/>
                </a:solidFill>
                <a:latin typeface="DM Sans Bold"/>
                <a:ea typeface="DM Sans Bold"/>
                <a:cs typeface="DM Sans Bold"/>
                <a:sym typeface="DM Sans Bold"/>
              </a:rPr>
              <a:t>What each person could gain</a:t>
            </a:r>
          </a:p>
        </p:txBody>
      </p:sp>
      <p:grpSp>
        <p:nvGrpSpPr>
          <p:cNvPr name="Group 34" id="34"/>
          <p:cNvGrpSpPr/>
          <p:nvPr/>
        </p:nvGrpSpPr>
        <p:grpSpPr>
          <a:xfrm rot="0">
            <a:off x="16642794" y="9421197"/>
            <a:ext cx="1645206" cy="865803"/>
            <a:chOff x="0" y="0"/>
            <a:chExt cx="2193608" cy="1154405"/>
          </a:xfrm>
        </p:grpSpPr>
        <p:sp>
          <p:nvSpPr>
            <p:cNvPr name="Freeform 35" id="35"/>
            <p:cNvSpPr/>
            <p:nvPr/>
          </p:nvSpPr>
          <p:spPr>
            <a:xfrm flipH="false" flipV="false" rot="0">
              <a:off x="0" y="0"/>
              <a:ext cx="2193671" cy="1154430"/>
            </a:xfrm>
            <a:custGeom>
              <a:avLst/>
              <a:gdLst/>
              <a:ahLst/>
              <a:cxnLst/>
              <a:rect r="r" b="b" t="t" l="l"/>
              <a:pathLst>
                <a:path h="1154430" w="2193671">
                  <a:moveTo>
                    <a:pt x="0" y="0"/>
                  </a:moveTo>
                  <a:lnTo>
                    <a:pt x="2193671" y="0"/>
                  </a:lnTo>
                  <a:lnTo>
                    <a:pt x="2193671" y="1154430"/>
                  </a:lnTo>
                  <a:lnTo>
                    <a:pt x="0" y="1154430"/>
                  </a:lnTo>
                  <a:lnTo>
                    <a:pt x="0" y="0"/>
                  </a:lnTo>
                  <a:close/>
                </a:path>
              </a:pathLst>
            </a:custGeom>
            <a:blipFill>
              <a:blip r:embed="rId12"/>
              <a:stretch>
                <a:fillRect l="0" t="0" r="2" b="2"/>
              </a:stretch>
            </a:blipFill>
          </p:spPr>
          <p:txBody>
            <a:bodyPr/>
            <a:p/>
          </p:txBody>
        </p:sp>
      </p:grpSp>
      <p:grpSp>
        <p:nvGrpSpPr>
          <p:cNvPr name="Group 36" id="36"/>
          <p:cNvGrpSpPr/>
          <p:nvPr/>
        </p:nvGrpSpPr>
        <p:grpSpPr>
          <a:xfrm rot="0">
            <a:off x="0" y="9421197"/>
            <a:ext cx="2679421" cy="865803"/>
            <a:chOff x="0" y="0"/>
            <a:chExt cx="3572561" cy="1154405"/>
          </a:xfrm>
        </p:grpSpPr>
        <p:sp>
          <p:nvSpPr>
            <p:cNvPr name="Freeform 37" id="37"/>
            <p:cNvSpPr/>
            <p:nvPr/>
          </p:nvSpPr>
          <p:spPr>
            <a:xfrm flipH="false" flipV="false" rot="0">
              <a:off x="0" y="0"/>
              <a:ext cx="3572510" cy="1154430"/>
            </a:xfrm>
            <a:custGeom>
              <a:avLst/>
              <a:gdLst/>
              <a:ahLst/>
              <a:cxnLst/>
              <a:rect r="r" b="b" t="t" l="l"/>
              <a:pathLst>
                <a:path h="1154430" w="3572510">
                  <a:moveTo>
                    <a:pt x="0" y="0"/>
                  </a:moveTo>
                  <a:lnTo>
                    <a:pt x="3572510" y="0"/>
                  </a:lnTo>
                  <a:lnTo>
                    <a:pt x="3572510" y="1154430"/>
                  </a:lnTo>
                  <a:lnTo>
                    <a:pt x="0" y="1154430"/>
                  </a:lnTo>
                  <a:lnTo>
                    <a:pt x="0" y="0"/>
                  </a:lnTo>
                  <a:close/>
                </a:path>
              </a:pathLst>
            </a:custGeom>
            <a:blipFill>
              <a:blip r:embed="rId13"/>
              <a:stretch>
                <a:fillRect l="-21110" t="-147255" r="-22761" b="-197973"/>
              </a:stretch>
            </a:blipFill>
          </p:spPr>
          <p:txBody>
            <a:bodyPr/>
            <a:p/>
          </p:txBody>
        </p:sp>
      </p:grpSp>
      <p:grpSp>
        <p:nvGrpSpPr>
          <p:cNvPr name="Group 38" id="38"/>
          <p:cNvGrpSpPr/>
          <p:nvPr/>
        </p:nvGrpSpPr>
        <p:grpSpPr>
          <a:xfrm rot="0">
            <a:off x="13812012" y="685800"/>
            <a:ext cx="3675888" cy="370332"/>
            <a:chOff x="0" y="0"/>
            <a:chExt cx="4901184" cy="493776"/>
          </a:xfrm>
        </p:grpSpPr>
        <p:sp>
          <p:nvSpPr>
            <p:cNvPr name="Freeform 39" id="39"/>
            <p:cNvSpPr/>
            <p:nvPr/>
          </p:nvSpPr>
          <p:spPr>
            <a:xfrm flipH="false" flipV="false" rot="0">
              <a:off x="0" y="0"/>
              <a:ext cx="4901184" cy="493776"/>
            </a:xfrm>
            <a:custGeom>
              <a:avLst/>
              <a:gdLst/>
              <a:ahLst/>
              <a:cxnLst/>
              <a:rect r="r" b="b" t="t" l="l"/>
              <a:pathLst>
                <a:path h="493776" w="4901184">
                  <a:moveTo>
                    <a:pt x="0" y="246888"/>
                  </a:moveTo>
                  <a:cubicBezTo>
                    <a:pt x="0" y="110490"/>
                    <a:pt x="110490" y="0"/>
                    <a:pt x="246888" y="0"/>
                  </a:cubicBezTo>
                  <a:lnTo>
                    <a:pt x="4654296" y="0"/>
                  </a:lnTo>
                  <a:cubicBezTo>
                    <a:pt x="4790694" y="0"/>
                    <a:pt x="4901184" y="110490"/>
                    <a:pt x="4901184" y="246888"/>
                  </a:cubicBezTo>
                  <a:cubicBezTo>
                    <a:pt x="4901184" y="383286"/>
                    <a:pt x="4790694" y="493776"/>
                    <a:pt x="4654296" y="493776"/>
                  </a:cubicBezTo>
                  <a:lnTo>
                    <a:pt x="246888" y="493776"/>
                  </a:lnTo>
                  <a:cubicBezTo>
                    <a:pt x="110490" y="493776"/>
                    <a:pt x="0" y="383286"/>
                    <a:pt x="0" y="246888"/>
                  </a:cubicBezTo>
                  <a:close/>
                </a:path>
              </a:pathLst>
            </a:custGeom>
            <a:solidFill>
              <a:srgbClr val="FEF3C7"/>
            </a:solidFill>
          </p:spPr>
          <p:txBody>
            <a:bodyPr/>
            <a:p/>
          </p:txBody>
        </p:sp>
        <p:sp>
          <p:nvSpPr>
            <p:cNvPr name="TextBox 40" id="40"/>
            <p:cNvSpPr txBox="true"/>
            <p:nvPr/>
          </p:nvSpPr>
          <p:spPr>
            <a:xfrm>
              <a:off x="0" y="0"/>
              <a:ext cx="4901184" cy="493776"/>
            </a:xfrm>
            <a:prstGeom prst="rect">
              <a:avLst/>
            </a:prstGeom>
          </p:spPr>
          <p:txBody>
            <a:bodyPr anchor="ctr" rtlCol="false" tIns="50800" lIns="50800" bIns="50800" rIns="50800"/>
            <a:lstStyle/>
            <a:p>
              <a:pPr algn="ctr">
                <a:lnSpc>
                  <a:spcPts val="1350"/>
                </a:lnSpc>
              </a:pPr>
              <a:r>
                <a:rPr lang="en-US" sz="1125" b="true">
                  <a:solidFill>
                    <a:srgbClr val="B45309"/>
                  </a:solidFill>
                  <a:latin typeface="DM Sans Bold"/>
                  <a:ea typeface="DM Sans Bold"/>
                  <a:cs typeface="DM Sans Bold"/>
                  <a:sym typeface="DM Sans Bold"/>
                </a:rPr>
                <a:t>DESIGN INTENT · NOT CLINICALLY TESTED</a:t>
              </a:r>
            </a:p>
          </p:txBody>
        </p:sp>
      </p:grpSp>
      <p:sp>
        <p:nvSpPr>
          <p:cNvPr name="TextBox 41" id="41"/>
          <p:cNvSpPr txBox="true"/>
          <p:nvPr/>
        </p:nvSpPr>
        <p:spPr>
          <a:xfrm rot="0">
            <a:off x="9715500" y="3583686"/>
            <a:ext cx="7507224" cy="2654579"/>
          </a:xfrm>
          <a:prstGeom prst="rect">
            <a:avLst/>
          </a:prstGeom>
        </p:spPr>
        <p:txBody>
          <a:bodyPr anchor="t" rtlCol="false" tIns="0" lIns="0" bIns="0" rIns="0">
            <a:spAutoFit/>
          </a:bodyPr>
          <a:lstStyle/>
          <a:p>
            <a:pPr algn="l" marL="0" indent="0" lvl="0">
              <a:lnSpc>
                <a:spcPts val="2332"/>
              </a:lnSpc>
              <a:spcBef>
                <a:spcPct val="0"/>
              </a:spcBef>
            </a:pPr>
            <a:r>
              <a:rPr lang="en-US" sz="1800" strike="noStrike" u="none">
                <a:solidFill>
                  <a:srgbClr val="059669"/>
                </a:solidFill>
                <a:latin typeface="DM Sans"/>
                <a:ea typeface="DM Sans"/>
                <a:cs typeface="DM Sans"/>
                <a:sym typeface="DM Sans"/>
              </a:rPr>
              <a:t>▪  Patient:  fewer needless removals, the step patients find most painful [20].</a:t>
            </a:r>
          </a:p>
          <a:p>
            <a:pPr algn="l" marL="0" indent="0" lvl="0">
              <a:lnSpc>
                <a:spcPts val="2332"/>
              </a:lnSpc>
              <a:spcBef>
                <a:spcPct val="0"/>
              </a:spcBef>
            </a:pPr>
            <a:r>
              <a:rPr lang="en-US" sz="1800" strike="noStrike" u="none">
                <a:solidFill>
                  <a:srgbClr val="059669"/>
                </a:solidFill>
                <a:latin typeface="DM Sans"/>
                <a:ea typeface="DM Sans"/>
                <a:cs typeface="DM Sans"/>
                <a:sym typeface="DM Sans"/>
              </a:rPr>
              <a:t>▪  Family carer:  a clear OK / CHANGE signal instead of guesswork.</a:t>
            </a:r>
          </a:p>
          <a:p>
            <a:pPr algn="l" marL="0" indent="0" lvl="0">
              <a:lnSpc>
                <a:spcPts val="2332"/>
              </a:lnSpc>
              <a:spcBef>
                <a:spcPct val="0"/>
              </a:spcBef>
            </a:pPr>
            <a:r>
              <a:rPr lang="en-US" sz="1800" strike="noStrike" u="none">
                <a:solidFill>
                  <a:srgbClr val="059669"/>
                </a:solidFill>
                <a:latin typeface="DM Sans"/>
                <a:ea typeface="DM Sans"/>
                <a:cs typeface="DM Sans"/>
                <a:sym typeface="DM Sans"/>
              </a:rPr>
              <a:t>▪  Nurse:  checks the status in seconds without unwrapping the bandage (design goal).</a:t>
            </a:r>
          </a:p>
          <a:p>
            <a:pPr algn="l" marL="0" indent="0" lvl="0">
              <a:lnSpc>
                <a:spcPts val="2332"/>
              </a:lnSpc>
              <a:spcBef>
                <a:spcPct val="0"/>
              </a:spcBef>
            </a:pPr>
            <a:r>
              <a:rPr lang="en-US" sz="1800" strike="noStrike" u="none">
                <a:solidFill>
                  <a:srgbClr val="059669"/>
                </a:solidFill>
                <a:latin typeface="DM Sans"/>
                <a:ea typeface="DM Sans"/>
                <a:cs typeface="DM Sans"/>
                <a:sym typeface="DM Sans"/>
              </a:rPr>
              <a:t>▪  Budget:  reusable reader ≈ ₹560–1,160 (BOM estimate) + strip ≤ ₹100 (target); one avoided ₹242–514 dressing change pays for 2–5 strips (projection).</a:t>
            </a:r>
          </a:p>
        </p:txBody>
      </p:sp>
      <p:grpSp>
        <p:nvGrpSpPr>
          <p:cNvPr name="Group 42" id="42"/>
          <p:cNvGrpSpPr/>
          <p:nvPr/>
        </p:nvGrpSpPr>
        <p:grpSpPr>
          <a:xfrm rot="0">
            <a:off x="932688" y="2715768"/>
            <a:ext cx="7872984" cy="685800"/>
            <a:chOff x="0" y="0"/>
            <a:chExt cx="10497312" cy="914400"/>
          </a:xfrm>
        </p:grpSpPr>
        <p:sp>
          <p:nvSpPr>
            <p:cNvPr name="Freeform 43" id="43"/>
            <p:cNvSpPr/>
            <p:nvPr/>
          </p:nvSpPr>
          <p:spPr>
            <a:xfrm flipH="false" flipV="false" rot="0">
              <a:off x="0" y="0"/>
              <a:ext cx="10497312" cy="914400"/>
            </a:xfrm>
            <a:custGeom>
              <a:avLst/>
              <a:gdLst/>
              <a:ahLst/>
              <a:cxnLst/>
              <a:rect r="r" b="b" t="t" l="l"/>
              <a:pathLst>
                <a:path h="914400" w="10497312">
                  <a:moveTo>
                    <a:pt x="0" y="109728"/>
                  </a:moveTo>
                  <a:cubicBezTo>
                    <a:pt x="0" y="49149"/>
                    <a:pt x="49149" y="0"/>
                    <a:pt x="109728" y="0"/>
                  </a:cubicBezTo>
                  <a:lnTo>
                    <a:pt x="10387584" y="0"/>
                  </a:lnTo>
                  <a:cubicBezTo>
                    <a:pt x="10448163" y="0"/>
                    <a:pt x="10497312" y="49149"/>
                    <a:pt x="10497312" y="109728"/>
                  </a:cubicBezTo>
                  <a:lnTo>
                    <a:pt x="10497312" y="804672"/>
                  </a:lnTo>
                  <a:cubicBezTo>
                    <a:pt x="10497312" y="865251"/>
                    <a:pt x="10448163" y="914400"/>
                    <a:pt x="10387584" y="914400"/>
                  </a:cubicBezTo>
                  <a:lnTo>
                    <a:pt x="109728" y="914400"/>
                  </a:lnTo>
                  <a:cubicBezTo>
                    <a:pt x="49149" y="914400"/>
                    <a:pt x="0" y="865251"/>
                    <a:pt x="0" y="804672"/>
                  </a:cubicBezTo>
                  <a:close/>
                </a:path>
              </a:pathLst>
            </a:custGeom>
            <a:solidFill>
              <a:srgbClr val="F1F5F9"/>
            </a:solidFill>
          </p:spPr>
          <p:txBody>
            <a:bodyPr/>
            <a:p/>
          </p:txBody>
        </p:sp>
        <p:sp>
          <p:nvSpPr>
            <p:cNvPr name="TextBox 44" id="44"/>
            <p:cNvSpPr txBox="true"/>
            <p:nvPr/>
          </p:nvSpPr>
          <p:spPr>
            <a:xfrm>
              <a:off x="0" y="-9525"/>
              <a:ext cx="10497312" cy="923925"/>
            </a:xfrm>
            <a:prstGeom prst="rect">
              <a:avLst/>
            </a:prstGeom>
          </p:spPr>
          <p:txBody>
            <a:bodyPr anchor="ctr" rtlCol="false" tIns="50800" lIns="50800" bIns="50800" rIns="50800"/>
            <a:lstStyle/>
            <a:p>
              <a:pPr algn="l">
                <a:lnSpc>
                  <a:spcPts val="1547"/>
                </a:lnSpc>
              </a:pPr>
              <a:r>
                <a:rPr lang="en-US" sz="1289">
                  <a:solidFill>
                    <a:srgbClr val="334155"/>
                  </a:solidFill>
                  <a:latin typeface="DM Sans"/>
                  <a:ea typeface="DM Sans"/>
                  <a:cs typeface="DM Sans"/>
                  <a:sym typeface="DM Sans"/>
                </a:rPr>
                <a:t>The same illustrative persona with the proposed workflow. This has not been clinically tested.</a:t>
              </a:r>
            </a:p>
          </p:txBody>
        </p:sp>
      </p:grpSp>
      <p:grpSp>
        <p:nvGrpSpPr>
          <p:cNvPr name="Group 45" id="45"/>
          <p:cNvGrpSpPr/>
          <p:nvPr/>
        </p:nvGrpSpPr>
        <p:grpSpPr>
          <a:xfrm rot="0">
            <a:off x="932688" y="3566160"/>
            <a:ext cx="768096" cy="754380"/>
            <a:chOff x="0" y="0"/>
            <a:chExt cx="1024128" cy="1005840"/>
          </a:xfrm>
        </p:grpSpPr>
        <p:sp>
          <p:nvSpPr>
            <p:cNvPr name="Freeform 46" id="46"/>
            <p:cNvSpPr/>
            <p:nvPr/>
          </p:nvSpPr>
          <p:spPr>
            <a:xfrm flipH="false" flipV="false" rot="0">
              <a:off x="0" y="0"/>
              <a:ext cx="1024128" cy="1005840"/>
            </a:xfrm>
            <a:custGeom>
              <a:avLst/>
              <a:gdLst/>
              <a:ahLst/>
              <a:cxnLst/>
              <a:rect r="r" b="b" t="t" l="l"/>
              <a:pathLst>
                <a:path h="1005840" w="1024128">
                  <a:moveTo>
                    <a:pt x="0" y="120650"/>
                  </a:moveTo>
                  <a:cubicBezTo>
                    <a:pt x="0" y="54102"/>
                    <a:pt x="54102" y="0"/>
                    <a:pt x="120650" y="0"/>
                  </a:cubicBezTo>
                  <a:lnTo>
                    <a:pt x="903478" y="0"/>
                  </a:lnTo>
                  <a:cubicBezTo>
                    <a:pt x="970153" y="0"/>
                    <a:pt x="1024128" y="54102"/>
                    <a:pt x="1024128" y="120650"/>
                  </a:cubicBezTo>
                  <a:lnTo>
                    <a:pt x="1024128" y="885190"/>
                  </a:lnTo>
                  <a:cubicBezTo>
                    <a:pt x="1024128" y="951865"/>
                    <a:pt x="970026" y="1005840"/>
                    <a:pt x="903478" y="1005840"/>
                  </a:cubicBezTo>
                  <a:lnTo>
                    <a:pt x="120650" y="1005840"/>
                  </a:lnTo>
                  <a:cubicBezTo>
                    <a:pt x="54102" y="1005840"/>
                    <a:pt x="0" y="951738"/>
                    <a:pt x="0" y="885190"/>
                  </a:cubicBezTo>
                  <a:close/>
                </a:path>
              </a:pathLst>
            </a:custGeom>
            <a:solidFill>
              <a:srgbClr val="FFFFFF"/>
            </a:solidFill>
          </p:spPr>
          <p:txBody>
            <a:bodyPr/>
            <a:p/>
          </p:txBody>
        </p:sp>
        <p:sp>
          <p:nvSpPr>
            <p:cNvPr name="TextBox 47" id="47"/>
            <p:cNvSpPr txBox="true"/>
            <p:nvPr/>
          </p:nvSpPr>
          <p:spPr>
            <a:xfrm>
              <a:off x="0" y="0"/>
              <a:ext cx="1024128" cy="1005840"/>
            </a:xfrm>
            <a:prstGeom prst="rect">
              <a:avLst/>
            </a:prstGeom>
          </p:spPr>
          <p:txBody>
            <a:bodyPr anchor="ctr" rtlCol="false" tIns="50800" lIns="50800" bIns="50800" rIns="50800"/>
            <a:lstStyle/>
            <a:p>
              <a:pPr algn="l">
                <a:lnSpc>
                  <a:spcPts val="1367"/>
                </a:lnSpc>
              </a:pPr>
              <a:r>
                <a:rPr lang="en-US" sz="1139" b="true">
                  <a:solidFill>
                    <a:srgbClr val="64748B"/>
                  </a:solidFill>
                  <a:latin typeface="DM Sans Bold"/>
                  <a:ea typeface="DM Sans Bold"/>
                  <a:cs typeface="DM Sans Bold"/>
                  <a:sym typeface="DM Sans Bold"/>
                </a:rPr>
                <a:t>STAGE</a:t>
              </a:r>
            </a:p>
          </p:txBody>
        </p:sp>
      </p:grpSp>
      <p:grpSp>
        <p:nvGrpSpPr>
          <p:cNvPr name="Group 48" id="48"/>
          <p:cNvGrpSpPr/>
          <p:nvPr/>
        </p:nvGrpSpPr>
        <p:grpSpPr>
          <a:xfrm rot="0">
            <a:off x="932688" y="4430268"/>
            <a:ext cx="768096" cy="1714500"/>
            <a:chOff x="0" y="0"/>
            <a:chExt cx="1024128" cy="2286000"/>
          </a:xfrm>
        </p:grpSpPr>
        <p:sp>
          <p:nvSpPr>
            <p:cNvPr name="Freeform 49" id="49"/>
            <p:cNvSpPr/>
            <p:nvPr/>
          </p:nvSpPr>
          <p:spPr>
            <a:xfrm flipH="false" flipV="false" rot="0">
              <a:off x="0" y="0"/>
              <a:ext cx="1024128" cy="2286000"/>
            </a:xfrm>
            <a:custGeom>
              <a:avLst/>
              <a:gdLst/>
              <a:ahLst/>
              <a:cxnLst/>
              <a:rect r="r" b="b" t="t" l="l"/>
              <a:pathLst>
                <a:path h="2286000" w="1024128">
                  <a:moveTo>
                    <a:pt x="0" y="122936"/>
                  </a:moveTo>
                  <a:cubicBezTo>
                    <a:pt x="0" y="54991"/>
                    <a:pt x="54991" y="0"/>
                    <a:pt x="122936" y="0"/>
                  </a:cubicBezTo>
                  <a:lnTo>
                    <a:pt x="901192" y="0"/>
                  </a:lnTo>
                  <a:cubicBezTo>
                    <a:pt x="969010" y="0"/>
                    <a:pt x="1024128" y="54991"/>
                    <a:pt x="1024128" y="122936"/>
                  </a:cubicBezTo>
                  <a:lnTo>
                    <a:pt x="1024128" y="2163064"/>
                  </a:lnTo>
                  <a:cubicBezTo>
                    <a:pt x="1024128" y="2230882"/>
                    <a:pt x="969137" y="2286000"/>
                    <a:pt x="901192" y="2286000"/>
                  </a:cubicBezTo>
                  <a:lnTo>
                    <a:pt x="122936" y="2286000"/>
                  </a:lnTo>
                  <a:cubicBezTo>
                    <a:pt x="54991" y="2286000"/>
                    <a:pt x="0" y="2231009"/>
                    <a:pt x="0" y="2163064"/>
                  </a:cubicBezTo>
                  <a:close/>
                </a:path>
              </a:pathLst>
            </a:custGeom>
            <a:solidFill>
              <a:srgbClr val="FFFFFF"/>
            </a:solidFill>
          </p:spPr>
          <p:txBody>
            <a:bodyPr/>
            <a:p/>
          </p:txBody>
        </p:sp>
        <p:sp>
          <p:nvSpPr>
            <p:cNvPr name="TextBox 50" id="50"/>
            <p:cNvSpPr txBox="true"/>
            <p:nvPr/>
          </p:nvSpPr>
          <p:spPr>
            <a:xfrm>
              <a:off x="0" y="0"/>
              <a:ext cx="1024128" cy="2286000"/>
            </a:xfrm>
            <a:prstGeom prst="rect">
              <a:avLst/>
            </a:prstGeom>
          </p:spPr>
          <p:txBody>
            <a:bodyPr anchor="ctr" rtlCol="false" tIns="50800" lIns="50800" bIns="50800" rIns="50800"/>
            <a:lstStyle/>
            <a:p>
              <a:pPr algn="l">
                <a:lnSpc>
                  <a:spcPts val="1367"/>
                </a:lnSpc>
              </a:pPr>
              <a:r>
                <a:rPr lang="en-US" sz="1139" b="true">
                  <a:solidFill>
                    <a:srgbClr val="64748B"/>
                  </a:solidFill>
                  <a:latin typeface="DM Sans Bold"/>
                  <a:ea typeface="DM Sans Bold"/>
                  <a:cs typeface="DM Sans Bold"/>
                  <a:sym typeface="DM Sans Bold"/>
                </a:rPr>
                <a:t>WHAT HAPPENS</a:t>
              </a:r>
            </a:p>
          </p:txBody>
        </p:sp>
      </p:grpSp>
      <p:grpSp>
        <p:nvGrpSpPr>
          <p:cNvPr name="Group 51" id="51"/>
          <p:cNvGrpSpPr/>
          <p:nvPr/>
        </p:nvGrpSpPr>
        <p:grpSpPr>
          <a:xfrm rot="0">
            <a:off x="932688" y="6254496"/>
            <a:ext cx="768096" cy="1440180"/>
            <a:chOff x="0" y="0"/>
            <a:chExt cx="1024128" cy="1920240"/>
          </a:xfrm>
        </p:grpSpPr>
        <p:sp>
          <p:nvSpPr>
            <p:cNvPr name="Freeform 52" id="52"/>
            <p:cNvSpPr/>
            <p:nvPr/>
          </p:nvSpPr>
          <p:spPr>
            <a:xfrm flipH="false" flipV="false" rot="0">
              <a:off x="0" y="0"/>
              <a:ext cx="1024128" cy="1920240"/>
            </a:xfrm>
            <a:custGeom>
              <a:avLst/>
              <a:gdLst/>
              <a:ahLst/>
              <a:cxnLst/>
              <a:rect r="r" b="b" t="t" l="l"/>
              <a:pathLst>
                <a:path h="1920240" w="1024128">
                  <a:moveTo>
                    <a:pt x="0" y="122936"/>
                  </a:moveTo>
                  <a:cubicBezTo>
                    <a:pt x="0" y="54991"/>
                    <a:pt x="54991" y="0"/>
                    <a:pt x="122936" y="0"/>
                  </a:cubicBezTo>
                  <a:lnTo>
                    <a:pt x="901192" y="0"/>
                  </a:lnTo>
                  <a:cubicBezTo>
                    <a:pt x="969010" y="0"/>
                    <a:pt x="1024128" y="54991"/>
                    <a:pt x="1024128" y="122936"/>
                  </a:cubicBezTo>
                  <a:lnTo>
                    <a:pt x="1024128" y="1797304"/>
                  </a:lnTo>
                  <a:cubicBezTo>
                    <a:pt x="1024128" y="1865122"/>
                    <a:pt x="969137" y="1920240"/>
                    <a:pt x="901192" y="1920240"/>
                  </a:cubicBezTo>
                  <a:lnTo>
                    <a:pt x="122936" y="1920240"/>
                  </a:lnTo>
                  <a:cubicBezTo>
                    <a:pt x="55118" y="1920240"/>
                    <a:pt x="0" y="1865249"/>
                    <a:pt x="0" y="1797304"/>
                  </a:cubicBezTo>
                  <a:close/>
                </a:path>
              </a:pathLst>
            </a:custGeom>
            <a:solidFill>
              <a:srgbClr val="FFFFFF"/>
            </a:solidFill>
          </p:spPr>
          <p:txBody>
            <a:bodyPr/>
            <a:p/>
          </p:txBody>
        </p:sp>
        <p:sp>
          <p:nvSpPr>
            <p:cNvPr name="TextBox 53" id="53"/>
            <p:cNvSpPr txBox="true"/>
            <p:nvPr/>
          </p:nvSpPr>
          <p:spPr>
            <a:xfrm>
              <a:off x="0" y="0"/>
              <a:ext cx="1024128" cy="1920240"/>
            </a:xfrm>
            <a:prstGeom prst="rect">
              <a:avLst/>
            </a:prstGeom>
          </p:spPr>
          <p:txBody>
            <a:bodyPr anchor="ctr" rtlCol="false" tIns="50800" lIns="50800" bIns="50800" rIns="50800"/>
            <a:lstStyle/>
            <a:p>
              <a:pPr algn="l">
                <a:lnSpc>
                  <a:spcPts val="1367"/>
                </a:lnSpc>
              </a:pPr>
              <a:r>
                <a:rPr lang="en-US" sz="1139" b="true">
                  <a:solidFill>
                    <a:srgbClr val="64748B"/>
                  </a:solidFill>
                  <a:latin typeface="DM Sans Bold"/>
                  <a:ea typeface="DM Sans Bold"/>
                  <a:cs typeface="DM Sans Bold"/>
                  <a:sym typeface="DM Sans Bold"/>
                </a:rPr>
                <a:t>GAIN</a:t>
              </a:r>
            </a:p>
          </p:txBody>
        </p:sp>
      </p:grpSp>
      <p:grpSp>
        <p:nvGrpSpPr>
          <p:cNvPr name="Group 54" id="54"/>
          <p:cNvGrpSpPr/>
          <p:nvPr/>
        </p:nvGrpSpPr>
        <p:grpSpPr>
          <a:xfrm rot="0">
            <a:off x="1770698" y="3553778"/>
            <a:ext cx="1297610" cy="779145"/>
            <a:chOff x="0" y="0"/>
            <a:chExt cx="1730146" cy="1038860"/>
          </a:xfrm>
        </p:grpSpPr>
        <p:sp>
          <p:nvSpPr>
            <p:cNvPr name="Freeform 55" id="55"/>
            <p:cNvSpPr/>
            <p:nvPr/>
          </p:nvSpPr>
          <p:spPr>
            <a:xfrm flipH="false" flipV="false" rot="0">
              <a:off x="0" y="0"/>
              <a:ext cx="1730248" cy="1038860"/>
            </a:xfrm>
            <a:custGeom>
              <a:avLst/>
              <a:gdLst/>
              <a:ahLst/>
              <a:cxnLst/>
              <a:rect r="r" b="b" t="t" l="l"/>
              <a:pathLst>
                <a:path h="1038860" w="1730248">
                  <a:moveTo>
                    <a:pt x="0" y="124714"/>
                  </a:moveTo>
                  <a:cubicBezTo>
                    <a:pt x="0" y="55753"/>
                    <a:pt x="55753" y="0"/>
                    <a:pt x="124714" y="0"/>
                  </a:cubicBezTo>
                  <a:lnTo>
                    <a:pt x="1605534" y="0"/>
                  </a:lnTo>
                  <a:cubicBezTo>
                    <a:pt x="1674368" y="0"/>
                    <a:pt x="1730248" y="55753"/>
                    <a:pt x="1730248" y="124714"/>
                  </a:cubicBezTo>
                  <a:lnTo>
                    <a:pt x="1730248" y="914146"/>
                  </a:lnTo>
                  <a:cubicBezTo>
                    <a:pt x="1730248" y="982980"/>
                    <a:pt x="1674495" y="1038860"/>
                    <a:pt x="1605534" y="1038860"/>
                  </a:cubicBezTo>
                  <a:lnTo>
                    <a:pt x="124714" y="1038860"/>
                  </a:lnTo>
                  <a:cubicBezTo>
                    <a:pt x="55753" y="1038860"/>
                    <a:pt x="0" y="983107"/>
                    <a:pt x="0" y="914146"/>
                  </a:cubicBezTo>
                  <a:close/>
                </a:path>
              </a:pathLst>
            </a:custGeom>
            <a:solidFill>
              <a:srgbClr val="EFF6FF"/>
            </a:solidFill>
            <a:ln w="24765" cap="sq">
              <a:solidFill>
                <a:srgbClr val="0369A1"/>
              </a:solidFill>
              <a:prstDash val="solid"/>
              <a:miter/>
            </a:ln>
          </p:spPr>
          <p:txBody>
            <a:bodyPr/>
            <a:p/>
          </p:txBody>
        </p:sp>
        <p:sp>
          <p:nvSpPr>
            <p:cNvPr name="TextBox 56" id="56"/>
            <p:cNvSpPr txBox="true"/>
            <p:nvPr/>
          </p:nvSpPr>
          <p:spPr>
            <a:xfrm>
              <a:off x="0" y="0"/>
              <a:ext cx="1730146" cy="1038860"/>
            </a:xfrm>
            <a:prstGeom prst="rect">
              <a:avLst/>
            </a:prstGeom>
          </p:spPr>
          <p:txBody>
            <a:bodyPr anchor="ctr" rtlCol="false" tIns="50800" lIns="50800" bIns="50800" rIns="50800"/>
            <a:lstStyle/>
            <a:p>
              <a:pPr algn="ctr">
                <a:lnSpc>
                  <a:spcPts val="1620"/>
                </a:lnSpc>
              </a:pPr>
              <a:r>
                <a:rPr lang="en-US" sz="1350" b="true">
                  <a:solidFill>
                    <a:srgbClr val="0369A1"/>
                  </a:solidFill>
                  <a:latin typeface="DM Sans Bold"/>
                  <a:ea typeface="DM Sans Bold"/>
                  <a:cs typeface="DM Sans Bold"/>
                  <a:sym typeface="DM Sans Bold"/>
                </a:rPr>
                <a:t>1  </a:t>
              </a:r>
              <a:r>
                <a:rPr lang="en-US" sz="1350" b="true">
                  <a:solidFill>
                    <a:srgbClr val="0F172A"/>
                  </a:solidFill>
                  <a:latin typeface="DM Sans Bold"/>
                  <a:ea typeface="DM Sans Bold"/>
                  <a:cs typeface="DM Sans Bold"/>
                  <a:sym typeface="DM Sans Bold"/>
                </a:rPr>
                <a:t>Strip on</a:t>
              </a:r>
            </a:p>
          </p:txBody>
        </p:sp>
      </p:grpSp>
      <p:grpSp>
        <p:nvGrpSpPr>
          <p:cNvPr name="Group 57" id="57"/>
          <p:cNvGrpSpPr/>
          <p:nvPr/>
        </p:nvGrpSpPr>
        <p:grpSpPr>
          <a:xfrm rot="0">
            <a:off x="1773555" y="4420743"/>
            <a:ext cx="1291895" cy="1733550"/>
            <a:chOff x="0" y="0"/>
            <a:chExt cx="1722526" cy="2311400"/>
          </a:xfrm>
        </p:grpSpPr>
        <p:sp>
          <p:nvSpPr>
            <p:cNvPr name="Freeform 58" id="58"/>
            <p:cNvSpPr/>
            <p:nvPr/>
          </p:nvSpPr>
          <p:spPr>
            <a:xfrm flipH="false" flipV="false" rot="0">
              <a:off x="0" y="0"/>
              <a:ext cx="1722628" cy="2311400"/>
            </a:xfrm>
            <a:custGeom>
              <a:avLst/>
              <a:gdLst/>
              <a:ahLst/>
              <a:cxnLst/>
              <a:rect r="r" b="b" t="t" l="l"/>
              <a:pathLst>
                <a:path h="2311400" w="1722628">
                  <a:moveTo>
                    <a:pt x="0" y="206756"/>
                  </a:moveTo>
                  <a:cubicBezTo>
                    <a:pt x="0" y="92583"/>
                    <a:pt x="92583" y="0"/>
                    <a:pt x="206756" y="0"/>
                  </a:cubicBezTo>
                  <a:lnTo>
                    <a:pt x="1515872" y="0"/>
                  </a:lnTo>
                  <a:cubicBezTo>
                    <a:pt x="1630045" y="0"/>
                    <a:pt x="1722628" y="92583"/>
                    <a:pt x="1722628" y="206756"/>
                  </a:cubicBezTo>
                  <a:lnTo>
                    <a:pt x="1722628" y="2104644"/>
                  </a:lnTo>
                  <a:cubicBezTo>
                    <a:pt x="1722628" y="2218817"/>
                    <a:pt x="1630045" y="2311400"/>
                    <a:pt x="1515872" y="2311400"/>
                  </a:cubicBezTo>
                  <a:lnTo>
                    <a:pt x="206756" y="2311400"/>
                  </a:lnTo>
                  <a:cubicBezTo>
                    <a:pt x="92583" y="2311400"/>
                    <a:pt x="0" y="2218817"/>
                    <a:pt x="0" y="2104644"/>
                  </a:cubicBezTo>
                  <a:close/>
                </a:path>
              </a:pathLst>
            </a:custGeom>
            <a:solidFill>
              <a:srgbClr val="FFFFFF"/>
            </a:solidFill>
            <a:ln w="19050" cap="sq">
              <a:solidFill>
                <a:srgbClr val="E2E8F0"/>
              </a:solidFill>
              <a:prstDash val="solid"/>
              <a:miter/>
            </a:ln>
          </p:spPr>
          <p:txBody>
            <a:bodyPr/>
            <a:p/>
          </p:txBody>
        </p:sp>
        <p:sp>
          <p:nvSpPr>
            <p:cNvPr name="TextBox 59" id="59"/>
            <p:cNvSpPr txBox="true"/>
            <p:nvPr/>
          </p:nvSpPr>
          <p:spPr>
            <a:xfrm>
              <a:off x="0" y="-9525"/>
              <a:ext cx="1722526" cy="2320925"/>
            </a:xfrm>
            <a:prstGeom prst="rect">
              <a:avLst/>
            </a:prstGeom>
          </p:spPr>
          <p:txBody>
            <a:bodyPr anchor="ctr" rtlCol="false" tIns="50800" lIns="50800" bIns="50800" rIns="50800"/>
            <a:lstStyle/>
            <a:p>
              <a:pPr algn="ctr">
                <a:lnSpc>
                  <a:spcPts val="1512"/>
                </a:lnSpc>
              </a:pPr>
              <a:r>
                <a:rPr lang="en-US" sz="1260">
                  <a:solidFill>
                    <a:srgbClr val="334155"/>
                  </a:solidFill>
                  <a:latin typeface="DM Sans"/>
                  <a:ea typeface="DM Sans"/>
                  <a:cs typeface="DM Sans"/>
                  <a:sym typeface="DM Sans"/>
                </a:rPr>
                <a:t>placed on the pad's outer face</a:t>
              </a:r>
            </a:p>
          </p:txBody>
        </p:sp>
      </p:grpSp>
      <p:grpSp>
        <p:nvGrpSpPr>
          <p:cNvPr name="Group 60" id="60"/>
          <p:cNvGrpSpPr/>
          <p:nvPr/>
        </p:nvGrpSpPr>
        <p:grpSpPr>
          <a:xfrm rot="0">
            <a:off x="1783080" y="6254496"/>
            <a:ext cx="1272845" cy="1440180"/>
            <a:chOff x="0" y="0"/>
            <a:chExt cx="1697126" cy="1920240"/>
          </a:xfrm>
        </p:grpSpPr>
        <p:sp>
          <p:nvSpPr>
            <p:cNvPr name="Freeform 61" id="61"/>
            <p:cNvSpPr/>
            <p:nvPr/>
          </p:nvSpPr>
          <p:spPr>
            <a:xfrm flipH="false" flipV="false" rot="0">
              <a:off x="0" y="0"/>
              <a:ext cx="1697228" cy="1920240"/>
            </a:xfrm>
            <a:custGeom>
              <a:avLst/>
              <a:gdLst/>
              <a:ahLst/>
              <a:cxnLst/>
              <a:rect r="r" b="b" t="t" l="l"/>
              <a:pathLst>
                <a:path h="1920240" w="1697228">
                  <a:moveTo>
                    <a:pt x="0" y="203708"/>
                  </a:moveTo>
                  <a:cubicBezTo>
                    <a:pt x="0" y="91186"/>
                    <a:pt x="91186" y="0"/>
                    <a:pt x="203708" y="0"/>
                  </a:cubicBezTo>
                  <a:lnTo>
                    <a:pt x="1493520" y="0"/>
                  </a:lnTo>
                  <a:cubicBezTo>
                    <a:pt x="1606042" y="0"/>
                    <a:pt x="1697228" y="91186"/>
                    <a:pt x="1697228" y="203708"/>
                  </a:cubicBezTo>
                  <a:lnTo>
                    <a:pt x="1697228" y="1716532"/>
                  </a:lnTo>
                  <a:cubicBezTo>
                    <a:pt x="1697228" y="1829054"/>
                    <a:pt x="1606042" y="1920240"/>
                    <a:pt x="1493520" y="1920240"/>
                  </a:cubicBezTo>
                  <a:lnTo>
                    <a:pt x="203708" y="1920240"/>
                  </a:lnTo>
                  <a:cubicBezTo>
                    <a:pt x="91186" y="1920240"/>
                    <a:pt x="0" y="1829054"/>
                    <a:pt x="0" y="1716532"/>
                  </a:cubicBezTo>
                  <a:close/>
                </a:path>
              </a:pathLst>
            </a:custGeom>
            <a:solidFill>
              <a:srgbClr val="EFF6FF"/>
            </a:solidFill>
          </p:spPr>
          <p:txBody>
            <a:bodyPr/>
            <a:p/>
          </p:txBody>
        </p:sp>
        <p:sp>
          <p:nvSpPr>
            <p:cNvPr name="TextBox 62" id="62"/>
            <p:cNvSpPr txBox="true"/>
            <p:nvPr/>
          </p:nvSpPr>
          <p:spPr>
            <a:xfrm>
              <a:off x="0" y="-9525"/>
              <a:ext cx="1697126" cy="1929765"/>
            </a:xfrm>
            <a:prstGeom prst="rect">
              <a:avLst/>
            </a:prstGeom>
          </p:spPr>
          <p:txBody>
            <a:bodyPr anchor="ctr" rtlCol="false" tIns="50800" lIns="50800" bIns="50800" rIns="50800"/>
            <a:lstStyle/>
            <a:p>
              <a:pPr algn="ctr">
                <a:lnSpc>
                  <a:spcPts val="1512"/>
                </a:lnSpc>
              </a:pPr>
              <a:r>
                <a:rPr lang="en-US" sz="1260" b="true">
                  <a:solidFill>
                    <a:srgbClr val="047857"/>
                  </a:solidFill>
                  <a:latin typeface="DM Sans Bold"/>
                  <a:ea typeface="DM Sans Bold"/>
                  <a:cs typeface="DM Sans Bold"/>
                  <a:sym typeface="DM Sans Bold"/>
                </a:rPr>
                <a:t>nothing on the wound</a:t>
              </a:r>
            </a:p>
          </p:txBody>
        </p:sp>
      </p:grpSp>
      <p:grpSp>
        <p:nvGrpSpPr>
          <p:cNvPr name="Group 63" id="63"/>
          <p:cNvGrpSpPr/>
          <p:nvPr/>
        </p:nvGrpSpPr>
        <p:grpSpPr>
          <a:xfrm rot="0">
            <a:off x="3028493" y="3806190"/>
            <a:ext cx="219456" cy="274320"/>
            <a:chOff x="0" y="0"/>
            <a:chExt cx="292608" cy="365760"/>
          </a:xfrm>
        </p:grpSpPr>
        <p:sp>
          <p:nvSpPr>
            <p:cNvPr name="Freeform 64" id="64"/>
            <p:cNvSpPr/>
            <p:nvPr/>
          </p:nvSpPr>
          <p:spPr>
            <a:xfrm flipH="false" flipV="false" rot="0">
              <a:off x="0" y="0"/>
              <a:ext cx="292608" cy="365760"/>
            </a:xfrm>
            <a:custGeom>
              <a:avLst/>
              <a:gdLst/>
              <a:ahLst/>
              <a:cxnLst/>
              <a:rect r="r" b="b" t="t" l="l"/>
              <a:pathLst>
                <a:path h="365760" w="292608">
                  <a:moveTo>
                    <a:pt x="0" y="91440"/>
                  </a:moveTo>
                  <a:lnTo>
                    <a:pt x="146304" y="91440"/>
                  </a:lnTo>
                  <a:lnTo>
                    <a:pt x="146304" y="0"/>
                  </a:lnTo>
                  <a:lnTo>
                    <a:pt x="292608" y="182880"/>
                  </a:lnTo>
                  <a:lnTo>
                    <a:pt x="146304" y="365760"/>
                  </a:lnTo>
                  <a:lnTo>
                    <a:pt x="146304" y="274320"/>
                  </a:lnTo>
                  <a:lnTo>
                    <a:pt x="0" y="274320"/>
                  </a:lnTo>
                  <a:close/>
                </a:path>
              </a:pathLst>
            </a:custGeom>
            <a:solidFill>
              <a:srgbClr val="94A3B8"/>
            </a:solidFill>
          </p:spPr>
          <p:txBody>
            <a:bodyPr/>
            <a:p/>
          </p:txBody>
        </p:sp>
      </p:grpSp>
      <p:grpSp>
        <p:nvGrpSpPr>
          <p:cNvPr name="Group 65" id="65"/>
          <p:cNvGrpSpPr/>
          <p:nvPr/>
        </p:nvGrpSpPr>
        <p:grpSpPr>
          <a:xfrm rot="0">
            <a:off x="3208134" y="3553778"/>
            <a:ext cx="1297610" cy="779145"/>
            <a:chOff x="0" y="0"/>
            <a:chExt cx="1730146" cy="1038860"/>
          </a:xfrm>
        </p:grpSpPr>
        <p:sp>
          <p:nvSpPr>
            <p:cNvPr name="Freeform 66" id="66"/>
            <p:cNvSpPr/>
            <p:nvPr/>
          </p:nvSpPr>
          <p:spPr>
            <a:xfrm flipH="false" flipV="false" rot="0">
              <a:off x="0" y="0"/>
              <a:ext cx="1730248" cy="1038860"/>
            </a:xfrm>
            <a:custGeom>
              <a:avLst/>
              <a:gdLst/>
              <a:ahLst/>
              <a:cxnLst/>
              <a:rect r="r" b="b" t="t" l="l"/>
              <a:pathLst>
                <a:path h="1038860" w="1730248">
                  <a:moveTo>
                    <a:pt x="0" y="124714"/>
                  </a:moveTo>
                  <a:cubicBezTo>
                    <a:pt x="0" y="55753"/>
                    <a:pt x="55753" y="0"/>
                    <a:pt x="124714" y="0"/>
                  </a:cubicBezTo>
                  <a:lnTo>
                    <a:pt x="1605534" y="0"/>
                  </a:lnTo>
                  <a:cubicBezTo>
                    <a:pt x="1674368" y="0"/>
                    <a:pt x="1730248" y="55753"/>
                    <a:pt x="1730248" y="124714"/>
                  </a:cubicBezTo>
                  <a:lnTo>
                    <a:pt x="1730248" y="914146"/>
                  </a:lnTo>
                  <a:cubicBezTo>
                    <a:pt x="1730248" y="982980"/>
                    <a:pt x="1674495" y="1038860"/>
                    <a:pt x="1605534" y="1038860"/>
                  </a:cubicBezTo>
                  <a:lnTo>
                    <a:pt x="124714" y="1038860"/>
                  </a:lnTo>
                  <a:cubicBezTo>
                    <a:pt x="55753" y="1038860"/>
                    <a:pt x="0" y="983107"/>
                    <a:pt x="0" y="914146"/>
                  </a:cubicBezTo>
                  <a:close/>
                </a:path>
              </a:pathLst>
            </a:custGeom>
            <a:solidFill>
              <a:srgbClr val="EFF6FF"/>
            </a:solidFill>
            <a:ln w="24765" cap="sq">
              <a:solidFill>
                <a:srgbClr val="0369A1"/>
              </a:solidFill>
              <a:prstDash val="solid"/>
              <a:miter/>
            </a:ln>
          </p:spPr>
          <p:txBody>
            <a:bodyPr/>
            <a:p/>
          </p:txBody>
        </p:sp>
        <p:sp>
          <p:nvSpPr>
            <p:cNvPr name="TextBox 67" id="67"/>
            <p:cNvSpPr txBox="true"/>
            <p:nvPr/>
          </p:nvSpPr>
          <p:spPr>
            <a:xfrm>
              <a:off x="0" y="0"/>
              <a:ext cx="1730146" cy="1038860"/>
            </a:xfrm>
            <a:prstGeom prst="rect">
              <a:avLst/>
            </a:prstGeom>
          </p:spPr>
          <p:txBody>
            <a:bodyPr anchor="ctr" rtlCol="false" tIns="50800" lIns="50800" bIns="50800" rIns="50800"/>
            <a:lstStyle/>
            <a:p>
              <a:pPr algn="ctr">
                <a:lnSpc>
                  <a:spcPts val="1620"/>
                </a:lnSpc>
              </a:pPr>
              <a:r>
                <a:rPr lang="en-US" sz="1350" b="true">
                  <a:solidFill>
                    <a:srgbClr val="0369A1"/>
                  </a:solidFill>
                  <a:latin typeface="DM Sans Bold"/>
                  <a:ea typeface="DM Sans Bold"/>
                  <a:cs typeface="DM Sans Bold"/>
                  <a:sym typeface="DM Sans Bold"/>
                </a:rPr>
                <a:t>2  </a:t>
              </a:r>
              <a:r>
                <a:rPr lang="en-US" sz="1350" b="true">
                  <a:solidFill>
                    <a:srgbClr val="0F172A"/>
                  </a:solidFill>
                  <a:latin typeface="DM Sans Bold"/>
                  <a:ea typeface="DM Sans Bold"/>
                  <a:cs typeface="DM Sans Bold"/>
                  <a:sym typeface="DM Sans Bold"/>
                </a:rPr>
                <a:t>Reader on</a:t>
              </a:r>
            </a:p>
          </p:txBody>
        </p:sp>
      </p:grpSp>
      <p:grpSp>
        <p:nvGrpSpPr>
          <p:cNvPr name="Group 68" id="68"/>
          <p:cNvGrpSpPr/>
          <p:nvPr/>
        </p:nvGrpSpPr>
        <p:grpSpPr>
          <a:xfrm rot="0">
            <a:off x="3210992" y="4420743"/>
            <a:ext cx="1291895" cy="1733550"/>
            <a:chOff x="0" y="0"/>
            <a:chExt cx="1722526" cy="2311400"/>
          </a:xfrm>
        </p:grpSpPr>
        <p:sp>
          <p:nvSpPr>
            <p:cNvPr name="Freeform 69" id="69"/>
            <p:cNvSpPr/>
            <p:nvPr/>
          </p:nvSpPr>
          <p:spPr>
            <a:xfrm flipH="false" flipV="false" rot="0">
              <a:off x="0" y="0"/>
              <a:ext cx="1722628" cy="2311400"/>
            </a:xfrm>
            <a:custGeom>
              <a:avLst/>
              <a:gdLst/>
              <a:ahLst/>
              <a:cxnLst/>
              <a:rect r="r" b="b" t="t" l="l"/>
              <a:pathLst>
                <a:path h="2311400" w="1722628">
                  <a:moveTo>
                    <a:pt x="0" y="206756"/>
                  </a:moveTo>
                  <a:cubicBezTo>
                    <a:pt x="0" y="92583"/>
                    <a:pt x="92583" y="0"/>
                    <a:pt x="206756" y="0"/>
                  </a:cubicBezTo>
                  <a:lnTo>
                    <a:pt x="1515872" y="0"/>
                  </a:lnTo>
                  <a:cubicBezTo>
                    <a:pt x="1630045" y="0"/>
                    <a:pt x="1722628" y="92583"/>
                    <a:pt x="1722628" y="206756"/>
                  </a:cubicBezTo>
                  <a:lnTo>
                    <a:pt x="1722628" y="2104644"/>
                  </a:lnTo>
                  <a:cubicBezTo>
                    <a:pt x="1722628" y="2218817"/>
                    <a:pt x="1630045" y="2311400"/>
                    <a:pt x="1515872" y="2311400"/>
                  </a:cubicBezTo>
                  <a:lnTo>
                    <a:pt x="206756" y="2311400"/>
                  </a:lnTo>
                  <a:cubicBezTo>
                    <a:pt x="92583" y="2311400"/>
                    <a:pt x="0" y="2218817"/>
                    <a:pt x="0" y="2104644"/>
                  </a:cubicBezTo>
                  <a:close/>
                </a:path>
              </a:pathLst>
            </a:custGeom>
            <a:solidFill>
              <a:srgbClr val="FFFFFF"/>
            </a:solidFill>
            <a:ln w="19050" cap="sq">
              <a:solidFill>
                <a:srgbClr val="E2E8F0"/>
              </a:solidFill>
              <a:prstDash val="solid"/>
              <a:miter/>
            </a:ln>
          </p:spPr>
          <p:txBody>
            <a:bodyPr/>
            <a:p/>
          </p:txBody>
        </p:sp>
        <p:sp>
          <p:nvSpPr>
            <p:cNvPr name="TextBox 70" id="70"/>
            <p:cNvSpPr txBox="true"/>
            <p:nvPr/>
          </p:nvSpPr>
          <p:spPr>
            <a:xfrm>
              <a:off x="0" y="-9525"/>
              <a:ext cx="1722526" cy="2320925"/>
            </a:xfrm>
            <a:prstGeom prst="rect">
              <a:avLst/>
            </a:prstGeom>
          </p:spPr>
          <p:txBody>
            <a:bodyPr anchor="ctr" rtlCol="false" tIns="50800" lIns="50800" bIns="50800" rIns="50800"/>
            <a:lstStyle/>
            <a:p>
              <a:pPr algn="ctr">
                <a:lnSpc>
                  <a:spcPts val="1512"/>
                </a:lnSpc>
              </a:pPr>
              <a:r>
                <a:rPr lang="en-US" sz="1260">
                  <a:solidFill>
                    <a:srgbClr val="334155"/>
                  </a:solidFill>
                  <a:latin typeface="DM Sans"/>
                  <a:ea typeface="DM Sans"/>
                  <a:cs typeface="DM Sans"/>
                  <a:sym typeface="DM Sans"/>
                </a:rPr>
                <a:t>clips on: 4 pins, 2 dowels</a:t>
              </a:r>
            </a:p>
          </p:txBody>
        </p:sp>
      </p:grpSp>
      <p:grpSp>
        <p:nvGrpSpPr>
          <p:cNvPr name="Group 71" id="71"/>
          <p:cNvGrpSpPr/>
          <p:nvPr/>
        </p:nvGrpSpPr>
        <p:grpSpPr>
          <a:xfrm rot="0">
            <a:off x="3220517" y="6254496"/>
            <a:ext cx="1272845" cy="1440180"/>
            <a:chOff x="0" y="0"/>
            <a:chExt cx="1697126" cy="1920240"/>
          </a:xfrm>
        </p:grpSpPr>
        <p:sp>
          <p:nvSpPr>
            <p:cNvPr name="Freeform 72" id="72"/>
            <p:cNvSpPr/>
            <p:nvPr/>
          </p:nvSpPr>
          <p:spPr>
            <a:xfrm flipH="false" flipV="false" rot="0">
              <a:off x="0" y="0"/>
              <a:ext cx="1697228" cy="1920240"/>
            </a:xfrm>
            <a:custGeom>
              <a:avLst/>
              <a:gdLst/>
              <a:ahLst/>
              <a:cxnLst/>
              <a:rect r="r" b="b" t="t" l="l"/>
              <a:pathLst>
                <a:path h="1920240" w="1697228">
                  <a:moveTo>
                    <a:pt x="0" y="203708"/>
                  </a:moveTo>
                  <a:cubicBezTo>
                    <a:pt x="0" y="91186"/>
                    <a:pt x="91186" y="0"/>
                    <a:pt x="203708" y="0"/>
                  </a:cubicBezTo>
                  <a:lnTo>
                    <a:pt x="1493520" y="0"/>
                  </a:lnTo>
                  <a:cubicBezTo>
                    <a:pt x="1606042" y="0"/>
                    <a:pt x="1697228" y="91186"/>
                    <a:pt x="1697228" y="203708"/>
                  </a:cubicBezTo>
                  <a:lnTo>
                    <a:pt x="1697228" y="1716532"/>
                  </a:lnTo>
                  <a:cubicBezTo>
                    <a:pt x="1697228" y="1829054"/>
                    <a:pt x="1606042" y="1920240"/>
                    <a:pt x="1493520" y="1920240"/>
                  </a:cubicBezTo>
                  <a:lnTo>
                    <a:pt x="203708" y="1920240"/>
                  </a:lnTo>
                  <a:cubicBezTo>
                    <a:pt x="91186" y="1920240"/>
                    <a:pt x="0" y="1829054"/>
                    <a:pt x="0" y="1716532"/>
                  </a:cubicBezTo>
                  <a:close/>
                </a:path>
              </a:pathLst>
            </a:custGeom>
            <a:solidFill>
              <a:srgbClr val="EFF6FF"/>
            </a:solidFill>
          </p:spPr>
          <p:txBody>
            <a:bodyPr/>
            <a:p/>
          </p:txBody>
        </p:sp>
        <p:sp>
          <p:nvSpPr>
            <p:cNvPr name="TextBox 73" id="73"/>
            <p:cNvSpPr txBox="true"/>
            <p:nvPr/>
          </p:nvSpPr>
          <p:spPr>
            <a:xfrm>
              <a:off x="0" y="-9525"/>
              <a:ext cx="1697126" cy="1929765"/>
            </a:xfrm>
            <a:prstGeom prst="rect">
              <a:avLst/>
            </a:prstGeom>
          </p:spPr>
          <p:txBody>
            <a:bodyPr anchor="ctr" rtlCol="false" tIns="50800" lIns="50800" bIns="50800" rIns="50800"/>
            <a:lstStyle/>
            <a:p>
              <a:pPr algn="ctr">
                <a:lnSpc>
                  <a:spcPts val="1512"/>
                </a:lnSpc>
              </a:pPr>
              <a:r>
                <a:rPr lang="en-US" sz="1260" b="true">
                  <a:solidFill>
                    <a:srgbClr val="047857"/>
                  </a:solidFill>
                  <a:latin typeface="DM Sans Bold"/>
                  <a:ea typeface="DM Sans Bold"/>
                  <a:cs typeface="DM Sans Bold"/>
                  <a:sym typeface="DM Sans Bold"/>
                </a:rPr>
                <a:t>same routine</a:t>
              </a:r>
            </a:p>
          </p:txBody>
        </p:sp>
      </p:grpSp>
      <p:grpSp>
        <p:nvGrpSpPr>
          <p:cNvPr name="Group 74" id="74"/>
          <p:cNvGrpSpPr/>
          <p:nvPr/>
        </p:nvGrpSpPr>
        <p:grpSpPr>
          <a:xfrm rot="0">
            <a:off x="4465930" y="3806190"/>
            <a:ext cx="219456" cy="274320"/>
            <a:chOff x="0" y="0"/>
            <a:chExt cx="292608" cy="365760"/>
          </a:xfrm>
        </p:grpSpPr>
        <p:sp>
          <p:nvSpPr>
            <p:cNvPr name="Freeform 75" id="75"/>
            <p:cNvSpPr/>
            <p:nvPr/>
          </p:nvSpPr>
          <p:spPr>
            <a:xfrm flipH="false" flipV="false" rot="0">
              <a:off x="0" y="0"/>
              <a:ext cx="292608" cy="365760"/>
            </a:xfrm>
            <a:custGeom>
              <a:avLst/>
              <a:gdLst/>
              <a:ahLst/>
              <a:cxnLst/>
              <a:rect r="r" b="b" t="t" l="l"/>
              <a:pathLst>
                <a:path h="365760" w="292608">
                  <a:moveTo>
                    <a:pt x="0" y="91440"/>
                  </a:moveTo>
                  <a:lnTo>
                    <a:pt x="146304" y="91440"/>
                  </a:lnTo>
                  <a:lnTo>
                    <a:pt x="146304" y="0"/>
                  </a:lnTo>
                  <a:lnTo>
                    <a:pt x="292608" y="182880"/>
                  </a:lnTo>
                  <a:lnTo>
                    <a:pt x="146304" y="365760"/>
                  </a:lnTo>
                  <a:lnTo>
                    <a:pt x="146304" y="274320"/>
                  </a:lnTo>
                  <a:lnTo>
                    <a:pt x="0" y="274320"/>
                  </a:lnTo>
                  <a:close/>
                </a:path>
              </a:pathLst>
            </a:custGeom>
            <a:solidFill>
              <a:srgbClr val="94A3B8"/>
            </a:solidFill>
          </p:spPr>
          <p:txBody>
            <a:bodyPr/>
            <a:p/>
          </p:txBody>
        </p:sp>
      </p:grpSp>
      <p:grpSp>
        <p:nvGrpSpPr>
          <p:cNvPr name="Group 76" id="76"/>
          <p:cNvGrpSpPr/>
          <p:nvPr/>
        </p:nvGrpSpPr>
        <p:grpSpPr>
          <a:xfrm rot="0">
            <a:off x="4645571" y="3553778"/>
            <a:ext cx="1297610" cy="779145"/>
            <a:chOff x="0" y="0"/>
            <a:chExt cx="1730146" cy="1038860"/>
          </a:xfrm>
        </p:grpSpPr>
        <p:sp>
          <p:nvSpPr>
            <p:cNvPr name="Freeform 77" id="77"/>
            <p:cNvSpPr/>
            <p:nvPr/>
          </p:nvSpPr>
          <p:spPr>
            <a:xfrm flipH="false" flipV="false" rot="0">
              <a:off x="0" y="0"/>
              <a:ext cx="1730248" cy="1038860"/>
            </a:xfrm>
            <a:custGeom>
              <a:avLst/>
              <a:gdLst/>
              <a:ahLst/>
              <a:cxnLst/>
              <a:rect r="r" b="b" t="t" l="l"/>
              <a:pathLst>
                <a:path h="1038860" w="1730248">
                  <a:moveTo>
                    <a:pt x="0" y="124714"/>
                  </a:moveTo>
                  <a:cubicBezTo>
                    <a:pt x="0" y="55753"/>
                    <a:pt x="55753" y="0"/>
                    <a:pt x="124714" y="0"/>
                  </a:cubicBezTo>
                  <a:lnTo>
                    <a:pt x="1605534" y="0"/>
                  </a:lnTo>
                  <a:cubicBezTo>
                    <a:pt x="1674368" y="0"/>
                    <a:pt x="1730248" y="55753"/>
                    <a:pt x="1730248" y="124714"/>
                  </a:cubicBezTo>
                  <a:lnTo>
                    <a:pt x="1730248" y="914146"/>
                  </a:lnTo>
                  <a:cubicBezTo>
                    <a:pt x="1730248" y="982980"/>
                    <a:pt x="1674495" y="1038860"/>
                    <a:pt x="1605534" y="1038860"/>
                  </a:cubicBezTo>
                  <a:lnTo>
                    <a:pt x="124714" y="1038860"/>
                  </a:lnTo>
                  <a:cubicBezTo>
                    <a:pt x="55753" y="1038860"/>
                    <a:pt x="0" y="983107"/>
                    <a:pt x="0" y="914146"/>
                  </a:cubicBezTo>
                  <a:close/>
                </a:path>
              </a:pathLst>
            </a:custGeom>
            <a:solidFill>
              <a:srgbClr val="ECFDF5"/>
            </a:solidFill>
            <a:ln w="24765" cap="sq">
              <a:solidFill>
                <a:srgbClr val="059669"/>
              </a:solidFill>
              <a:prstDash val="solid"/>
              <a:miter/>
            </a:ln>
          </p:spPr>
          <p:txBody>
            <a:bodyPr/>
            <a:p/>
          </p:txBody>
        </p:sp>
        <p:sp>
          <p:nvSpPr>
            <p:cNvPr name="TextBox 78" id="78"/>
            <p:cNvSpPr txBox="true"/>
            <p:nvPr/>
          </p:nvSpPr>
          <p:spPr>
            <a:xfrm>
              <a:off x="0" y="0"/>
              <a:ext cx="1730146" cy="1038860"/>
            </a:xfrm>
            <a:prstGeom prst="rect">
              <a:avLst/>
            </a:prstGeom>
          </p:spPr>
          <p:txBody>
            <a:bodyPr anchor="ctr" rtlCol="false" tIns="50800" lIns="50800" bIns="50800" rIns="50800"/>
            <a:lstStyle/>
            <a:p>
              <a:pPr algn="ctr">
                <a:lnSpc>
                  <a:spcPts val="1620"/>
                </a:lnSpc>
              </a:pPr>
              <a:r>
                <a:rPr lang="en-US" sz="1350" b="true">
                  <a:solidFill>
                    <a:srgbClr val="059669"/>
                  </a:solidFill>
                  <a:latin typeface="DM Sans Bold"/>
                  <a:ea typeface="DM Sans Bold"/>
                  <a:cs typeface="DM Sans Bold"/>
                  <a:sym typeface="DM Sans Bold"/>
                </a:rPr>
                <a:t>3  </a:t>
              </a:r>
              <a:r>
                <a:rPr lang="en-US" sz="1350" b="true">
                  <a:solidFill>
                    <a:srgbClr val="0F172A"/>
                  </a:solidFill>
                  <a:latin typeface="DM Sans Bold"/>
                  <a:ea typeface="DM Sans Bold"/>
                  <a:cs typeface="DM Sans Bold"/>
                  <a:sym typeface="DM Sans Bold"/>
                </a:rPr>
                <a:t>Check status</a:t>
              </a:r>
            </a:p>
          </p:txBody>
        </p:sp>
      </p:grpSp>
      <p:grpSp>
        <p:nvGrpSpPr>
          <p:cNvPr name="Group 79" id="79"/>
          <p:cNvGrpSpPr/>
          <p:nvPr/>
        </p:nvGrpSpPr>
        <p:grpSpPr>
          <a:xfrm rot="0">
            <a:off x="4648429" y="4420743"/>
            <a:ext cx="1291895" cy="1733550"/>
            <a:chOff x="0" y="0"/>
            <a:chExt cx="1722526" cy="2311400"/>
          </a:xfrm>
        </p:grpSpPr>
        <p:sp>
          <p:nvSpPr>
            <p:cNvPr name="Freeform 80" id="80"/>
            <p:cNvSpPr/>
            <p:nvPr/>
          </p:nvSpPr>
          <p:spPr>
            <a:xfrm flipH="false" flipV="false" rot="0">
              <a:off x="0" y="0"/>
              <a:ext cx="1722628" cy="2311400"/>
            </a:xfrm>
            <a:custGeom>
              <a:avLst/>
              <a:gdLst/>
              <a:ahLst/>
              <a:cxnLst/>
              <a:rect r="r" b="b" t="t" l="l"/>
              <a:pathLst>
                <a:path h="2311400" w="1722628">
                  <a:moveTo>
                    <a:pt x="0" y="206756"/>
                  </a:moveTo>
                  <a:cubicBezTo>
                    <a:pt x="0" y="92583"/>
                    <a:pt x="92583" y="0"/>
                    <a:pt x="206756" y="0"/>
                  </a:cubicBezTo>
                  <a:lnTo>
                    <a:pt x="1515872" y="0"/>
                  </a:lnTo>
                  <a:cubicBezTo>
                    <a:pt x="1630045" y="0"/>
                    <a:pt x="1722628" y="92583"/>
                    <a:pt x="1722628" y="206756"/>
                  </a:cubicBezTo>
                  <a:lnTo>
                    <a:pt x="1722628" y="2104644"/>
                  </a:lnTo>
                  <a:cubicBezTo>
                    <a:pt x="1722628" y="2218817"/>
                    <a:pt x="1630045" y="2311400"/>
                    <a:pt x="1515872" y="2311400"/>
                  </a:cubicBezTo>
                  <a:lnTo>
                    <a:pt x="206756" y="2311400"/>
                  </a:lnTo>
                  <a:cubicBezTo>
                    <a:pt x="92583" y="2311400"/>
                    <a:pt x="0" y="2218817"/>
                    <a:pt x="0" y="2104644"/>
                  </a:cubicBezTo>
                  <a:close/>
                </a:path>
              </a:pathLst>
            </a:custGeom>
            <a:solidFill>
              <a:srgbClr val="FFFFFF"/>
            </a:solidFill>
            <a:ln w="19050" cap="sq">
              <a:solidFill>
                <a:srgbClr val="E2E8F0"/>
              </a:solidFill>
              <a:prstDash val="solid"/>
              <a:miter/>
            </a:ln>
          </p:spPr>
          <p:txBody>
            <a:bodyPr/>
            <a:p/>
          </p:txBody>
        </p:sp>
        <p:sp>
          <p:nvSpPr>
            <p:cNvPr name="TextBox 81" id="81"/>
            <p:cNvSpPr txBox="true"/>
            <p:nvPr/>
          </p:nvSpPr>
          <p:spPr>
            <a:xfrm>
              <a:off x="0" y="-9525"/>
              <a:ext cx="1722526" cy="2320925"/>
            </a:xfrm>
            <a:prstGeom prst="rect">
              <a:avLst/>
            </a:prstGeom>
          </p:spPr>
          <p:txBody>
            <a:bodyPr anchor="ctr" rtlCol="false" tIns="50800" lIns="50800" bIns="50800" rIns="50800"/>
            <a:lstStyle/>
            <a:p>
              <a:pPr algn="ctr">
                <a:lnSpc>
                  <a:spcPts val="1512"/>
                </a:lnSpc>
              </a:pPr>
              <a:r>
                <a:rPr lang="en-US" sz="1260">
                  <a:solidFill>
                    <a:srgbClr val="334155"/>
                  </a:solidFill>
                  <a:latin typeface="DM Sans"/>
                  <a:ea typeface="DM Sans"/>
                  <a:cs typeface="DM Sans"/>
                  <a:sym typeface="DM Sans"/>
                </a:rPr>
                <a:t>Green OK, without lifting the dressing</a:t>
              </a:r>
            </a:p>
          </p:txBody>
        </p:sp>
      </p:grpSp>
      <p:grpSp>
        <p:nvGrpSpPr>
          <p:cNvPr name="Group 82" id="82"/>
          <p:cNvGrpSpPr/>
          <p:nvPr/>
        </p:nvGrpSpPr>
        <p:grpSpPr>
          <a:xfrm rot="0">
            <a:off x="4657954" y="6254496"/>
            <a:ext cx="1272845" cy="1440180"/>
            <a:chOff x="0" y="0"/>
            <a:chExt cx="1697126" cy="1920240"/>
          </a:xfrm>
        </p:grpSpPr>
        <p:sp>
          <p:nvSpPr>
            <p:cNvPr name="Freeform 83" id="83"/>
            <p:cNvSpPr/>
            <p:nvPr/>
          </p:nvSpPr>
          <p:spPr>
            <a:xfrm flipH="false" flipV="false" rot="0">
              <a:off x="0" y="0"/>
              <a:ext cx="1697228" cy="1920240"/>
            </a:xfrm>
            <a:custGeom>
              <a:avLst/>
              <a:gdLst/>
              <a:ahLst/>
              <a:cxnLst/>
              <a:rect r="r" b="b" t="t" l="l"/>
              <a:pathLst>
                <a:path h="1920240" w="1697228">
                  <a:moveTo>
                    <a:pt x="0" y="203708"/>
                  </a:moveTo>
                  <a:cubicBezTo>
                    <a:pt x="0" y="91186"/>
                    <a:pt x="91186" y="0"/>
                    <a:pt x="203708" y="0"/>
                  </a:cubicBezTo>
                  <a:lnTo>
                    <a:pt x="1493520" y="0"/>
                  </a:lnTo>
                  <a:cubicBezTo>
                    <a:pt x="1606042" y="0"/>
                    <a:pt x="1697228" y="91186"/>
                    <a:pt x="1697228" y="203708"/>
                  </a:cubicBezTo>
                  <a:lnTo>
                    <a:pt x="1697228" y="1716532"/>
                  </a:lnTo>
                  <a:cubicBezTo>
                    <a:pt x="1697228" y="1829054"/>
                    <a:pt x="1606042" y="1920240"/>
                    <a:pt x="1493520" y="1920240"/>
                  </a:cubicBezTo>
                  <a:lnTo>
                    <a:pt x="203708" y="1920240"/>
                  </a:lnTo>
                  <a:cubicBezTo>
                    <a:pt x="91186" y="1920240"/>
                    <a:pt x="0" y="1829054"/>
                    <a:pt x="0" y="1716532"/>
                  </a:cubicBezTo>
                  <a:close/>
                </a:path>
              </a:pathLst>
            </a:custGeom>
            <a:solidFill>
              <a:srgbClr val="ECFDF5"/>
            </a:solidFill>
          </p:spPr>
          <p:txBody>
            <a:bodyPr/>
            <a:p/>
          </p:txBody>
        </p:sp>
        <p:sp>
          <p:nvSpPr>
            <p:cNvPr name="TextBox 84" id="84"/>
            <p:cNvSpPr txBox="true"/>
            <p:nvPr/>
          </p:nvSpPr>
          <p:spPr>
            <a:xfrm>
              <a:off x="0" y="-9525"/>
              <a:ext cx="1697126" cy="1929765"/>
            </a:xfrm>
            <a:prstGeom prst="rect">
              <a:avLst/>
            </a:prstGeom>
          </p:spPr>
          <p:txBody>
            <a:bodyPr anchor="ctr" rtlCol="false" tIns="50800" lIns="50800" bIns="50800" rIns="50800"/>
            <a:lstStyle/>
            <a:p>
              <a:pPr algn="ctr">
                <a:lnSpc>
                  <a:spcPts val="1512"/>
                </a:lnSpc>
              </a:pPr>
              <a:r>
                <a:rPr lang="en-US" sz="1260" b="true">
                  <a:solidFill>
                    <a:srgbClr val="047857"/>
                  </a:solidFill>
                  <a:latin typeface="DM Sans Bold"/>
                  <a:ea typeface="DM Sans Bold"/>
                  <a:cs typeface="DM Sans Bold"/>
                  <a:sym typeface="DM Sans Bold"/>
                </a:rPr>
                <a:t>A clearer decision, if testing supports it</a:t>
              </a:r>
            </a:p>
          </p:txBody>
        </p:sp>
      </p:grpSp>
      <p:grpSp>
        <p:nvGrpSpPr>
          <p:cNvPr name="Group 85" id="85"/>
          <p:cNvGrpSpPr/>
          <p:nvPr/>
        </p:nvGrpSpPr>
        <p:grpSpPr>
          <a:xfrm rot="0">
            <a:off x="5903366" y="3806190"/>
            <a:ext cx="219456" cy="274320"/>
            <a:chOff x="0" y="0"/>
            <a:chExt cx="292608" cy="365760"/>
          </a:xfrm>
        </p:grpSpPr>
        <p:sp>
          <p:nvSpPr>
            <p:cNvPr name="Freeform 86" id="86"/>
            <p:cNvSpPr/>
            <p:nvPr/>
          </p:nvSpPr>
          <p:spPr>
            <a:xfrm flipH="false" flipV="false" rot="0">
              <a:off x="0" y="0"/>
              <a:ext cx="292608" cy="365760"/>
            </a:xfrm>
            <a:custGeom>
              <a:avLst/>
              <a:gdLst/>
              <a:ahLst/>
              <a:cxnLst/>
              <a:rect r="r" b="b" t="t" l="l"/>
              <a:pathLst>
                <a:path h="365760" w="292608">
                  <a:moveTo>
                    <a:pt x="0" y="91440"/>
                  </a:moveTo>
                  <a:lnTo>
                    <a:pt x="146304" y="91440"/>
                  </a:lnTo>
                  <a:lnTo>
                    <a:pt x="146304" y="0"/>
                  </a:lnTo>
                  <a:lnTo>
                    <a:pt x="292608" y="182880"/>
                  </a:lnTo>
                  <a:lnTo>
                    <a:pt x="146304" y="365760"/>
                  </a:lnTo>
                  <a:lnTo>
                    <a:pt x="146304" y="274320"/>
                  </a:lnTo>
                  <a:lnTo>
                    <a:pt x="0" y="274320"/>
                  </a:lnTo>
                  <a:close/>
                </a:path>
              </a:pathLst>
            </a:custGeom>
            <a:solidFill>
              <a:srgbClr val="94A3B8"/>
            </a:solidFill>
          </p:spPr>
          <p:txBody>
            <a:bodyPr/>
            <a:p/>
          </p:txBody>
        </p:sp>
      </p:grpSp>
      <p:grpSp>
        <p:nvGrpSpPr>
          <p:cNvPr name="Group 87" id="87"/>
          <p:cNvGrpSpPr/>
          <p:nvPr/>
        </p:nvGrpSpPr>
        <p:grpSpPr>
          <a:xfrm rot="0">
            <a:off x="6083008" y="3553778"/>
            <a:ext cx="1297610" cy="779145"/>
            <a:chOff x="0" y="0"/>
            <a:chExt cx="1730146" cy="1038860"/>
          </a:xfrm>
        </p:grpSpPr>
        <p:sp>
          <p:nvSpPr>
            <p:cNvPr name="Freeform 88" id="88"/>
            <p:cNvSpPr/>
            <p:nvPr/>
          </p:nvSpPr>
          <p:spPr>
            <a:xfrm flipH="false" flipV="false" rot="0">
              <a:off x="0" y="0"/>
              <a:ext cx="1730248" cy="1038860"/>
            </a:xfrm>
            <a:custGeom>
              <a:avLst/>
              <a:gdLst/>
              <a:ahLst/>
              <a:cxnLst/>
              <a:rect r="r" b="b" t="t" l="l"/>
              <a:pathLst>
                <a:path h="1038860" w="1730248">
                  <a:moveTo>
                    <a:pt x="0" y="124714"/>
                  </a:moveTo>
                  <a:cubicBezTo>
                    <a:pt x="0" y="55753"/>
                    <a:pt x="55753" y="0"/>
                    <a:pt x="124714" y="0"/>
                  </a:cubicBezTo>
                  <a:lnTo>
                    <a:pt x="1605534" y="0"/>
                  </a:lnTo>
                  <a:cubicBezTo>
                    <a:pt x="1674368" y="0"/>
                    <a:pt x="1730248" y="55753"/>
                    <a:pt x="1730248" y="124714"/>
                  </a:cubicBezTo>
                  <a:lnTo>
                    <a:pt x="1730248" y="914146"/>
                  </a:lnTo>
                  <a:cubicBezTo>
                    <a:pt x="1730248" y="982980"/>
                    <a:pt x="1674495" y="1038860"/>
                    <a:pt x="1605534" y="1038860"/>
                  </a:cubicBezTo>
                  <a:lnTo>
                    <a:pt x="124714" y="1038860"/>
                  </a:lnTo>
                  <a:cubicBezTo>
                    <a:pt x="55753" y="1038860"/>
                    <a:pt x="0" y="983107"/>
                    <a:pt x="0" y="914146"/>
                  </a:cubicBezTo>
                  <a:close/>
                </a:path>
              </a:pathLst>
            </a:custGeom>
            <a:solidFill>
              <a:srgbClr val="FFFBEB"/>
            </a:solidFill>
            <a:ln w="24765" cap="sq">
              <a:solidFill>
                <a:srgbClr val="D97706"/>
              </a:solidFill>
              <a:prstDash val="solid"/>
              <a:miter/>
            </a:ln>
          </p:spPr>
          <p:txBody>
            <a:bodyPr/>
            <a:p/>
          </p:txBody>
        </p:sp>
        <p:sp>
          <p:nvSpPr>
            <p:cNvPr name="TextBox 89" id="89"/>
            <p:cNvSpPr txBox="true"/>
            <p:nvPr/>
          </p:nvSpPr>
          <p:spPr>
            <a:xfrm>
              <a:off x="0" y="0"/>
              <a:ext cx="1730146" cy="1038860"/>
            </a:xfrm>
            <a:prstGeom prst="rect">
              <a:avLst/>
            </a:prstGeom>
          </p:spPr>
          <p:txBody>
            <a:bodyPr anchor="ctr" rtlCol="false" tIns="50800" lIns="50800" bIns="50800" rIns="50800"/>
            <a:lstStyle/>
            <a:p>
              <a:pPr algn="ctr">
                <a:lnSpc>
                  <a:spcPts val="1620"/>
                </a:lnSpc>
              </a:pPr>
              <a:r>
                <a:rPr lang="en-US" sz="1350" b="true">
                  <a:solidFill>
                    <a:srgbClr val="D97706"/>
                  </a:solidFill>
                  <a:latin typeface="DM Sans Bold"/>
                  <a:ea typeface="DM Sans Bold"/>
                  <a:cs typeface="DM Sans Bold"/>
                  <a:sym typeface="DM Sans Bold"/>
                </a:rPr>
                <a:t>4  Change line reached</a:t>
              </a:r>
              <a:r>
                <a:rPr lang="en-US" sz="1350" b="true">
                  <a:solidFill>
                    <a:srgbClr val="0F172A"/>
                  </a:solidFill>
                  <a:latin typeface="DM Sans Bold"/>
                  <a:ea typeface="DM Sans Bold"/>
                  <a:cs typeface="DM Sans Bold"/>
                  <a:sym typeface="DM Sans Bold"/>
                </a:rPr>
                <a:t/>
              </a:r>
            </a:p>
          </p:txBody>
        </p:sp>
      </p:grpSp>
      <p:grpSp>
        <p:nvGrpSpPr>
          <p:cNvPr name="Group 90" id="90"/>
          <p:cNvGrpSpPr/>
          <p:nvPr/>
        </p:nvGrpSpPr>
        <p:grpSpPr>
          <a:xfrm rot="0">
            <a:off x="6085865" y="4420743"/>
            <a:ext cx="1291895" cy="1733550"/>
            <a:chOff x="0" y="0"/>
            <a:chExt cx="1722526" cy="2311400"/>
          </a:xfrm>
        </p:grpSpPr>
        <p:sp>
          <p:nvSpPr>
            <p:cNvPr name="Freeform 91" id="91"/>
            <p:cNvSpPr/>
            <p:nvPr/>
          </p:nvSpPr>
          <p:spPr>
            <a:xfrm flipH="false" flipV="false" rot="0">
              <a:off x="0" y="0"/>
              <a:ext cx="1722628" cy="2311400"/>
            </a:xfrm>
            <a:custGeom>
              <a:avLst/>
              <a:gdLst/>
              <a:ahLst/>
              <a:cxnLst/>
              <a:rect r="r" b="b" t="t" l="l"/>
              <a:pathLst>
                <a:path h="2311400" w="1722628">
                  <a:moveTo>
                    <a:pt x="0" y="206756"/>
                  </a:moveTo>
                  <a:cubicBezTo>
                    <a:pt x="0" y="92583"/>
                    <a:pt x="92583" y="0"/>
                    <a:pt x="206756" y="0"/>
                  </a:cubicBezTo>
                  <a:lnTo>
                    <a:pt x="1515872" y="0"/>
                  </a:lnTo>
                  <a:cubicBezTo>
                    <a:pt x="1630045" y="0"/>
                    <a:pt x="1722628" y="92583"/>
                    <a:pt x="1722628" y="206756"/>
                  </a:cubicBezTo>
                  <a:lnTo>
                    <a:pt x="1722628" y="2104644"/>
                  </a:lnTo>
                  <a:cubicBezTo>
                    <a:pt x="1722628" y="2218817"/>
                    <a:pt x="1630045" y="2311400"/>
                    <a:pt x="1515872" y="2311400"/>
                  </a:cubicBezTo>
                  <a:lnTo>
                    <a:pt x="206756" y="2311400"/>
                  </a:lnTo>
                  <a:cubicBezTo>
                    <a:pt x="92583" y="2311400"/>
                    <a:pt x="0" y="2218817"/>
                    <a:pt x="0" y="2104644"/>
                  </a:cubicBezTo>
                  <a:close/>
                </a:path>
              </a:pathLst>
            </a:custGeom>
            <a:solidFill>
              <a:srgbClr val="FFFFFF"/>
            </a:solidFill>
            <a:ln w="19050" cap="sq">
              <a:solidFill>
                <a:srgbClr val="E2E8F0"/>
              </a:solidFill>
              <a:prstDash val="solid"/>
              <a:miter/>
            </a:ln>
          </p:spPr>
          <p:txBody>
            <a:bodyPr/>
            <a:p/>
          </p:txBody>
        </p:sp>
        <p:sp>
          <p:nvSpPr>
            <p:cNvPr name="TextBox 92" id="92"/>
            <p:cNvSpPr txBox="true"/>
            <p:nvPr/>
          </p:nvSpPr>
          <p:spPr>
            <a:xfrm>
              <a:off x="0" y="-9525"/>
              <a:ext cx="1722526" cy="2320925"/>
            </a:xfrm>
            <a:prstGeom prst="rect">
              <a:avLst/>
            </a:prstGeom>
          </p:spPr>
          <p:txBody>
            <a:bodyPr anchor="ctr" rtlCol="false" tIns="50800" lIns="50800" bIns="50800" rIns="50800"/>
            <a:lstStyle/>
            <a:p>
              <a:pPr algn="ctr">
                <a:lnSpc>
                  <a:spcPts val="1512"/>
                </a:lnSpc>
              </a:pPr>
              <a:r>
                <a:rPr lang="en-US" sz="1260">
                  <a:solidFill>
                    <a:srgbClr val="334155"/>
                  </a:solidFill>
                  <a:latin typeface="DM Sans"/>
                  <a:ea typeface="DM Sans"/>
                  <a:cs typeface="DM Sans"/>
                  <a:sym typeface="DM Sans"/>
                </a:rPr>
                <a:t>Amber CHANGE; red CHECK for a possible leak</a:t>
              </a:r>
            </a:p>
          </p:txBody>
        </p:sp>
      </p:grpSp>
      <p:grpSp>
        <p:nvGrpSpPr>
          <p:cNvPr name="Group 93" id="93"/>
          <p:cNvGrpSpPr/>
          <p:nvPr/>
        </p:nvGrpSpPr>
        <p:grpSpPr>
          <a:xfrm rot="0">
            <a:off x="6095390" y="6254496"/>
            <a:ext cx="1272845" cy="1440180"/>
            <a:chOff x="0" y="0"/>
            <a:chExt cx="1697126" cy="1920240"/>
          </a:xfrm>
        </p:grpSpPr>
        <p:sp>
          <p:nvSpPr>
            <p:cNvPr name="Freeform 94" id="94"/>
            <p:cNvSpPr/>
            <p:nvPr/>
          </p:nvSpPr>
          <p:spPr>
            <a:xfrm flipH="false" flipV="false" rot="0">
              <a:off x="0" y="0"/>
              <a:ext cx="1697228" cy="1920240"/>
            </a:xfrm>
            <a:custGeom>
              <a:avLst/>
              <a:gdLst/>
              <a:ahLst/>
              <a:cxnLst/>
              <a:rect r="r" b="b" t="t" l="l"/>
              <a:pathLst>
                <a:path h="1920240" w="1697228">
                  <a:moveTo>
                    <a:pt x="0" y="203708"/>
                  </a:moveTo>
                  <a:cubicBezTo>
                    <a:pt x="0" y="91186"/>
                    <a:pt x="91186" y="0"/>
                    <a:pt x="203708" y="0"/>
                  </a:cubicBezTo>
                  <a:lnTo>
                    <a:pt x="1493520" y="0"/>
                  </a:lnTo>
                  <a:cubicBezTo>
                    <a:pt x="1606042" y="0"/>
                    <a:pt x="1697228" y="91186"/>
                    <a:pt x="1697228" y="203708"/>
                  </a:cubicBezTo>
                  <a:lnTo>
                    <a:pt x="1697228" y="1716532"/>
                  </a:lnTo>
                  <a:cubicBezTo>
                    <a:pt x="1697228" y="1829054"/>
                    <a:pt x="1606042" y="1920240"/>
                    <a:pt x="1493520" y="1920240"/>
                  </a:cubicBezTo>
                  <a:lnTo>
                    <a:pt x="203708" y="1920240"/>
                  </a:lnTo>
                  <a:cubicBezTo>
                    <a:pt x="91186" y="1920240"/>
                    <a:pt x="0" y="1829054"/>
                    <a:pt x="0" y="1716532"/>
                  </a:cubicBezTo>
                  <a:close/>
                </a:path>
              </a:pathLst>
            </a:custGeom>
            <a:solidFill>
              <a:srgbClr val="FFFBEB"/>
            </a:solidFill>
          </p:spPr>
          <p:txBody>
            <a:bodyPr/>
            <a:p/>
          </p:txBody>
        </p:sp>
        <p:sp>
          <p:nvSpPr>
            <p:cNvPr name="TextBox 95" id="95"/>
            <p:cNvSpPr txBox="true"/>
            <p:nvPr/>
          </p:nvSpPr>
          <p:spPr>
            <a:xfrm>
              <a:off x="0" y="-9525"/>
              <a:ext cx="1697126" cy="1929765"/>
            </a:xfrm>
            <a:prstGeom prst="rect">
              <a:avLst/>
            </a:prstGeom>
          </p:spPr>
          <p:txBody>
            <a:bodyPr anchor="ctr" rtlCol="false" tIns="50800" lIns="50800" bIns="50800" rIns="50800"/>
            <a:lstStyle/>
            <a:p>
              <a:pPr algn="ctr">
                <a:lnSpc>
                  <a:spcPts val="1512"/>
                </a:lnSpc>
              </a:pPr>
              <a:r>
                <a:rPr lang="en-US" sz="1260" b="true">
                  <a:solidFill>
                    <a:srgbClr val="047857"/>
                  </a:solidFill>
                  <a:latin typeface="DM Sans Bold"/>
                  <a:ea typeface="DM Sans Bold"/>
                  <a:cs typeface="DM Sans Bold"/>
                  <a:sym typeface="DM Sans Bold"/>
                </a:rPr>
                <a:t>A prompt to check the dressing</a:t>
              </a:r>
            </a:p>
          </p:txBody>
        </p:sp>
      </p:grpSp>
      <p:grpSp>
        <p:nvGrpSpPr>
          <p:cNvPr name="Group 96" id="96"/>
          <p:cNvGrpSpPr/>
          <p:nvPr/>
        </p:nvGrpSpPr>
        <p:grpSpPr>
          <a:xfrm rot="0">
            <a:off x="7340803" y="3806190"/>
            <a:ext cx="219456" cy="274320"/>
            <a:chOff x="0" y="0"/>
            <a:chExt cx="292608" cy="365760"/>
          </a:xfrm>
        </p:grpSpPr>
        <p:sp>
          <p:nvSpPr>
            <p:cNvPr name="Freeform 97" id="97"/>
            <p:cNvSpPr/>
            <p:nvPr/>
          </p:nvSpPr>
          <p:spPr>
            <a:xfrm flipH="false" flipV="false" rot="0">
              <a:off x="0" y="0"/>
              <a:ext cx="292608" cy="365760"/>
            </a:xfrm>
            <a:custGeom>
              <a:avLst/>
              <a:gdLst/>
              <a:ahLst/>
              <a:cxnLst/>
              <a:rect r="r" b="b" t="t" l="l"/>
              <a:pathLst>
                <a:path h="365760" w="292608">
                  <a:moveTo>
                    <a:pt x="0" y="91440"/>
                  </a:moveTo>
                  <a:lnTo>
                    <a:pt x="146304" y="91440"/>
                  </a:lnTo>
                  <a:lnTo>
                    <a:pt x="146304" y="0"/>
                  </a:lnTo>
                  <a:lnTo>
                    <a:pt x="292608" y="182880"/>
                  </a:lnTo>
                  <a:lnTo>
                    <a:pt x="146304" y="365760"/>
                  </a:lnTo>
                  <a:lnTo>
                    <a:pt x="146304" y="274320"/>
                  </a:lnTo>
                  <a:lnTo>
                    <a:pt x="0" y="274320"/>
                  </a:lnTo>
                  <a:close/>
                </a:path>
              </a:pathLst>
            </a:custGeom>
            <a:solidFill>
              <a:srgbClr val="94A3B8"/>
            </a:solidFill>
          </p:spPr>
          <p:txBody>
            <a:bodyPr/>
            <a:p/>
          </p:txBody>
        </p:sp>
      </p:grpSp>
      <p:grpSp>
        <p:nvGrpSpPr>
          <p:cNvPr name="Group 98" id="98"/>
          <p:cNvGrpSpPr/>
          <p:nvPr/>
        </p:nvGrpSpPr>
        <p:grpSpPr>
          <a:xfrm rot="0">
            <a:off x="7520445" y="3553778"/>
            <a:ext cx="1297610" cy="779145"/>
            <a:chOff x="0" y="0"/>
            <a:chExt cx="1730146" cy="1038860"/>
          </a:xfrm>
        </p:grpSpPr>
        <p:sp>
          <p:nvSpPr>
            <p:cNvPr name="Freeform 99" id="99"/>
            <p:cNvSpPr/>
            <p:nvPr/>
          </p:nvSpPr>
          <p:spPr>
            <a:xfrm flipH="false" flipV="false" rot="0">
              <a:off x="0" y="0"/>
              <a:ext cx="1730248" cy="1038860"/>
            </a:xfrm>
            <a:custGeom>
              <a:avLst/>
              <a:gdLst/>
              <a:ahLst/>
              <a:cxnLst/>
              <a:rect r="r" b="b" t="t" l="l"/>
              <a:pathLst>
                <a:path h="1038860" w="1730248">
                  <a:moveTo>
                    <a:pt x="0" y="124714"/>
                  </a:moveTo>
                  <a:cubicBezTo>
                    <a:pt x="0" y="55753"/>
                    <a:pt x="55753" y="0"/>
                    <a:pt x="124714" y="0"/>
                  </a:cubicBezTo>
                  <a:lnTo>
                    <a:pt x="1605534" y="0"/>
                  </a:lnTo>
                  <a:cubicBezTo>
                    <a:pt x="1674368" y="0"/>
                    <a:pt x="1730248" y="55753"/>
                    <a:pt x="1730248" y="124714"/>
                  </a:cubicBezTo>
                  <a:lnTo>
                    <a:pt x="1730248" y="914146"/>
                  </a:lnTo>
                  <a:cubicBezTo>
                    <a:pt x="1730248" y="982980"/>
                    <a:pt x="1674495" y="1038860"/>
                    <a:pt x="1605534" y="1038860"/>
                  </a:cubicBezTo>
                  <a:lnTo>
                    <a:pt x="124714" y="1038860"/>
                  </a:lnTo>
                  <a:cubicBezTo>
                    <a:pt x="55753" y="1038860"/>
                    <a:pt x="0" y="983107"/>
                    <a:pt x="0" y="914146"/>
                  </a:cubicBezTo>
                  <a:close/>
                </a:path>
              </a:pathLst>
            </a:custGeom>
            <a:solidFill>
              <a:srgbClr val="ECFDF5"/>
            </a:solidFill>
            <a:ln w="24765" cap="sq">
              <a:solidFill>
                <a:srgbClr val="059669"/>
              </a:solidFill>
              <a:prstDash val="solid"/>
              <a:miter/>
            </a:ln>
          </p:spPr>
          <p:txBody>
            <a:bodyPr/>
            <a:p/>
          </p:txBody>
        </p:sp>
        <p:sp>
          <p:nvSpPr>
            <p:cNvPr name="TextBox 100" id="100"/>
            <p:cNvSpPr txBox="true"/>
            <p:nvPr/>
          </p:nvSpPr>
          <p:spPr>
            <a:xfrm>
              <a:off x="0" y="0"/>
              <a:ext cx="1730146" cy="1038860"/>
            </a:xfrm>
            <a:prstGeom prst="rect">
              <a:avLst/>
            </a:prstGeom>
          </p:spPr>
          <p:txBody>
            <a:bodyPr anchor="ctr" rtlCol="false" tIns="50800" lIns="50800" bIns="50800" rIns="50800"/>
            <a:lstStyle/>
            <a:p>
              <a:pPr algn="ctr">
                <a:lnSpc>
                  <a:spcPts val="1620"/>
                </a:lnSpc>
              </a:pPr>
              <a:r>
                <a:rPr lang="en-US" sz="1350" b="true">
                  <a:solidFill>
                    <a:srgbClr val="059669"/>
                  </a:solidFill>
                  <a:latin typeface="DM Sans Bold"/>
                  <a:ea typeface="DM Sans Bold"/>
                  <a:cs typeface="DM Sans Bold"/>
                  <a:sym typeface="DM Sans Bold"/>
                </a:rPr>
                <a:t>5  </a:t>
              </a:r>
              <a:r>
                <a:rPr lang="en-US" sz="1350" b="true">
                  <a:solidFill>
                    <a:srgbClr val="0F172A"/>
                  </a:solidFill>
                  <a:latin typeface="DM Sans Bold"/>
                  <a:ea typeface="DM Sans Bold"/>
                  <a:cs typeface="DM Sans Bold"/>
                  <a:sym typeface="DM Sans Bold"/>
                </a:rPr>
                <a:t>Nearby check</a:t>
              </a:r>
            </a:p>
          </p:txBody>
        </p:sp>
      </p:grpSp>
      <p:grpSp>
        <p:nvGrpSpPr>
          <p:cNvPr name="Group 101" id="101"/>
          <p:cNvGrpSpPr/>
          <p:nvPr/>
        </p:nvGrpSpPr>
        <p:grpSpPr>
          <a:xfrm rot="0">
            <a:off x="7523302" y="4420743"/>
            <a:ext cx="1291895" cy="1733550"/>
            <a:chOff x="0" y="0"/>
            <a:chExt cx="1722526" cy="2311400"/>
          </a:xfrm>
        </p:grpSpPr>
        <p:sp>
          <p:nvSpPr>
            <p:cNvPr name="Freeform 102" id="102"/>
            <p:cNvSpPr/>
            <p:nvPr/>
          </p:nvSpPr>
          <p:spPr>
            <a:xfrm flipH="false" flipV="false" rot="0">
              <a:off x="0" y="0"/>
              <a:ext cx="1722628" cy="2311400"/>
            </a:xfrm>
            <a:custGeom>
              <a:avLst/>
              <a:gdLst/>
              <a:ahLst/>
              <a:cxnLst/>
              <a:rect r="r" b="b" t="t" l="l"/>
              <a:pathLst>
                <a:path h="2311400" w="1722628">
                  <a:moveTo>
                    <a:pt x="0" y="206756"/>
                  </a:moveTo>
                  <a:cubicBezTo>
                    <a:pt x="0" y="92583"/>
                    <a:pt x="92583" y="0"/>
                    <a:pt x="206756" y="0"/>
                  </a:cubicBezTo>
                  <a:lnTo>
                    <a:pt x="1515872" y="0"/>
                  </a:lnTo>
                  <a:cubicBezTo>
                    <a:pt x="1630045" y="0"/>
                    <a:pt x="1722628" y="92583"/>
                    <a:pt x="1722628" y="206756"/>
                  </a:cubicBezTo>
                  <a:lnTo>
                    <a:pt x="1722628" y="2104644"/>
                  </a:lnTo>
                  <a:cubicBezTo>
                    <a:pt x="1722628" y="2218817"/>
                    <a:pt x="1630045" y="2311400"/>
                    <a:pt x="1515872" y="2311400"/>
                  </a:cubicBezTo>
                  <a:lnTo>
                    <a:pt x="206756" y="2311400"/>
                  </a:lnTo>
                  <a:cubicBezTo>
                    <a:pt x="92583" y="2311400"/>
                    <a:pt x="0" y="2218817"/>
                    <a:pt x="0" y="2104644"/>
                  </a:cubicBezTo>
                  <a:close/>
                </a:path>
              </a:pathLst>
            </a:custGeom>
            <a:solidFill>
              <a:srgbClr val="FFFFFF"/>
            </a:solidFill>
            <a:ln w="19050" cap="sq">
              <a:solidFill>
                <a:srgbClr val="E2E8F0"/>
              </a:solidFill>
              <a:prstDash val="solid"/>
              <a:miter/>
            </a:ln>
          </p:spPr>
          <p:txBody>
            <a:bodyPr/>
            <a:p/>
          </p:txBody>
        </p:sp>
        <p:sp>
          <p:nvSpPr>
            <p:cNvPr name="TextBox 103" id="103"/>
            <p:cNvSpPr txBox="true"/>
            <p:nvPr/>
          </p:nvSpPr>
          <p:spPr>
            <a:xfrm>
              <a:off x="0" y="-9525"/>
              <a:ext cx="1722526" cy="2320925"/>
            </a:xfrm>
            <a:prstGeom prst="rect">
              <a:avLst/>
            </a:prstGeom>
          </p:spPr>
          <p:txBody>
            <a:bodyPr anchor="ctr" rtlCol="false" tIns="50800" lIns="50800" bIns="50800" rIns="50800"/>
            <a:lstStyle/>
            <a:p>
              <a:pPr algn="ctr">
                <a:lnSpc>
                  <a:spcPts val="1512"/>
                </a:lnSpc>
              </a:pPr>
              <a:r>
                <a:rPr lang="en-US" sz="1260">
                  <a:solidFill>
                    <a:srgbClr val="334155"/>
                  </a:solidFill>
                  <a:latin typeface="DM Sans"/>
                  <a:ea typeface="DM Sans"/>
                  <a:cs typeface="DM Sans"/>
                  <a:sym typeface="DM Sans"/>
                </a:rPr>
                <a:t>A nearby phone reads the status over Bluetooth (hardware test pending)</a:t>
              </a:r>
            </a:p>
          </p:txBody>
        </p:sp>
      </p:grpSp>
      <p:grpSp>
        <p:nvGrpSpPr>
          <p:cNvPr name="Group 104" id="104"/>
          <p:cNvGrpSpPr/>
          <p:nvPr/>
        </p:nvGrpSpPr>
        <p:grpSpPr>
          <a:xfrm rot="0">
            <a:off x="7532827" y="6254496"/>
            <a:ext cx="1272845" cy="1458026"/>
            <a:chOff x="0" y="0"/>
            <a:chExt cx="1697126" cy="1944035"/>
          </a:xfrm>
        </p:grpSpPr>
        <p:sp>
          <p:nvSpPr>
            <p:cNvPr name="Freeform 105" id="105"/>
            <p:cNvSpPr/>
            <p:nvPr/>
          </p:nvSpPr>
          <p:spPr>
            <a:xfrm flipH="false" flipV="false" rot="0">
              <a:off x="0" y="0"/>
              <a:ext cx="1697228" cy="1944035"/>
            </a:xfrm>
            <a:custGeom>
              <a:avLst/>
              <a:gdLst/>
              <a:ahLst/>
              <a:cxnLst/>
              <a:rect r="r" b="b" t="t" l="l"/>
              <a:pathLst>
                <a:path h="1944035" w="1697228">
                  <a:moveTo>
                    <a:pt x="0" y="206232"/>
                  </a:moveTo>
                  <a:cubicBezTo>
                    <a:pt x="0" y="92316"/>
                    <a:pt x="91186" y="0"/>
                    <a:pt x="203708" y="0"/>
                  </a:cubicBezTo>
                  <a:lnTo>
                    <a:pt x="1493520" y="0"/>
                  </a:lnTo>
                  <a:cubicBezTo>
                    <a:pt x="1606042" y="0"/>
                    <a:pt x="1697228" y="92316"/>
                    <a:pt x="1697228" y="206232"/>
                  </a:cubicBezTo>
                  <a:lnTo>
                    <a:pt x="1697228" y="1737802"/>
                  </a:lnTo>
                  <a:cubicBezTo>
                    <a:pt x="1697228" y="1851719"/>
                    <a:pt x="1606042" y="1944035"/>
                    <a:pt x="1493520" y="1944035"/>
                  </a:cubicBezTo>
                  <a:lnTo>
                    <a:pt x="203708" y="1944035"/>
                  </a:lnTo>
                  <a:cubicBezTo>
                    <a:pt x="91186" y="1944035"/>
                    <a:pt x="0" y="1851719"/>
                    <a:pt x="0" y="1737802"/>
                  </a:cubicBezTo>
                  <a:close/>
                </a:path>
              </a:pathLst>
            </a:custGeom>
            <a:solidFill>
              <a:srgbClr val="ECFDF5"/>
            </a:solidFill>
          </p:spPr>
          <p:txBody>
            <a:bodyPr/>
            <a:p/>
          </p:txBody>
        </p:sp>
        <p:sp>
          <p:nvSpPr>
            <p:cNvPr name="TextBox 106" id="106"/>
            <p:cNvSpPr txBox="true"/>
            <p:nvPr/>
          </p:nvSpPr>
          <p:spPr>
            <a:xfrm>
              <a:off x="0" y="-9525"/>
              <a:ext cx="1697126" cy="1953560"/>
            </a:xfrm>
            <a:prstGeom prst="rect">
              <a:avLst/>
            </a:prstGeom>
          </p:spPr>
          <p:txBody>
            <a:bodyPr anchor="ctr" rtlCol="false" tIns="50800" lIns="50800" bIns="50800" rIns="50800"/>
            <a:lstStyle/>
            <a:p>
              <a:pPr algn="ctr" marL="0" indent="0" lvl="0">
                <a:lnSpc>
                  <a:spcPts val="1512"/>
                </a:lnSpc>
                <a:spcBef>
                  <a:spcPct val="0"/>
                </a:spcBef>
              </a:pPr>
              <a:r>
                <a:rPr lang="en-US" b="true" sz="1260" strike="noStrike" u="none">
                  <a:solidFill>
                    <a:srgbClr val="047857"/>
                  </a:solidFill>
                  <a:latin typeface="DM Sans Bold"/>
                  <a:ea typeface="DM Sans Bold"/>
                  <a:cs typeface="DM Sans Bold"/>
                  <a:sym typeface="DM Sans Bold"/>
                </a:rPr>
                <a:t>Status checked remotely, without disturbing the wrap</a:t>
              </a:r>
            </a:p>
          </p:txBody>
        </p:sp>
      </p:grpSp>
    </p:spTree>
  </p:cSld>
  <p:clrMapOvr>
    <a:masterClrMapping/>
  </p:clrMapOvr>
</p:sld>
</file>

<file path=ppt/slides/slide6.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0"/>
            <a:ext cx="18288000" cy="10287000"/>
            <a:chOff x="0" y="0"/>
            <a:chExt cx="24384000" cy="13716000"/>
          </a:xfrm>
        </p:grpSpPr>
        <p:sp>
          <p:nvSpPr>
            <p:cNvPr name="Freeform 3" id="3" descr="image.png"/>
            <p:cNvSpPr/>
            <p:nvPr/>
          </p:nvSpPr>
          <p:spPr>
            <a:xfrm flipH="false" flipV="false" rot="0">
              <a:off x="0" y="0"/>
              <a:ext cx="24384000" cy="13716000"/>
            </a:xfrm>
            <a:custGeom>
              <a:avLst/>
              <a:gdLst/>
              <a:ahLst/>
              <a:cxnLst/>
              <a:rect r="r" b="b" t="t" l="l"/>
              <a:pathLst>
                <a:path h="13716000" w="24384000">
                  <a:moveTo>
                    <a:pt x="0" y="0"/>
                  </a:moveTo>
                  <a:lnTo>
                    <a:pt x="24384000" y="0"/>
                  </a:lnTo>
                  <a:lnTo>
                    <a:pt x="24384000" y="13716000"/>
                  </a:lnTo>
                  <a:lnTo>
                    <a:pt x="0" y="13716000"/>
                  </a:lnTo>
                  <a:lnTo>
                    <a:pt x="0" y="0"/>
                  </a:lnTo>
                  <a:close/>
                </a:path>
              </a:pathLst>
            </a:custGeom>
            <a:blipFill>
              <a:blip r:embed="rId3"/>
              <a:stretch>
                <a:fillRect l="0" t="0" r="0" b="0"/>
              </a:stretch>
            </a:blipFill>
          </p:spPr>
          <p:txBody>
            <a:bodyPr/>
            <a:p/>
          </p:txBody>
        </p:sp>
      </p:grpSp>
      <p:grpSp>
        <p:nvGrpSpPr>
          <p:cNvPr name="Group 4" id="4"/>
          <p:cNvGrpSpPr/>
          <p:nvPr/>
        </p:nvGrpSpPr>
        <p:grpSpPr>
          <a:xfrm rot="0">
            <a:off x="800100" y="7966434"/>
            <a:ext cx="16687800" cy="544706"/>
            <a:chOff x="0" y="0"/>
            <a:chExt cx="22250400" cy="726275"/>
          </a:xfrm>
        </p:grpSpPr>
        <p:sp>
          <p:nvSpPr>
            <p:cNvPr name="Freeform 5" id="5" descr="image.png"/>
            <p:cNvSpPr/>
            <p:nvPr/>
          </p:nvSpPr>
          <p:spPr>
            <a:xfrm flipH="false" flipV="false" rot="0">
              <a:off x="0" y="0"/>
              <a:ext cx="22250400" cy="726313"/>
            </a:xfrm>
            <a:custGeom>
              <a:avLst/>
              <a:gdLst/>
              <a:ahLst/>
              <a:cxnLst/>
              <a:rect r="r" b="b" t="t" l="l"/>
              <a:pathLst>
                <a:path h="726313" w="22250400">
                  <a:moveTo>
                    <a:pt x="0" y="0"/>
                  </a:moveTo>
                  <a:lnTo>
                    <a:pt x="22250400" y="0"/>
                  </a:lnTo>
                  <a:lnTo>
                    <a:pt x="22250400" y="726313"/>
                  </a:lnTo>
                  <a:lnTo>
                    <a:pt x="0" y="726313"/>
                  </a:lnTo>
                  <a:lnTo>
                    <a:pt x="0" y="0"/>
                  </a:lnTo>
                  <a:close/>
                </a:path>
              </a:pathLst>
            </a:custGeom>
            <a:blipFill>
              <a:blip r:embed="rId4"/>
              <a:stretch>
                <a:fillRect l="0" t="0" r="0" b="-2290"/>
              </a:stretch>
            </a:blipFill>
          </p:spPr>
          <p:txBody>
            <a:bodyPr/>
            <a:p/>
          </p:txBody>
        </p:sp>
      </p:grpSp>
      <p:grpSp>
        <p:nvGrpSpPr>
          <p:cNvPr name="Group 6" id="6"/>
          <p:cNvGrpSpPr/>
          <p:nvPr/>
        </p:nvGrpSpPr>
        <p:grpSpPr>
          <a:xfrm rot="0">
            <a:off x="9344025" y="1434332"/>
            <a:ext cx="8143875" cy="6115317"/>
            <a:chOff x="0" y="0"/>
            <a:chExt cx="10858500" cy="8153756"/>
          </a:xfrm>
        </p:grpSpPr>
        <p:sp>
          <p:nvSpPr>
            <p:cNvPr name="Freeform 7" id="7" descr="image.png"/>
            <p:cNvSpPr/>
            <p:nvPr/>
          </p:nvSpPr>
          <p:spPr>
            <a:xfrm flipH="false" flipV="false" rot="0">
              <a:off x="0" y="0"/>
              <a:ext cx="10858500" cy="8153781"/>
            </a:xfrm>
            <a:custGeom>
              <a:avLst/>
              <a:gdLst/>
              <a:ahLst/>
              <a:cxnLst/>
              <a:rect r="r" b="b" t="t" l="l"/>
              <a:pathLst>
                <a:path h="8153781" w="10858500">
                  <a:moveTo>
                    <a:pt x="0" y="0"/>
                  </a:moveTo>
                  <a:lnTo>
                    <a:pt x="10858500" y="0"/>
                  </a:lnTo>
                  <a:lnTo>
                    <a:pt x="10858500" y="8153781"/>
                  </a:lnTo>
                  <a:lnTo>
                    <a:pt x="0" y="8153781"/>
                  </a:lnTo>
                  <a:lnTo>
                    <a:pt x="0" y="0"/>
                  </a:lnTo>
                  <a:close/>
                </a:path>
              </a:pathLst>
            </a:custGeom>
            <a:blipFill>
              <a:blip r:embed="rId5"/>
              <a:stretch>
                <a:fillRect l="0" t="0" r="0" b="-22424"/>
              </a:stretch>
            </a:blipFill>
          </p:spPr>
          <p:txBody>
            <a:bodyPr/>
            <a:p/>
          </p:txBody>
        </p:sp>
      </p:grpSp>
      <p:grpSp>
        <p:nvGrpSpPr>
          <p:cNvPr name="Group 8" id="8"/>
          <p:cNvGrpSpPr/>
          <p:nvPr/>
        </p:nvGrpSpPr>
        <p:grpSpPr>
          <a:xfrm rot="0">
            <a:off x="795528" y="1440180"/>
            <a:ext cx="8147304" cy="5843016"/>
            <a:chOff x="0" y="0"/>
            <a:chExt cx="10863072" cy="7790688"/>
          </a:xfrm>
        </p:grpSpPr>
        <p:sp>
          <p:nvSpPr>
            <p:cNvPr name="Freeform 9" id="9" descr="image.png"/>
            <p:cNvSpPr/>
            <p:nvPr/>
          </p:nvSpPr>
          <p:spPr>
            <a:xfrm flipH="false" flipV="false" rot="0">
              <a:off x="0" y="0"/>
              <a:ext cx="10863072" cy="7790688"/>
            </a:xfrm>
            <a:custGeom>
              <a:avLst/>
              <a:gdLst/>
              <a:ahLst/>
              <a:cxnLst/>
              <a:rect r="r" b="b" t="t" l="l"/>
              <a:pathLst>
                <a:path h="7790688" w="10863072">
                  <a:moveTo>
                    <a:pt x="0" y="0"/>
                  </a:moveTo>
                  <a:lnTo>
                    <a:pt x="10863072" y="0"/>
                  </a:lnTo>
                  <a:lnTo>
                    <a:pt x="10863072" y="7790688"/>
                  </a:lnTo>
                  <a:lnTo>
                    <a:pt x="0" y="7790688"/>
                  </a:lnTo>
                  <a:lnTo>
                    <a:pt x="0" y="0"/>
                  </a:lnTo>
                  <a:close/>
                </a:path>
              </a:pathLst>
            </a:custGeom>
            <a:blipFill>
              <a:blip r:embed="rId6"/>
              <a:stretch>
                <a:fillRect l="0" t="0" r="-59682" b="0"/>
              </a:stretch>
            </a:blipFill>
          </p:spPr>
          <p:txBody>
            <a:bodyPr/>
            <a:p/>
          </p:txBody>
        </p:sp>
      </p:grpSp>
      <p:grpSp>
        <p:nvGrpSpPr>
          <p:cNvPr name="Group 10" id="10"/>
          <p:cNvGrpSpPr/>
          <p:nvPr/>
        </p:nvGrpSpPr>
        <p:grpSpPr>
          <a:xfrm rot="0">
            <a:off x="800100" y="657225"/>
            <a:ext cx="12893040" cy="462782"/>
            <a:chOff x="0" y="0"/>
            <a:chExt cx="17190720" cy="617042"/>
          </a:xfrm>
        </p:grpSpPr>
        <p:sp>
          <p:nvSpPr>
            <p:cNvPr name="Freeform 11" id="11"/>
            <p:cNvSpPr/>
            <p:nvPr/>
          </p:nvSpPr>
          <p:spPr>
            <a:xfrm flipH="false" flipV="false" rot="0">
              <a:off x="0" y="0"/>
              <a:ext cx="17190720" cy="617040"/>
            </a:xfrm>
            <a:custGeom>
              <a:avLst/>
              <a:gdLst/>
              <a:ahLst/>
              <a:cxnLst/>
              <a:rect r="r" b="b" t="t" l="l"/>
              <a:pathLst>
                <a:path h="617040" w="17190720">
                  <a:moveTo>
                    <a:pt x="0" y="0"/>
                  </a:moveTo>
                  <a:lnTo>
                    <a:pt x="17190720" y="0"/>
                  </a:lnTo>
                  <a:lnTo>
                    <a:pt x="17190720" y="617040"/>
                  </a:lnTo>
                  <a:lnTo>
                    <a:pt x="0" y="617040"/>
                  </a:lnTo>
                  <a:close/>
                </a:path>
              </a:pathLst>
            </a:custGeom>
            <a:blipFill>
              <a:blip r:embed="rId7">
                <a:alphaModFix amt="0"/>
              </a:blip>
              <a:stretch>
                <a:fillRect l="0" t="-492852" r="0" b="-492852"/>
              </a:stretch>
            </a:blipFill>
          </p:spPr>
          <p:txBody>
            <a:bodyPr/>
            <a:p/>
          </p:txBody>
        </p:sp>
        <p:sp>
          <p:nvSpPr>
            <p:cNvPr name="TextBox 12" id="12"/>
            <p:cNvSpPr txBox="true"/>
            <p:nvPr/>
          </p:nvSpPr>
          <p:spPr>
            <a:xfrm>
              <a:off x="0" y="-104775"/>
              <a:ext cx="17190720" cy="721817"/>
            </a:xfrm>
            <a:prstGeom prst="rect">
              <a:avLst/>
            </a:prstGeom>
          </p:spPr>
          <p:txBody>
            <a:bodyPr anchor="ctr" rtlCol="false" tIns="0" lIns="0" bIns="0" rIns="0"/>
            <a:lstStyle/>
            <a:p>
              <a:pPr algn="l">
                <a:lnSpc>
                  <a:spcPts val="4372"/>
                </a:lnSpc>
              </a:pPr>
              <a:r>
                <a:rPr lang="en-US" sz="3037">
                  <a:solidFill>
                    <a:srgbClr val="0F172A"/>
                  </a:solidFill>
                  <a:latin typeface="Poppins"/>
                  <a:ea typeface="Poppins"/>
                  <a:cs typeface="Poppins"/>
                  <a:sym typeface="Poppins"/>
                </a:rPr>
                <a:t>System Architecture &amp; Specs</a:t>
              </a:r>
            </a:p>
          </p:txBody>
        </p:sp>
      </p:grpSp>
      <p:sp>
        <p:nvSpPr>
          <p:cNvPr name="TextBox 13" id="13"/>
          <p:cNvSpPr txBox="true"/>
          <p:nvPr/>
        </p:nvSpPr>
        <p:spPr>
          <a:xfrm rot="0">
            <a:off x="1085850" y="8033109"/>
            <a:ext cx="16047720" cy="291689"/>
          </a:xfrm>
          <a:prstGeom prst="rect">
            <a:avLst/>
          </a:prstGeom>
        </p:spPr>
        <p:txBody>
          <a:bodyPr anchor="t" rtlCol="false" tIns="0" lIns="0" bIns="0" rIns="0">
            <a:spAutoFit/>
          </a:bodyPr>
          <a:lstStyle/>
          <a:p>
            <a:pPr algn="l">
              <a:lnSpc>
                <a:spcPts val="2506"/>
              </a:lnSpc>
            </a:pPr>
            <a:r>
              <a:rPr lang="en-US" b="true" sz="1439">
                <a:solidFill>
                  <a:srgbClr val="0F172A"/>
                </a:solidFill>
                <a:latin typeface="DM Sans Bold"/>
                <a:ea typeface="DM Sans Bold"/>
                <a:cs typeface="DM Sans Bold"/>
                <a:sym typeface="DM Sans Bold"/>
              </a:rPr>
              <a:t>Architecture Rationale: </a:t>
            </a:r>
            <a:r>
              <a:rPr lang="en-US" b="true" sz="1439">
                <a:solidFill>
                  <a:srgbClr val="334155"/>
                </a:solidFill>
                <a:latin typeface="DM Sans Bold"/>
                <a:ea typeface="DM Sans Bold"/>
                <a:cs typeface="DM Sans Bold"/>
                <a:sym typeface="DM Sans Bold"/>
              </a:rPr>
              <a:t>We are designing the reader for reuse; the strip is the disposable part.</a:t>
            </a:r>
          </a:p>
        </p:txBody>
      </p:sp>
      <p:sp>
        <p:nvSpPr>
          <p:cNvPr name="TextBox 14" id="14"/>
          <p:cNvSpPr txBox="true"/>
          <p:nvPr/>
        </p:nvSpPr>
        <p:spPr>
          <a:xfrm rot="0">
            <a:off x="800100" y="7267194"/>
            <a:ext cx="8143875" cy="226600"/>
          </a:xfrm>
          <a:prstGeom prst="rect">
            <a:avLst/>
          </a:prstGeom>
        </p:spPr>
        <p:txBody>
          <a:bodyPr anchor="t" rtlCol="false" tIns="0" lIns="0" bIns="0" rIns="0">
            <a:spAutoFit/>
          </a:bodyPr>
          <a:lstStyle/>
          <a:p>
            <a:pPr algn="r">
              <a:lnSpc>
                <a:spcPts val="1983"/>
              </a:lnSpc>
            </a:pPr>
            <a:r>
              <a:rPr lang="en-US" sz="1139">
                <a:solidFill>
                  <a:srgbClr val="64748B"/>
                </a:solidFill>
                <a:latin typeface="DM Sans"/>
                <a:ea typeface="DM Sans"/>
                <a:cs typeface="DM Sans"/>
                <a:sym typeface="DM Sans"/>
              </a:rPr>
              <a:t>Concept drawing: how a moisture reading could become a status. Values are design targets, not measured results.</a:t>
            </a:r>
          </a:p>
        </p:txBody>
      </p:sp>
      <p:grpSp>
        <p:nvGrpSpPr>
          <p:cNvPr name="Group 15" id="15"/>
          <p:cNvGrpSpPr/>
          <p:nvPr/>
        </p:nvGrpSpPr>
        <p:grpSpPr>
          <a:xfrm rot="0">
            <a:off x="9672638" y="1762944"/>
            <a:ext cx="231505" cy="228600"/>
            <a:chOff x="0" y="0"/>
            <a:chExt cx="308674" cy="304800"/>
          </a:xfrm>
        </p:grpSpPr>
        <p:sp>
          <p:nvSpPr>
            <p:cNvPr name="Freeform 16" id="16" descr="image.png"/>
            <p:cNvSpPr/>
            <p:nvPr/>
          </p:nvSpPr>
          <p:spPr>
            <a:xfrm flipH="false" flipV="false" rot="0">
              <a:off x="0" y="0"/>
              <a:ext cx="308610" cy="304800"/>
            </a:xfrm>
            <a:custGeom>
              <a:avLst/>
              <a:gdLst/>
              <a:ahLst/>
              <a:cxnLst/>
              <a:rect r="r" b="b" t="t" l="l"/>
              <a:pathLst>
                <a:path h="304800" w="308610">
                  <a:moveTo>
                    <a:pt x="0" y="0"/>
                  </a:moveTo>
                  <a:lnTo>
                    <a:pt x="308610" y="0"/>
                  </a:lnTo>
                  <a:lnTo>
                    <a:pt x="308610" y="304800"/>
                  </a:lnTo>
                  <a:lnTo>
                    <a:pt x="0" y="304800"/>
                  </a:lnTo>
                  <a:lnTo>
                    <a:pt x="0" y="0"/>
                  </a:lnTo>
                  <a:close/>
                </a:path>
              </a:pathLst>
            </a:custGeom>
            <a:blipFill>
              <a:blip r:embed="rId8"/>
              <a:stretch>
                <a:fillRect l="0" t="0" r="-20" b="-1270"/>
              </a:stretch>
            </a:blipFill>
          </p:spPr>
          <p:txBody>
            <a:bodyPr/>
            <a:p/>
          </p:txBody>
        </p:sp>
      </p:grpSp>
      <p:sp>
        <p:nvSpPr>
          <p:cNvPr name="TextBox 17" id="17"/>
          <p:cNvSpPr txBox="true"/>
          <p:nvPr/>
        </p:nvSpPr>
        <p:spPr>
          <a:xfrm rot="0">
            <a:off x="10047018" y="1743894"/>
            <a:ext cx="5260705" cy="247650"/>
          </a:xfrm>
          <a:prstGeom prst="rect">
            <a:avLst/>
          </a:prstGeom>
        </p:spPr>
        <p:txBody>
          <a:bodyPr anchor="t" rtlCol="false" tIns="0" lIns="0" bIns="0" rIns="0">
            <a:spAutoFit/>
          </a:bodyPr>
          <a:lstStyle/>
          <a:p>
            <a:pPr algn="l">
              <a:lnSpc>
                <a:spcPts val="2070"/>
              </a:lnSpc>
            </a:pPr>
            <a:r>
              <a:rPr lang="en-US" b="true" sz="1725">
                <a:solidFill>
                  <a:srgbClr val="0F172A"/>
                </a:solidFill>
                <a:latin typeface="DM Sans Bold"/>
                <a:ea typeface="DM Sans Bold"/>
                <a:cs typeface="DM Sans Bold"/>
                <a:sym typeface="DM Sans Bold"/>
              </a:rPr>
              <a:t>Design targets and hardware</a:t>
            </a:r>
          </a:p>
        </p:txBody>
      </p:sp>
      <p:grpSp>
        <p:nvGrpSpPr>
          <p:cNvPr name="Group 18" id="18"/>
          <p:cNvGrpSpPr/>
          <p:nvPr/>
        </p:nvGrpSpPr>
        <p:grpSpPr>
          <a:xfrm rot="0">
            <a:off x="16642794" y="9421197"/>
            <a:ext cx="1645206" cy="865803"/>
            <a:chOff x="0" y="0"/>
            <a:chExt cx="2193608" cy="1154405"/>
          </a:xfrm>
        </p:grpSpPr>
        <p:sp>
          <p:nvSpPr>
            <p:cNvPr name="Freeform 19" id="19"/>
            <p:cNvSpPr/>
            <p:nvPr/>
          </p:nvSpPr>
          <p:spPr>
            <a:xfrm flipH="false" flipV="false" rot="0">
              <a:off x="0" y="0"/>
              <a:ext cx="2193671" cy="1154430"/>
            </a:xfrm>
            <a:custGeom>
              <a:avLst/>
              <a:gdLst/>
              <a:ahLst/>
              <a:cxnLst/>
              <a:rect r="r" b="b" t="t" l="l"/>
              <a:pathLst>
                <a:path h="1154430" w="2193671">
                  <a:moveTo>
                    <a:pt x="0" y="0"/>
                  </a:moveTo>
                  <a:lnTo>
                    <a:pt x="2193671" y="0"/>
                  </a:lnTo>
                  <a:lnTo>
                    <a:pt x="2193671" y="1154430"/>
                  </a:lnTo>
                  <a:lnTo>
                    <a:pt x="0" y="1154430"/>
                  </a:lnTo>
                  <a:lnTo>
                    <a:pt x="0" y="0"/>
                  </a:lnTo>
                  <a:close/>
                </a:path>
              </a:pathLst>
            </a:custGeom>
            <a:blipFill>
              <a:blip r:embed="rId9"/>
              <a:stretch>
                <a:fillRect l="0" t="0" r="2" b="2"/>
              </a:stretch>
            </a:blipFill>
          </p:spPr>
          <p:txBody>
            <a:bodyPr/>
            <a:p/>
          </p:txBody>
        </p:sp>
      </p:grpSp>
      <p:grpSp>
        <p:nvGrpSpPr>
          <p:cNvPr name="Group 20" id="20"/>
          <p:cNvGrpSpPr/>
          <p:nvPr/>
        </p:nvGrpSpPr>
        <p:grpSpPr>
          <a:xfrm rot="0">
            <a:off x="0" y="9421197"/>
            <a:ext cx="2679421" cy="865803"/>
            <a:chOff x="0" y="0"/>
            <a:chExt cx="3572561" cy="1154405"/>
          </a:xfrm>
        </p:grpSpPr>
        <p:sp>
          <p:nvSpPr>
            <p:cNvPr name="Freeform 21" id="21"/>
            <p:cNvSpPr/>
            <p:nvPr/>
          </p:nvSpPr>
          <p:spPr>
            <a:xfrm flipH="false" flipV="false" rot="0">
              <a:off x="0" y="0"/>
              <a:ext cx="3572510" cy="1154430"/>
            </a:xfrm>
            <a:custGeom>
              <a:avLst/>
              <a:gdLst/>
              <a:ahLst/>
              <a:cxnLst/>
              <a:rect r="r" b="b" t="t" l="l"/>
              <a:pathLst>
                <a:path h="1154430" w="3572510">
                  <a:moveTo>
                    <a:pt x="0" y="0"/>
                  </a:moveTo>
                  <a:lnTo>
                    <a:pt x="3572510" y="0"/>
                  </a:lnTo>
                  <a:lnTo>
                    <a:pt x="3572510" y="1154430"/>
                  </a:lnTo>
                  <a:lnTo>
                    <a:pt x="0" y="1154430"/>
                  </a:lnTo>
                  <a:lnTo>
                    <a:pt x="0" y="0"/>
                  </a:lnTo>
                  <a:close/>
                </a:path>
              </a:pathLst>
            </a:custGeom>
            <a:blipFill>
              <a:blip r:embed="rId10"/>
              <a:stretch>
                <a:fillRect l="-21110" t="-147255" r="-22761" b="-197973"/>
              </a:stretch>
            </a:blipFill>
          </p:spPr>
          <p:txBody>
            <a:bodyPr/>
            <a:p/>
          </p:txBody>
        </p:sp>
      </p:grpSp>
      <p:grpSp>
        <p:nvGrpSpPr>
          <p:cNvPr name="Group 22" id="22"/>
          <p:cNvGrpSpPr/>
          <p:nvPr/>
        </p:nvGrpSpPr>
        <p:grpSpPr>
          <a:xfrm rot="0">
            <a:off x="14558162" y="685800"/>
            <a:ext cx="2929738" cy="462248"/>
            <a:chOff x="0" y="0"/>
            <a:chExt cx="3906317" cy="616331"/>
          </a:xfrm>
        </p:grpSpPr>
        <p:sp>
          <p:nvSpPr>
            <p:cNvPr name="Freeform 23" id="23"/>
            <p:cNvSpPr/>
            <p:nvPr/>
          </p:nvSpPr>
          <p:spPr>
            <a:xfrm flipH="false" flipV="false" rot="0">
              <a:off x="0" y="0"/>
              <a:ext cx="3906266" cy="616331"/>
            </a:xfrm>
            <a:custGeom>
              <a:avLst/>
              <a:gdLst/>
              <a:ahLst/>
              <a:cxnLst/>
              <a:rect r="r" b="b" t="t" l="l"/>
              <a:pathLst>
                <a:path h="616331" w="3906266">
                  <a:moveTo>
                    <a:pt x="0" y="308166"/>
                  </a:moveTo>
                  <a:cubicBezTo>
                    <a:pt x="0" y="137914"/>
                    <a:pt x="110490" y="0"/>
                    <a:pt x="246888" y="0"/>
                  </a:cubicBezTo>
                  <a:lnTo>
                    <a:pt x="3659378" y="0"/>
                  </a:lnTo>
                  <a:cubicBezTo>
                    <a:pt x="3795776" y="0"/>
                    <a:pt x="3906266" y="137914"/>
                    <a:pt x="3906266" y="308166"/>
                  </a:cubicBezTo>
                  <a:cubicBezTo>
                    <a:pt x="3906266" y="478417"/>
                    <a:pt x="3795776" y="616331"/>
                    <a:pt x="3659378" y="616331"/>
                  </a:cubicBezTo>
                  <a:lnTo>
                    <a:pt x="246888" y="616331"/>
                  </a:lnTo>
                  <a:cubicBezTo>
                    <a:pt x="110490" y="616331"/>
                    <a:pt x="0" y="478417"/>
                    <a:pt x="0" y="308166"/>
                  </a:cubicBezTo>
                  <a:close/>
                </a:path>
              </a:pathLst>
            </a:custGeom>
            <a:solidFill>
              <a:srgbClr val="FEF3C7"/>
            </a:solidFill>
          </p:spPr>
          <p:txBody>
            <a:bodyPr/>
            <a:p/>
          </p:txBody>
        </p:sp>
        <p:sp>
          <p:nvSpPr>
            <p:cNvPr name="TextBox 24" id="24"/>
            <p:cNvSpPr txBox="true"/>
            <p:nvPr/>
          </p:nvSpPr>
          <p:spPr>
            <a:xfrm>
              <a:off x="0" y="0"/>
              <a:ext cx="3906317" cy="616331"/>
            </a:xfrm>
            <a:prstGeom prst="rect">
              <a:avLst/>
            </a:prstGeom>
          </p:spPr>
          <p:txBody>
            <a:bodyPr anchor="ctr" rtlCol="false" tIns="50800" lIns="50800" bIns="50800" rIns="50800"/>
            <a:lstStyle/>
            <a:p>
              <a:pPr algn="ctr">
                <a:lnSpc>
                  <a:spcPts val="1350"/>
                </a:lnSpc>
              </a:pPr>
              <a:r>
                <a:rPr lang="en-US" sz="1125" b="true">
                  <a:solidFill>
                    <a:srgbClr val="B45309"/>
                  </a:solidFill>
                  <a:latin typeface="DM Sans Bold"/>
                  <a:ea typeface="DM Sans Bold"/>
                  <a:cs typeface="DM Sans Bold"/>
                  <a:sym typeface="DM Sans Bold"/>
                </a:rPr>
                <a:t>DESIGN TARGETS · NOT YET BENCH-TESTED</a:t>
              </a:r>
            </a:p>
          </p:txBody>
        </p:sp>
      </p:grpSp>
      <p:grpSp>
        <p:nvGrpSpPr>
          <p:cNvPr name="Group 25" id="25"/>
          <p:cNvGrpSpPr/>
          <p:nvPr/>
        </p:nvGrpSpPr>
        <p:grpSpPr>
          <a:xfrm rot="0">
            <a:off x="809244" y="1455068"/>
            <a:ext cx="8119872" cy="5813231"/>
            <a:chOff x="0" y="0"/>
            <a:chExt cx="10826496" cy="7750975"/>
          </a:xfrm>
        </p:grpSpPr>
        <p:sp>
          <p:nvSpPr>
            <p:cNvPr name="Freeform 26" id="26" descr="fig_howitworks.png"/>
            <p:cNvSpPr/>
            <p:nvPr/>
          </p:nvSpPr>
          <p:spPr>
            <a:xfrm flipH="false" flipV="false" rot="0">
              <a:off x="0" y="0"/>
              <a:ext cx="10826496" cy="7750937"/>
            </a:xfrm>
            <a:custGeom>
              <a:avLst/>
              <a:gdLst/>
              <a:ahLst/>
              <a:cxnLst/>
              <a:rect r="r" b="b" t="t" l="l"/>
              <a:pathLst>
                <a:path h="7750937" w="10826496">
                  <a:moveTo>
                    <a:pt x="0" y="0"/>
                  </a:moveTo>
                  <a:lnTo>
                    <a:pt x="10826496" y="0"/>
                  </a:lnTo>
                  <a:lnTo>
                    <a:pt x="10826496" y="7750937"/>
                  </a:lnTo>
                  <a:lnTo>
                    <a:pt x="0" y="7750937"/>
                  </a:lnTo>
                  <a:lnTo>
                    <a:pt x="0" y="0"/>
                  </a:lnTo>
                  <a:close/>
                </a:path>
              </a:pathLst>
            </a:custGeom>
            <a:blipFill>
              <a:blip r:embed="rId11"/>
              <a:stretch>
                <a:fillRect l="0" t="0" r="0" b="0"/>
              </a:stretch>
            </a:blipFill>
          </p:spPr>
          <p:txBody>
            <a:bodyPr/>
            <a:p/>
          </p:txBody>
        </p:sp>
      </p:grpSp>
      <p:graphicFrame>
        <p:nvGraphicFramePr>
          <p:cNvPr name="Table 27" id="27"/>
          <p:cNvGraphicFramePr>
            <a:graphicFrameLocks noGrp="true"/>
          </p:cNvGraphicFramePr>
          <p:nvPr/>
        </p:nvGraphicFramePr>
        <p:xfrm>
          <a:off x="9669780" y="2221992"/>
          <a:ext cx="7486650" cy="5034639"/>
        </p:xfrm>
        <a:graphic>
          <a:graphicData uri="http://schemas.openxmlformats.org/drawingml/2006/table">
            <a:tbl>
              <a:tblPr/>
              <a:tblGrid>
                <a:gridCol w="1772559"/>
                <a:gridCol w="3580036"/>
                <a:gridCol w="2134055"/>
              </a:tblGrid>
              <a:tr h="565187">
                <a:tc>
                  <a:txBody>
                    <a:bodyPr anchor="t" rtlCol="false"/>
                    <a:lstStyle/>
                    <a:p>
                      <a:pPr algn="l">
                        <a:lnSpc>
                          <a:spcPts val="1620"/>
                        </a:lnSpc>
                        <a:defRPr/>
                      </a:pPr>
                      <a:r>
                        <a:rPr lang="en-US" sz="1350" b="true">
                          <a:solidFill>
                            <a:srgbClr val="0F172A"/>
                          </a:solidFill>
                          <a:latin typeface="DM Sans Bold"/>
                          <a:ea typeface="DM Sans Bold"/>
                          <a:cs typeface="DM Sans Bold"/>
                          <a:sym typeface="DM Sans Bold"/>
                        </a:rPr>
                        <a:t>Parameter</a:t>
                      </a:r>
                      <a:endParaRPr lang="en-US" sz="1100"/>
                    </a:p>
                  </a:txBody>
                  <a:tcPr marL="36576" marR="36576" marT="36576" marB="36576" anchor="ctr">
                    <a:lnL cmpd="sng" algn="ctr" cap="flat" w="12700">
                      <a:solidFill>
                        <a:srgbClr val="000000"/>
                      </a:solidFill>
                      <a:prstDash val="solid"/>
                      <a:round/>
                      <a:headEnd type="none" w="med" len="med"/>
                      <a:tailEnd type="none" w="med" len="med"/>
                    </a:lnL>
                    <a:lnR cmpd="sng" algn="ctr" cap="flat" w="12700">
                      <a:solidFill>
                        <a:srgbClr val="000000"/>
                      </a:solidFill>
                      <a:prstDash val="solid"/>
                      <a:round/>
                      <a:headEnd type="none" w="med" len="med"/>
                      <a:tailEnd type="none" w="med" len="med"/>
                    </a:lnR>
                    <a:lnT cmpd="sng" algn="ctr" cap="flat" w="12700">
                      <a:solidFill>
                        <a:srgbClr val="000000"/>
                      </a:solidFill>
                      <a:prstDash val="solid"/>
                      <a:round/>
                      <a:headEnd type="none" w="med" len="med"/>
                      <a:tailEnd type="none" w="med" len="med"/>
                    </a:lnT>
                    <a:lnB cmpd="sng" algn="ctr" cap="flat" w="12700">
                      <a:solidFill>
                        <a:srgbClr val="CBD5E1"/>
                      </a:solidFill>
                      <a:prstDash val="solid"/>
                      <a:round/>
                      <a:headEnd type="none" w="med" len="med"/>
                      <a:tailEnd type="none" w="med" len="med"/>
                    </a:lnB>
                  </a:tcPr>
                </a:tc>
                <a:tc>
                  <a:txBody>
                    <a:bodyPr anchor="t" rtlCol="false"/>
                    <a:lstStyle/>
                    <a:p>
                      <a:pPr algn="l">
                        <a:lnSpc>
                          <a:spcPts val="1620"/>
                        </a:lnSpc>
                        <a:defRPr/>
                      </a:pPr>
                      <a:r>
                        <a:rPr lang="en-US" sz="1350" b="true">
                          <a:solidFill>
                            <a:srgbClr val="0F172A"/>
                          </a:solidFill>
                          <a:latin typeface="DM Sans Bold"/>
                          <a:ea typeface="DM Sans Bold"/>
                          <a:cs typeface="DM Sans Bold"/>
                          <a:sym typeface="DM Sans Bold"/>
                        </a:rPr>
                        <a:t>Design value</a:t>
                      </a:r>
                      <a:endParaRPr lang="en-US" sz="1100"/>
                    </a:p>
                  </a:txBody>
                  <a:tcPr marL="36576" marR="36576" marT="36576" marB="36576" anchor="ctr">
                    <a:lnL cmpd="sng" algn="ctr" cap="flat" w="12700">
                      <a:solidFill>
                        <a:srgbClr val="000000"/>
                      </a:solidFill>
                      <a:prstDash val="solid"/>
                      <a:round/>
                      <a:headEnd type="none" w="med" len="med"/>
                      <a:tailEnd type="none" w="med" len="med"/>
                    </a:lnL>
                    <a:lnR cmpd="sng" algn="ctr" cap="flat" w="12700">
                      <a:solidFill>
                        <a:srgbClr val="000000"/>
                      </a:solidFill>
                      <a:prstDash val="solid"/>
                      <a:round/>
                      <a:headEnd type="none" w="med" len="med"/>
                      <a:tailEnd type="none" w="med" len="med"/>
                    </a:lnR>
                    <a:lnT cmpd="sng" algn="ctr" cap="flat" w="12700">
                      <a:solidFill>
                        <a:srgbClr val="000000"/>
                      </a:solidFill>
                      <a:prstDash val="solid"/>
                      <a:round/>
                      <a:headEnd type="none" w="med" len="med"/>
                      <a:tailEnd type="none" w="med" len="med"/>
                    </a:lnT>
                    <a:lnB cmpd="sng" algn="ctr" cap="flat" w="12700">
                      <a:solidFill>
                        <a:srgbClr val="CBD5E1"/>
                      </a:solidFill>
                      <a:prstDash val="solid"/>
                      <a:round/>
                      <a:headEnd type="none" w="med" len="med"/>
                      <a:tailEnd type="none" w="med" len="med"/>
                    </a:lnB>
                  </a:tcPr>
                </a:tc>
                <a:tc>
                  <a:txBody>
                    <a:bodyPr anchor="t" rtlCol="false"/>
                    <a:lstStyle/>
                    <a:p>
                      <a:pPr algn="l">
                        <a:lnSpc>
                          <a:spcPts val="1620"/>
                        </a:lnSpc>
                        <a:defRPr/>
                      </a:pPr>
                      <a:r>
                        <a:rPr lang="en-US" sz="1350" b="true">
                          <a:solidFill>
                            <a:srgbClr val="0F172A"/>
                          </a:solidFill>
                          <a:latin typeface="DM Sans Bold"/>
                          <a:ea typeface="DM Sans Bold"/>
                          <a:cs typeface="DM Sans Bold"/>
                          <a:sym typeface="DM Sans Bold"/>
                        </a:rPr>
                        <a:t>Basis</a:t>
                      </a:r>
                      <a:endParaRPr lang="en-US" sz="1100"/>
                    </a:p>
                  </a:txBody>
                  <a:tcPr marL="36576" marR="36576" marT="36576" marB="36576" anchor="ctr">
                    <a:lnL cmpd="sng" algn="ctr" cap="flat" w="12700">
                      <a:solidFill>
                        <a:srgbClr val="000000"/>
                      </a:solidFill>
                      <a:prstDash val="solid"/>
                      <a:round/>
                      <a:headEnd type="none" w="med" len="med"/>
                      <a:tailEnd type="none" w="med" len="med"/>
                    </a:lnL>
                    <a:lnR cmpd="sng" algn="ctr" cap="flat" w="12700">
                      <a:solidFill>
                        <a:srgbClr val="000000"/>
                      </a:solidFill>
                      <a:prstDash val="solid"/>
                      <a:round/>
                      <a:headEnd type="none" w="med" len="med"/>
                      <a:tailEnd type="none" w="med" len="med"/>
                    </a:lnR>
                    <a:lnT cmpd="sng" algn="ctr" cap="flat" w="12700">
                      <a:solidFill>
                        <a:srgbClr val="000000"/>
                      </a:solidFill>
                      <a:prstDash val="solid"/>
                      <a:round/>
                      <a:headEnd type="none" w="med" len="med"/>
                      <a:tailEnd type="none" w="med" len="med"/>
                    </a:lnT>
                    <a:lnB cmpd="sng" algn="ctr" cap="flat" w="12700">
                      <a:solidFill>
                        <a:srgbClr val="CBD5E1"/>
                      </a:solidFill>
                      <a:prstDash val="solid"/>
                      <a:round/>
                      <a:headEnd type="none" w="med" len="med"/>
                      <a:tailEnd type="none" w="med" len="med"/>
                    </a:lnB>
                  </a:tcPr>
                </a:tc>
              </a:tr>
              <a:tr h="550842">
                <a:tc>
                  <a:txBody>
                    <a:bodyPr anchor="t" rtlCol="false"/>
                    <a:lstStyle/>
                    <a:p>
                      <a:pPr algn="l">
                        <a:lnSpc>
                          <a:spcPts val="1727"/>
                        </a:lnSpc>
                        <a:defRPr/>
                      </a:pPr>
                      <a:r>
                        <a:rPr lang="en-US" sz="1439" b="true">
                          <a:solidFill>
                            <a:srgbClr val="0F172A"/>
                          </a:solidFill>
                          <a:latin typeface="DM Sans Bold"/>
                          <a:ea typeface="DM Sans Bold"/>
                          <a:cs typeface="DM Sans Bold"/>
                          <a:sym typeface="DM Sans Bold"/>
                        </a:rPr>
                        <a:t>Sensing zones</a:t>
                      </a:r>
                      <a:endParaRPr lang="en-US" sz="1100"/>
                    </a:p>
                  </a:txBody>
                  <a:tcPr marL="36576" marR="36576" marT="36576" marB="36576" anchor="ctr">
                    <a:lnL cmpd="sng" algn="ctr" cap="flat" w="7620">
                      <a:solidFill>
                        <a:srgbClr val="000000"/>
                      </a:solidFill>
                      <a:prstDash val="solid"/>
                      <a:round/>
                      <a:headEnd type="none" w="med" len="med"/>
                      <a:tailEnd type="none" w="med" len="med"/>
                    </a:lnL>
                    <a:lnR cmpd="sng" algn="ctr" cap="flat" w="7620">
                      <a:solidFill>
                        <a:srgbClr val="000000"/>
                      </a:solidFill>
                      <a:prstDash val="solid"/>
                      <a:round/>
                      <a:headEnd type="none" w="med" len="med"/>
                      <a:tailEnd type="none" w="med" len="med"/>
                    </a:lnR>
                    <a:lnT cmpd="sng" algn="ctr" cap="flat" w="7620">
                      <a:solidFill>
                        <a:srgbClr val="000000"/>
                      </a:solidFill>
                      <a:prstDash val="solid"/>
                      <a:round/>
                      <a:headEnd type="none" w="med" len="med"/>
                      <a:tailEnd type="none" w="med" len="med"/>
                    </a:lnT>
                    <a:lnB cmpd="sng" algn="ctr" cap="flat" w="7620">
                      <a:solidFill>
                        <a:srgbClr val="E2E8F0"/>
                      </a:solidFill>
                      <a:prstDash val="solid"/>
                      <a:round/>
                      <a:headEnd type="none" w="med" len="med"/>
                      <a:tailEnd type="none" w="med" len="med"/>
                    </a:lnB>
                  </a:tcPr>
                </a:tc>
                <a:tc>
                  <a:txBody>
                    <a:bodyPr anchor="t" rtlCol="false"/>
                    <a:lstStyle/>
                    <a:p>
                      <a:pPr algn="l">
                        <a:lnSpc>
                          <a:spcPts val="1727"/>
                        </a:lnSpc>
                        <a:defRPr/>
                      </a:pPr>
                      <a:r>
                        <a:rPr lang="en-US" sz="1439">
                          <a:solidFill>
                            <a:srgbClr val="334155"/>
                          </a:solidFill>
                          <a:latin typeface="DM Sans"/>
                          <a:ea typeface="DM Sans"/>
                          <a:cs typeface="DM Sans"/>
                          <a:sym typeface="DM Sans"/>
                        </a:rPr>
                        <a:t>2: centre C, change line A</a:t>
                      </a:r>
                      <a:endParaRPr lang="en-US" sz="1100"/>
                    </a:p>
                  </a:txBody>
                  <a:tcPr marL="36576" marR="36576" marT="36576" marB="36576" anchor="ctr">
                    <a:lnL cmpd="sng" algn="ctr" cap="flat" w="7620">
                      <a:solidFill>
                        <a:srgbClr val="000000"/>
                      </a:solidFill>
                      <a:prstDash val="solid"/>
                      <a:round/>
                      <a:headEnd type="none" w="med" len="med"/>
                      <a:tailEnd type="none" w="med" len="med"/>
                    </a:lnL>
                    <a:lnR cmpd="sng" algn="ctr" cap="flat" w="7620">
                      <a:solidFill>
                        <a:srgbClr val="000000"/>
                      </a:solidFill>
                      <a:prstDash val="solid"/>
                      <a:round/>
                      <a:headEnd type="none" w="med" len="med"/>
                      <a:tailEnd type="none" w="med" len="med"/>
                    </a:lnR>
                    <a:lnT cmpd="sng" algn="ctr" cap="flat" w="7620">
                      <a:solidFill>
                        <a:srgbClr val="000000"/>
                      </a:solidFill>
                      <a:prstDash val="solid"/>
                      <a:round/>
                      <a:headEnd type="none" w="med" len="med"/>
                      <a:tailEnd type="none" w="med" len="med"/>
                    </a:lnT>
                    <a:lnB cmpd="sng" algn="ctr" cap="flat" w="7620">
                      <a:solidFill>
                        <a:srgbClr val="E2E8F0"/>
                      </a:solidFill>
                      <a:prstDash val="solid"/>
                      <a:round/>
                      <a:headEnd type="none" w="med" len="med"/>
                      <a:tailEnd type="none" w="med" len="med"/>
                    </a:lnB>
                  </a:tcPr>
                </a:tc>
                <a:tc>
                  <a:txBody>
                    <a:bodyPr anchor="t" rtlCol="false"/>
                    <a:lstStyle/>
                    <a:p>
                      <a:pPr algn="l">
                        <a:lnSpc>
                          <a:spcPts val="1727"/>
                        </a:lnSpc>
                        <a:defRPr/>
                      </a:pPr>
                      <a:r>
                        <a:rPr lang="en-US" sz="1439">
                          <a:solidFill>
                            <a:srgbClr val="334155"/>
                          </a:solidFill>
                          <a:latin typeface="DM Sans"/>
                          <a:ea typeface="DM Sans"/>
                          <a:cs typeface="DM Sans"/>
                          <a:sym typeface="DM Sans"/>
                        </a:rPr>
                        <a:t>decision D-012</a:t>
                      </a:r>
                      <a:endParaRPr lang="en-US" sz="1100"/>
                    </a:p>
                  </a:txBody>
                  <a:tcPr marL="36576" marR="36576" marT="36576" marB="36576" anchor="ctr">
                    <a:lnL cmpd="sng" algn="ctr" cap="flat" w="7620">
                      <a:solidFill>
                        <a:srgbClr val="000000"/>
                      </a:solidFill>
                      <a:prstDash val="solid"/>
                      <a:round/>
                      <a:headEnd type="none" w="med" len="med"/>
                      <a:tailEnd type="none" w="med" len="med"/>
                    </a:lnL>
                    <a:lnR cmpd="sng" algn="ctr" cap="flat" w="7620">
                      <a:solidFill>
                        <a:srgbClr val="000000"/>
                      </a:solidFill>
                      <a:prstDash val="solid"/>
                      <a:round/>
                      <a:headEnd type="none" w="med" len="med"/>
                      <a:tailEnd type="none" w="med" len="med"/>
                    </a:lnR>
                    <a:lnT cmpd="sng" algn="ctr" cap="flat" w="7620">
                      <a:solidFill>
                        <a:srgbClr val="000000"/>
                      </a:solidFill>
                      <a:prstDash val="solid"/>
                      <a:round/>
                      <a:headEnd type="none" w="med" len="med"/>
                      <a:tailEnd type="none" w="med" len="med"/>
                    </a:lnT>
                    <a:lnB cmpd="sng" algn="ctr" cap="flat" w="7620">
                      <a:solidFill>
                        <a:srgbClr val="E2E8F0"/>
                      </a:solidFill>
                      <a:prstDash val="solid"/>
                      <a:round/>
                      <a:headEnd type="none" w="med" len="med"/>
                      <a:tailEnd type="none" w="med" len="med"/>
                    </a:lnB>
                  </a:tcPr>
                </a:tc>
              </a:tr>
              <a:tr h="582200">
                <a:tc>
                  <a:txBody>
                    <a:bodyPr anchor="t" rtlCol="false"/>
                    <a:lstStyle/>
                    <a:p>
                      <a:pPr algn="l">
                        <a:lnSpc>
                          <a:spcPts val="1727"/>
                        </a:lnSpc>
                        <a:defRPr/>
                      </a:pPr>
                      <a:r>
                        <a:rPr lang="en-US" sz="1439" b="true">
                          <a:solidFill>
                            <a:srgbClr val="0F172A"/>
                          </a:solidFill>
                          <a:latin typeface="DM Sans Bold"/>
                          <a:ea typeface="DM Sans Bold"/>
                          <a:cs typeface="DM Sans Bold"/>
                          <a:sym typeface="DM Sans Bold"/>
                        </a:rPr>
                        <a:t>Electrodes</a:t>
                      </a:r>
                      <a:endParaRPr lang="en-US" sz="1100"/>
                    </a:p>
                  </a:txBody>
                  <a:tcPr marL="36576" marR="36576" marT="36576" marB="36576" anchor="ctr">
                    <a:lnL cmpd="sng" algn="ctr" cap="flat" w="7620">
                      <a:solidFill>
                        <a:srgbClr val="000000"/>
                      </a:solidFill>
                      <a:prstDash val="solid"/>
                      <a:round/>
                      <a:headEnd type="none" w="med" len="med"/>
                      <a:tailEnd type="none" w="med" len="med"/>
                    </a:lnL>
                    <a:lnR cmpd="sng" algn="ctr" cap="flat" w="7620">
                      <a:solidFill>
                        <a:srgbClr val="000000"/>
                      </a:solidFill>
                      <a:prstDash val="solid"/>
                      <a:round/>
                      <a:headEnd type="none" w="med" len="med"/>
                      <a:tailEnd type="none" w="med" len="med"/>
                    </a:lnR>
                    <a:lnT cmpd="sng" algn="ctr" cap="flat" w="7620">
                      <a:solidFill>
                        <a:srgbClr val="000000"/>
                      </a:solidFill>
                      <a:prstDash val="solid"/>
                      <a:round/>
                      <a:headEnd type="none" w="med" len="med"/>
                      <a:tailEnd type="none" w="med" len="med"/>
                    </a:lnT>
                    <a:lnB cmpd="sng" algn="ctr" cap="flat" w="7620">
                      <a:solidFill>
                        <a:srgbClr val="E2E8F0"/>
                      </a:solidFill>
                      <a:prstDash val="solid"/>
                      <a:round/>
                      <a:headEnd type="none" w="med" len="med"/>
                      <a:tailEnd type="none" w="med" len="med"/>
                    </a:lnB>
                  </a:tcPr>
                </a:tc>
                <a:tc>
                  <a:txBody>
                    <a:bodyPr anchor="t" rtlCol="false"/>
                    <a:lstStyle/>
                    <a:p>
                      <a:pPr algn="l">
                        <a:lnSpc>
                          <a:spcPts val="1727"/>
                        </a:lnSpc>
                        <a:defRPr/>
                      </a:pPr>
                      <a:r>
                        <a:rPr lang="en-US" sz="1439">
                          <a:solidFill>
                            <a:srgbClr val="334155"/>
                          </a:solidFill>
                          <a:latin typeface="DM Sans"/>
                          <a:ea typeface="DM Sans"/>
                          <a:cs typeface="DM Sans"/>
                          <a:sym typeface="DM Sans"/>
                        </a:rPr>
                        <a:t>1.0 mm lines and gaps</a:t>
                      </a:r>
                      <a:endParaRPr lang="en-US" sz="1100"/>
                    </a:p>
                  </a:txBody>
                  <a:tcPr marL="36576" marR="36576" marT="36576" marB="36576" anchor="ctr">
                    <a:lnL cmpd="sng" algn="ctr" cap="flat" w="7620">
                      <a:solidFill>
                        <a:srgbClr val="000000"/>
                      </a:solidFill>
                      <a:prstDash val="solid"/>
                      <a:round/>
                      <a:headEnd type="none" w="med" len="med"/>
                      <a:tailEnd type="none" w="med" len="med"/>
                    </a:lnL>
                    <a:lnR cmpd="sng" algn="ctr" cap="flat" w="7620">
                      <a:solidFill>
                        <a:srgbClr val="000000"/>
                      </a:solidFill>
                      <a:prstDash val="solid"/>
                      <a:round/>
                      <a:headEnd type="none" w="med" len="med"/>
                      <a:tailEnd type="none" w="med" len="med"/>
                    </a:lnR>
                    <a:lnT cmpd="sng" algn="ctr" cap="flat" w="7620">
                      <a:solidFill>
                        <a:srgbClr val="000000"/>
                      </a:solidFill>
                      <a:prstDash val="solid"/>
                      <a:round/>
                      <a:headEnd type="none" w="med" len="med"/>
                      <a:tailEnd type="none" w="med" len="med"/>
                    </a:lnT>
                    <a:lnB cmpd="sng" algn="ctr" cap="flat" w="7620">
                      <a:solidFill>
                        <a:srgbClr val="E2E8F0"/>
                      </a:solidFill>
                      <a:prstDash val="solid"/>
                      <a:round/>
                      <a:headEnd type="none" w="med" len="med"/>
                      <a:tailEnd type="none" w="med" len="med"/>
                    </a:lnB>
                  </a:tcPr>
                </a:tc>
                <a:tc>
                  <a:txBody>
                    <a:bodyPr anchor="t" rtlCol="false"/>
                    <a:lstStyle/>
                    <a:p>
                      <a:pPr algn="l" marL="0" indent="0" lvl="0">
                        <a:lnSpc>
                          <a:spcPts val="1727"/>
                        </a:lnSpc>
                        <a:spcBef>
                          <a:spcPct val="0"/>
                        </a:spcBef>
                        <a:defRPr/>
                      </a:pPr>
                      <a:r>
                        <a:rPr lang="en-US" sz="1439" strike="noStrike" u="none">
                          <a:solidFill>
                            <a:srgbClr val="334155"/>
                          </a:solidFill>
                          <a:latin typeface="DM Sans"/>
                          <a:ea typeface="DM Sans"/>
                          <a:cs typeface="DM Sans"/>
                          <a:sym typeface="DM Sans"/>
                        </a:rPr>
                        <a:t>E2 pre-registered limits</a:t>
                      </a:r>
                      <a:endParaRPr lang="en-US" sz="1100"/>
                    </a:p>
                  </a:txBody>
                  <a:tcPr marL="36576" marR="36576" marT="36576" marB="36576" anchor="ctr">
                    <a:lnL cmpd="sng" algn="ctr" cap="flat" w="7620">
                      <a:solidFill>
                        <a:srgbClr val="000000"/>
                      </a:solidFill>
                      <a:prstDash val="solid"/>
                      <a:round/>
                      <a:headEnd type="none" w="med" len="med"/>
                      <a:tailEnd type="none" w="med" len="med"/>
                    </a:lnL>
                    <a:lnR cmpd="sng" algn="ctr" cap="flat" w="7620">
                      <a:solidFill>
                        <a:srgbClr val="000000"/>
                      </a:solidFill>
                      <a:prstDash val="solid"/>
                      <a:round/>
                      <a:headEnd type="none" w="med" len="med"/>
                      <a:tailEnd type="none" w="med" len="med"/>
                    </a:lnR>
                    <a:lnT cmpd="sng" algn="ctr" cap="flat" w="7620">
                      <a:solidFill>
                        <a:srgbClr val="000000"/>
                      </a:solidFill>
                      <a:prstDash val="solid"/>
                      <a:round/>
                      <a:headEnd type="none" w="med" len="med"/>
                      <a:tailEnd type="none" w="med" len="med"/>
                    </a:lnT>
                    <a:lnB cmpd="sng" algn="ctr" cap="flat" w="7620">
                      <a:solidFill>
                        <a:srgbClr val="E2E8F0"/>
                      </a:solidFill>
                      <a:prstDash val="solid"/>
                      <a:round/>
                      <a:headEnd type="none" w="med" len="med"/>
                      <a:tailEnd type="none" w="med" len="med"/>
                    </a:lnB>
                  </a:tcPr>
                </a:tc>
              </a:tr>
              <a:tr h="550842">
                <a:tc>
                  <a:txBody>
                    <a:bodyPr anchor="t" rtlCol="false"/>
                    <a:lstStyle/>
                    <a:p>
                      <a:pPr algn="l">
                        <a:lnSpc>
                          <a:spcPts val="1727"/>
                        </a:lnSpc>
                        <a:defRPr/>
                      </a:pPr>
                      <a:r>
                        <a:rPr lang="en-US" sz="1439" b="true">
                          <a:solidFill>
                            <a:srgbClr val="0F172A"/>
                          </a:solidFill>
                          <a:latin typeface="DM Sans Bold"/>
                          <a:ea typeface="DM Sans Bold"/>
                          <a:cs typeface="DM Sans Bold"/>
                          <a:sym typeface="DM Sans Bold"/>
                        </a:rPr>
                        <a:t>Wet / dry</a:t>
                      </a:r>
                      <a:endParaRPr lang="en-US" sz="1100"/>
                    </a:p>
                  </a:txBody>
                  <a:tcPr marL="36576" marR="36576" marT="36576" marB="36576" anchor="ctr">
                    <a:lnL cmpd="sng" algn="ctr" cap="flat" w="7620">
                      <a:solidFill>
                        <a:srgbClr val="000000"/>
                      </a:solidFill>
                      <a:prstDash val="solid"/>
                      <a:round/>
                      <a:headEnd type="none" w="med" len="med"/>
                      <a:tailEnd type="none" w="med" len="med"/>
                    </a:lnL>
                    <a:lnR cmpd="sng" algn="ctr" cap="flat" w="7620">
                      <a:solidFill>
                        <a:srgbClr val="000000"/>
                      </a:solidFill>
                      <a:prstDash val="solid"/>
                      <a:round/>
                      <a:headEnd type="none" w="med" len="med"/>
                      <a:tailEnd type="none" w="med" len="med"/>
                    </a:lnR>
                    <a:lnT cmpd="sng" algn="ctr" cap="flat" w="7620">
                      <a:solidFill>
                        <a:srgbClr val="000000"/>
                      </a:solidFill>
                      <a:prstDash val="solid"/>
                      <a:round/>
                      <a:headEnd type="none" w="med" len="med"/>
                      <a:tailEnd type="none" w="med" len="med"/>
                    </a:lnT>
                    <a:lnB cmpd="sng" algn="ctr" cap="flat" w="7620">
                      <a:solidFill>
                        <a:srgbClr val="E2E8F0"/>
                      </a:solidFill>
                      <a:prstDash val="solid"/>
                      <a:round/>
                      <a:headEnd type="none" w="med" len="med"/>
                      <a:tailEnd type="none" w="med" len="med"/>
                    </a:lnB>
                  </a:tcPr>
                </a:tc>
                <a:tc>
                  <a:txBody>
                    <a:bodyPr anchor="t" rtlCol="false"/>
                    <a:lstStyle/>
                    <a:p>
                      <a:pPr algn="l">
                        <a:lnSpc>
                          <a:spcPts val="1727"/>
                        </a:lnSpc>
                        <a:defRPr/>
                      </a:pPr>
                      <a:r>
                        <a:rPr lang="en-US" sz="1439">
                          <a:solidFill>
                            <a:srgbClr val="334155"/>
                          </a:solidFill>
                          <a:latin typeface="DM Sans"/>
                          <a:ea typeface="DM Sans"/>
                          <a:cs typeface="DM Sans"/>
                          <a:sym typeface="DM Sans"/>
                        </a:rPr>
                        <a:t>&lt; 100 kΩ / &gt; 300 kΩ, 3 scans</a:t>
                      </a:r>
                      <a:endParaRPr lang="en-US" sz="1100"/>
                    </a:p>
                  </a:txBody>
                  <a:tcPr marL="36576" marR="36576" marT="36576" marB="36576" anchor="ctr">
                    <a:lnL cmpd="sng" algn="ctr" cap="flat" w="7620">
                      <a:solidFill>
                        <a:srgbClr val="000000"/>
                      </a:solidFill>
                      <a:prstDash val="solid"/>
                      <a:round/>
                      <a:headEnd type="none" w="med" len="med"/>
                      <a:tailEnd type="none" w="med" len="med"/>
                    </a:lnL>
                    <a:lnR cmpd="sng" algn="ctr" cap="flat" w="7620">
                      <a:solidFill>
                        <a:srgbClr val="000000"/>
                      </a:solidFill>
                      <a:prstDash val="solid"/>
                      <a:round/>
                      <a:headEnd type="none" w="med" len="med"/>
                      <a:tailEnd type="none" w="med" len="med"/>
                    </a:lnR>
                    <a:lnT cmpd="sng" algn="ctr" cap="flat" w="7620">
                      <a:solidFill>
                        <a:srgbClr val="000000"/>
                      </a:solidFill>
                      <a:prstDash val="solid"/>
                      <a:round/>
                      <a:headEnd type="none" w="med" len="med"/>
                      <a:tailEnd type="none" w="med" len="med"/>
                    </a:lnT>
                    <a:lnB cmpd="sng" algn="ctr" cap="flat" w="7620">
                      <a:solidFill>
                        <a:srgbClr val="E2E8F0"/>
                      </a:solidFill>
                      <a:prstDash val="solid"/>
                      <a:round/>
                      <a:headEnd type="none" w="med" len="med"/>
                      <a:tailEnd type="none" w="med" len="med"/>
                    </a:lnB>
                  </a:tcPr>
                </a:tc>
                <a:tc>
                  <a:txBody>
                    <a:bodyPr anchor="t" rtlCol="false"/>
                    <a:lstStyle/>
                    <a:p>
                      <a:pPr algn="l">
                        <a:lnSpc>
                          <a:spcPts val="1727"/>
                        </a:lnSpc>
                        <a:defRPr/>
                      </a:pPr>
                      <a:r>
                        <a:rPr lang="en-US" sz="1439">
                          <a:solidFill>
                            <a:srgbClr val="334155"/>
                          </a:solidFill>
                          <a:latin typeface="DM Sans"/>
                          <a:ea typeface="DM Sans"/>
                          <a:cs typeface="DM Sans"/>
                          <a:sym typeface="DM Sans"/>
                        </a:rPr>
                        <a:t>calc: wet 4–15 kΩ</a:t>
                      </a:r>
                      <a:endParaRPr lang="en-US" sz="1100"/>
                    </a:p>
                  </a:txBody>
                  <a:tcPr marL="36576" marR="36576" marT="36576" marB="36576" anchor="ctr">
                    <a:lnL cmpd="sng" algn="ctr" cap="flat" w="7620">
                      <a:solidFill>
                        <a:srgbClr val="000000"/>
                      </a:solidFill>
                      <a:prstDash val="solid"/>
                      <a:round/>
                      <a:headEnd type="none" w="med" len="med"/>
                      <a:tailEnd type="none" w="med" len="med"/>
                    </a:lnL>
                    <a:lnR cmpd="sng" algn="ctr" cap="flat" w="7620">
                      <a:solidFill>
                        <a:srgbClr val="000000"/>
                      </a:solidFill>
                      <a:prstDash val="solid"/>
                      <a:round/>
                      <a:headEnd type="none" w="med" len="med"/>
                      <a:tailEnd type="none" w="med" len="med"/>
                    </a:lnR>
                    <a:lnT cmpd="sng" algn="ctr" cap="flat" w="7620">
                      <a:solidFill>
                        <a:srgbClr val="000000"/>
                      </a:solidFill>
                      <a:prstDash val="solid"/>
                      <a:round/>
                      <a:headEnd type="none" w="med" len="med"/>
                      <a:tailEnd type="none" w="med" len="med"/>
                    </a:lnT>
                    <a:lnB cmpd="sng" algn="ctr" cap="flat" w="7620">
                      <a:solidFill>
                        <a:srgbClr val="E2E8F0"/>
                      </a:solidFill>
                      <a:prstDash val="solid"/>
                      <a:round/>
                      <a:headEnd type="none" w="med" len="med"/>
                      <a:tailEnd type="none" w="med" len="med"/>
                    </a:lnB>
                  </a:tcPr>
                </a:tc>
              </a:tr>
              <a:tr h="550842">
                <a:tc>
                  <a:txBody>
                    <a:bodyPr anchor="t" rtlCol="false"/>
                    <a:lstStyle/>
                    <a:p>
                      <a:pPr algn="l">
                        <a:lnSpc>
                          <a:spcPts val="1727"/>
                        </a:lnSpc>
                        <a:defRPr/>
                      </a:pPr>
                      <a:r>
                        <a:rPr lang="en-US" sz="1439" b="true">
                          <a:solidFill>
                            <a:srgbClr val="0F172A"/>
                          </a:solidFill>
                          <a:latin typeface="DM Sans Bold"/>
                          <a:ea typeface="DM Sans Bold"/>
                          <a:cs typeface="DM Sans Bold"/>
                          <a:sym typeface="DM Sans Bold"/>
                        </a:rPr>
                        <a:t>Drive</a:t>
                      </a:r>
                      <a:endParaRPr lang="en-US" sz="1100"/>
                    </a:p>
                  </a:txBody>
                  <a:tcPr marL="36576" marR="36576" marT="36576" marB="36576" anchor="ctr">
                    <a:lnL cmpd="sng" algn="ctr" cap="flat" w="7620">
                      <a:solidFill>
                        <a:srgbClr val="000000"/>
                      </a:solidFill>
                      <a:prstDash val="solid"/>
                      <a:round/>
                      <a:headEnd type="none" w="med" len="med"/>
                      <a:tailEnd type="none" w="med" len="med"/>
                    </a:lnL>
                    <a:lnR cmpd="sng" algn="ctr" cap="flat" w="7620">
                      <a:solidFill>
                        <a:srgbClr val="000000"/>
                      </a:solidFill>
                      <a:prstDash val="solid"/>
                      <a:round/>
                      <a:headEnd type="none" w="med" len="med"/>
                      <a:tailEnd type="none" w="med" len="med"/>
                    </a:lnR>
                    <a:lnT cmpd="sng" algn="ctr" cap="flat" w="7620">
                      <a:solidFill>
                        <a:srgbClr val="000000"/>
                      </a:solidFill>
                      <a:prstDash val="solid"/>
                      <a:round/>
                      <a:headEnd type="none" w="med" len="med"/>
                      <a:tailEnd type="none" w="med" len="med"/>
                    </a:lnT>
                    <a:lnB cmpd="sng" algn="ctr" cap="flat" w="7620">
                      <a:solidFill>
                        <a:srgbClr val="E2E8F0"/>
                      </a:solidFill>
                      <a:prstDash val="solid"/>
                      <a:round/>
                      <a:headEnd type="none" w="med" len="med"/>
                      <a:tailEnd type="none" w="med" len="med"/>
                    </a:lnB>
                  </a:tcPr>
                </a:tc>
                <a:tc>
                  <a:txBody>
                    <a:bodyPr anchor="t" rtlCol="false"/>
                    <a:lstStyle/>
                    <a:p>
                      <a:pPr algn="l">
                        <a:lnSpc>
                          <a:spcPts val="1727"/>
                        </a:lnSpc>
                        <a:defRPr/>
                      </a:pPr>
                      <a:r>
                        <a:rPr lang="en-US" sz="1439">
                          <a:solidFill>
                            <a:srgbClr val="334155"/>
                          </a:solidFill>
                          <a:latin typeface="DM Sans"/>
                          <a:ea typeface="DM Sans"/>
                          <a:cs typeface="DM Sans"/>
                          <a:sym typeface="DM Sans"/>
                        </a:rPr>
                        <a:t>bipolar, ≤ 33 µA, no net DC</a:t>
                      </a:r>
                      <a:endParaRPr lang="en-US" sz="1100"/>
                    </a:p>
                  </a:txBody>
                  <a:tcPr marL="36576" marR="36576" marT="36576" marB="36576" anchor="ctr">
                    <a:lnL cmpd="sng" algn="ctr" cap="flat" w="7620">
                      <a:solidFill>
                        <a:srgbClr val="000000"/>
                      </a:solidFill>
                      <a:prstDash val="solid"/>
                      <a:round/>
                      <a:headEnd type="none" w="med" len="med"/>
                      <a:tailEnd type="none" w="med" len="med"/>
                    </a:lnL>
                    <a:lnR cmpd="sng" algn="ctr" cap="flat" w="7620">
                      <a:solidFill>
                        <a:srgbClr val="000000"/>
                      </a:solidFill>
                      <a:prstDash val="solid"/>
                      <a:round/>
                      <a:headEnd type="none" w="med" len="med"/>
                      <a:tailEnd type="none" w="med" len="med"/>
                    </a:lnR>
                    <a:lnT cmpd="sng" algn="ctr" cap="flat" w="7620">
                      <a:solidFill>
                        <a:srgbClr val="000000"/>
                      </a:solidFill>
                      <a:prstDash val="solid"/>
                      <a:round/>
                      <a:headEnd type="none" w="med" len="med"/>
                      <a:tailEnd type="none" w="med" len="med"/>
                    </a:lnT>
                    <a:lnB cmpd="sng" algn="ctr" cap="flat" w="7620">
                      <a:solidFill>
                        <a:srgbClr val="E2E8F0"/>
                      </a:solidFill>
                      <a:prstDash val="solid"/>
                      <a:round/>
                      <a:headEnd type="none" w="med" len="med"/>
                      <a:tailEnd type="none" w="med" len="med"/>
                    </a:lnB>
                  </a:tcPr>
                </a:tc>
                <a:tc>
                  <a:txBody>
                    <a:bodyPr anchor="t" rtlCol="false"/>
                    <a:lstStyle/>
                    <a:p>
                      <a:pPr algn="l">
                        <a:lnSpc>
                          <a:spcPts val="1727"/>
                        </a:lnSpc>
                        <a:defRPr/>
                      </a:pPr>
                      <a:r>
                        <a:rPr lang="en-US" sz="1439">
                          <a:solidFill>
                            <a:srgbClr val="334155"/>
                          </a:solidFill>
                          <a:latin typeface="DM Sans"/>
                          <a:ea typeface="DM Sans"/>
                          <a:cs typeface="DM Sans"/>
                          <a:sym typeface="DM Sans"/>
                        </a:rPr>
                        <a:t>calc · bench T8</a:t>
                      </a:r>
                      <a:endParaRPr lang="en-US" sz="1100"/>
                    </a:p>
                  </a:txBody>
                  <a:tcPr marL="36576" marR="36576" marT="36576" marB="36576" anchor="ctr">
                    <a:lnL cmpd="sng" algn="ctr" cap="flat" w="7620">
                      <a:solidFill>
                        <a:srgbClr val="000000"/>
                      </a:solidFill>
                      <a:prstDash val="solid"/>
                      <a:round/>
                      <a:headEnd type="none" w="med" len="med"/>
                      <a:tailEnd type="none" w="med" len="med"/>
                    </a:lnL>
                    <a:lnR cmpd="sng" algn="ctr" cap="flat" w="7620">
                      <a:solidFill>
                        <a:srgbClr val="000000"/>
                      </a:solidFill>
                      <a:prstDash val="solid"/>
                      <a:round/>
                      <a:headEnd type="none" w="med" len="med"/>
                      <a:tailEnd type="none" w="med" len="med"/>
                    </a:lnR>
                    <a:lnT cmpd="sng" algn="ctr" cap="flat" w="7620">
                      <a:solidFill>
                        <a:srgbClr val="000000"/>
                      </a:solidFill>
                      <a:prstDash val="solid"/>
                      <a:round/>
                      <a:headEnd type="none" w="med" len="med"/>
                      <a:tailEnd type="none" w="med" len="med"/>
                    </a:lnT>
                    <a:lnB cmpd="sng" algn="ctr" cap="flat" w="7620">
                      <a:solidFill>
                        <a:srgbClr val="E2E8F0"/>
                      </a:solidFill>
                      <a:prstDash val="solid"/>
                      <a:round/>
                      <a:headEnd type="none" w="med" len="med"/>
                      <a:tailEnd type="none" w="med" len="med"/>
                    </a:lnB>
                  </a:tcPr>
                </a:tc>
              </a:tr>
              <a:tr h="550842">
                <a:tc>
                  <a:txBody>
                    <a:bodyPr anchor="t" rtlCol="false"/>
                    <a:lstStyle/>
                    <a:p>
                      <a:pPr algn="l">
                        <a:lnSpc>
                          <a:spcPts val="1727"/>
                        </a:lnSpc>
                        <a:defRPr/>
                      </a:pPr>
                      <a:r>
                        <a:rPr lang="en-US" sz="1439" b="true">
                          <a:solidFill>
                            <a:srgbClr val="0F172A"/>
                          </a:solidFill>
                          <a:latin typeface="DM Sans Bold"/>
                          <a:ea typeface="DM Sans Bold"/>
                          <a:cs typeface="DM Sans Bold"/>
                          <a:sym typeface="DM Sans Bold"/>
                        </a:rPr>
                        <a:t>ADC / MCU</a:t>
                      </a:r>
                      <a:endParaRPr lang="en-US" sz="1100"/>
                    </a:p>
                  </a:txBody>
                  <a:tcPr marL="36576" marR="36576" marT="36576" marB="36576" anchor="ctr">
                    <a:lnL cmpd="sng" algn="ctr" cap="flat" w="7620">
                      <a:solidFill>
                        <a:srgbClr val="000000"/>
                      </a:solidFill>
                      <a:prstDash val="solid"/>
                      <a:round/>
                      <a:headEnd type="none" w="med" len="med"/>
                      <a:tailEnd type="none" w="med" len="med"/>
                    </a:lnL>
                    <a:lnR cmpd="sng" algn="ctr" cap="flat" w="7620">
                      <a:solidFill>
                        <a:srgbClr val="000000"/>
                      </a:solidFill>
                      <a:prstDash val="solid"/>
                      <a:round/>
                      <a:headEnd type="none" w="med" len="med"/>
                      <a:tailEnd type="none" w="med" len="med"/>
                    </a:lnR>
                    <a:lnT cmpd="sng" algn="ctr" cap="flat" w="7620">
                      <a:solidFill>
                        <a:srgbClr val="000000"/>
                      </a:solidFill>
                      <a:prstDash val="solid"/>
                      <a:round/>
                      <a:headEnd type="none" w="med" len="med"/>
                      <a:tailEnd type="none" w="med" len="med"/>
                    </a:lnT>
                    <a:lnB cmpd="sng" algn="ctr" cap="flat" w="7620">
                      <a:solidFill>
                        <a:srgbClr val="E2E8F0"/>
                      </a:solidFill>
                      <a:prstDash val="solid"/>
                      <a:round/>
                      <a:headEnd type="none" w="med" len="med"/>
                      <a:tailEnd type="none" w="med" len="med"/>
                    </a:lnB>
                  </a:tcPr>
                </a:tc>
                <a:tc>
                  <a:txBody>
                    <a:bodyPr anchor="t" rtlCol="false"/>
                    <a:lstStyle/>
                    <a:p>
                      <a:pPr algn="l">
                        <a:lnSpc>
                          <a:spcPts val="1727"/>
                        </a:lnSpc>
                        <a:defRPr/>
                      </a:pPr>
                      <a:r>
                        <a:rPr lang="en-US" sz="1439">
                          <a:solidFill>
                            <a:srgbClr val="334155"/>
                          </a:solidFill>
                          <a:latin typeface="DM Sans"/>
                          <a:ea typeface="DM Sans"/>
                          <a:cs typeface="DM Sans"/>
                          <a:sym typeface="DM Sans"/>
                        </a:rPr>
                        <a:t>ADS1115 16-bit (I²C) · ESP32-C3</a:t>
                      </a:r>
                      <a:endParaRPr lang="en-US" sz="1100"/>
                    </a:p>
                  </a:txBody>
                  <a:tcPr marL="36576" marR="36576" marT="36576" marB="36576" anchor="ctr">
                    <a:lnL cmpd="sng" algn="ctr" cap="flat" w="7620">
                      <a:solidFill>
                        <a:srgbClr val="000000"/>
                      </a:solidFill>
                      <a:prstDash val="solid"/>
                      <a:round/>
                      <a:headEnd type="none" w="med" len="med"/>
                      <a:tailEnd type="none" w="med" len="med"/>
                    </a:lnL>
                    <a:lnR cmpd="sng" algn="ctr" cap="flat" w="7620">
                      <a:solidFill>
                        <a:srgbClr val="000000"/>
                      </a:solidFill>
                      <a:prstDash val="solid"/>
                      <a:round/>
                      <a:headEnd type="none" w="med" len="med"/>
                      <a:tailEnd type="none" w="med" len="med"/>
                    </a:lnR>
                    <a:lnT cmpd="sng" algn="ctr" cap="flat" w="7620">
                      <a:solidFill>
                        <a:srgbClr val="000000"/>
                      </a:solidFill>
                      <a:prstDash val="solid"/>
                      <a:round/>
                      <a:headEnd type="none" w="med" len="med"/>
                      <a:tailEnd type="none" w="med" len="med"/>
                    </a:lnT>
                    <a:lnB cmpd="sng" algn="ctr" cap="flat" w="7620">
                      <a:solidFill>
                        <a:srgbClr val="E2E8F0"/>
                      </a:solidFill>
                      <a:prstDash val="solid"/>
                      <a:round/>
                      <a:headEnd type="none" w="med" len="med"/>
                      <a:tailEnd type="none" w="med" len="med"/>
                    </a:lnB>
                  </a:tcPr>
                </a:tc>
                <a:tc>
                  <a:txBody>
                    <a:bodyPr anchor="t" rtlCol="false"/>
                    <a:lstStyle/>
                    <a:p>
                      <a:pPr algn="l">
                        <a:lnSpc>
                          <a:spcPts val="1727"/>
                        </a:lnSpc>
                        <a:defRPr/>
                      </a:pPr>
                      <a:r>
                        <a:rPr lang="en-US" sz="1439">
                          <a:solidFill>
                            <a:srgbClr val="334155"/>
                          </a:solidFill>
                          <a:latin typeface="DM Sans"/>
                          <a:ea typeface="DM Sans"/>
                          <a:cs typeface="DM Sans"/>
                          <a:sym typeface="DM Sans"/>
                        </a:rPr>
                        <a:t>datasheets [12]</a:t>
                      </a:r>
                      <a:endParaRPr lang="en-US" sz="1100"/>
                    </a:p>
                  </a:txBody>
                  <a:tcPr marL="36576" marR="36576" marT="36576" marB="36576" anchor="ctr">
                    <a:lnL cmpd="sng" algn="ctr" cap="flat" w="7620">
                      <a:solidFill>
                        <a:srgbClr val="000000"/>
                      </a:solidFill>
                      <a:prstDash val="solid"/>
                      <a:round/>
                      <a:headEnd type="none" w="med" len="med"/>
                      <a:tailEnd type="none" w="med" len="med"/>
                    </a:lnL>
                    <a:lnR cmpd="sng" algn="ctr" cap="flat" w="7620">
                      <a:solidFill>
                        <a:srgbClr val="000000"/>
                      </a:solidFill>
                      <a:prstDash val="solid"/>
                      <a:round/>
                      <a:headEnd type="none" w="med" len="med"/>
                      <a:tailEnd type="none" w="med" len="med"/>
                    </a:lnR>
                    <a:lnT cmpd="sng" algn="ctr" cap="flat" w="7620">
                      <a:solidFill>
                        <a:srgbClr val="000000"/>
                      </a:solidFill>
                      <a:prstDash val="solid"/>
                      <a:round/>
                      <a:headEnd type="none" w="med" len="med"/>
                      <a:tailEnd type="none" w="med" len="med"/>
                    </a:lnT>
                    <a:lnB cmpd="sng" algn="ctr" cap="flat" w="7620">
                      <a:solidFill>
                        <a:srgbClr val="E2E8F0"/>
                      </a:solidFill>
                      <a:prstDash val="solid"/>
                      <a:round/>
                      <a:headEnd type="none" w="med" len="med"/>
                      <a:tailEnd type="none" w="med" len="med"/>
                    </a:lnB>
                  </a:tcPr>
                </a:tc>
              </a:tr>
              <a:tr h="582200">
                <a:tc>
                  <a:txBody>
                    <a:bodyPr anchor="t" rtlCol="false"/>
                    <a:lstStyle/>
                    <a:p>
                      <a:pPr algn="l">
                        <a:lnSpc>
                          <a:spcPts val="1727"/>
                        </a:lnSpc>
                        <a:defRPr/>
                      </a:pPr>
                      <a:r>
                        <a:rPr lang="en-US" sz="1439" b="true">
                          <a:solidFill>
                            <a:srgbClr val="0F172A"/>
                          </a:solidFill>
                          <a:latin typeface="DM Sans Bold"/>
                          <a:ea typeface="DM Sans Bold"/>
                          <a:cs typeface="DM Sans Bold"/>
                          <a:sym typeface="DM Sans Bold"/>
                        </a:rPr>
                        <a:t>Self-test</a:t>
                      </a:r>
                      <a:endParaRPr lang="en-US" sz="1100"/>
                    </a:p>
                  </a:txBody>
                  <a:tcPr marL="36576" marR="36576" marT="36576" marB="36576" anchor="ctr">
                    <a:lnL cmpd="sng" algn="ctr" cap="flat" w="7620">
                      <a:solidFill>
                        <a:srgbClr val="000000"/>
                      </a:solidFill>
                      <a:prstDash val="solid"/>
                      <a:round/>
                      <a:headEnd type="none" w="med" len="med"/>
                      <a:tailEnd type="none" w="med" len="med"/>
                    </a:lnL>
                    <a:lnR cmpd="sng" algn="ctr" cap="flat" w="7620">
                      <a:solidFill>
                        <a:srgbClr val="000000"/>
                      </a:solidFill>
                      <a:prstDash val="solid"/>
                      <a:round/>
                      <a:headEnd type="none" w="med" len="med"/>
                      <a:tailEnd type="none" w="med" len="med"/>
                    </a:lnR>
                    <a:lnT cmpd="sng" algn="ctr" cap="flat" w="7620">
                      <a:solidFill>
                        <a:srgbClr val="000000"/>
                      </a:solidFill>
                      <a:prstDash val="solid"/>
                      <a:round/>
                      <a:headEnd type="none" w="med" len="med"/>
                      <a:tailEnd type="none" w="med" len="med"/>
                    </a:lnT>
                    <a:lnB cmpd="sng" algn="ctr" cap="flat" w="7620">
                      <a:solidFill>
                        <a:srgbClr val="E2E8F0"/>
                      </a:solidFill>
                      <a:prstDash val="solid"/>
                      <a:round/>
                      <a:headEnd type="none" w="med" len="med"/>
                      <a:tailEnd type="none" w="med" len="med"/>
                    </a:lnB>
                  </a:tcPr>
                </a:tc>
                <a:tc>
                  <a:txBody>
                    <a:bodyPr anchor="t" rtlCol="false"/>
                    <a:lstStyle/>
                    <a:p>
                      <a:pPr algn="l">
                        <a:lnSpc>
                          <a:spcPts val="1727"/>
                        </a:lnSpc>
                        <a:defRPr/>
                      </a:pPr>
                      <a:r>
                        <a:rPr lang="en-US" sz="1439">
                          <a:solidFill>
                            <a:srgbClr val="334155"/>
                          </a:solidFill>
                          <a:latin typeface="DM Sans"/>
                          <a:ea typeface="DM Sans"/>
                          <a:cs typeface="DM Sans"/>
                          <a:sym typeface="DM Sans"/>
                        </a:rPr>
                        <a:t>100 kΩ check ±5 % + strip loop</a:t>
                      </a:r>
                      <a:endParaRPr lang="en-US" sz="1100"/>
                    </a:p>
                  </a:txBody>
                  <a:tcPr marL="36576" marR="36576" marT="36576" marB="36576" anchor="ctr">
                    <a:lnL cmpd="sng" algn="ctr" cap="flat" w="7620">
                      <a:solidFill>
                        <a:srgbClr val="000000"/>
                      </a:solidFill>
                      <a:prstDash val="solid"/>
                      <a:round/>
                      <a:headEnd type="none" w="med" len="med"/>
                      <a:tailEnd type="none" w="med" len="med"/>
                    </a:lnL>
                    <a:lnR cmpd="sng" algn="ctr" cap="flat" w="7620">
                      <a:solidFill>
                        <a:srgbClr val="000000"/>
                      </a:solidFill>
                      <a:prstDash val="solid"/>
                      <a:round/>
                      <a:headEnd type="none" w="med" len="med"/>
                      <a:tailEnd type="none" w="med" len="med"/>
                    </a:lnR>
                    <a:lnT cmpd="sng" algn="ctr" cap="flat" w="7620">
                      <a:solidFill>
                        <a:srgbClr val="000000"/>
                      </a:solidFill>
                      <a:prstDash val="solid"/>
                      <a:round/>
                      <a:headEnd type="none" w="med" len="med"/>
                      <a:tailEnd type="none" w="med" len="med"/>
                    </a:lnT>
                    <a:lnB cmpd="sng" algn="ctr" cap="flat" w="7620">
                      <a:solidFill>
                        <a:srgbClr val="E2E8F0"/>
                      </a:solidFill>
                      <a:prstDash val="solid"/>
                      <a:round/>
                      <a:headEnd type="none" w="med" len="med"/>
                      <a:tailEnd type="none" w="med" len="med"/>
                    </a:lnB>
                  </a:tcPr>
                </a:tc>
                <a:tc>
                  <a:txBody>
                    <a:bodyPr anchor="t" rtlCol="false"/>
                    <a:lstStyle/>
                    <a:p>
                      <a:pPr algn="l">
                        <a:lnSpc>
                          <a:spcPts val="1727"/>
                        </a:lnSpc>
                        <a:defRPr/>
                      </a:pPr>
                      <a:r>
                        <a:rPr lang="en-US" sz="1439">
                          <a:solidFill>
                            <a:srgbClr val="334155"/>
                          </a:solidFill>
                          <a:latin typeface="DM Sans"/>
                          <a:ea typeface="DM Sans"/>
                          <a:cs typeface="DM Sans"/>
                          <a:sym typeface="DM Sans"/>
                        </a:rPr>
                        <a:t>show FAULT if the check fails</a:t>
                      </a:r>
                      <a:endParaRPr lang="en-US" sz="1100"/>
                    </a:p>
                  </a:txBody>
                  <a:tcPr marL="36576" marR="36576" marT="36576" marB="36576" anchor="ctr">
                    <a:lnL cmpd="sng" algn="ctr" cap="flat" w="7620">
                      <a:solidFill>
                        <a:srgbClr val="000000"/>
                      </a:solidFill>
                      <a:prstDash val="solid"/>
                      <a:round/>
                      <a:headEnd type="none" w="med" len="med"/>
                      <a:tailEnd type="none" w="med" len="med"/>
                    </a:lnL>
                    <a:lnR cmpd="sng" algn="ctr" cap="flat" w="7620">
                      <a:solidFill>
                        <a:srgbClr val="000000"/>
                      </a:solidFill>
                      <a:prstDash val="solid"/>
                      <a:round/>
                      <a:headEnd type="none" w="med" len="med"/>
                      <a:tailEnd type="none" w="med" len="med"/>
                    </a:lnR>
                    <a:lnT cmpd="sng" algn="ctr" cap="flat" w="7620">
                      <a:solidFill>
                        <a:srgbClr val="000000"/>
                      </a:solidFill>
                      <a:prstDash val="solid"/>
                      <a:round/>
                      <a:headEnd type="none" w="med" len="med"/>
                      <a:tailEnd type="none" w="med" len="med"/>
                    </a:lnT>
                    <a:lnB cmpd="sng" algn="ctr" cap="flat" w="7620">
                      <a:solidFill>
                        <a:srgbClr val="E2E8F0"/>
                      </a:solidFill>
                      <a:prstDash val="solid"/>
                      <a:round/>
                      <a:headEnd type="none" w="med" len="med"/>
                      <a:tailEnd type="none" w="med" len="med"/>
                    </a:lnB>
                  </a:tcPr>
                </a:tc>
              </a:tr>
              <a:tr h="550842">
                <a:tc>
                  <a:txBody>
                    <a:bodyPr anchor="t" rtlCol="false"/>
                    <a:lstStyle/>
                    <a:p>
                      <a:pPr algn="l">
                        <a:lnSpc>
                          <a:spcPts val="1727"/>
                        </a:lnSpc>
                        <a:defRPr/>
                      </a:pPr>
                      <a:r>
                        <a:rPr lang="en-US" sz="1439" b="true">
                          <a:solidFill>
                            <a:srgbClr val="0F172A"/>
                          </a:solidFill>
                          <a:latin typeface="DM Sans Bold"/>
                          <a:ea typeface="DM Sans Bold"/>
                          <a:cs typeface="DM Sans Bold"/>
                          <a:sym typeface="DM Sans Bold"/>
                        </a:rPr>
                        <a:t>Contacts</a:t>
                      </a:r>
                      <a:endParaRPr lang="en-US" sz="1100"/>
                    </a:p>
                  </a:txBody>
                  <a:tcPr marL="36576" marR="36576" marT="36576" marB="36576" anchor="ctr">
                    <a:lnL cmpd="sng" algn="ctr" cap="flat" w="7620">
                      <a:solidFill>
                        <a:srgbClr val="000000"/>
                      </a:solidFill>
                      <a:prstDash val="solid"/>
                      <a:round/>
                      <a:headEnd type="none" w="med" len="med"/>
                      <a:tailEnd type="none" w="med" len="med"/>
                    </a:lnL>
                    <a:lnR cmpd="sng" algn="ctr" cap="flat" w="7620">
                      <a:solidFill>
                        <a:srgbClr val="000000"/>
                      </a:solidFill>
                      <a:prstDash val="solid"/>
                      <a:round/>
                      <a:headEnd type="none" w="med" len="med"/>
                      <a:tailEnd type="none" w="med" len="med"/>
                    </a:lnR>
                    <a:lnT cmpd="sng" algn="ctr" cap="flat" w="7620">
                      <a:solidFill>
                        <a:srgbClr val="000000"/>
                      </a:solidFill>
                      <a:prstDash val="solid"/>
                      <a:round/>
                      <a:headEnd type="none" w="med" len="med"/>
                      <a:tailEnd type="none" w="med" len="med"/>
                    </a:lnT>
                    <a:lnB cmpd="sng" algn="ctr" cap="flat" w="7620">
                      <a:solidFill>
                        <a:srgbClr val="E2E8F0"/>
                      </a:solidFill>
                      <a:prstDash val="solid"/>
                      <a:round/>
                      <a:headEnd type="none" w="med" len="med"/>
                      <a:tailEnd type="none" w="med" len="med"/>
                    </a:lnB>
                  </a:tcPr>
                </a:tc>
                <a:tc>
                  <a:txBody>
                    <a:bodyPr anchor="t" rtlCol="false"/>
                    <a:lstStyle/>
                    <a:p>
                      <a:pPr algn="l">
                        <a:lnSpc>
                          <a:spcPts val="1727"/>
                        </a:lnSpc>
                        <a:defRPr/>
                      </a:pPr>
                      <a:r>
                        <a:rPr lang="en-US" sz="1439">
                          <a:solidFill>
                            <a:srgbClr val="334155"/>
                          </a:solidFill>
                          <a:latin typeface="DM Sans"/>
                          <a:ea typeface="DM Sans"/>
                          <a:cs typeface="DM Sans"/>
                          <a:sym typeface="DM Sans"/>
                        </a:rPr>
                        <a:t>4 pogo pins + 2 dowels</a:t>
                      </a:r>
                      <a:endParaRPr lang="en-US" sz="1100"/>
                    </a:p>
                  </a:txBody>
                  <a:tcPr marL="36576" marR="36576" marT="36576" marB="36576" anchor="ctr">
                    <a:lnL cmpd="sng" algn="ctr" cap="flat" w="7620">
                      <a:solidFill>
                        <a:srgbClr val="000000"/>
                      </a:solidFill>
                      <a:prstDash val="solid"/>
                      <a:round/>
                      <a:headEnd type="none" w="med" len="med"/>
                      <a:tailEnd type="none" w="med" len="med"/>
                    </a:lnL>
                    <a:lnR cmpd="sng" algn="ctr" cap="flat" w="7620">
                      <a:solidFill>
                        <a:srgbClr val="000000"/>
                      </a:solidFill>
                      <a:prstDash val="solid"/>
                      <a:round/>
                      <a:headEnd type="none" w="med" len="med"/>
                      <a:tailEnd type="none" w="med" len="med"/>
                    </a:lnR>
                    <a:lnT cmpd="sng" algn="ctr" cap="flat" w="7620">
                      <a:solidFill>
                        <a:srgbClr val="000000"/>
                      </a:solidFill>
                      <a:prstDash val="solid"/>
                      <a:round/>
                      <a:headEnd type="none" w="med" len="med"/>
                      <a:tailEnd type="none" w="med" len="med"/>
                    </a:lnT>
                    <a:lnB cmpd="sng" algn="ctr" cap="flat" w="7620">
                      <a:solidFill>
                        <a:srgbClr val="E2E8F0"/>
                      </a:solidFill>
                      <a:prstDash val="solid"/>
                      <a:round/>
                      <a:headEnd type="none" w="med" len="med"/>
                      <a:tailEnd type="none" w="med" len="med"/>
                    </a:lnB>
                  </a:tcPr>
                </a:tc>
                <a:tc>
                  <a:txBody>
                    <a:bodyPr anchor="t" rtlCol="false"/>
                    <a:lstStyle/>
                    <a:p>
                      <a:pPr algn="l">
                        <a:lnSpc>
                          <a:spcPts val="1727"/>
                        </a:lnSpc>
                        <a:defRPr/>
                      </a:pPr>
                      <a:r>
                        <a:rPr lang="en-US" sz="1439">
                          <a:solidFill>
                            <a:srgbClr val="334155"/>
                          </a:solidFill>
                          <a:latin typeface="DM Sans"/>
                          <a:ea typeface="DM Sans"/>
                          <a:cs typeface="DM Sans"/>
                          <a:sym typeface="DM Sans"/>
                        </a:rPr>
                        <a:t>CAD checked</a:t>
                      </a:r>
                      <a:endParaRPr lang="en-US" sz="1100"/>
                    </a:p>
                  </a:txBody>
                  <a:tcPr marL="36576" marR="36576" marT="36576" marB="36576" anchor="ctr">
                    <a:lnL cmpd="sng" algn="ctr" cap="flat" w="7620">
                      <a:solidFill>
                        <a:srgbClr val="000000"/>
                      </a:solidFill>
                      <a:prstDash val="solid"/>
                      <a:round/>
                      <a:headEnd type="none" w="med" len="med"/>
                      <a:tailEnd type="none" w="med" len="med"/>
                    </a:lnL>
                    <a:lnR cmpd="sng" algn="ctr" cap="flat" w="7620">
                      <a:solidFill>
                        <a:srgbClr val="000000"/>
                      </a:solidFill>
                      <a:prstDash val="solid"/>
                      <a:round/>
                      <a:headEnd type="none" w="med" len="med"/>
                      <a:tailEnd type="none" w="med" len="med"/>
                    </a:lnR>
                    <a:lnT cmpd="sng" algn="ctr" cap="flat" w="7620">
                      <a:solidFill>
                        <a:srgbClr val="000000"/>
                      </a:solidFill>
                      <a:prstDash val="solid"/>
                      <a:round/>
                      <a:headEnd type="none" w="med" len="med"/>
                      <a:tailEnd type="none" w="med" len="med"/>
                    </a:lnT>
                    <a:lnB cmpd="sng" algn="ctr" cap="flat" w="7620">
                      <a:solidFill>
                        <a:srgbClr val="E2E8F0"/>
                      </a:solidFill>
                      <a:prstDash val="solid"/>
                      <a:round/>
                      <a:headEnd type="none" w="med" len="med"/>
                      <a:tailEnd type="none" w="med" len="med"/>
                    </a:lnB>
                  </a:tcPr>
                </a:tc>
              </a:tr>
              <a:tr h="550842">
                <a:tc>
                  <a:txBody>
                    <a:bodyPr anchor="t" rtlCol="false"/>
                    <a:lstStyle/>
                    <a:p>
                      <a:pPr algn="l">
                        <a:lnSpc>
                          <a:spcPts val="1727"/>
                        </a:lnSpc>
                        <a:defRPr/>
                      </a:pPr>
                      <a:r>
                        <a:rPr lang="en-US" sz="1439" b="true">
                          <a:solidFill>
                            <a:srgbClr val="0F172A"/>
                          </a:solidFill>
                          <a:latin typeface="DM Sans Bold"/>
                          <a:ea typeface="DM Sans Bold"/>
                          <a:cs typeface="DM Sans Bold"/>
                          <a:sym typeface="DM Sans Bold"/>
                        </a:rPr>
                        <a:t>Output</a:t>
                      </a:r>
                      <a:endParaRPr lang="en-US" sz="1100"/>
                    </a:p>
                  </a:txBody>
                  <a:tcPr marL="36576" marR="36576" marT="36576" marB="36576" anchor="ctr">
                    <a:lnL cmpd="sng" algn="ctr" cap="flat" w="7620">
                      <a:solidFill>
                        <a:srgbClr val="000000"/>
                      </a:solidFill>
                      <a:prstDash val="solid"/>
                      <a:round/>
                      <a:headEnd type="none" w="med" len="med"/>
                      <a:tailEnd type="none" w="med" len="med"/>
                    </a:lnL>
                    <a:lnR cmpd="sng" algn="ctr" cap="flat" w="7620">
                      <a:solidFill>
                        <a:srgbClr val="000000"/>
                      </a:solidFill>
                      <a:prstDash val="solid"/>
                      <a:round/>
                      <a:headEnd type="none" w="med" len="med"/>
                      <a:tailEnd type="none" w="med" len="med"/>
                    </a:lnR>
                    <a:lnT cmpd="sng" algn="ctr" cap="flat" w="7620">
                      <a:solidFill>
                        <a:srgbClr val="000000"/>
                      </a:solidFill>
                      <a:prstDash val="solid"/>
                      <a:round/>
                      <a:headEnd type="none" w="med" len="med"/>
                      <a:tailEnd type="none" w="med" len="med"/>
                    </a:lnT>
                    <a:lnB cmpd="sng" algn="ctr" cap="flat" w="7620">
                      <a:solidFill>
                        <a:srgbClr val="E2E8F0"/>
                      </a:solidFill>
                      <a:prstDash val="solid"/>
                      <a:round/>
                      <a:headEnd type="none" w="med" len="med"/>
                      <a:tailEnd type="none" w="med" len="med"/>
                    </a:lnB>
                  </a:tcPr>
                </a:tc>
                <a:tc>
                  <a:txBody>
                    <a:bodyPr anchor="t" rtlCol="false"/>
                    <a:lstStyle/>
                    <a:p>
                      <a:pPr algn="l">
                        <a:lnSpc>
                          <a:spcPts val="1727"/>
                        </a:lnSpc>
                        <a:defRPr/>
                      </a:pPr>
                      <a:r>
                        <a:rPr lang="en-US" sz="1439">
                          <a:solidFill>
                            <a:srgbClr val="334155"/>
                          </a:solidFill>
                          <a:latin typeface="DM Sans"/>
                          <a:ea typeface="DM Sans"/>
                          <a:cs typeface="DM Sans"/>
                          <a:sym typeface="DM Sans"/>
                        </a:rPr>
                        <a:t>LEDs · USB log · BLE broadcast</a:t>
                      </a:r>
                      <a:endParaRPr lang="en-US" sz="1100"/>
                    </a:p>
                  </a:txBody>
                  <a:tcPr marL="36576" marR="36576" marT="36576" marB="36576" anchor="ctr">
                    <a:lnL cmpd="sng" algn="ctr" cap="flat" w="7620">
                      <a:solidFill>
                        <a:srgbClr val="000000"/>
                      </a:solidFill>
                      <a:prstDash val="solid"/>
                      <a:round/>
                      <a:headEnd type="none" w="med" len="med"/>
                      <a:tailEnd type="none" w="med" len="med"/>
                    </a:lnL>
                    <a:lnR cmpd="sng" algn="ctr" cap="flat" w="7620">
                      <a:solidFill>
                        <a:srgbClr val="000000"/>
                      </a:solidFill>
                      <a:prstDash val="solid"/>
                      <a:round/>
                      <a:headEnd type="none" w="med" len="med"/>
                      <a:tailEnd type="none" w="med" len="med"/>
                    </a:lnR>
                    <a:lnT cmpd="sng" algn="ctr" cap="flat" w="7620">
                      <a:solidFill>
                        <a:srgbClr val="000000"/>
                      </a:solidFill>
                      <a:prstDash val="solid"/>
                      <a:round/>
                      <a:headEnd type="none" w="med" len="med"/>
                      <a:tailEnd type="none" w="med" len="med"/>
                    </a:lnT>
                    <a:lnB cmpd="sng" algn="ctr" cap="flat" w="7620">
                      <a:solidFill>
                        <a:srgbClr val="E2E8F0"/>
                      </a:solidFill>
                      <a:prstDash val="solid"/>
                      <a:round/>
                      <a:headEnd type="none" w="med" len="med"/>
                      <a:tailEnd type="none" w="med" len="med"/>
                    </a:lnB>
                  </a:tcPr>
                </a:tc>
                <a:tc>
                  <a:txBody>
                    <a:bodyPr anchor="t" rtlCol="false"/>
                    <a:lstStyle/>
                    <a:p>
                      <a:pPr algn="l">
                        <a:lnSpc>
                          <a:spcPts val="1727"/>
                        </a:lnSpc>
                        <a:defRPr/>
                      </a:pPr>
                      <a:r>
                        <a:rPr lang="en-US" sz="1439">
                          <a:solidFill>
                            <a:srgbClr val="334155"/>
                          </a:solidFill>
                          <a:latin typeface="DM Sans"/>
                          <a:ea typeface="DM Sans"/>
                          <a:cs typeface="DM Sans"/>
                          <a:sym typeface="DM Sans"/>
                        </a:rPr>
                        <a:t>BLE compiled only</a:t>
                      </a:r>
                      <a:endParaRPr lang="en-US" sz="1100"/>
                    </a:p>
                  </a:txBody>
                  <a:tcPr marL="36576" marR="36576" marT="36576" marB="36576" anchor="ctr">
                    <a:lnL cmpd="sng" algn="ctr" cap="flat" w="7620">
                      <a:solidFill>
                        <a:srgbClr val="000000"/>
                      </a:solidFill>
                      <a:prstDash val="solid"/>
                      <a:round/>
                      <a:headEnd type="none" w="med" len="med"/>
                      <a:tailEnd type="none" w="med" len="med"/>
                    </a:lnL>
                    <a:lnR cmpd="sng" algn="ctr" cap="flat" w="7620">
                      <a:solidFill>
                        <a:srgbClr val="000000"/>
                      </a:solidFill>
                      <a:prstDash val="solid"/>
                      <a:round/>
                      <a:headEnd type="none" w="med" len="med"/>
                      <a:tailEnd type="none" w="med" len="med"/>
                    </a:lnR>
                    <a:lnT cmpd="sng" algn="ctr" cap="flat" w="7620">
                      <a:solidFill>
                        <a:srgbClr val="000000"/>
                      </a:solidFill>
                      <a:prstDash val="solid"/>
                      <a:round/>
                      <a:headEnd type="none" w="med" len="med"/>
                      <a:tailEnd type="none" w="med" len="med"/>
                    </a:lnT>
                    <a:lnB cmpd="sng" algn="ctr" cap="flat" w="7620">
                      <a:solidFill>
                        <a:srgbClr val="E2E8F0"/>
                      </a:solidFill>
                      <a:prstDash val="solid"/>
                      <a:round/>
                      <a:headEnd type="none" w="med" len="med"/>
                      <a:tailEnd type="none" w="med" len="med"/>
                    </a:lnB>
                  </a:tcPr>
                </a:tc>
              </a:tr>
            </a:tbl>
          </a:graphicData>
        </a:graphic>
      </p:graphicFrame>
    </p:spTree>
  </p:cSld>
  <p:clrMapOvr>
    <a:masterClrMapping/>
  </p:clrMapOvr>
</p:sld>
</file>

<file path=ppt/slides/slide7.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0"/>
            <a:ext cx="18288000" cy="10287000"/>
            <a:chOff x="0" y="0"/>
            <a:chExt cx="24384000" cy="13716000"/>
          </a:xfrm>
        </p:grpSpPr>
        <p:sp>
          <p:nvSpPr>
            <p:cNvPr name="Freeform 3" id="3" descr="image.png"/>
            <p:cNvSpPr/>
            <p:nvPr/>
          </p:nvSpPr>
          <p:spPr>
            <a:xfrm flipH="false" flipV="false" rot="0">
              <a:off x="0" y="0"/>
              <a:ext cx="24384000" cy="13716000"/>
            </a:xfrm>
            <a:custGeom>
              <a:avLst/>
              <a:gdLst/>
              <a:ahLst/>
              <a:cxnLst/>
              <a:rect r="r" b="b" t="t" l="l"/>
              <a:pathLst>
                <a:path h="13716000" w="24384000">
                  <a:moveTo>
                    <a:pt x="0" y="0"/>
                  </a:moveTo>
                  <a:lnTo>
                    <a:pt x="24384000" y="0"/>
                  </a:lnTo>
                  <a:lnTo>
                    <a:pt x="24384000" y="13716000"/>
                  </a:lnTo>
                  <a:lnTo>
                    <a:pt x="0" y="13716000"/>
                  </a:lnTo>
                  <a:lnTo>
                    <a:pt x="0" y="0"/>
                  </a:lnTo>
                  <a:close/>
                </a:path>
              </a:pathLst>
            </a:custGeom>
            <a:blipFill>
              <a:blip r:embed="rId3"/>
              <a:stretch>
                <a:fillRect l="0" t="0" r="0" b="0"/>
              </a:stretch>
            </a:blipFill>
          </p:spPr>
          <p:txBody>
            <a:bodyPr/>
            <a:p/>
          </p:txBody>
        </p:sp>
      </p:grpSp>
      <p:grpSp>
        <p:nvGrpSpPr>
          <p:cNvPr name="Group 4" id="4"/>
          <p:cNvGrpSpPr/>
          <p:nvPr/>
        </p:nvGrpSpPr>
        <p:grpSpPr>
          <a:xfrm rot="0">
            <a:off x="800100" y="8327593"/>
            <a:ext cx="16687800" cy="544706"/>
            <a:chOff x="0" y="0"/>
            <a:chExt cx="22250400" cy="726275"/>
          </a:xfrm>
        </p:grpSpPr>
        <p:sp>
          <p:nvSpPr>
            <p:cNvPr name="Freeform 5" id="5" descr="image.png"/>
            <p:cNvSpPr/>
            <p:nvPr/>
          </p:nvSpPr>
          <p:spPr>
            <a:xfrm flipH="false" flipV="false" rot="0">
              <a:off x="0" y="0"/>
              <a:ext cx="22250400" cy="726313"/>
            </a:xfrm>
            <a:custGeom>
              <a:avLst/>
              <a:gdLst/>
              <a:ahLst/>
              <a:cxnLst/>
              <a:rect r="r" b="b" t="t" l="l"/>
              <a:pathLst>
                <a:path h="726313" w="22250400">
                  <a:moveTo>
                    <a:pt x="0" y="0"/>
                  </a:moveTo>
                  <a:lnTo>
                    <a:pt x="22250400" y="0"/>
                  </a:lnTo>
                  <a:lnTo>
                    <a:pt x="22250400" y="726313"/>
                  </a:lnTo>
                  <a:lnTo>
                    <a:pt x="0" y="726313"/>
                  </a:lnTo>
                  <a:lnTo>
                    <a:pt x="0" y="0"/>
                  </a:lnTo>
                  <a:close/>
                </a:path>
              </a:pathLst>
            </a:custGeom>
            <a:blipFill>
              <a:blip r:embed="rId4"/>
              <a:stretch>
                <a:fillRect l="0" t="0" r="0" b="-2290"/>
              </a:stretch>
            </a:blipFill>
          </p:spPr>
          <p:txBody>
            <a:bodyPr/>
            <a:p/>
          </p:txBody>
        </p:sp>
      </p:grpSp>
      <p:grpSp>
        <p:nvGrpSpPr>
          <p:cNvPr name="Group 6" id="6"/>
          <p:cNvGrpSpPr/>
          <p:nvPr/>
        </p:nvGrpSpPr>
        <p:grpSpPr>
          <a:xfrm rot="0">
            <a:off x="9344025" y="1434332"/>
            <a:ext cx="8143875" cy="6652260"/>
            <a:chOff x="0" y="0"/>
            <a:chExt cx="10858500" cy="8869680"/>
          </a:xfrm>
        </p:grpSpPr>
        <p:sp>
          <p:nvSpPr>
            <p:cNvPr name="Freeform 7" id="7" descr="image.png"/>
            <p:cNvSpPr/>
            <p:nvPr/>
          </p:nvSpPr>
          <p:spPr>
            <a:xfrm flipH="false" flipV="false" rot="0">
              <a:off x="0" y="0"/>
              <a:ext cx="10858500" cy="8869680"/>
            </a:xfrm>
            <a:custGeom>
              <a:avLst/>
              <a:gdLst/>
              <a:ahLst/>
              <a:cxnLst/>
              <a:rect r="r" b="b" t="t" l="l"/>
              <a:pathLst>
                <a:path h="8869680" w="10858500">
                  <a:moveTo>
                    <a:pt x="0" y="0"/>
                  </a:moveTo>
                  <a:lnTo>
                    <a:pt x="10858500" y="0"/>
                  </a:lnTo>
                  <a:lnTo>
                    <a:pt x="10858500" y="8869680"/>
                  </a:lnTo>
                  <a:lnTo>
                    <a:pt x="0" y="8869680"/>
                  </a:lnTo>
                  <a:lnTo>
                    <a:pt x="0" y="0"/>
                  </a:lnTo>
                  <a:close/>
                </a:path>
              </a:pathLst>
            </a:custGeom>
            <a:blipFill>
              <a:blip r:embed="rId5"/>
              <a:stretch>
                <a:fillRect l="0" t="0" r="0" b="-12542"/>
              </a:stretch>
            </a:blipFill>
          </p:spPr>
          <p:txBody>
            <a:bodyPr/>
            <a:p/>
          </p:txBody>
        </p:sp>
      </p:grpSp>
      <p:grpSp>
        <p:nvGrpSpPr>
          <p:cNvPr name="Group 8" id="8"/>
          <p:cNvGrpSpPr/>
          <p:nvPr/>
        </p:nvGrpSpPr>
        <p:grpSpPr>
          <a:xfrm rot="0">
            <a:off x="795528" y="1440180"/>
            <a:ext cx="8147304" cy="5843016"/>
            <a:chOff x="0" y="0"/>
            <a:chExt cx="10863072" cy="7790688"/>
          </a:xfrm>
        </p:grpSpPr>
        <p:sp>
          <p:nvSpPr>
            <p:cNvPr name="Freeform 9" id="9" descr="image.png"/>
            <p:cNvSpPr/>
            <p:nvPr/>
          </p:nvSpPr>
          <p:spPr>
            <a:xfrm flipH="false" flipV="false" rot="0">
              <a:off x="0" y="0"/>
              <a:ext cx="10863072" cy="7790688"/>
            </a:xfrm>
            <a:custGeom>
              <a:avLst/>
              <a:gdLst/>
              <a:ahLst/>
              <a:cxnLst/>
              <a:rect r="r" b="b" t="t" l="l"/>
              <a:pathLst>
                <a:path h="7790688" w="10863072">
                  <a:moveTo>
                    <a:pt x="0" y="0"/>
                  </a:moveTo>
                  <a:lnTo>
                    <a:pt x="10863072" y="0"/>
                  </a:lnTo>
                  <a:lnTo>
                    <a:pt x="10863072" y="7790688"/>
                  </a:lnTo>
                  <a:lnTo>
                    <a:pt x="0" y="7790688"/>
                  </a:lnTo>
                  <a:lnTo>
                    <a:pt x="0" y="0"/>
                  </a:lnTo>
                  <a:close/>
                </a:path>
              </a:pathLst>
            </a:custGeom>
            <a:blipFill>
              <a:blip r:embed="rId6"/>
              <a:stretch>
                <a:fillRect l="0" t="0" r="-59682" b="0"/>
              </a:stretch>
            </a:blipFill>
          </p:spPr>
          <p:txBody>
            <a:bodyPr/>
            <a:p/>
          </p:txBody>
        </p:sp>
      </p:grpSp>
      <p:grpSp>
        <p:nvGrpSpPr>
          <p:cNvPr name="Group 10" id="10"/>
          <p:cNvGrpSpPr/>
          <p:nvPr/>
        </p:nvGrpSpPr>
        <p:grpSpPr>
          <a:xfrm rot="0">
            <a:off x="800100" y="657225"/>
            <a:ext cx="12893040" cy="462782"/>
            <a:chOff x="0" y="0"/>
            <a:chExt cx="17190720" cy="617042"/>
          </a:xfrm>
        </p:grpSpPr>
        <p:sp>
          <p:nvSpPr>
            <p:cNvPr name="Freeform 11" id="11"/>
            <p:cNvSpPr/>
            <p:nvPr/>
          </p:nvSpPr>
          <p:spPr>
            <a:xfrm flipH="false" flipV="false" rot="0">
              <a:off x="0" y="0"/>
              <a:ext cx="17190720" cy="617040"/>
            </a:xfrm>
            <a:custGeom>
              <a:avLst/>
              <a:gdLst/>
              <a:ahLst/>
              <a:cxnLst/>
              <a:rect r="r" b="b" t="t" l="l"/>
              <a:pathLst>
                <a:path h="617040" w="17190720">
                  <a:moveTo>
                    <a:pt x="0" y="0"/>
                  </a:moveTo>
                  <a:lnTo>
                    <a:pt x="17190720" y="0"/>
                  </a:lnTo>
                  <a:lnTo>
                    <a:pt x="17190720" y="617040"/>
                  </a:lnTo>
                  <a:lnTo>
                    <a:pt x="0" y="617040"/>
                  </a:lnTo>
                  <a:close/>
                </a:path>
              </a:pathLst>
            </a:custGeom>
            <a:blipFill>
              <a:blip r:embed="rId7">
                <a:alphaModFix amt="0"/>
              </a:blip>
              <a:stretch>
                <a:fillRect l="0" t="-492852" r="0" b="-492852"/>
              </a:stretch>
            </a:blipFill>
          </p:spPr>
          <p:txBody>
            <a:bodyPr/>
            <a:p/>
          </p:txBody>
        </p:sp>
        <p:sp>
          <p:nvSpPr>
            <p:cNvPr name="TextBox 12" id="12"/>
            <p:cNvSpPr txBox="true"/>
            <p:nvPr/>
          </p:nvSpPr>
          <p:spPr>
            <a:xfrm>
              <a:off x="0" y="-104775"/>
              <a:ext cx="17190720" cy="721817"/>
            </a:xfrm>
            <a:prstGeom prst="rect">
              <a:avLst/>
            </a:prstGeom>
          </p:spPr>
          <p:txBody>
            <a:bodyPr anchor="ctr" rtlCol="false" tIns="0" lIns="0" bIns="0" rIns="0"/>
            <a:lstStyle/>
            <a:p>
              <a:pPr algn="l">
                <a:lnSpc>
                  <a:spcPts val="4372"/>
                </a:lnSpc>
              </a:pPr>
              <a:r>
                <a:rPr lang="en-US" sz="3037">
                  <a:solidFill>
                    <a:srgbClr val="0F172A"/>
                  </a:solidFill>
                  <a:latin typeface="Poppins"/>
                  <a:ea typeface="Poppins"/>
                  <a:cs typeface="Poppins"/>
                  <a:sym typeface="Poppins"/>
                </a:rPr>
                <a:t>System Architecture &amp; Specs: Firmware &amp; Data Flow</a:t>
              </a:r>
            </a:p>
          </p:txBody>
        </p:sp>
      </p:grpSp>
      <p:sp>
        <p:nvSpPr>
          <p:cNvPr name="TextBox 13" id="13"/>
          <p:cNvSpPr txBox="true"/>
          <p:nvPr/>
        </p:nvSpPr>
        <p:spPr>
          <a:xfrm rot="0">
            <a:off x="1085850" y="8394268"/>
            <a:ext cx="16047720" cy="291689"/>
          </a:xfrm>
          <a:prstGeom prst="rect">
            <a:avLst/>
          </a:prstGeom>
        </p:spPr>
        <p:txBody>
          <a:bodyPr anchor="t" rtlCol="false" tIns="0" lIns="0" bIns="0" rIns="0">
            <a:spAutoFit/>
          </a:bodyPr>
          <a:lstStyle/>
          <a:p>
            <a:pPr algn="l">
              <a:lnSpc>
                <a:spcPts val="2506"/>
              </a:lnSpc>
            </a:pPr>
            <a:r>
              <a:rPr lang="en-US" b="true" sz="1439">
                <a:solidFill>
                  <a:srgbClr val="0F172A"/>
                </a:solidFill>
                <a:latin typeface="DM Sans Bold"/>
                <a:ea typeface="DM Sans Bold"/>
                <a:cs typeface="DM Sans Bold"/>
                <a:sym typeface="DM Sans Bold"/>
              </a:rPr>
              <a:t>Software checks: </a:t>
            </a:r>
            <a:r>
              <a:rPr lang="en-US" b="true" sz="1439">
                <a:solidFill>
                  <a:srgbClr val="334155"/>
                </a:solidFill>
                <a:latin typeface="DM Sans Bold"/>
                <a:ea typeface="DM Sans Bold"/>
                <a:cs typeface="DM Sans Bold"/>
                <a:sym typeface="DM Sans Bold"/>
              </a:rPr>
              <a:t>We passed 23 compile-time checks and 16 PC-side tests. The firmware has not yet run on a wired board.</a:t>
            </a:r>
          </a:p>
        </p:txBody>
      </p:sp>
      <p:sp>
        <p:nvSpPr>
          <p:cNvPr name="TextBox 14" id="14"/>
          <p:cNvSpPr txBox="true"/>
          <p:nvPr/>
        </p:nvSpPr>
        <p:spPr>
          <a:xfrm rot="0">
            <a:off x="800100" y="7294626"/>
            <a:ext cx="8143875" cy="226600"/>
          </a:xfrm>
          <a:prstGeom prst="rect">
            <a:avLst/>
          </a:prstGeom>
        </p:spPr>
        <p:txBody>
          <a:bodyPr anchor="t" rtlCol="false" tIns="0" lIns="0" bIns="0" rIns="0">
            <a:spAutoFit/>
          </a:bodyPr>
          <a:lstStyle/>
          <a:p>
            <a:pPr algn="r">
              <a:lnSpc>
                <a:spcPts val="1983"/>
              </a:lnSpc>
            </a:pPr>
            <a:r>
              <a:rPr lang="en-US" sz="1139">
                <a:solidFill>
                  <a:srgbClr val="64748B"/>
                </a:solidFill>
                <a:latin typeface="DM Sans"/>
                <a:ea typeface="DM Sans"/>
                <a:cs typeface="DM Sans"/>
                <a:sym typeface="DM Sans"/>
              </a:rPr>
              <a:t>This diagram follows one reader scan from measurement to status.</a:t>
            </a:r>
          </a:p>
        </p:txBody>
      </p:sp>
      <p:grpSp>
        <p:nvGrpSpPr>
          <p:cNvPr name="Group 15" id="15"/>
          <p:cNvGrpSpPr/>
          <p:nvPr/>
        </p:nvGrpSpPr>
        <p:grpSpPr>
          <a:xfrm rot="0">
            <a:off x="9672638" y="1762944"/>
            <a:ext cx="231505" cy="228600"/>
            <a:chOff x="0" y="0"/>
            <a:chExt cx="308674" cy="304800"/>
          </a:xfrm>
        </p:grpSpPr>
        <p:sp>
          <p:nvSpPr>
            <p:cNvPr name="Freeform 16" id="16" descr="image.png"/>
            <p:cNvSpPr/>
            <p:nvPr/>
          </p:nvSpPr>
          <p:spPr>
            <a:xfrm flipH="false" flipV="false" rot="0">
              <a:off x="0" y="0"/>
              <a:ext cx="308610" cy="304800"/>
            </a:xfrm>
            <a:custGeom>
              <a:avLst/>
              <a:gdLst/>
              <a:ahLst/>
              <a:cxnLst/>
              <a:rect r="r" b="b" t="t" l="l"/>
              <a:pathLst>
                <a:path h="304800" w="308610">
                  <a:moveTo>
                    <a:pt x="0" y="0"/>
                  </a:moveTo>
                  <a:lnTo>
                    <a:pt x="308610" y="0"/>
                  </a:lnTo>
                  <a:lnTo>
                    <a:pt x="308610" y="304800"/>
                  </a:lnTo>
                  <a:lnTo>
                    <a:pt x="0" y="304800"/>
                  </a:lnTo>
                  <a:lnTo>
                    <a:pt x="0" y="0"/>
                  </a:lnTo>
                  <a:close/>
                </a:path>
              </a:pathLst>
            </a:custGeom>
            <a:blipFill>
              <a:blip r:embed="rId8"/>
              <a:stretch>
                <a:fillRect l="0" t="0" r="-20" b="-1270"/>
              </a:stretch>
            </a:blipFill>
          </p:spPr>
          <p:txBody>
            <a:bodyPr/>
            <a:p/>
          </p:txBody>
        </p:sp>
      </p:grpSp>
      <p:sp>
        <p:nvSpPr>
          <p:cNvPr name="TextBox 17" id="17"/>
          <p:cNvSpPr txBox="true"/>
          <p:nvPr/>
        </p:nvSpPr>
        <p:spPr>
          <a:xfrm rot="0">
            <a:off x="10047018" y="1743894"/>
            <a:ext cx="7269480" cy="247650"/>
          </a:xfrm>
          <a:prstGeom prst="rect">
            <a:avLst/>
          </a:prstGeom>
        </p:spPr>
        <p:txBody>
          <a:bodyPr anchor="t" rtlCol="false" tIns="0" lIns="0" bIns="0" rIns="0">
            <a:spAutoFit/>
          </a:bodyPr>
          <a:lstStyle/>
          <a:p>
            <a:pPr algn="l">
              <a:lnSpc>
                <a:spcPts val="2070"/>
              </a:lnSpc>
            </a:pPr>
            <a:r>
              <a:rPr lang="en-US" b="true" sz="1725">
                <a:solidFill>
                  <a:srgbClr val="0F172A"/>
                </a:solidFill>
                <a:latin typeface="DM Sans Bold"/>
                <a:ea typeface="DM Sans Bold"/>
                <a:cs typeface="DM Sans Bold"/>
                <a:sym typeface="DM Sans Bold"/>
              </a:rPr>
              <a:t>How the firmware turns readings into a status</a:t>
            </a:r>
          </a:p>
        </p:txBody>
      </p:sp>
      <p:grpSp>
        <p:nvGrpSpPr>
          <p:cNvPr name="Group 18" id="18"/>
          <p:cNvGrpSpPr/>
          <p:nvPr/>
        </p:nvGrpSpPr>
        <p:grpSpPr>
          <a:xfrm rot="0">
            <a:off x="16642794" y="9421197"/>
            <a:ext cx="1645206" cy="865803"/>
            <a:chOff x="0" y="0"/>
            <a:chExt cx="2193608" cy="1154405"/>
          </a:xfrm>
        </p:grpSpPr>
        <p:sp>
          <p:nvSpPr>
            <p:cNvPr name="Freeform 19" id="19"/>
            <p:cNvSpPr/>
            <p:nvPr/>
          </p:nvSpPr>
          <p:spPr>
            <a:xfrm flipH="false" flipV="false" rot="0">
              <a:off x="0" y="0"/>
              <a:ext cx="2193671" cy="1154430"/>
            </a:xfrm>
            <a:custGeom>
              <a:avLst/>
              <a:gdLst/>
              <a:ahLst/>
              <a:cxnLst/>
              <a:rect r="r" b="b" t="t" l="l"/>
              <a:pathLst>
                <a:path h="1154430" w="2193671">
                  <a:moveTo>
                    <a:pt x="0" y="0"/>
                  </a:moveTo>
                  <a:lnTo>
                    <a:pt x="2193671" y="0"/>
                  </a:lnTo>
                  <a:lnTo>
                    <a:pt x="2193671" y="1154430"/>
                  </a:lnTo>
                  <a:lnTo>
                    <a:pt x="0" y="1154430"/>
                  </a:lnTo>
                  <a:lnTo>
                    <a:pt x="0" y="0"/>
                  </a:lnTo>
                  <a:close/>
                </a:path>
              </a:pathLst>
            </a:custGeom>
            <a:blipFill>
              <a:blip r:embed="rId9"/>
              <a:stretch>
                <a:fillRect l="0" t="0" r="2" b="2"/>
              </a:stretch>
            </a:blipFill>
          </p:spPr>
          <p:txBody>
            <a:bodyPr/>
            <a:p/>
          </p:txBody>
        </p:sp>
      </p:grpSp>
      <p:grpSp>
        <p:nvGrpSpPr>
          <p:cNvPr name="Group 20" id="20"/>
          <p:cNvGrpSpPr/>
          <p:nvPr/>
        </p:nvGrpSpPr>
        <p:grpSpPr>
          <a:xfrm rot="0">
            <a:off x="0" y="9421197"/>
            <a:ext cx="2679421" cy="865803"/>
            <a:chOff x="0" y="0"/>
            <a:chExt cx="3572561" cy="1154405"/>
          </a:xfrm>
        </p:grpSpPr>
        <p:sp>
          <p:nvSpPr>
            <p:cNvPr name="Freeform 21" id="21"/>
            <p:cNvSpPr/>
            <p:nvPr/>
          </p:nvSpPr>
          <p:spPr>
            <a:xfrm flipH="false" flipV="false" rot="0">
              <a:off x="0" y="0"/>
              <a:ext cx="3572510" cy="1154430"/>
            </a:xfrm>
            <a:custGeom>
              <a:avLst/>
              <a:gdLst/>
              <a:ahLst/>
              <a:cxnLst/>
              <a:rect r="r" b="b" t="t" l="l"/>
              <a:pathLst>
                <a:path h="1154430" w="3572510">
                  <a:moveTo>
                    <a:pt x="0" y="0"/>
                  </a:moveTo>
                  <a:lnTo>
                    <a:pt x="3572510" y="0"/>
                  </a:lnTo>
                  <a:lnTo>
                    <a:pt x="3572510" y="1154430"/>
                  </a:lnTo>
                  <a:lnTo>
                    <a:pt x="0" y="1154430"/>
                  </a:lnTo>
                  <a:lnTo>
                    <a:pt x="0" y="0"/>
                  </a:lnTo>
                  <a:close/>
                </a:path>
              </a:pathLst>
            </a:custGeom>
            <a:blipFill>
              <a:blip r:embed="rId10"/>
              <a:stretch>
                <a:fillRect l="-21110" t="-147255" r="-22761" b="-197973"/>
              </a:stretch>
            </a:blipFill>
          </p:spPr>
          <p:txBody>
            <a:bodyPr/>
            <a:p/>
          </p:txBody>
        </p:sp>
      </p:grpSp>
      <p:grpSp>
        <p:nvGrpSpPr>
          <p:cNvPr name="Group 22" id="22"/>
          <p:cNvGrpSpPr/>
          <p:nvPr/>
        </p:nvGrpSpPr>
        <p:grpSpPr>
          <a:xfrm rot="0">
            <a:off x="13438937" y="685800"/>
            <a:ext cx="4048963" cy="462248"/>
            <a:chOff x="0" y="0"/>
            <a:chExt cx="5398618" cy="616331"/>
          </a:xfrm>
        </p:grpSpPr>
        <p:sp>
          <p:nvSpPr>
            <p:cNvPr name="Freeform 23" id="23"/>
            <p:cNvSpPr/>
            <p:nvPr/>
          </p:nvSpPr>
          <p:spPr>
            <a:xfrm flipH="false" flipV="false" rot="0">
              <a:off x="0" y="0"/>
              <a:ext cx="5398643" cy="616331"/>
            </a:xfrm>
            <a:custGeom>
              <a:avLst/>
              <a:gdLst/>
              <a:ahLst/>
              <a:cxnLst/>
              <a:rect r="r" b="b" t="t" l="l"/>
              <a:pathLst>
                <a:path h="616331" w="5398643">
                  <a:moveTo>
                    <a:pt x="0" y="308166"/>
                  </a:moveTo>
                  <a:cubicBezTo>
                    <a:pt x="0" y="137914"/>
                    <a:pt x="110490" y="0"/>
                    <a:pt x="246888" y="0"/>
                  </a:cubicBezTo>
                  <a:lnTo>
                    <a:pt x="5151755" y="0"/>
                  </a:lnTo>
                  <a:cubicBezTo>
                    <a:pt x="5288153" y="0"/>
                    <a:pt x="5398643" y="137914"/>
                    <a:pt x="5398643" y="308166"/>
                  </a:cubicBezTo>
                  <a:cubicBezTo>
                    <a:pt x="5398643" y="478417"/>
                    <a:pt x="5288153" y="616331"/>
                    <a:pt x="5151755" y="616331"/>
                  </a:cubicBezTo>
                  <a:lnTo>
                    <a:pt x="246888" y="616331"/>
                  </a:lnTo>
                  <a:cubicBezTo>
                    <a:pt x="110490" y="616331"/>
                    <a:pt x="0" y="478417"/>
                    <a:pt x="0" y="308166"/>
                  </a:cubicBezTo>
                  <a:close/>
                </a:path>
              </a:pathLst>
            </a:custGeom>
            <a:solidFill>
              <a:srgbClr val="D1FAE5"/>
            </a:solidFill>
          </p:spPr>
          <p:txBody>
            <a:bodyPr/>
            <a:p/>
          </p:txBody>
        </p:sp>
        <p:sp>
          <p:nvSpPr>
            <p:cNvPr name="TextBox 24" id="24"/>
            <p:cNvSpPr txBox="true"/>
            <p:nvPr/>
          </p:nvSpPr>
          <p:spPr>
            <a:xfrm>
              <a:off x="0" y="0"/>
              <a:ext cx="5398618" cy="616331"/>
            </a:xfrm>
            <a:prstGeom prst="rect">
              <a:avLst/>
            </a:prstGeom>
          </p:spPr>
          <p:txBody>
            <a:bodyPr anchor="ctr" rtlCol="false" tIns="50800" lIns="50800" bIns="50800" rIns="50800"/>
            <a:lstStyle/>
            <a:p>
              <a:pPr algn="ctr">
                <a:lnSpc>
                  <a:spcPts val="1350"/>
                </a:lnSpc>
              </a:pPr>
              <a:r>
                <a:rPr lang="en-US" sz="1125" b="true">
                  <a:solidFill>
                    <a:srgbClr val="047857"/>
                  </a:solidFill>
                  <a:latin typeface="DM Sans Bold"/>
                  <a:ea typeface="DM Sans Bold"/>
                  <a:cs typeface="DM Sans Bold"/>
                  <a:sym typeface="DM Sans Bold"/>
                </a:rPr>
                <a:t>SOFTWARE CHECKS PASSED · HARDWARE TESTING PENDING</a:t>
              </a:r>
            </a:p>
          </p:txBody>
        </p:sp>
      </p:grpSp>
      <p:grpSp>
        <p:nvGrpSpPr>
          <p:cNvPr name="Group 25" id="25"/>
          <p:cNvGrpSpPr/>
          <p:nvPr/>
        </p:nvGrpSpPr>
        <p:grpSpPr>
          <a:xfrm rot="0">
            <a:off x="809244" y="1455068"/>
            <a:ext cx="8119872" cy="5813231"/>
            <a:chOff x="0" y="0"/>
            <a:chExt cx="10826496" cy="7750975"/>
          </a:xfrm>
        </p:grpSpPr>
        <p:sp>
          <p:nvSpPr>
            <p:cNvPr name="Freeform 26" id="26" descr="fig_dataflow.png"/>
            <p:cNvSpPr/>
            <p:nvPr/>
          </p:nvSpPr>
          <p:spPr>
            <a:xfrm flipH="false" flipV="false" rot="0">
              <a:off x="0" y="0"/>
              <a:ext cx="10826496" cy="7750937"/>
            </a:xfrm>
            <a:custGeom>
              <a:avLst/>
              <a:gdLst/>
              <a:ahLst/>
              <a:cxnLst/>
              <a:rect r="r" b="b" t="t" l="l"/>
              <a:pathLst>
                <a:path h="7750937" w="10826496">
                  <a:moveTo>
                    <a:pt x="0" y="0"/>
                  </a:moveTo>
                  <a:lnTo>
                    <a:pt x="10826496" y="0"/>
                  </a:lnTo>
                  <a:lnTo>
                    <a:pt x="10826496" y="7750937"/>
                  </a:lnTo>
                  <a:lnTo>
                    <a:pt x="0" y="7750937"/>
                  </a:lnTo>
                  <a:lnTo>
                    <a:pt x="0" y="0"/>
                  </a:lnTo>
                  <a:close/>
                </a:path>
              </a:pathLst>
            </a:custGeom>
            <a:blipFill>
              <a:blip r:embed="rId11"/>
              <a:stretch>
                <a:fillRect l="0" t="0" r="0" b="0"/>
              </a:stretch>
            </a:blipFill>
          </p:spPr>
          <p:txBody>
            <a:bodyPr/>
            <a:p/>
          </p:txBody>
        </p:sp>
      </p:grpSp>
      <p:sp>
        <p:nvSpPr>
          <p:cNvPr name="TextBox 27" id="27"/>
          <p:cNvSpPr txBox="true"/>
          <p:nvPr/>
        </p:nvSpPr>
        <p:spPr>
          <a:xfrm rot="0">
            <a:off x="9715500" y="2349246"/>
            <a:ext cx="7507224" cy="3835679"/>
          </a:xfrm>
          <a:prstGeom prst="rect">
            <a:avLst/>
          </a:prstGeom>
        </p:spPr>
        <p:txBody>
          <a:bodyPr anchor="t" rtlCol="false" tIns="0" lIns="0" bIns="0" rIns="0">
            <a:spAutoFit/>
          </a:bodyPr>
          <a:lstStyle/>
          <a:p>
            <a:pPr algn="l" marL="0" indent="0" lvl="0">
              <a:lnSpc>
                <a:spcPts val="2332"/>
              </a:lnSpc>
              <a:spcBef>
                <a:spcPct val="0"/>
              </a:spcBef>
            </a:pPr>
            <a:r>
              <a:rPr lang="en-US" sz="1800" strike="noStrike" u="none">
                <a:solidFill>
                  <a:srgbClr val="059669"/>
                </a:solidFill>
                <a:latin typeface="DM Sans"/>
                <a:ea typeface="DM Sans"/>
                <a:cs typeface="DM Sans"/>
                <a:sym typeface="DM Sans"/>
              </a:rPr>
              <a:t>▪  Measure:  Each zone is driven in both directions to avoid net DC; hardware testing is pending.</a:t>
            </a:r>
          </a:p>
          <a:p>
            <a:pPr algn="l" marL="0" indent="0" lvl="0">
              <a:lnSpc>
                <a:spcPts val="2332"/>
              </a:lnSpc>
              <a:spcBef>
                <a:spcPct val="0"/>
              </a:spcBef>
            </a:pPr>
            <a:r>
              <a:rPr lang="en-US" sz="1800" strike="noStrike" u="none">
                <a:solidFill>
                  <a:srgbClr val="059669"/>
                </a:solidFill>
                <a:latin typeface="DM Sans"/>
                <a:ea typeface="DM Sans"/>
                <a:cs typeface="DM Sans"/>
                <a:sym typeface="DM Sans"/>
              </a:rPr>
              <a:t>▪  Read:  The 16-bit ADC reading is scaled to the 3.3 V rail.</a:t>
            </a:r>
          </a:p>
          <a:p>
            <a:pPr algn="l" marL="0" indent="0" lvl="0">
              <a:lnSpc>
                <a:spcPts val="2332"/>
              </a:lnSpc>
              <a:spcBef>
                <a:spcPct val="0"/>
              </a:spcBef>
            </a:pPr>
            <a:r>
              <a:rPr lang="en-US" sz="1800" strike="noStrike" u="none">
                <a:solidFill>
                  <a:srgbClr val="059669"/>
                </a:solidFill>
                <a:latin typeface="DM Sans"/>
                <a:ea typeface="DM Sans"/>
                <a:cs typeface="DM Sans"/>
                <a:sym typeface="DM Sans"/>
              </a:rPr>
              <a:t>▪  Decide:  Design thresholds are wet &lt;100 kΩ and dry &gt;300 kΩ for three consecutive scans.</a:t>
            </a:r>
          </a:p>
          <a:p>
            <a:pPr algn="l" marL="0" indent="0" lvl="0">
              <a:lnSpc>
                <a:spcPts val="2332"/>
              </a:lnSpc>
              <a:spcBef>
                <a:spcPct val="0"/>
              </a:spcBef>
            </a:pPr>
            <a:r>
              <a:rPr lang="en-US" sz="1800" strike="noStrike" u="none">
                <a:solidFill>
                  <a:srgbClr val="059669"/>
                </a:solidFill>
                <a:latin typeface="DM Sans"/>
                <a:ea typeface="DM Sans"/>
                <a:cs typeface="DM Sans"/>
                <a:sym typeface="DM Sans"/>
              </a:rPr>
              <a:t>▪  Self-check:  A known 100 kΩ reference is checked each scan; a failed check shows FAULT.</a:t>
            </a:r>
          </a:p>
          <a:p>
            <a:pPr algn="l" marL="0" indent="0" lvl="0">
              <a:lnSpc>
                <a:spcPts val="2332"/>
              </a:lnSpc>
              <a:spcBef>
                <a:spcPct val="0"/>
              </a:spcBef>
            </a:pPr>
            <a:r>
              <a:rPr lang="en-US" sz="1800" strike="noStrike" u="none">
                <a:solidFill>
                  <a:srgbClr val="059669"/>
                </a:solidFill>
                <a:latin typeface="DM Sans"/>
                <a:ea typeface="DM Sans"/>
                <a:cs typeface="DM Sans"/>
                <a:sym typeface="DM Sans"/>
              </a:rPr>
              <a:t>▪  Output:  Status appears on LEDs; data can be logged over USB. There is no custom app yet.</a:t>
            </a:r>
          </a:p>
          <a:p>
            <a:pPr algn="l" marL="0" indent="0" lvl="0">
              <a:lnSpc>
                <a:spcPts val="2332"/>
              </a:lnSpc>
              <a:spcBef>
                <a:spcPct val="0"/>
              </a:spcBef>
            </a:pPr>
            <a:r>
              <a:rPr lang="en-US" sz="1800" strike="noStrike" u="none">
                <a:solidFill>
                  <a:srgbClr val="059669"/>
                </a:solidFill>
                <a:latin typeface="DM Sans"/>
                <a:ea typeface="DM Sans"/>
                <a:cs typeface="DM Sans"/>
                <a:sym typeface="DM Sans"/>
              </a:rPr>
              <a:t>▪  Remote monitoring:  the reader broadcasts its status over Bluetooth Low Energy (BLE) to any nearby smartphone scanner, with no hospital Wi-Fi or cloud needed. Firmware done; hardware test pending.</a:t>
            </a:r>
          </a:p>
        </p:txBody>
      </p:sp>
    </p:spTree>
  </p:cSld>
  <p:clrMapOvr>
    <a:masterClrMapping/>
  </p:clrMapOvr>
</p:sld>
</file>

<file path=ppt/slides/slide8.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0"/>
            <a:ext cx="18288000" cy="10287000"/>
            <a:chOff x="0" y="0"/>
            <a:chExt cx="24384000" cy="13716000"/>
          </a:xfrm>
        </p:grpSpPr>
        <p:sp>
          <p:nvSpPr>
            <p:cNvPr name="Freeform 3" id="3" descr="image.png"/>
            <p:cNvSpPr/>
            <p:nvPr/>
          </p:nvSpPr>
          <p:spPr>
            <a:xfrm flipH="false" flipV="false" rot="0">
              <a:off x="0" y="0"/>
              <a:ext cx="24384000" cy="13716000"/>
            </a:xfrm>
            <a:custGeom>
              <a:avLst/>
              <a:gdLst/>
              <a:ahLst/>
              <a:cxnLst/>
              <a:rect r="r" b="b" t="t" l="l"/>
              <a:pathLst>
                <a:path h="13716000" w="24384000">
                  <a:moveTo>
                    <a:pt x="0" y="0"/>
                  </a:moveTo>
                  <a:lnTo>
                    <a:pt x="24384000" y="0"/>
                  </a:lnTo>
                  <a:lnTo>
                    <a:pt x="24384000" y="13716000"/>
                  </a:lnTo>
                  <a:lnTo>
                    <a:pt x="0" y="13716000"/>
                  </a:lnTo>
                  <a:lnTo>
                    <a:pt x="0" y="0"/>
                  </a:lnTo>
                  <a:close/>
                </a:path>
              </a:pathLst>
            </a:custGeom>
            <a:blipFill>
              <a:blip r:embed="rId3"/>
              <a:stretch>
                <a:fillRect l="0" t="0" r="0" b="0"/>
              </a:stretch>
            </a:blipFill>
          </p:spPr>
          <p:txBody>
            <a:bodyPr/>
            <a:p/>
          </p:txBody>
        </p:sp>
      </p:grpSp>
      <p:grpSp>
        <p:nvGrpSpPr>
          <p:cNvPr name="Group 4" id="4"/>
          <p:cNvGrpSpPr/>
          <p:nvPr/>
        </p:nvGrpSpPr>
        <p:grpSpPr>
          <a:xfrm rot="0">
            <a:off x="800100" y="8327593"/>
            <a:ext cx="16687800" cy="544706"/>
            <a:chOff x="0" y="0"/>
            <a:chExt cx="22250400" cy="726275"/>
          </a:xfrm>
        </p:grpSpPr>
        <p:sp>
          <p:nvSpPr>
            <p:cNvPr name="Freeform 5" id="5" descr="image.png"/>
            <p:cNvSpPr/>
            <p:nvPr/>
          </p:nvSpPr>
          <p:spPr>
            <a:xfrm flipH="false" flipV="false" rot="0">
              <a:off x="0" y="0"/>
              <a:ext cx="22250400" cy="726313"/>
            </a:xfrm>
            <a:custGeom>
              <a:avLst/>
              <a:gdLst/>
              <a:ahLst/>
              <a:cxnLst/>
              <a:rect r="r" b="b" t="t" l="l"/>
              <a:pathLst>
                <a:path h="726313" w="22250400">
                  <a:moveTo>
                    <a:pt x="0" y="0"/>
                  </a:moveTo>
                  <a:lnTo>
                    <a:pt x="22250400" y="0"/>
                  </a:lnTo>
                  <a:lnTo>
                    <a:pt x="22250400" y="726313"/>
                  </a:lnTo>
                  <a:lnTo>
                    <a:pt x="0" y="726313"/>
                  </a:lnTo>
                  <a:lnTo>
                    <a:pt x="0" y="0"/>
                  </a:lnTo>
                  <a:close/>
                </a:path>
              </a:pathLst>
            </a:custGeom>
            <a:blipFill>
              <a:blip r:embed="rId4"/>
              <a:stretch>
                <a:fillRect l="0" t="0" r="0" b="-2290"/>
              </a:stretch>
            </a:blipFill>
          </p:spPr>
          <p:txBody>
            <a:bodyPr/>
            <a:p/>
          </p:txBody>
        </p:sp>
      </p:grpSp>
      <p:grpSp>
        <p:nvGrpSpPr>
          <p:cNvPr name="Group 6" id="6"/>
          <p:cNvGrpSpPr/>
          <p:nvPr/>
        </p:nvGrpSpPr>
        <p:grpSpPr>
          <a:xfrm rot="0">
            <a:off x="9344025" y="1434332"/>
            <a:ext cx="8143875" cy="6652260"/>
            <a:chOff x="0" y="0"/>
            <a:chExt cx="10858500" cy="8869680"/>
          </a:xfrm>
        </p:grpSpPr>
        <p:sp>
          <p:nvSpPr>
            <p:cNvPr name="Freeform 7" id="7" descr="image.png"/>
            <p:cNvSpPr/>
            <p:nvPr/>
          </p:nvSpPr>
          <p:spPr>
            <a:xfrm flipH="false" flipV="false" rot="0">
              <a:off x="0" y="0"/>
              <a:ext cx="10858500" cy="8869680"/>
            </a:xfrm>
            <a:custGeom>
              <a:avLst/>
              <a:gdLst/>
              <a:ahLst/>
              <a:cxnLst/>
              <a:rect r="r" b="b" t="t" l="l"/>
              <a:pathLst>
                <a:path h="8869680" w="10858500">
                  <a:moveTo>
                    <a:pt x="0" y="0"/>
                  </a:moveTo>
                  <a:lnTo>
                    <a:pt x="10858500" y="0"/>
                  </a:lnTo>
                  <a:lnTo>
                    <a:pt x="10858500" y="8869680"/>
                  </a:lnTo>
                  <a:lnTo>
                    <a:pt x="0" y="8869680"/>
                  </a:lnTo>
                  <a:lnTo>
                    <a:pt x="0" y="0"/>
                  </a:lnTo>
                  <a:close/>
                </a:path>
              </a:pathLst>
            </a:custGeom>
            <a:blipFill>
              <a:blip r:embed="rId5"/>
              <a:stretch>
                <a:fillRect l="0" t="0" r="0" b="-12542"/>
              </a:stretch>
            </a:blipFill>
          </p:spPr>
          <p:txBody>
            <a:bodyPr/>
            <a:p/>
          </p:txBody>
        </p:sp>
      </p:grpSp>
      <p:grpSp>
        <p:nvGrpSpPr>
          <p:cNvPr name="Group 8" id="8"/>
          <p:cNvGrpSpPr/>
          <p:nvPr/>
        </p:nvGrpSpPr>
        <p:grpSpPr>
          <a:xfrm rot="0">
            <a:off x="795528" y="1440180"/>
            <a:ext cx="8147304" cy="5843016"/>
            <a:chOff x="0" y="0"/>
            <a:chExt cx="10863072" cy="7790688"/>
          </a:xfrm>
        </p:grpSpPr>
        <p:sp>
          <p:nvSpPr>
            <p:cNvPr name="Freeform 9" id="9" descr="image.png"/>
            <p:cNvSpPr/>
            <p:nvPr/>
          </p:nvSpPr>
          <p:spPr>
            <a:xfrm flipH="false" flipV="false" rot="0">
              <a:off x="0" y="0"/>
              <a:ext cx="10863072" cy="7790688"/>
            </a:xfrm>
            <a:custGeom>
              <a:avLst/>
              <a:gdLst/>
              <a:ahLst/>
              <a:cxnLst/>
              <a:rect r="r" b="b" t="t" l="l"/>
              <a:pathLst>
                <a:path h="7790688" w="10863072">
                  <a:moveTo>
                    <a:pt x="0" y="0"/>
                  </a:moveTo>
                  <a:lnTo>
                    <a:pt x="10863072" y="0"/>
                  </a:lnTo>
                  <a:lnTo>
                    <a:pt x="10863072" y="7790688"/>
                  </a:lnTo>
                  <a:lnTo>
                    <a:pt x="0" y="7790688"/>
                  </a:lnTo>
                  <a:lnTo>
                    <a:pt x="0" y="0"/>
                  </a:lnTo>
                  <a:close/>
                </a:path>
              </a:pathLst>
            </a:custGeom>
            <a:blipFill>
              <a:blip r:embed="rId6"/>
              <a:stretch>
                <a:fillRect l="0" t="0" r="-59682" b="0"/>
              </a:stretch>
            </a:blipFill>
          </p:spPr>
          <p:txBody>
            <a:bodyPr/>
            <a:p/>
          </p:txBody>
        </p:sp>
      </p:grpSp>
      <p:grpSp>
        <p:nvGrpSpPr>
          <p:cNvPr name="Group 10" id="10"/>
          <p:cNvGrpSpPr/>
          <p:nvPr/>
        </p:nvGrpSpPr>
        <p:grpSpPr>
          <a:xfrm rot="0">
            <a:off x="800100" y="657225"/>
            <a:ext cx="12893040" cy="462782"/>
            <a:chOff x="0" y="0"/>
            <a:chExt cx="17190720" cy="617042"/>
          </a:xfrm>
        </p:grpSpPr>
        <p:sp>
          <p:nvSpPr>
            <p:cNvPr name="Freeform 11" id="11"/>
            <p:cNvSpPr/>
            <p:nvPr/>
          </p:nvSpPr>
          <p:spPr>
            <a:xfrm flipH="false" flipV="false" rot="0">
              <a:off x="0" y="0"/>
              <a:ext cx="17190720" cy="617040"/>
            </a:xfrm>
            <a:custGeom>
              <a:avLst/>
              <a:gdLst/>
              <a:ahLst/>
              <a:cxnLst/>
              <a:rect r="r" b="b" t="t" l="l"/>
              <a:pathLst>
                <a:path h="617040" w="17190720">
                  <a:moveTo>
                    <a:pt x="0" y="0"/>
                  </a:moveTo>
                  <a:lnTo>
                    <a:pt x="17190720" y="0"/>
                  </a:lnTo>
                  <a:lnTo>
                    <a:pt x="17190720" y="617040"/>
                  </a:lnTo>
                  <a:lnTo>
                    <a:pt x="0" y="617040"/>
                  </a:lnTo>
                  <a:close/>
                </a:path>
              </a:pathLst>
            </a:custGeom>
            <a:blipFill>
              <a:blip r:embed="rId7">
                <a:alphaModFix amt="0"/>
              </a:blip>
              <a:stretch>
                <a:fillRect l="0" t="-492852" r="0" b="-492852"/>
              </a:stretch>
            </a:blipFill>
          </p:spPr>
          <p:txBody>
            <a:bodyPr/>
            <a:p/>
          </p:txBody>
        </p:sp>
        <p:sp>
          <p:nvSpPr>
            <p:cNvPr name="TextBox 12" id="12"/>
            <p:cNvSpPr txBox="true"/>
            <p:nvPr/>
          </p:nvSpPr>
          <p:spPr>
            <a:xfrm>
              <a:off x="0" y="-104775"/>
              <a:ext cx="17190720" cy="721817"/>
            </a:xfrm>
            <a:prstGeom prst="rect">
              <a:avLst/>
            </a:prstGeom>
          </p:spPr>
          <p:txBody>
            <a:bodyPr anchor="ctr" rtlCol="false" tIns="0" lIns="0" bIns="0" rIns="0"/>
            <a:lstStyle/>
            <a:p>
              <a:pPr algn="l">
                <a:lnSpc>
                  <a:spcPts val="4372"/>
                </a:lnSpc>
              </a:pPr>
              <a:r>
                <a:rPr lang="en-US" sz="3037">
                  <a:solidFill>
                    <a:srgbClr val="0F172A"/>
                  </a:solidFill>
                  <a:latin typeface="Poppins"/>
                  <a:ea typeface="Poppins"/>
                  <a:cs typeface="Poppins"/>
                  <a:sym typeface="Poppins"/>
                </a:rPr>
                <a:t>CAD Design &amp; Mechanical Specs</a:t>
              </a:r>
            </a:p>
          </p:txBody>
        </p:sp>
      </p:grpSp>
      <p:sp>
        <p:nvSpPr>
          <p:cNvPr name="TextBox 13" id="13"/>
          <p:cNvSpPr txBox="true"/>
          <p:nvPr/>
        </p:nvSpPr>
        <p:spPr>
          <a:xfrm rot="0">
            <a:off x="1085850" y="8394268"/>
            <a:ext cx="16047720" cy="291689"/>
          </a:xfrm>
          <a:prstGeom prst="rect">
            <a:avLst/>
          </a:prstGeom>
        </p:spPr>
        <p:txBody>
          <a:bodyPr anchor="t" rtlCol="false" tIns="0" lIns="0" bIns="0" rIns="0">
            <a:spAutoFit/>
          </a:bodyPr>
          <a:lstStyle/>
          <a:p>
            <a:pPr algn="l">
              <a:lnSpc>
                <a:spcPts val="2506"/>
              </a:lnSpc>
            </a:pPr>
            <a:r>
              <a:rPr lang="en-US" b="true" sz="1439">
                <a:solidFill>
                  <a:srgbClr val="0F172A"/>
                </a:solidFill>
                <a:latin typeface="DM Sans Bold"/>
                <a:ea typeface="DM Sans Bold"/>
                <a:cs typeface="DM Sans Bold"/>
                <a:sym typeface="DM Sans Bold"/>
              </a:rPr>
              <a:t>Design Iteration: </a:t>
            </a:r>
            <a:r>
              <a:rPr lang="en-US" b="true" sz="1439">
                <a:solidFill>
                  <a:srgbClr val="334155"/>
                </a:solidFill>
                <a:latin typeface="DM Sans Bold"/>
                <a:ea typeface="DM Sans Bold"/>
                <a:cs typeface="DM Sans Bold"/>
                <a:sym typeface="DM Sans Bold"/>
              </a:rPr>
              <a:t>We found that the seal tape would sit under the clamp. We moved it to x = 23 mm; the CAD check now reports no clash (D-013).</a:t>
            </a:r>
          </a:p>
        </p:txBody>
      </p:sp>
      <p:sp>
        <p:nvSpPr>
          <p:cNvPr name="TextBox 14" id="14"/>
          <p:cNvSpPr txBox="true"/>
          <p:nvPr/>
        </p:nvSpPr>
        <p:spPr>
          <a:xfrm rot="0">
            <a:off x="800100" y="7294626"/>
            <a:ext cx="8143875" cy="226600"/>
          </a:xfrm>
          <a:prstGeom prst="rect">
            <a:avLst/>
          </a:prstGeom>
        </p:spPr>
        <p:txBody>
          <a:bodyPr anchor="t" rtlCol="false" tIns="0" lIns="0" bIns="0" rIns="0">
            <a:spAutoFit/>
          </a:bodyPr>
          <a:lstStyle/>
          <a:p>
            <a:pPr algn="r">
              <a:lnSpc>
                <a:spcPts val="1983"/>
              </a:lnSpc>
            </a:pPr>
            <a:r>
              <a:rPr lang="en-US" sz="1139">
                <a:solidFill>
                  <a:srgbClr val="64748B"/>
                </a:solidFill>
                <a:latin typeface="DM Sans"/>
                <a:ea typeface="DM Sans"/>
                <a:cs typeface="DM Sans"/>
                <a:sym typeface="DM Sans"/>
              </a:rPr>
              <a:t>Our SolidWorks models and drawings; the clamp has not been built yet.</a:t>
            </a:r>
          </a:p>
        </p:txBody>
      </p:sp>
      <p:grpSp>
        <p:nvGrpSpPr>
          <p:cNvPr name="Group 15" id="15"/>
          <p:cNvGrpSpPr/>
          <p:nvPr/>
        </p:nvGrpSpPr>
        <p:grpSpPr>
          <a:xfrm rot="0">
            <a:off x="9672638" y="1762944"/>
            <a:ext cx="231505" cy="228600"/>
            <a:chOff x="0" y="0"/>
            <a:chExt cx="308674" cy="304800"/>
          </a:xfrm>
        </p:grpSpPr>
        <p:sp>
          <p:nvSpPr>
            <p:cNvPr name="Freeform 16" id="16" descr="image.png"/>
            <p:cNvSpPr/>
            <p:nvPr/>
          </p:nvSpPr>
          <p:spPr>
            <a:xfrm flipH="false" flipV="false" rot="0">
              <a:off x="0" y="0"/>
              <a:ext cx="308610" cy="304800"/>
            </a:xfrm>
            <a:custGeom>
              <a:avLst/>
              <a:gdLst/>
              <a:ahLst/>
              <a:cxnLst/>
              <a:rect r="r" b="b" t="t" l="l"/>
              <a:pathLst>
                <a:path h="304800" w="308610">
                  <a:moveTo>
                    <a:pt x="0" y="0"/>
                  </a:moveTo>
                  <a:lnTo>
                    <a:pt x="308610" y="0"/>
                  </a:lnTo>
                  <a:lnTo>
                    <a:pt x="308610" y="304800"/>
                  </a:lnTo>
                  <a:lnTo>
                    <a:pt x="0" y="304800"/>
                  </a:lnTo>
                  <a:lnTo>
                    <a:pt x="0" y="0"/>
                  </a:lnTo>
                  <a:close/>
                </a:path>
              </a:pathLst>
            </a:custGeom>
            <a:blipFill>
              <a:blip r:embed="rId8"/>
              <a:stretch>
                <a:fillRect l="0" t="0" r="-20" b="-1270"/>
              </a:stretch>
            </a:blipFill>
          </p:spPr>
          <p:txBody>
            <a:bodyPr/>
            <a:p/>
          </p:txBody>
        </p:sp>
      </p:grpSp>
      <p:sp>
        <p:nvSpPr>
          <p:cNvPr name="TextBox 17" id="17"/>
          <p:cNvSpPr txBox="true"/>
          <p:nvPr/>
        </p:nvSpPr>
        <p:spPr>
          <a:xfrm rot="0">
            <a:off x="10047018" y="1743894"/>
            <a:ext cx="7269480" cy="276225"/>
          </a:xfrm>
          <a:prstGeom prst="rect">
            <a:avLst/>
          </a:prstGeom>
        </p:spPr>
        <p:txBody>
          <a:bodyPr anchor="t" rtlCol="false" tIns="0" lIns="0" bIns="0" rIns="0">
            <a:spAutoFit/>
          </a:bodyPr>
          <a:lstStyle/>
          <a:p>
            <a:pPr algn="l">
              <a:lnSpc>
                <a:spcPts val="2070"/>
              </a:lnSpc>
            </a:pPr>
            <a:r>
              <a:rPr lang="en-US" b="true" sz="1725">
                <a:solidFill>
                  <a:srgbClr val="0F172A"/>
                </a:solidFill>
                <a:latin typeface="DM Sans Bold"/>
                <a:ea typeface="DM Sans Bold"/>
                <a:cs typeface="DM Sans Bold"/>
                <a:sym typeface="DM Sans Bold"/>
              </a:rPr>
              <a:t>A clip-on clamp: 4 spring pins, 2 dowels</a:t>
            </a:r>
          </a:p>
        </p:txBody>
      </p:sp>
      <p:grpSp>
        <p:nvGrpSpPr>
          <p:cNvPr name="Group 18" id="18"/>
          <p:cNvGrpSpPr/>
          <p:nvPr/>
        </p:nvGrpSpPr>
        <p:grpSpPr>
          <a:xfrm rot="0">
            <a:off x="16642794" y="9421197"/>
            <a:ext cx="1645206" cy="865803"/>
            <a:chOff x="0" y="0"/>
            <a:chExt cx="2193608" cy="1154405"/>
          </a:xfrm>
        </p:grpSpPr>
        <p:sp>
          <p:nvSpPr>
            <p:cNvPr name="Freeform 19" id="19"/>
            <p:cNvSpPr/>
            <p:nvPr/>
          </p:nvSpPr>
          <p:spPr>
            <a:xfrm flipH="false" flipV="false" rot="0">
              <a:off x="0" y="0"/>
              <a:ext cx="2193671" cy="1154430"/>
            </a:xfrm>
            <a:custGeom>
              <a:avLst/>
              <a:gdLst/>
              <a:ahLst/>
              <a:cxnLst/>
              <a:rect r="r" b="b" t="t" l="l"/>
              <a:pathLst>
                <a:path h="1154430" w="2193671">
                  <a:moveTo>
                    <a:pt x="0" y="0"/>
                  </a:moveTo>
                  <a:lnTo>
                    <a:pt x="2193671" y="0"/>
                  </a:lnTo>
                  <a:lnTo>
                    <a:pt x="2193671" y="1154430"/>
                  </a:lnTo>
                  <a:lnTo>
                    <a:pt x="0" y="1154430"/>
                  </a:lnTo>
                  <a:lnTo>
                    <a:pt x="0" y="0"/>
                  </a:lnTo>
                  <a:close/>
                </a:path>
              </a:pathLst>
            </a:custGeom>
            <a:blipFill>
              <a:blip r:embed="rId9"/>
              <a:stretch>
                <a:fillRect l="0" t="0" r="2" b="2"/>
              </a:stretch>
            </a:blipFill>
          </p:spPr>
          <p:txBody>
            <a:bodyPr/>
            <a:p/>
          </p:txBody>
        </p:sp>
      </p:grpSp>
      <p:grpSp>
        <p:nvGrpSpPr>
          <p:cNvPr name="Group 20" id="20"/>
          <p:cNvGrpSpPr/>
          <p:nvPr/>
        </p:nvGrpSpPr>
        <p:grpSpPr>
          <a:xfrm rot="0">
            <a:off x="0" y="9421197"/>
            <a:ext cx="2679421" cy="865803"/>
            <a:chOff x="0" y="0"/>
            <a:chExt cx="3572561" cy="1154405"/>
          </a:xfrm>
        </p:grpSpPr>
        <p:sp>
          <p:nvSpPr>
            <p:cNvPr name="Freeform 21" id="21"/>
            <p:cNvSpPr/>
            <p:nvPr/>
          </p:nvSpPr>
          <p:spPr>
            <a:xfrm flipH="false" flipV="false" rot="0">
              <a:off x="0" y="0"/>
              <a:ext cx="3572510" cy="1154430"/>
            </a:xfrm>
            <a:custGeom>
              <a:avLst/>
              <a:gdLst/>
              <a:ahLst/>
              <a:cxnLst/>
              <a:rect r="r" b="b" t="t" l="l"/>
              <a:pathLst>
                <a:path h="1154430" w="3572510">
                  <a:moveTo>
                    <a:pt x="0" y="0"/>
                  </a:moveTo>
                  <a:lnTo>
                    <a:pt x="3572510" y="0"/>
                  </a:lnTo>
                  <a:lnTo>
                    <a:pt x="3572510" y="1154430"/>
                  </a:lnTo>
                  <a:lnTo>
                    <a:pt x="0" y="1154430"/>
                  </a:lnTo>
                  <a:lnTo>
                    <a:pt x="0" y="0"/>
                  </a:lnTo>
                  <a:close/>
                </a:path>
              </a:pathLst>
            </a:custGeom>
            <a:blipFill>
              <a:blip r:embed="rId10"/>
              <a:stretch>
                <a:fillRect l="-21110" t="-147255" r="-22761" b="-197973"/>
              </a:stretch>
            </a:blipFill>
          </p:spPr>
          <p:txBody>
            <a:bodyPr/>
            <a:p/>
          </p:txBody>
        </p:sp>
      </p:grpSp>
      <p:grpSp>
        <p:nvGrpSpPr>
          <p:cNvPr name="Group 22" id="22"/>
          <p:cNvGrpSpPr/>
          <p:nvPr/>
        </p:nvGrpSpPr>
        <p:grpSpPr>
          <a:xfrm rot="0">
            <a:off x="13438937" y="685800"/>
            <a:ext cx="4048963" cy="370332"/>
            <a:chOff x="0" y="0"/>
            <a:chExt cx="5398618" cy="493776"/>
          </a:xfrm>
        </p:grpSpPr>
        <p:sp>
          <p:nvSpPr>
            <p:cNvPr name="Freeform 23" id="23"/>
            <p:cNvSpPr/>
            <p:nvPr/>
          </p:nvSpPr>
          <p:spPr>
            <a:xfrm flipH="false" flipV="false" rot="0">
              <a:off x="0" y="0"/>
              <a:ext cx="5398643" cy="493776"/>
            </a:xfrm>
            <a:custGeom>
              <a:avLst/>
              <a:gdLst/>
              <a:ahLst/>
              <a:cxnLst/>
              <a:rect r="r" b="b" t="t" l="l"/>
              <a:pathLst>
                <a:path h="493776" w="5398643">
                  <a:moveTo>
                    <a:pt x="0" y="246888"/>
                  </a:moveTo>
                  <a:cubicBezTo>
                    <a:pt x="0" y="110490"/>
                    <a:pt x="110490" y="0"/>
                    <a:pt x="246888" y="0"/>
                  </a:cubicBezTo>
                  <a:lnTo>
                    <a:pt x="5151755" y="0"/>
                  </a:lnTo>
                  <a:cubicBezTo>
                    <a:pt x="5288153" y="0"/>
                    <a:pt x="5398643" y="110490"/>
                    <a:pt x="5398643" y="246888"/>
                  </a:cubicBezTo>
                  <a:cubicBezTo>
                    <a:pt x="5398643" y="383286"/>
                    <a:pt x="5288153" y="493776"/>
                    <a:pt x="5151755" y="493776"/>
                  </a:cubicBezTo>
                  <a:lnTo>
                    <a:pt x="246888" y="493776"/>
                  </a:lnTo>
                  <a:cubicBezTo>
                    <a:pt x="110490" y="493776"/>
                    <a:pt x="0" y="383286"/>
                    <a:pt x="0" y="246888"/>
                  </a:cubicBezTo>
                  <a:close/>
                </a:path>
              </a:pathLst>
            </a:custGeom>
            <a:solidFill>
              <a:srgbClr val="FEF3C7"/>
            </a:solidFill>
          </p:spPr>
          <p:txBody>
            <a:bodyPr/>
            <a:p/>
          </p:txBody>
        </p:sp>
        <p:sp>
          <p:nvSpPr>
            <p:cNvPr name="TextBox 24" id="24"/>
            <p:cNvSpPr txBox="true"/>
            <p:nvPr/>
          </p:nvSpPr>
          <p:spPr>
            <a:xfrm>
              <a:off x="0" y="0"/>
              <a:ext cx="5398618" cy="493776"/>
            </a:xfrm>
            <a:prstGeom prst="rect">
              <a:avLst/>
            </a:prstGeom>
          </p:spPr>
          <p:txBody>
            <a:bodyPr anchor="ctr" rtlCol="false" tIns="50800" lIns="50800" bIns="50800" rIns="50800"/>
            <a:lstStyle/>
            <a:p>
              <a:pPr algn="ctr">
                <a:lnSpc>
                  <a:spcPts val="1350"/>
                </a:lnSpc>
              </a:pPr>
              <a:r>
                <a:rPr lang="en-US" sz="1125" b="true">
                  <a:solidFill>
                    <a:srgbClr val="B45309"/>
                  </a:solidFill>
                  <a:latin typeface="DM Sans Bold"/>
                  <a:ea typeface="DM Sans Bold"/>
                  <a:cs typeface="DM Sans Bold"/>
                  <a:sym typeface="DM Sans Bold"/>
                </a:rPr>
                <a:t>DESIGNED · CAD VERIFIED · NOT YET BUILT</a:t>
              </a:r>
            </a:p>
          </p:txBody>
        </p:sp>
      </p:grpSp>
      <p:grpSp>
        <p:nvGrpSpPr>
          <p:cNvPr name="Group 25" id="25"/>
          <p:cNvGrpSpPr/>
          <p:nvPr/>
        </p:nvGrpSpPr>
        <p:grpSpPr>
          <a:xfrm rot="0">
            <a:off x="809244" y="1455068"/>
            <a:ext cx="8119872" cy="5813231"/>
            <a:chOff x="0" y="0"/>
            <a:chExt cx="10826496" cy="7750975"/>
          </a:xfrm>
        </p:grpSpPr>
        <p:sp>
          <p:nvSpPr>
            <p:cNvPr name="Freeform 26" id="26" descr="fig_cad.png"/>
            <p:cNvSpPr/>
            <p:nvPr/>
          </p:nvSpPr>
          <p:spPr>
            <a:xfrm flipH="false" flipV="false" rot="0">
              <a:off x="0" y="0"/>
              <a:ext cx="10826496" cy="7750937"/>
            </a:xfrm>
            <a:custGeom>
              <a:avLst/>
              <a:gdLst/>
              <a:ahLst/>
              <a:cxnLst/>
              <a:rect r="r" b="b" t="t" l="l"/>
              <a:pathLst>
                <a:path h="7750937" w="10826496">
                  <a:moveTo>
                    <a:pt x="0" y="0"/>
                  </a:moveTo>
                  <a:lnTo>
                    <a:pt x="10826496" y="0"/>
                  </a:lnTo>
                  <a:lnTo>
                    <a:pt x="10826496" y="7750937"/>
                  </a:lnTo>
                  <a:lnTo>
                    <a:pt x="0" y="7750937"/>
                  </a:lnTo>
                  <a:lnTo>
                    <a:pt x="0" y="0"/>
                  </a:lnTo>
                  <a:close/>
                </a:path>
              </a:pathLst>
            </a:custGeom>
            <a:blipFill>
              <a:blip r:embed="rId11"/>
              <a:stretch>
                <a:fillRect l="0" t="0" r="0" b="0"/>
              </a:stretch>
            </a:blipFill>
          </p:spPr>
          <p:txBody>
            <a:bodyPr/>
            <a:p/>
          </p:txBody>
        </p:sp>
      </p:grpSp>
      <p:graphicFrame>
        <p:nvGraphicFramePr>
          <p:cNvPr name="Table 27" id="27"/>
          <p:cNvGraphicFramePr>
            <a:graphicFrameLocks noGrp="true"/>
          </p:cNvGraphicFramePr>
          <p:nvPr/>
        </p:nvGraphicFramePr>
        <p:xfrm>
          <a:off x="9669780" y="2276856"/>
          <a:ext cx="7486650" cy="4876800"/>
        </p:xfrm>
        <a:graphic>
          <a:graphicData uri="http://schemas.openxmlformats.org/drawingml/2006/table">
            <a:tbl>
              <a:tblPr/>
              <a:tblGrid>
                <a:gridCol w="1700260"/>
                <a:gridCol w="3796934"/>
                <a:gridCol w="1989456"/>
              </a:tblGrid>
              <a:tr h="622262">
                <a:tc>
                  <a:txBody>
                    <a:bodyPr anchor="t" rtlCol="false"/>
                    <a:lstStyle/>
                    <a:p>
                      <a:pPr algn="l">
                        <a:lnSpc>
                          <a:spcPts val="1620"/>
                        </a:lnSpc>
                        <a:defRPr/>
                      </a:pPr>
                      <a:r>
                        <a:rPr lang="en-US" sz="1350" b="true">
                          <a:solidFill>
                            <a:srgbClr val="0F172A"/>
                          </a:solidFill>
                          <a:latin typeface="DM Sans Bold"/>
                          <a:ea typeface="DM Sans Bold"/>
                          <a:cs typeface="DM Sans Bold"/>
                          <a:sym typeface="DM Sans Bold"/>
                        </a:rPr>
                        <a:t>Check</a:t>
                      </a:r>
                      <a:endParaRPr lang="en-US" sz="1100"/>
                    </a:p>
                  </a:txBody>
                  <a:tcPr marL="36576" marR="36576" marT="36576" marB="36576" anchor="ctr">
                    <a:lnL cmpd="sng" algn="ctr" cap="flat" w="12700">
                      <a:solidFill>
                        <a:srgbClr val="000000"/>
                      </a:solidFill>
                      <a:prstDash val="solid"/>
                      <a:round/>
                      <a:headEnd type="none" w="med" len="med"/>
                      <a:tailEnd type="none" w="med" len="med"/>
                    </a:lnL>
                    <a:lnR cmpd="sng" algn="ctr" cap="flat" w="12700">
                      <a:solidFill>
                        <a:srgbClr val="000000"/>
                      </a:solidFill>
                      <a:prstDash val="solid"/>
                      <a:round/>
                      <a:headEnd type="none" w="med" len="med"/>
                      <a:tailEnd type="none" w="med" len="med"/>
                    </a:lnR>
                    <a:lnT cmpd="sng" algn="ctr" cap="flat" w="12700">
                      <a:solidFill>
                        <a:srgbClr val="000000"/>
                      </a:solidFill>
                      <a:prstDash val="solid"/>
                      <a:round/>
                      <a:headEnd type="none" w="med" len="med"/>
                      <a:tailEnd type="none" w="med" len="med"/>
                    </a:lnT>
                    <a:lnB cmpd="sng" algn="ctr" cap="flat" w="12700">
                      <a:solidFill>
                        <a:srgbClr val="CBD5E1"/>
                      </a:solidFill>
                      <a:prstDash val="solid"/>
                      <a:round/>
                      <a:headEnd type="none" w="med" len="med"/>
                      <a:tailEnd type="none" w="med" len="med"/>
                    </a:lnB>
                  </a:tcPr>
                </a:tc>
                <a:tc>
                  <a:txBody>
                    <a:bodyPr anchor="t" rtlCol="false"/>
                    <a:lstStyle/>
                    <a:p>
                      <a:pPr algn="l">
                        <a:lnSpc>
                          <a:spcPts val="1620"/>
                        </a:lnSpc>
                        <a:defRPr/>
                      </a:pPr>
                      <a:r>
                        <a:rPr lang="en-US" sz="1350" b="true">
                          <a:solidFill>
                            <a:srgbClr val="0F172A"/>
                          </a:solidFill>
                          <a:latin typeface="DM Sans Bold"/>
                          <a:ea typeface="DM Sans Bold"/>
                          <a:cs typeface="DM Sans Bold"/>
                          <a:sym typeface="DM Sans Bold"/>
                        </a:rPr>
                        <a:t>Result</a:t>
                      </a:r>
                      <a:endParaRPr lang="en-US" sz="1100"/>
                    </a:p>
                  </a:txBody>
                  <a:tcPr marL="36576" marR="36576" marT="36576" marB="36576" anchor="ctr">
                    <a:lnL cmpd="sng" algn="ctr" cap="flat" w="12700">
                      <a:solidFill>
                        <a:srgbClr val="000000"/>
                      </a:solidFill>
                      <a:prstDash val="solid"/>
                      <a:round/>
                      <a:headEnd type="none" w="med" len="med"/>
                      <a:tailEnd type="none" w="med" len="med"/>
                    </a:lnL>
                    <a:lnR cmpd="sng" algn="ctr" cap="flat" w="12700">
                      <a:solidFill>
                        <a:srgbClr val="000000"/>
                      </a:solidFill>
                      <a:prstDash val="solid"/>
                      <a:round/>
                      <a:headEnd type="none" w="med" len="med"/>
                      <a:tailEnd type="none" w="med" len="med"/>
                    </a:lnR>
                    <a:lnT cmpd="sng" algn="ctr" cap="flat" w="12700">
                      <a:solidFill>
                        <a:srgbClr val="000000"/>
                      </a:solidFill>
                      <a:prstDash val="solid"/>
                      <a:round/>
                      <a:headEnd type="none" w="med" len="med"/>
                      <a:tailEnd type="none" w="med" len="med"/>
                    </a:lnT>
                    <a:lnB cmpd="sng" algn="ctr" cap="flat" w="12700">
                      <a:solidFill>
                        <a:srgbClr val="CBD5E1"/>
                      </a:solidFill>
                      <a:prstDash val="solid"/>
                      <a:round/>
                      <a:headEnd type="none" w="med" len="med"/>
                      <a:tailEnd type="none" w="med" len="med"/>
                    </a:lnB>
                  </a:tcPr>
                </a:tc>
                <a:tc>
                  <a:txBody>
                    <a:bodyPr anchor="t" rtlCol="false"/>
                    <a:lstStyle/>
                    <a:p>
                      <a:pPr algn="l">
                        <a:lnSpc>
                          <a:spcPts val="1620"/>
                        </a:lnSpc>
                        <a:defRPr/>
                      </a:pPr>
                      <a:r>
                        <a:rPr lang="en-US" sz="1350" b="true">
                          <a:solidFill>
                            <a:srgbClr val="0F172A"/>
                          </a:solidFill>
                          <a:latin typeface="DM Sans Bold"/>
                          <a:ea typeface="DM Sans Bold"/>
                          <a:cs typeface="DM Sans Bold"/>
                          <a:sym typeface="DM Sans Bold"/>
                        </a:rPr>
                        <a:t>Basis</a:t>
                      </a:r>
                      <a:endParaRPr lang="en-US" sz="1100"/>
                    </a:p>
                  </a:txBody>
                  <a:tcPr marL="36576" marR="36576" marT="36576" marB="36576" anchor="ctr">
                    <a:lnL cmpd="sng" algn="ctr" cap="flat" w="12700">
                      <a:solidFill>
                        <a:srgbClr val="000000"/>
                      </a:solidFill>
                      <a:prstDash val="solid"/>
                      <a:round/>
                      <a:headEnd type="none" w="med" len="med"/>
                      <a:tailEnd type="none" w="med" len="med"/>
                    </a:lnL>
                    <a:lnR cmpd="sng" algn="ctr" cap="flat" w="12700">
                      <a:solidFill>
                        <a:srgbClr val="000000"/>
                      </a:solidFill>
                      <a:prstDash val="solid"/>
                      <a:round/>
                      <a:headEnd type="none" w="med" len="med"/>
                      <a:tailEnd type="none" w="med" len="med"/>
                    </a:lnR>
                    <a:lnT cmpd="sng" algn="ctr" cap="flat" w="12700">
                      <a:solidFill>
                        <a:srgbClr val="000000"/>
                      </a:solidFill>
                      <a:prstDash val="solid"/>
                      <a:round/>
                      <a:headEnd type="none" w="med" len="med"/>
                      <a:tailEnd type="none" w="med" len="med"/>
                    </a:lnT>
                    <a:lnB cmpd="sng" algn="ctr" cap="flat" w="12700">
                      <a:solidFill>
                        <a:srgbClr val="CBD5E1"/>
                      </a:solidFill>
                      <a:prstDash val="solid"/>
                      <a:round/>
                      <a:headEnd type="none" w="med" len="med"/>
                      <a:tailEnd type="none" w="med" len="med"/>
                    </a:lnB>
                  </a:tcPr>
                </a:tc>
              </a:tr>
              <a:tr h="607791">
                <a:tc>
                  <a:txBody>
                    <a:bodyPr anchor="t" rtlCol="false"/>
                    <a:lstStyle/>
                    <a:p>
                      <a:pPr algn="l">
                        <a:lnSpc>
                          <a:spcPts val="1764"/>
                        </a:lnSpc>
                        <a:defRPr/>
                      </a:pPr>
                      <a:r>
                        <a:rPr lang="en-US" sz="1470" b="true">
                          <a:solidFill>
                            <a:srgbClr val="0F172A"/>
                          </a:solidFill>
                          <a:latin typeface="DM Sans Bold"/>
                          <a:ea typeface="DM Sans Bold"/>
                          <a:cs typeface="DM Sans Bold"/>
                          <a:sym typeface="DM Sans Bold"/>
                        </a:rPr>
                        <a:t>Materials</a:t>
                      </a:r>
                      <a:endParaRPr lang="en-US" sz="1100"/>
                    </a:p>
                  </a:txBody>
                  <a:tcPr marL="36576" marR="36576" marT="36576" marB="36576" anchor="ctr">
                    <a:lnL cmpd="sng" algn="ctr" cap="flat" w="7620">
                      <a:solidFill>
                        <a:srgbClr val="000000"/>
                      </a:solidFill>
                      <a:prstDash val="solid"/>
                      <a:round/>
                      <a:headEnd type="none" w="med" len="med"/>
                      <a:tailEnd type="none" w="med" len="med"/>
                    </a:lnL>
                    <a:lnR cmpd="sng" algn="ctr" cap="flat" w="7620">
                      <a:solidFill>
                        <a:srgbClr val="000000"/>
                      </a:solidFill>
                      <a:prstDash val="solid"/>
                      <a:round/>
                      <a:headEnd type="none" w="med" len="med"/>
                      <a:tailEnd type="none" w="med" len="med"/>
                    </a:lnR>
                    <a:lnT cmpd="sng" algn="ctr" cap="flat" w="7620">
                      <a:solidFill>
                        <a:srgbClr val="000000"/>
                      </a:solidFill>
                      <a:prstDash val="solid"/>
                      <a:round/>
                      <a:headEnd type="none" w="med" len="med"/>
                      <a:tailEnd type="none" w="med" len="med"/>
                    </a:lnT>
                    <a:lnB cmpd="sng" algn="ctr" cap="flat" w="7620">
                      <a:solidFill>
                        <a:srgbClr val="E2E8F0"/>
                      </a:solidFill>
                      <a:prstDash val="solid"/>
                      <a:round/>
                      <a:headEnd type="none" w="med" len="med"/>
                      <a:tailEnd type="none" w="med" len="med"/>
                    </a:lnB>
                  </a:tcPr>
                </a:tc>
                <a:tc>
                  <a:txBody>
                    <a:bodyPr anchor="t" rtlCol="false"/>
                    <a:lstStyle/>
                    <a:p>
                      <a:pPr algn="l">
                        <a:lnSpc>
                          <a:spcPts val="1764"/>
                        </a:lnSpc>
                        <a:defRPr/>
                      </a:pPr>
                      <a:r>
                        <a:rPr lang="en-US" sz="1470">
                          <a:solidFill>
                            <a:srgbClr val="334155"/>
                          </a:solidFill>
                          <a:latin typeface="DM Sans"/>
                          <a:ea typeface="DM Sans"/>
                          <a:cs typeface="DM Sans"/>
                          <a:sym typeface="DM Sans"/>
                        </a:rPr>
                        <a:t>polyimide strip · PETG clamp · acrylic rig</a:t>
                      </a:r>
                      <a:endParaRPr lang="en-US" sz="1100"/>
                    </a:p>
                  </a:txBody>
                  <a:tcPr marL="36576" marR="36576" marT="36576" marB="36576" anchor="ctr">
                    <a:lnL cmpd="sng" algn="ctr" cap="flat" w="7620">
                      <a:solidFill>
                        <a:srgbClr val="000000"/>
                      </a:solidFill>
                      <a:prstDash val="solid"/>
                      <a:round/>
                      <a:headEnd type="none" w="med" len="med"/>
                      <a:tailEnd type="none" w="med" len="med"/>
                    </a:lnL>
                    <a:lnR cmpd="sng" algn="ctr" cap="flat" w="7620">
                      <a:solidFill>
                        <a:srgbClr val="000000"/>
                      </a:solidFill>
                      <a:prstDash val="solid"/>
                      <a:round/>
                      <a:headEnd type="none" w="med" len="med"/>
                      <a:tailEnd type="none" w="med" len="med"/>
                    </a:lnR>
                    <a:lnT cmpd="sng" algn="ctr" cap="flat" w="7620">
                      <a:solidFill>
                        <a:srgbClr val="000000"/>
                      </a:solidFill>
                      <a:prstDash val="solid"/>
                      <a:round/>
                      <a:headEnd type="none" w="med" len="med"/>
                      <a:tailEnd type="none" w="med" len="med"/>
                    </a:lnT>
                    <a:lnB cmpd="sng" algn="ctr" cap="flat" w="7620">
                      <a:solidFill>
                        <a:srgbClr val="E2E8F0"/>
                      </a:solidFill>
                      <a:prstDash val="solid"/>
                      <a:round/>
                      <a:headEnd type="none" w="med" len="med"/>
                      <a:tailEnd type="none" w="med" len="med"/>
                    </a:lnB>
                  </a:tcPr>
                </a:tc>
                <a:tc>
                  <a:txBody>
                    <a:bodyPr anchor="t" rtlCol="false"/>
                    <a:lstStyle/>
                    <a:p>
                      <a:pPr algn="l">
                        <a:lnSpc>
                          <a:spcPts val="1764"/>
                        </a:lnSpc>
                        <a:defRPr/>
                      </a:pPr>
                      <a:r>
                        <a:rPr lang="en-US" sz="1470">
                          <a:solidFill>
                            <a:srgbClr val="334155"/>
                          </a:solidFill>
                          <a:latin typeface="DM Sans"/>
                          <a:ea typeface="DM Sans"/>
                          <a:cs typeface="DM Sans"/>
                          <a:sym typeface="DM Sans"/>
                        </a:rPr>
                        <a:t>printable, laser-cut</a:t>
                      </a:r>
                      <a:endParaRPr lang="en-US" sz="1100"/>
                    </a:p>
                  </a:txBody>
                  <a:tcPr marL="36576" marR="36576" marT="36576" marB="36576" anchor="ctr">
                    <a:lnL cmpd="sng" algn="ctr" cap="flat" w="7620">
                      <a:solidFill>
                        <a:srgbClr val="000000"/>
                      </a:solidFill>
                      <a:prstDash val="solid"/>
                      <a:round/>
                      <a:headEnd type="none" w="med" len="med"/>
                      <a:tailEnd type="none" w="med" len="med"/>
                    </a:lnL>
                    <a:lnR cmpd="sng" algn="ctr" cap="flat" w="7620">
                      <a:solidFill>
                        <a:srgbClr val="000000"/>
                      </a:solidFill>
                      <a:prstDash val="solid"/>
                      <a:round/>
                      <a:headEnd type="none" w="med" len="med"/>
                      <a:tailEnd type="none" w="med" len="med"/>
                    </a:lnR>
                    <a:lnT cmpd="sng" algn="ctr" cap="flat" w="7620">
                      <a:solidFill>
                        <a:srgbClr val="000000"/>
                      </a:solidFill>
                      <a:prstDash val="solid"/>
                      <a:round/>
                      <a:headEnd type="none" w="med" len="med"/>
                      <a:tailEnd type="none" w="med" len="med"/>
                    </a:lnT>
                    <a:lnB cmpd="sng" algn="ctr" cap="flat" w="7620">
                      <a:solidFill>
                        <a:srgbClr val="E2E8F0"/>
                      </a:solidFill>
                      <a:prstDash val="solid"/>
                      <a:round/>
                      <a:headEnd type="none" w="med" len="med"/>
                      <a:tailEnd type="none" w="med" len="med"/>
                    </a:lnB>
                  </a:tcPr>
                </a:tc>
              </a:tr>
              <a:tr h="607791">
                <a:tc>
                  <a:txBody>
                    <a:bodyPr anchor="t" rtlCol="false"/>
                    <a:lstStyle/>
                    <a:p>
                      <a:pPr algn="l">
                        <a:lnSpc>
                          <a:spcPts val="1764"/>
                        </a:lnSpc>
                        <a:defRPr/>
                      </a:pPr>
                      <a:r>
                        <a:rPr lang="en-US" sz="1470" b="true">
                          <a:solidFill>
                            <a:srgbClr val="0F172A"/>
                          </a:solidFill>
                          <a:latin typeface="DM Sans Bold"/>
                          <a:ea typeface="DM Sans Bold"/>
                          <a:cs typeface="DM Sans Bold"/>
                          <a:sym typeface="DM Sans Bold"/>
                        </a:rPr>
                        <a:t>Pin force</a:t>
                      </a:r>
                      <a:endParaRPr lang="en-US" sz="1100"/>
                    </a:p>
                  </a:txBody>
                  <a:tcPr marL="36576" marR="36576" marT="36576" marB="36576" anchor="ctr">
                    <a:lnL cmpd="sng" algn="ctr" cap="flat" w="7620">
                      <a:solidFill>
                        <a:srgbClr val="000000"/>
                      </a:solidFill>
                      <a:prstDash val="solid"/>
                      <a:round/>
                      <a:headEnd type="none" w="med" len="med"/>
                      <a:tailEnd type="none" w="med" len="med"/>
                    </a:lnL>
                    <a:lnR cmpd="sng" algn="ctr" cap="flat" w="7620">
                      <a:solidFill>
                        <a:srgbClr val="000000"/>
                      </a:solidFill>
                      <a:prstDash val="solid"/>
                      <a:round/>
                      <a:headEnd type="none" w="med" len="med"/>
                      <a:tailEnd type="none" w="med" len="med"/>
                    </a:lnR>
                    <a:lnT cmpd="sng" algn="ctr" cap="flat" w="7620">
                      <a:solidFill>
                        <a:srgbClr val="000000"/>
                      </a:solidFill>
                      <a:prstDash val="solid"/>
                      <a:round/>
                      <a:headEnd type="none" w="med" len="med"/>
                      <a:tailEnd type="none" w="med" len="med"/>
                    </a:lnT>
                    <a:lnB cmpd="sng" algn="ctr" cap="flat" w="7620">
                      <a:solidFill>
                        <a:srgbClr val="E2E8F0"/>
                      </a:solidFill>
                      <a:prstDash val="solid"/>
                      <a:round/>
                      <a:headEnd type="none" w="med" len="med"/>
                      <a:tailEnd type="none" w="med" len="med"/>
                    </a:lnB>
                  </a:tcPr>
                </a:tc>
                <a:tc>
                  <a:txBody>
                    <a:bodyPr anchor="t" rtlCol="false"/>
                    <a:lstStyle/>
                    <a:p>
                      <a:pPr algn="l">
                        <a:lnSpc>
                          <a:spcPts val="1764"/>
                        </a:lnSpc>
                        <a:defRPr/>
                      </a:pPr>
                      <a:r>
                        <a:rPr lang="en-US" sz="1470">
                          <a:solidFill>
                            <a:srgbClr val="334155"/>
                          </a:solidFill>
                          <a:latin typeface="DM Sans"/>
                          <a:ea typeface="DM Sans"/>
                          <a:cs typeface="DM Sans"/>
                          <a:sym typeface="DM Sans"/>
                        </a:rPr>
                        <a:t>0.72 N each · 2.9 N total</a:t>
                      </a:r>
                      <a:endParaRPr lang="en-US" sz="1100"/>
                    </a:p>
                  </a:txBody>
                  <a:tcPr marL="36576" marR="36576" marT="36576" marB="36576" anchor="ctr">
                    <a:lnL cmpd="sng" algn="ctr" cap="flat" w="7620">
                      <a:solidFill>
                        <a:srgbClr val="000000"/>
                      </a:solidFill>
                      <a:prstDash val="solid"/>
                      <a:round/>
                      <a:headEnd type="none" w="med" len="med"/>
                      <a:tailEnd type="none" w="med" len="med"/>
                    </a:lnL>
                    <a:lnR cmpd="sng" algn="ctr" cap="flat" w="7620">
                      <a:solidFill>
                        <a:srgbClr val="000000"/>
                      </a:solidFill>
                      <a:prstDash val="solid"/>
                      <a:round/>
                      <a:headEnd type="none" w="med" len="med"/>
                      <a:tailEnd type="none" w="med" len="med"/>
                    </a:lnR>
                    <a:lnT cmpd="sng" algn="ctr" cap="flat" w="7620">
                      <a:solidFill>
                        <a:srgbClr val="000000"/>
                      </a:solidFill>
                      <a:prstDash val="solid"/>
                      <a:round/>
                      <a:headEnd type="none" w="med" len="med"/>
                      <a:tailEnd type="none" w="med" len="med"/>
                    </a:lnT>
                    <a:lnB cmpd="sng" algn="ctr" cap="flat" w="7620">
                      <a:solidFill>
                        <a:srgbClr val="E2E8F0"/>
                      </a:solidFill>
                      <a:prstDash val="solid"/>
                      <a:round/>
                      <a:headEnd type="none" w="med" len="med"/>
                      <a:tailEnd type="none" w="med" len="med"/>
                    </a:lnB>
                  </a:tcPr>
                </a:tc>
                <a:tc>
                  <a:txBody>
                    <a:bodyPr anchor="t" rtlCol="false"/>
                    <a:lstStyle/>
                    <a:p>
                      <a:pPr algn="l">
                        <a:lnSpc>
                          <a:spcPts val="1764"/>
                        </a:lnSpc>
                        <a:defRPr/>
                      </a:pPr>
                      <a:r>
                        <a:rPr lang="en-US" sz="1470">
                          <a:solidFill>
                            <a:srgbClr val="334155"/>
                          </a:solidFill>
                          <a:latin typeface="DM Sans"/>
                          <a:ea typeface="DM Sans"/>
                          <a:cs typeface="DM Sans"/>
                          <a:sym typeface="DM Sans"/>
                        </a:rPr>
                        <a:t>calc</a:t>
                      </a:r>
                      <a:endParaRPr lang="en-US" sz="1100"/>
                    </a:p>
                  </a:txBody>
                  <a:tcPr marL="36576" marR="36576" marT="36576" marB="36576" anchor="ctr">
                    <a:lnL cmpd="sng" algn="ctr" cap="flat" w="7620">
                      <a:solidFill>
                        <a:srgbClr val="000000"/>
                      </a:solidFill>
                      <a:prstDash val="solid"/>
                      <a:round/>
                      <a:headEnd type="none" w="med" len="med"/>
                      <a:tailEnd type="none" w="med" len="med"/>
                    </a:lnL>
                    <a:lnR cmpd="sng" algn="ctr" cap="flat" w="7620">
                      <a:solidFill>
                        <a:srgbClr val="000000"/>
                      </a:solidFill>
                      <a:prstDash val="solid"/>
                      <a:round/>
                      <a:headEnd type="none" w="med" len="med"/>
                      <a:tailEnd type="none" w="med" len="med"/>
                    </a:lnR>
                    <a:lnT cmpd="sng" algn="ctr" cap="flat" w="7620">
                      <a:solidFill>
                        <a:srgbClr val="000000"/>
                      </a:solidFill>
                      <a:prstDash val="solid"/>
                      <a:round/>
                      <a:headEnd type="none" w="med" len="med"/>
                      <a:tailEnd type="none" w="med" len="med"/>
                    </a:lnT>
                    <a:lnB cmpd="sng" algn="ctr" cap="flat" w="7620">
                      <a:solidFill>
                        <a:srgbClr val="E2E8F0"/>
                      </a:solidFill>
                      <a:prstDash val="solid"/>
                      <a:round/>
                      <a:headEnd type="none" w="med" len="med"/>
                      <a:tailEnd type="none" w="med" len="med"/>
                    </a:lnB>
                  </a:tcPr>
                </a:tc>
              </a:tr>
              <a:tr h="607791">
                <a:tc>
                  <a:txBody>
                    <a:bodyPr anchor="t" rtlCol="false"/>
                    <a:lstStyle/>
                    <a:p>
                      <a:pPr algn="l">
                        <a:lnSpc>
                          <a:spcPts val="1764"/>
                        </a:lnSpc>
                        <a:defRPr/>
                      </a:pPr>
                      <a:r>
                        <a:rPr lang="en-US" sz="1470" b="true">
                          <a:solidFill>
                            <a:srgbClr val="0F172A"/>
                          </a:solidFill>
                          <a:latin typeface="DM Sans Bold"/>
                          <a:ea typeface="DM Sans Bold"/>
                          <a:cs typeface="DM Sans Bold"/>
                          <a:sym typeface="DM Sans Bold"/>
                        </a:rPr>
                        <a:t>Lid bending</a:t>
                      </a:r>
                      <a:endParaRPr lang="en-US" sz="1100"/>
                    </a:p>
                  </a:txBody>
                  <a:tcPr marL="36576" marR="36576" marT="36576" marB="36576" anchor="ctr">
                    <a:lnL cmpd="sng" algn="ctr" cap="flat" w="7620">
                      <a:solidFill>
                        <a:srgbClr val="000000"/>
                      </a:solidFill>
                      <a:prstDash val="solid"/>
                      <a:round/>
                      <a:headEnd type="none" w="med" len="med"/>
                      <a:tailEnd type="none" w="med" len="med"/>
                    </a:lnL>
                    <a:lnR cmpd="sng" algn="ctr" cap="flat" w="7620">
                      <a:solidFill>
                        <a:srgbClr val="000000"/>
                      </a:solidFill>
                      <a:prstDash val="solid"/>
                      <a:round/>
                      <a:headEnd type="none" w="med" len="med"/>
                      <a:tailEnd type="none" w="med" len="med"/>
                    </a:lnR>
                    <a:lnT cmpd="sng" algn="ctr" cap="flat" w="7620">
                      <a:solidFill>
                        <a:srgbClr val="000000"/>
                      </a:solidFill>
                      <a:prstDash val="solid"/>
                      <a:round/>
                      <a:headEnd type="none" w="med" len="med"/>
                      <a:tailEnd type="none" w="med" len="med"/>
                    </a:lnT>
                    <a:lnB cmpd="sng" algn="ctr" cap="flat" w="7620">
                      <a:solidFill>
                        <a:srgbClr val="E2E8F0"/>
                      </a:solidFill>
                      <a:prstDash val="solid"/>
                      <a:round/>
                      <a:headEnd type="none" w="med" len="med"/>
                      <a:tailEnd type="none" w="med" len="med"/>
                    </a:lnB>
                  </a:tcPr>
                </a:tc>
                <a:tc>
                  <a:txBody>
                    <a:bodyPr anchor="t" rtlCol="false"/>
                    <a:lstStyle/>
                    <a:p>
                      <a:pPr algn="l">
                        <a:lnSpc>
                          <a:spcPts val="1764"/>
                        </a:lnSpc>
                        <a:defRPr/>
                      </a:pPr>
                      <a:r>
                        <a:rPr lang="en-US" sz="1470">
                          <a:solidFill>
                            <a:srgbClr val="334155"/>
                          </a:solidFill>
                          <a:latin typeface="DM Sans"/>
                          <a:ea typeface="DM Sans"/>
                          <a:cs typeface="DM Sans"/>
                          <a:sym typeface="DM Sans"/>
                        </a:rPr>
                        <a:t>11 µm vs 1.48 mm pin travel</a:t>
                      </a:r>
                      <a:endParaRPr lang="en-US" sz="1100"/>
                    </a:p>
                  </a:txBody>
                  <a:tcPr marL="36576" marR="36576" marT="36576" marB="36576" anchor="ctr">
                    <a:lnL cmpd="sng" algn="ctr" cap="flat" w="7620">
                      <a:solidFill>
                        <a:srgbClr val="000000"/>
                      </a:solidFill>
                      <a:prstDash val="solid"/>
                      <a:round/>
                      <a:headEnd type="none" w="med" len="med"/>
                      <a:tailEnd type="none" w="med" len="med"/>
                    </a:lnL>
                    <a:lnR cmpd="sng" algn="ctr" cap="flat" w="7620">
                      <a:solidFill>
                        <a:srgbClr val="000000"/>
                      </a:solidFill>
                      <a:prstDash val="solid"/>
                      <a:round/>
                      <a:headEnd type="none" w="med" len="med"/>
                      <a:tailEnd type="none" w="med" len="med"/>
                    </a:lnR>
                    <a:lnT cmpd="sng" algn="ctr" cap="flat" w="7620">
                      <a:solidFill>
                        <a:srgbClr val="000000"/>
                      </a:solidFill>
                      <a:prstDash val="solid"/>
                      <a:round/>
                      <a:headEnd type="none" w="med" len="med"/>
                      <a:tailEnd type="none" w="med" len="med"/>
                    </a:lnT>
                    <a:lnB cmpd="sng" algn="ctr" cap="flat" w="7620">
                      <a:solidFill>
                        <a:srgbClr val="E2E8F0"/>
                      </a:solidFill>
                      <a:prstDash val="solid"/>
                      <a:round/>
                      <a:headEnd type="none" w="med" len="med"/>
                      <a:tailEnd type="none" w="med" len="med"/>
                    </a:lnB>
                  </a:tcPr>
                </a:tc>
                <a:tc>
                  <a:txBody>
                    <a:bodyPr anchor="t" rtlCol="false"/>
                    <a:lstStyle/>
                    <a:p>
                      <a:pPr algn="l">
                        <a:lnSpc>
                          <a:spcPts val="1764"/>
                        </a:lnSpc>
                        <a:defRPr/>
                      </a:pPr>
                      <a:r>
                        <a:rPr lang="en-US" sz="1470">
                          <a:solidFill>
                            <a:srgbClr val="334155"/>
                          </a:solidFill>
                          <a:latin typeface="DM Sans"/>
                          <a:ea typeface="DM Sans"/>
                          <a:cs typeface="DM Sans"/>
                          <a:sym typeface="DM Sans"/>
                        </a:rPr>
                        <a:t>calc</a:t>
                      </a:r>
                      <a:endParaRPr lang="en-US" sz="1100"/>
                    </a:p>
                  </a:txBody>
                  <a:tcPr marL="36576" marR="36576" marT="36576" marB="36576" anchor="ctr">
                    <a:lnL cmpd="sng" algn="ctr" cap="flat" w="7620">
                      <a:solidFill>
                        <a:srgbClr val="000000"/>
                      </a:solidFill>
                      <a:prstDash val="solid"/>
                      <a:round/>
                      <a:headEnd type="none" w="med" len="med"/>
                      <a:tailEnd type="none" w="med" len="med"/>
                    </a:lnL>
                    <a:lnR cmpd="sng" algn="ctr" cap="flat" w="7620">
                      <a:solidFill>
                        <a:srgbClr val="000000"/>
                      </a:solidFill>
                      <a:prstDash val="solid"/>
                      <a:round/>
                      <a:headEnd type="none" w="med" len="med"/>
                      <a:tailEnd type="none" w="med" len="med"/>
                    </a:lnR>
                    <a:lnT cmpd="sng" algn="ctr" cap="flat" w="7620">
                      <a:solidFill>
                        <a:srgbClr val="000000"/>
                      </a:solidFill>
                      <a:prstDash val="solid"/>
                      <a:round/>
                      <a:headEnd type="none" w="med" len="med"/>
                      <a:tailEnd type="none" w="med" len="med"/>
                    </a:lnT>
                    <a:lnB cmpd="sng" algn="ctr" cap="flat" w="7620">
                      <a:solidFill>
                        <a:srgbClr val="E2E8F0"/>
                      </a:solidFill>
                      <a:prstDash val="solid"/>
                      <a:round/>
                      <a:headEnd type="none" w="med" len="med"/>
                      <a:tailEnd type="none" w="med" len="med"/>
                    </a:lnB>
                  </a:tcPr>
                </a:tc>
              </a:tr>
              <a:tr h="607791">
                <a:tc>
                  <a:txBody>
                    <a:bodyPr anchor="t" rtlCol="false"/>
                    <a:lstStyle/>
                    <a:p>
                      <a:pPr algn="l">
                        <a:lnSpc>
                          <a:spcPts val="1764"/>
                        </a:lnSpc>
                        <a:defRPr/>
                      </a:pPr>
                      <a:r>
                        <a:rPr lang="en-US" sz="1470" b="true">
                          <a:solidFill>
                            <a:srgbClr val="0F172A"/>
                          </a:solidFill>
                          <a:latin typeface="DM Sans Bold"/>
                          <a:ea typeface="DM Sans Bold"/>
                          <a:cs typeface="DM Sans Bold"/>
                          <a:sym typeface="DM Sans Bold"/>
                        </a:rPr>
                        <a:t>Alignment</a:t>
                      </a:r>
                      <a:endParaRPr lang="en-US" sz="1100"/>
                    </a:p>
                  </a:txBody>
                  <a:tcPr marL="36576" marR="36576" marT="36576" marB="36576" anchor="ctr">
                    <a:lnL cmpd="sng" algn="ctr" cap="flat" w="7620">
                      <a:solidFill>
                        <a:srgbClr val="000000"/>
                      </a:solidFill>
                      <a:prstDash val="solid"/>
                      <a:round/>
                      <a:headEnd type="none" w="med" len="med"/>
                      <a:tailEnd type="none" w="med" len="med"/>
                    </a:lnL>
                    <a:lnR cmpd="sng" algn="ctr" cap="flat" w="7620">
                      <a:solidFill>
                        <a:srgbClr val="000000"/>
                      </a:solidFill>
                      <a:prstDash val="solid"/>
                      <a:round/>
                      <a:headEnd type="none" w="med" len="med"/>
                      <a:tailEnd type="none" w="med" len="med"/>
                    </a:lnR>
                    <a:lnT cmpd="sng" algn="ctr" cap="flat" w="7620">
                      <a:solidFill>
                        <a:srgbClr val="000000"/>
                      </a:solidFill>
                      <a:prstDash val="solid"/>
                      <a:round/>
                      <a:headEnd type="none" w="med" len="med"/>
                      <a:tailEnd type="none" w="med" len="med"/>
                    </a:lnT>
                    <a:lnB cmpd="sng" algn="ctr" cap="flat" w="7620">
                      <a:solidFill>
                        <a:srgbClr val="E2E8F0"/>
                      </a:solidFill>
                      <a:prstDash val="solid"/>
                      <a:round/>
                      <a:headEnd type="none" w="med" len="med"/>
                      <a:tailEnd type="none" w="med" len="med"/>
                    </a:lnB>
                  </a:tcPr>
                </a:tc>
                <a:tc>
                  <a:txBody>
                    <a:bodyPr anchor="t" rtlCol="false"/>
                    <a:lstStyle/>
                    <a:p>
                      <a:pPr algn="l">
                        <a:lnSpc>
                          <a:spcPts val="1764"/>
                        </a:lnSpc>
                        <a:defRPr/>
                      </a:pPr>
                      <a:r>
                        <a:rPr lang="en-US" sz="1470">
                          <a:solidFill>
                            <a:srgbClr val="334155"/>
                          </a:solidFill>
                          <a:latin typeface="DM Sans"/>
                          <a:ea typeface="DM Sans"/>
                          <a:cs typeface="DM Sans"/>
                          <a:sym typeface="DM Sans"/>
                        </a:rPr>
                        <a:t>0.49 mm used of ±1.35 mm</a:t>
                      </a:r>
                      <a:endParaRPr lang="en-US" sz="1100"/>
                    </a:p>
                  </a:txBody>
                  <a:tcPr marL="36576" marR="36576" marT="36576" marB="36576" anchor="ctr">
                    <a:lnL cmpd="sng" algn="ctr" cap="flat" w="7620">
                      <a:solidFill>
                        <a:srgbClr val="000000"/>
                      </a:solidFill>
                      <a:prstDash val="solid"/>
                      <a:round/>
                      <a:headEnd type="none" w="med" len="med"/>
                      <a:tailEnd type="none" w="med" len="med"/>
                    </a:lnL>
                    <a:lnR cmpd="sng" algn="ctr" cap="flat" w="7620">
                      <a:solidFill>
                        <a:srgbClr val="000000"/>
                      </a:solidFill>
                      <a:prstDash val="solid"/>
                      <a:round/>
                      <a:headEnd type="none" w="med" len="med"/>
                      <a:tailEnd type="none" w="med" len="med"/>
                    </a:lnR>
                    <a:lnT cmpd="sng" algn="ctr" cap="flat" w="7620">
                      <a:solidFill>
                        <a:srgbClr val="000000"/>
                      </a:solidFill>
                      <a:prstDash val="solid"/>
                      <a:round/>
                      <a:headEnd type="none" w="med" len="med"/>
                      <a:tailEnd type="none" w="med" len="med"/>
                    </a:lnT>
                    <a:lnB cmpd="sng" algn="ctr" cap="flat" w="7620">
                      <a:solidFill>
                        <a:srgbClr val="E2E8F0"/>
                      </a:solidFill>
                      <a:prstDash val="solid"/>
                      <a:round/>
                      <a:headEnd type="none" w="med" len="med"/>
                      <a:tailEnd type="none" w="med" len="med"/>
                    </a:lnB>
                  </a:tcPr>
                </a:tc>
                <a:tc>
                  <a:txBody>
                    <a:bodyPr anchor="t" rtlCol="false"/>
                    <a:lstStyle/>
                    <a:p>
                      <a:pPr algn="l">
                        <a:lnSpc>
                          <a:spcPts val="1764"/>
                        </a:lnSpc>
                        <a:defRPr/>
                      </a:pPr>
                      <a:r>
                        <a:rPr lang="en-US" sz="1470">
                          <a:solidFill>
                            <a:srgbClr val="334155"/>
                          </a:solidFill>
                          <a:latin typeface="DM Sans"/>
                          <a:ea typeface="DM Sans"/>
                          <a:cs typeface="DM Sans"/>
                          <a:sym typeface="DM Sans"/>
                        </a:rPr>
                        <a:t>calc · 2.8× margin</a:t>
                      </a:r>
                      <a:endParaRPr lang="en-US" sz="1100"/>
                    </a:p>
                  </a:txBody>
                  <a:tcPr marL="36576" marR="36576" marT="36576" marB="36576" anchor="ctr">
                    <a:lnL cmpd="sng" algn="ctr" cap="flat" w="7620">
                      <a:solidFill>
                        <a:srgbClr val="000000"/>
                      </a:solidFill>
                      <a:prstDash val="solid"/>
                      <a:round/>
                      <a:headEnd type="none" w="med" len="med"/>
                      <a:tailEnd type="none" w="med" len="med"/>
                    </a:lnL>
                    <a:lnR cmpd="sng" algn="ctr" cap="flat" w="7620">
                      <a:solidFill>
                        <a:srgbClr val="000000"/>
                      </a:solidFill>
                      <a:prstDash val="solid"/>
                      <a:round/>
                      <a:headEnd type="none" w="med" len="med"/>
                      <a:tailEnd type="none" w="med" len="med"/>
                    </a:lnR>
                    <a:lnT cmpd="sng" algn="ctr" cap="flat" w="7620">
                      <a:solidFill>
                        <a:srgbClr val="000000"/>
                      </a:solidFill>
                      <a:prstDash val="solid"/>
                      <a:round/>
                      <a:headEnd type="none" w="med" len="med"/>
                      <a:tailEnd type="none" w="med" len="med"/>
                    </a:lnT>
                    <a:lnB cmpd="sng" algn="ctr" cap="flat" w="7620">
                      <a:solidFill>
                        <a:srgbClr val="E2E8F0"/>
                      </a:solidFill>
                      <a:prstDash val="solid"/>
                      <a:round/>
                      <a:headEnd type="none" w="med" len="med"/>
                      <a:tailEnd type="none" w="med" len="med"/>
                    </a:lnB>
                  </a:tcPr>
                </a:tc>
              </a:tr>
              <a:tr h="607791">
                <a:tc>
                  <a:txBody>
                    <a:bodyPr anchor="t" rtlCol="false"/>
                    <a:lstStyle/>
                    <a:p>
                      <a:pPr algn="l">
                        <a:lnSpc>
                          <a:spcPts val="1764"/>
                        </a:lnSpc>
                        <a:defRPr/>
                      </a:pPr>
                      <a:r>
                        <a:rPr lang="en-US" sz="1470" b="true">
                          <a:solidFill>
                            <a:srgbClr val="0F172A"/>
                          </a:solidFill>
                          <a:latin typeface="DM Sans Bold"/>
                          <a:ea typeface="DM Sans Bold"/>
                          <a:cs typeface="DM Sans Bold"/>
                          <a:sym typeface="DM Sans Bold"/>
                        </a:rPr>
                        <a:t>Strip bending</a:t>
                      </a:r>
                      <a:endParaRPr lang="en-US" sz="1100"/>
                    </a:p>
                  </a:txBody>
                  <a:tcPr marL="36576" marR="36576" marT="36576" marB="36576" anchor="ctr">
                    <a:lnL cmpd="sng" algn="ctr" cap="flat" w="7620">
                      <a:solidFill>
                        <a:srgbClr val="000000"/>
                      </a:solidFill>
                      <a:prstDash val="solid"/>
                      <a:round/>
                      <a:headEnd type="none" w="med" len="med"/>
                      <a:tailEnd type="none" w="med" len="med"/>
                    </a:lnL>
                    <a:lnR cmpd="sng" algn="ctr" cap="flat" w="7620">
                      <a:solidFill>
                        <a:srgbClr val="000000"/>
                      </a:solidFill>
                      <a:prstDash val="solid"/>
                      <a:round/>
                      <a:headEnd type="none" w="med" len="med"/>
                      <a:tailEnd type="none" w="med" len="med"/>
                    </a:lnR>
                    <a:lnT cmpd="sng" algn="ctr" cap="flat" w="7620">
                      <a:solidFill>
                        <a:srgbClr val="000000"/>
                      </a:solidFill>
                      <a:prstDash val="solid"/>
                      <a:round/>
                      <a:headEnd type="none" w="med" len="med"/>
                      <a:tailEnd type="none" w="med" len="med"/>
                    </a:lnT>
                    <a:lnB cmpd="sng" algn="ctr" cap="flat" w="7620">
                      <a:solidFill>
                        <a:srgbClr val="E2E8F0"/>
                      </a:solidFill>
                      <a:prstDash val="solid"/>
                      <a:round/>
                      <a:headEnd type="none" w="med" len="med"/>
                      <a:tailEnd type="none" w="med" len="med"/>
                    </a:lnB>
                  </a:tcPr>
                </a:tc>
                <a:tc>
                  <a:txBody>
                    <a:bodyPr anchor="t" rtlCol="false"/>
                    <a:lstStyle/>
                    <a:p>
                      <a:pPr algn="l">
                        <a:lnSpc>
                          <a:spcPts val="1764"/>
                        </a:lnSpc>
                        <a:defRPr/>
                      </a:pPr>
                      <a:r>
                        <a:rPr lang="en-US" sz="1470">
                          <a:solidFill>
                            <a:srgbClr val="334155"/>
                          </a:solidFill>
                          <a:latin typeface="DM Sans"/>
                          <a:ea typeface="DM Sans"/>
                          <a:cs typeface="DM Sans"/>
                          <a:sym typeface="DM Sans"/>
                        </a:rPr>
                        <a:t>0.62 % strain at 10 mm radius</a:t>
                      </a:r>
                      <a:endParaRPr lang="en-US" sz="1100"/>
                    </a:p>
                  </a:txBody>
                  <a:tcPr marL="36576" marR="36576" marT="36576" marB="36576" anchor="ctr">
                    <a:lnL cmpd="sng" algn="ctr" cap="flat" w="7620">
                      <a:solidFill>
                        <a:srgbClr val="000000"/>
                      </a:solidFill>
                      <a:prstDash val="solid"/>
                      <a:round/>
                      <a:headEnd type="none" w="med" len="med"/>
                      <a:tailEnd type="none" w="med" len="med"/>
                    </a:lnL>
                    <a:lnR cmpd="sng" algn="ctr" cap="flat" w="7620">
                      <a:solidFill>
                        <a:srgbClr val="000000"/>
                      </a:solidFill>
                      <a:prstDash val="solid"/>
                      <a:round/>
                      <a:headEnd type="none" w="med" len="med"/>
                      <a:tailEnd type="none" w="med" len="med"/>
                    </a:lnR>
                    <a:lnT cmpd="sng" algn="ctr" cap="flat" w="7620">
                      <a:solidFill>
                        <a:srgbClr val="000000"/>
                      </a:solidFill>
                      <a:prstDash val="solid"/>
                      <a:round/>
                      <a:headEnd type="none" w="med" len="med"/>
                      <a:tailEnd type="none" w="med" len="med"/>
                    </a:lnT>
                    <a:lnB cmpd="sng" algn="ctr" cap="flat" w="7620">
                      <a:solidFill>
                        <a:srgbClr val="E2E8F0"/>
                      </a:solidFill>
                      <a:prstDash val="solid"/>
                      <a:round/>
                      <a:headEnd type="none" w="med" len="med"/>
                      <a:tailEnd type="none" w="med" len="med"/>
                    </a:lnB>
                  </a:tcPr>
                </a:tc>
                <a:tc>
                  <a:txBody>
                    <a:bodyPr anchor="t" rtlCol="false"/>
                    <a:lstStyle/>
                    <a:p>
                      <a:pPr algn="l">
                        <a:lnSpc>
                          <a:spcPts val="1764"/>
                        </a:lnSpc>
                        <a:defRPr/>
                      </a:pPr>
                      <a:r>
                        <a:rPr lang="en-US" sz="1470">
                          <a:solidFill>
                            <a:srgbClr val="334155"/>
                          </a:solidFill>
                          <a:latin typeface="DM Sans"/>
                          <a:ea typeface="DM Sans"/>
                          <a:cs typeface="DM Sans"/>
                          <a:sym typeface="DM Sans"/>
                        </a:rPr>
                        <a:t>calc · yield ≈ 3 %</a:t>
                      </a:r>
                      <a:endParaRPr lang="en-US" sz="1100"/>
                    </a:p>
                  </a:txBody>
                  <a:tcPr marL="36576" marR="36576" marT="36576" marB="36576" anchor="ctr">
                    <a:lnL cmpd="sng" algn="ctr" cap="flat" w="7620">
                      <a:solidFill>
                        <a:srgbClr val="000000"/>
                      </a:solidFill>
                      <a:prstDash val="solid"/>
                      <a:round/>
                      <a:headEnd type="none" w="med" len="med"/>
                      <a:tailEnd type="none" w="med" len="med"/>
                    </a:lnL>
                    <a:lnR cmpd="sng" algn="ctr" cap="flat" w="7620">
                      <a:solidFill>
                        <a:srgbClr val="000000"/>
                      </a:solidFill>
                      <a:prstDash val="solid"/>
                      <a:round/>
                      <a:headEnd type="none" w="med" len="med"/>
                      <a:tailEnd type="none" w="med" len="med"/>
                    </a:lnR>
                    <a:lnT cmpd="sng" algn="ctr" cap="flat" w="7620">
                      <a:solidFill>
                        <a:srgbClr val="000000"/>
                      </a:solidFill>
                      <a:prstDash val="solid"/>
                      <a:round/>
                      <a:headEnd type="none" w="med" len="med"/>
                      <a:tailEnd type="none" w="med" len="med"/>
                    </a:lnT>
                    <a:lnB cmpd="sng" algn="ctr" cap="flat" w="7620">
                      <a:solidFill>
                        <a:srgbClr val="E2E8F0"/>
                      </a:solidFill>
                      <a:prstDash val="solid"/>
                      <a:round/>
                      <a:headEnd type="none" w="med" len="med"/>
                      <a:tailEnd type="none" w="med" len="med"/>
                    </a:lnB>
                  </a:tcPr>
                </a:tc>
              </a:tr>
              <a:tr h="607791">
                <a:tc>
                  <a:txBody>
                    <a:bodyPr anchor="t" rtlCol="false"/>
                    <a:lstStyle/>
                    <a:p>
                      <a:pPr algn="l">
                        <a:lnSpc>
                          <a:spcPts val="1764"/>
                        </a:lnSpc>
                        <a:defRPr/>
                      </a:pPr>
                      <a:r>
                        <a:rPr lang="en-US" sz="1470" b="true">
                          <a:solidFill>
                            <a:srgbClr val="0F172A"/>
                          </a:solidFill>
                          <a:latin typeface="DM Sans Bold"/>
                          <a:ea typeface="DM Sans Bold"/>
                          <a:cs typeface="DM Sans Bold"/>
                          <a:sym typeface="DM Sans Bold"/>
                        </a:rPr>
                        <a:t>CAD checks</a:t>
                      </a:r>
                      <a:endParaRPr lang="en-US" sz="1100"/>
                    </a:p>
                  </a:txBody>
                  <a:tcPr marL="36576" marR="36576" marT="36576" marB="36576" anchor="ctr">
                    <a:lnL cmpd="sng" algn="ctr" cap="flat" w="7620">
                      <a:solidFill>
                        <a:srgbClr val="000000"/>
                      </a:solidFill>
                      <a:prstDash val="solid"/>
                      <a:round/>
                      <a:headEnd type="none" w="med" len="med"/>
                      <a:tailEnd type="none" w="med" len="med"/>
                    </a:lnL>
                    <a:lnR cmpd="sng" algn="ctr" cap="flat" w="7620">
                      <a:solidFill>
                        <a:srgbClr val="000000"/>
                      </a:solidFill>
                      <a:prstDash val="solid"/>
                      <a:round/>
                      <a:headEnd type="none" w="med" len="med"/>
                      <a:tailEnd type="none" w="med" len="med"/>
                    </a:lnR>
                    <a:lnT cmpd="sng" algn="ctr" cap="flat" w="7620">
                      <a:solidFill>
                        <a:srgbClr val="000000"/>
                      </a:solidFill>
                      <a:prstDash val="solid"/>
                      <a:round/>
                      <a:headEnd type="none" w="med" len="med"/>
                      <a:tailEnd type="none" w="med" len="med"/>
                    </a:lnT>
                    <a:lnB cmpd="sng" algn="ctr" cap="flat" w="7620">
                      <a:solidFill>
                        <a:srgbClr val="E2E8F0"/>
                      </a:solidFill>
                      <a:prstDash val="solid"/>
                      <a:round/>
                      <a:headEnd type="none" w="med" len="med"/>
                      <a:tailEnd type="none" w="med" len="med"/>
                    </a:lnB>
                  </a:tcPr>
                </a:tc>
                <a:tc>
                  <a:txBody>
                    <a:bodyPr anchor="t" rtlCol="false"/>
                    <a:lstStyle/>
                    <a:p>
                      <a:pPr algn="l">
                        <a:lnSpc>
                          <a:spcPts val="1764"/>
                        </a:lnSpc>
                        <a:defRPr/>
                      </a:pPr>
                      <a:r>
                        <a:rPr lang="en-US" sz="1470">
                          <a:solidFill>
                            <a:srgbClr val="334155"/>
                          </a:solidFill>
                          <a:latin typeface="DM Sans"/>
                          <a:ea typeface="DM Sans"/>
                          <a:cs typeface="DM Sans"/>
                          <a:sym typeface="DM Sans"/>
                        </a:rPr>
                        <a:t>99 passed · 0 failed · 5 blocked until E2 measurements</a:t>
                      </a:r>
                      <a:endParaRPr lang="en-US" sz="1100"/>
                    </a:p>
                  </a:txBody>
                  <a:tcPr marL="36576" marR="36576" marT="36576" marB="36576" anchor="ctr">
                    <a:lnL cmpd="sng" algn="ctr" cap="flat" w="7620">
                      <a:solidFill>
                        <a:srgbClr val="000000"/>
                      </a:solidFill>
                      <a:prstDash val="solid"/>
                      <a:round/>
                      <a:headEnd type="none" w="med" len="med"/>
                      <a:tailEnd type="none" w="med" len="med"/>
                    </a:lnL>
                    <a:lnR cmpd="sng" algn="ctr" cap="flat" w="7620">
                      <a:solidFill>
                        <a:srgbClr val="000000"/>
                      </a:solidFill>
                      <a:prstDash val="solid"/>
                      <a:round/>
                      <a:headEnd type="none" w="med" len="med"/>
                      <a:tailEnd type="none" w="med" len="med"/>
                    </a:lnR>
                    <a:lnT cmpd="sng" algn="ctr" cap="flat" w="7620">
                      <a:solidFill>
                        <a:srgbClr val="000000"/>
                      </a:solidFill>
                      <a:prstDash val="solid"/>
                      <a:round/>
                      <a:headEnd type="none" w="med" len="med"/>
                      <a:tailEnd type="none" w="med" len="med"/>
                    </a:lnT>
                    <a:lnB cmpd="sng" algn="ctr" cap="flat" w="7620">
                      <a:solidFill>
                        <a:srgbClr val="E2E8F0"/>
                      </a:solidFill>
                      <a:prstDash val="solid"/>
                      <a:round/>
                      <a:headEnd type="none" w="med" len="med"/>
                      <a:tailEnd type="none" w="med" len="med"/>
                    </a:lnB>
                  </a:tcPr>
                </a:tc>
                <a:tc>
                  <a:txBody>
                    <a:bodyPr anchor="t" rtlCol="false"/>
                    <a:lstStyle/>
                    <a:p>
                      <a:pPr algn="l">
                        <a:lnSpc>
                          <a:spcPts val="1764"/>
                        </a:lnSpc>
                        <a:defRPr/>
                      </a:pPr>
                      <a:r>
                        <a:rPr lang="en-US" sz="1470">
                          <a:solidFill>
                            <a:srgbClr val="334155"/>
                          </a:solidFill>
                          <a:latin typeface="DM Sans"/>
                          <a:ea typeface="DM Sans"/>
                          <a:cs typeface="DM Sans"/>
                          <a:sym typeface="DM Sans"/>
                        </a:rPr>
                        <a:t>verify_cad.py</a:t>
                      </a:r>
                      <a:endParaRPr lang="en-US" sz="1100"/>
                    </a:p>
                  </a:txBody>
                  <a:tcPr marL="36576" marR="36576" marT="36576" marB="36576" anchor="ctr">
                    <a:lnL cmpd="sng" algn="ctr" cap="flat" w="7620">
                      <a:solidFill>
                        <a:srgbClr val="000000"/>
                      </a:solidFill>
                      <a:prstDash val="solid"/>
                      <a:round/>
                      <a:headEnd type="none" w="med" len="med"/>
                      <a:tailEnd type="none" w="med" len="med"/>
                    </a:lnL>
                    <a:lnR cmpd="sng" algn="ctr" cap="flat" w="7620">
                      <a:solidFill>
                        <a:srgbClr val="000000"/>
                      </a:solidFill>
                      <a:prstDash val="solid"/>
                      <a:round/>
                      <a:headEnd type="none" w="med" len="med"/>
                      <a:tailEnd type="none" w="med" len="med"/>
                    </a:lnR>
                    <a:lnT cmpd="sng" algn="ctr" cap="flat" w="7620">
                      <a:solidFill>
                        <a:srgbClr val="000000"/>
                      </a:solidFill>
                      <a:prstDash val="solid"/>
                      <a:round/>
                      <a:headEnd type="none" w="med" len="med"/>
                      <a:tailEnd type="none" w="med" len="med"/>
                    </a:lnT>
                    <a:lnB cmpd="sng" algn="ctr" cap="flat" w="7620">
                      <a:solidFill>
                        <a:srgbClr val="E2E8F0"/>
                      </a:solidFill>
                      <a:prstDash val="solid"/>
                      <a:round/>
                      <a:headEnd type="none" w="med" len="med"/>
                      <a:tailEnd type="none" w="med" len="med"/>
                    </a:lnB>
                  </a:tcPr>
                </a:tc>
              </a:tr>
              <a:tr h="607791">
                <a:tc>
                  <a:txBody>
                    <a:bodyPr anchor="t" rtlCol="false"/>
                    <a:lstStyle/>
                    <a:p>
                      <a:pPr algn="l">
                        <a:lnSpc>
                          <a:spcPts val="1764"/>
                        </a:lnSpc>
                        <a:defRPr/>
                      </a:pPr>
                      <a:r>
                        <a:rPr lang="en-US" sz="1470" b="true">
                          <a:solidFill>
                            <a:srgbClr val="0F172A"/>
                          </a:solidFill>
                          <a:latin typeface="DM Sans Bold"/>
                          <a:ea typeface="DM Sans Bold"/>
                          <a:cs typeface="DM Sans Bold"/>
                          <a:sym typeface="DM Sans Bold"/>
                        </a:rPr>
                        <a:t>Stress check</a:t>
                      </a:r>
                      <a:endParaRPr lang="en-US" sz="1100"/>
                    </a:p>
                  </a:txBody>
                  <a:tcPr marL="36576" marR="36576" marT="36576" marB="36576" anchor="ctr">
                    <a:lnL cmpd="sng" algn="ctr" cap="flat" w="7620">
                      <a:solidFill>
                        <a:srgbClr val="000000"/>
                      </a:solidFill>
                      <a:prstDash val="solid"/>
                      <a:round/>
                      <a:headEnd type="none" w="med" len="med"/>
                      <a:tailEnd type="none" w="med" len="med"/>
                    </a:lnL>
                    <a:lnR cmpd="sng" algn="ctr" cap="flat" w="7620">
                      <a:solidFill>
                        <a:srgbClr val="000000"/>
                      </a:solidFill>
                      <a:prstDash val="solid"/>
                      <a:round/>
                      <a:headEnd type="none" w="med" len="med"/>
                      <a:tailEnd type="none" w="med" len="med"/>
                    </a:lnR>
                    <a:lnT cmpd="sng" algn="ctr" cap="flat" w="7620">
                      <a:solidFill>
                        <a:srgbClr val="000000"/>
                      </a:solidFill>
                      <a:prstDash val="solid"/>
                      <a:round/>
                      <a:headEnd type="none" w="med" len="med"/>
                      <a:tailEnd type="none" w="med" len="med"/>
                    </a:lnT>
                    <a:lnB cmpd="sng" algn="ctr" cap="flat" w="7620">
                      <a:solidFill>
                        <a:srgbClr val="E2E8F0"/>
                      </a:solidFill>
                      <a:prstDash val="solid"/>
                      <a:round/>
                      <a:headEnd type="none" w="med" len="med"/>
                      <a:tailEnd type="none" w="med" len="med"/>
                    </a:lnB>
                  </a:tcPr>
                </a:tc>
                <a:tc>
                  <a:txBody>
                    <a:bodyPr anchor="t" rtlCol="false"/>
                    <a:lstStyle/>
                    <a:p>
                      <a:pPr algn="l" marL="0" indent="0" lvl="0">
                        <a:lnSpc>
                          <a:spcPts val="1764"/>
                        </a:lnSpc>
                        <a:spcBef>
                          <a:spcPct val="0"/>
                        </a:spcBef>
                        <a:defRPr/>
                      </a:pPr>
                      <a:r>
                        <a:rPr lang="en-US" sz="1470" strike="noStrike" u="none">
                          <a:solidFill>
                            <a:srgbClr val="334155"/>
                          </a:solidFill>
                          <a:latin typeface="DM Sans"/>
                          <a:ea typeface="DM Sans"/>
                          <a:cs typeface="DM Sans"/>
                          <a:sym typeface="DM Sans"/>
                        </a:rPr>
                        <a:t>lid stress ≈ 0.4 MPa · FoS &gt; 40 on PETG</a:t>
                      </a:r>
                      <a:endParaRPr lang="en-US" sz="1100"/>
                    </a:p>
                  </a:txBody>
                  <a:tcPr marL="36576" marR="36576" marT="36576" marB="36576" anchor="ctr">
                    <a:lnL cmpd="sng" algn="ctr" cap="flat" w="7620">
                      <a:solidFill>
                        <a:srgbClr val="000000"/>
                      </a:solidFill>
                      <a:prstDash val="solid"/>
                      <a:round/>
                      <a:headEnd type="none" w="med" len="med"/>
                      <a:tailEnd type="none" w="med" len="med"/>
                    </a:lnL>
                    <a:lnR cmpd="sng" algn="ctr" cap="flat" w="7620">
                      <a:solidFill>
                        <a:srgbClr val="000000"/>
                      </a:solidFill>
                      <a:prstDash val="solid"/>
                      <a:round/>
                      <a:headEnd type="none" w="med" len="med"/>
                      <a:tailEnd type="none" w="med" len="med"/>
                    </a:lnR>
                    <a:lnT cmpd="sng" algn="ctr" cap="flat" w="7620">
                      <a:solidFill>
                        <a:srgbClr val="000000"/>
                      </a:solidFill>
                      <a:prstDash val="solid"/>
                      <a:round/>
                      <a:headEnd type="none" w="med" len="med"/>
                      <a:tailEnd type="none" w="med" len="med"/>
                    </a:lnT>
                    <a:lnB cmpd="sng" algn="ctr" cap="flat" w="7620">
                      <a:solidFill>
                        <a:srgbClr val="E2E8F0"/>
                      </a:solidFill>
                      <a:prstDash val="solid"/>
                      <a:round/>
                      <a:headEnd type="none" w="med" len="med"/>
                      <a:tailEnd type="none" w="med" len="med"/>
                    </a:lnB>
                  </a:tcPr>
                </a:tc>
                <a:tc>
                  <a:txBody>
                    <a:bodyPr anchor="t" rtlCol="false"/>
                    <a:lstStyle/>
                    <a:p>
                      <a:pPr algn="l" marL="0" indent="0" lvl="0">
                        <a:lnSpc>
                          <a:spcPts val="1764"/>
                        </a:lnSpc>
                        <a:spcBef>
                          <a:spcPct val="0"/>
                        </a:spcBef>
                        <a:defRPr/>
                      </a:pPr>
                      <a:r>
                        <a:rPr lang="en-US" sz="1470" strike="noStrike" u="none">
                          <a:solidFill>
                            <a:srgbClr val="334155"/>
                          </a:solidFill>
                          <a:latin typeface="DM Sans"/>
                          <a:ea typeface="DM Sans"/>
                          <a:cs typeface="DM Sans"/>
                          <a:sym typeface="DM Sans"/>
                        </a:rPr>
                        <a:t>beam-model hand calc; FEA not run</a:t>
                      </a:r>
                      <a:endParaRPr lang="en-US" sz="1100"/>
                    </a:p>
                  </a:txBody>
                  <a:tcPr marL="36576" marR="36576" marT="36576" marB="36576" anchor="ctr">
                    <a:lnL cmpd="sng" algn="ctr" cap="flat" w="7620">
                      <a:solidFill>
                        <a:srgbClr val="000000"/>
                      </a:solidFill>
                      <a:prstDash val="solid"/>
                      <a:round/>
                      <a:headEnd type="none" w="med" len="med"/>
                      <a:tailEnd type="none" w="med" len="med"/>
                    </a:lnL>
                    <a:lnR cmpd="sng" algn="ctr" cap="flat" w="7620">
                      <a:solidFill>
                        <a:srgbClr val="000000"/>
                      </a:solidFill>
                      <a:prstDash val="solid"/>
                      <a:round/>
                      <a:headEnd type="none" w="med" len="med"/>
                      <a:tailEnd type="none" w="med" len="med"/>
                    </a:lnR>
                    <a:lnT cmpd="sng" algn="ctr" cap="flat" w="7620">
                      <a:solidFill>
                        <a:srgbClr val="000000"/>
                      </a:solidFill>
                      <a:prstDash val="solid"/>
                      <a:round/>
                      <a:headEnd type="none" w="med" len="med"/>
                      <a:tailEnd type="none" w="med" len="med"/>
                    </a:lnT>
                    <a:lnB cmpd="sng" algn="ctr" cap="flat" w="7620">
                      <a:solidFill>
                        <a:srgbClr val="E2E8F0"/>
                      </a:solidFill>
                      <a:prstDash val="solid"/>
                      <a:round/>
                      <a:headEnd type="none" w="med" len="med"/>
                      <a:tailEnd type="none" w="med" len="med"/>
                    </a:lnB>
                  </a:tcPr>
                </a:tc>
              </a:tr>
            </a:tbl>
          </a:graphicData>
        </a:graphic>
      </p:graphicFrame>
    </p:spTree>
  </p:cSld>
  <p:clrMapOvr>
    <a:masterClrMapping/>
  </p:clrMapOvr>
</p:sld>
</file>

<file path=ppt/slides/slide9.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0"/>
            <a:ext cx="18288000" cy="10287000"/>
            <a:chOff x="0" y="0"/>
            <a:chExt cx="24384000" cy="13716000"/>
          </a:xfrm>
        </p:grpSpPr>
        <p:sp>
          <p:nvSpPr>
            <p:cNvPr name="Freeform 3" id="3" descr="image.png"/>
            <p:cNvSpPr/>
            <p:nvPr/>
          </p:nvSpPr>
          <p:spPr>
            <a:xfrm flipH="false" flipV="false" rot="0">
              <a:off x="0" y="0"/>
              <a:ext cx="24384000" cy="13716000"/>
            </a:xfrm>
            <a:custGeom>
              <a:avLst/>
              <a:gdLst/>
              <a:ahLst/>
              <a:cxnLst/>
              <a:rect r="r" b="b" t="t" l="l"/>
              <a:pathLst>
                <a:path h="13716000" w="24384000">
                  <a:moveTo>
                    <a:pt x="0" y="0"/>
                  </a:moveTo>
                  <a:lnTo>
                    <a:pt x="24384000" y="0"/>
                  </a:lnTo>
                  <a:lnTo>
                    <a:pt x="24384000" y="13716000"/>
                  </a:lnTo>
                  <a:lnTo>
                    <a:pt x="0" y="13716000"/>
                  </a:lnTo>
                  <a:lnTo>
                    <a:pt x="0" y="0"/>
                  </a:lnTo>
                  <a:close/>
                </a:path>
              </a:pathLst>
            </a:custGeom>
            <a:blipFill>
              <a:blip r:embed="rId3"/>
              <a:stretch>
                <a:fillRect l="0" t="0" r="0" b="0"/>
              </a:stretch>
            </a:blipFill>
          </p:spPr>
          <p:txBody>
            <a:bodyPr/>
            <a:p/>
          </p:txBody>
        </p:sp>
      </p:grpSp>
      <p:grpSp>
        <p:nvGrpSpPr>
          <p:cNvPr name="Group 4" id="4"/>
          <p:cNvGrpSpPr/>
          <p:nvPr/>
        </p:nvGrpSpPr>
        <p:grpSpPr>
          <a:xfrm rot="0">
            <a:off x="800100" y="8327593"/>
            <a:ext cx="16687800" cy="544706"/>
            <a:chOff x="0" y="0"/>
            <a:chExt cx="22250400" cy="726275"/>
          </a:xfrm>
        </p:grpSpPr>
        <p:sp>
          <p:nvSpPr>
            <p:cNvPr name="Freeform 5" id="5" descr="image.png"/>
            <p:cNvSpPr/>
            <p:nvPr/>
          </p:nvSpPr>
          <p:spPr>
            <a:xfrm flipH="false" flipV="false" rot="0">
              <a:off x="0" y="0"/>
              <a:ext cx="22250400" cy="726313"/>
            </a:xfrm>
            <a:custGeom>
              <a:avLst/>
              <a:gdLst/>
              <a:ahLst/>
              <a:cxnLst/>
              <a:rect r="r" b="b" t="t" l="l"/>
              <a:pathLst>
                <a:path h="726313" w="22250400">
                  <a:moveTo>
                    <a:pt x="0" y="0"/>
                  </a:moveTo>
                  <a:lnTo>
                    <a:pt x="22250400" y="0"/>
                  </a:lnTo>
                  <a:lnTo>
                    <a:pt x="22250400" y="726313"/>
                  </a:lnTo>
                  <a:lnTo>
                    <a:pt x="0" y="726313"/>
                  </a:lnTo>
                  <a:lnTo>
                    <a:pt x="0" y="0"/>
                  </a:lnTo>
                  <a:close/>
                </a:path>
              </a:pathLst>
            </a:custGeom>
            <a:blipFill>
              <a:blip r:embed="rId4"/>
              <a:stretch>
                <a:fillRect l="0" t="0" r="0" b="-2290"/>
              </a:stretch>
            </a:blipFill>
          </p:spPr>
          <p:txBody>
            <a:bodyPr/>
            <a:p/>
          </p:txBody>
        </p:sp>
      </p:grpSp>
      <p:grpSp>
        <p:nvGrpSpPr>
          <p:cNvPr name="Group 6" id="6"/>
          <p:cNvGrpSpPr/>
          <p:nvPr/>
        </p:nvGrpSpPr>
        <p:grpSpPr>
          <a:xfrm rot="0">
            <a:off x="9344025" y="1434332"/>
            <a:ext cx="8143875" cy="6652260"/>
            <a:chOff x="0" y="0"/>
            <a:chExt cx="10858500" cy="8869680"/>
          </a:xfrm>
        </p:grpSpPr>
        <p:sp>
          <p:nvSpPr>
            <p:cNvPr name="Freeform 7" id="7" descr="image.png"/>
            <p:cNvSpPr/>
            <p:nvPr/>
          </p:nvSpPr>
          <p:spPr>
            <a:xfrm flipH="false" flipV="false" rot="0">
              <a:off x="0" y="0"/>
              <a:ext cx="10858500" cy="8869680"/>
            </a:xfrm>
            <a:custGeom>
              <a:avLst/>
              <a:gdLst/>
              <a:ahLst/>
              <a:cxnLst/>
              <a:rect r="r" b="b" t="t" l="l"/>
              <a:pathLst>
                <a:path h="8869680" w="10858500">
                  <a:moveTo>
                    <a:pt x="0" y="0"/>
                  </a:moveTo>
                  <a:lnTo>
                    <a:pt x="10858500" y="0"/>
                  </a:lnTo>
                  <a:lnTo>
                    <a:pt x="10858500" y="8869680"/>
                  </a:lnTo>
                  <a:lnTo>
                    <a:pt x="0" y="8869680"/>
                  </a:lnTo>
                  <a:lnTo>
                    <a:pt x="0" y="0"/>
                  </a:lnTo>
                  <a:close/>
                </a:path>
              </a:pathLst>
            </a:custGeom>
            <a:blipFill>
              <a:blip r:embed="rId5"/>
              <a:stretch>
                <a:fillRect l="0" t="0" r="0" b="-12542"/>
              </a:stretch>
            </a:blipFill>
          </p:spPr>
          <p:txBody>
            <a:bodyPr/>
            <a:p/>
          </p:txBody>
        </p:sp>
      </p:grpSp>
      <p:grpSp>
        <p:nvGrpSpPr>
          <p:cNvPr name="Group 8" id="8"/>
          <p:cNvGrpSpPr/>
          <p:nvPr/>
        </p:nvGrpSpPr>
        <p:grpSpPr>
          <a:xfrm rot="0">
            <a:off x="795528" y="1440180"/>
            <a:ext cx="8147304" cy="5843016"/>
            <a:chOff x="0" y="0"/>
            <a:chExt cx="10863072" cy="7790688"/>
          </a:xfrm>
        </p:grpSpPr>
        <p:sp>
          <p:nvSpPr>
            <p:cNvPr name="Freeform 9" id="9" descr="image.png"/>
            <p:cNvSpPr/>
            <p:nvPr/>
          </p:nvSpPr>
          <p:spPr>
            <a:xfrm flipH="false" flipV="false" rot="0">
              <a:off x="0" y="0"/>
              <a:ext cx="10863072" cy="7790688"/>
            </a:xfrm>
            <a:custGeom>
              <a:avLst/>
              <a:gdLst/>
              <a:ahLst/>
              <a:cxnLst/>
              <a:rect r="r" b="b" t="t" l="l"/>
              <a:pathLst>
                <a:path h="7790688" w="10863072">
                  <a:moveTo>
                    <a:pt x="0" y="0"/>
                  </a:moveTo>
                  <a:lnTo>
                    <a:pt x="10863072" y="0"/>
                  </a:lnTo>
                  <a:lnTo>
                    <a:pt x="10863072" y="7790688"/>
                  </a:lnTo>
                  <a:lnTo>
                    <a:pt x="0" y="7790688"/>
                  </a:lnTo>
                  <a:lnTo>
                    <a:pt x="0" y="0"/>
                  </a:lnTo>
                  <a:close/>
                </a:path>
              </a:pathLst>
            </a:custGeom>
            <a:blipFill>
              <a:blip r:embed="rId6"/>
              <a:stretch>
                <a:fillRect l="0" t="0" r="-59682" b="0"/>
              </a:stretch>
            </a:blipFill>
          </p:spPr>
          <p:txBody>
            <a:bodyPr/>
            <a:p/>
          </p:txBody>
        </p:sp>
      </p:grpSp>
      <p:grpSp>
        <p:nvGrpSpPr>
          <p:cNvPr name="Group 10" id="10"/>
          <p:cNvGrpSpPr/>
          <p:nvPr/>
        </p:nvGrpSpPr>
        <p:grpSpPr>
          <a:xfrm rot="0">
            <a:off x="800100" y="657225"/>
            <a:ext cx="12893040" cy="462782"/>
            <a:chOff x="0" y="0"/>
            <a:chExt cx="17190720" cy="617042"/>
          </a:xfrm>
        </p:grpSpPr>
        <p:sp>
          <p:nvSpPr>
            <p:cNvPr name="Freeform 11" id="11"/>
            <p:cNvSpPr/>
            <p:nvPr/>
          </p:nvSpPr>
          <p:spPr>
            <a:xfrm flipH="false" flipV="false" rot="0">
              <a:off x="0" y="0"/>
              <a:ext cx="17190720" cy="617040"/>
            </a:xfrm>
            <a:custGeom>
              <a:avLst/>
              <a:gdLst/>
              <a:ahLst/>
              <a:cxnLst/>
              <a:rect r="r" b="b" t="t" l="l"/>
              <a:pathLst>
                <a:path h="617040" w="17190720">
                  <a:moveTo>
                    <a:pt x="0" y="0"/>
                  </a:moveTo>
                  <a:lnTo>
                    <a:pt x="17190720" y="0"/>
                  </a:lnTo>
                  <a:lnTo>
                    <a:pt x="17190720" y="617040"/>
                  </a:lnTo>
                  <a:lnTo>
                    <a:pt x="0" y="617040"/>
                  </a:lnTo>
                  <a:close/>
                </a:path>
              </a:pathLst>
            </a:custGeom>
            <a:blipFill>
              <a:blip r:embed="rId7">
                <a:alphaModFix amt="0"/>
              </a:blip>
              <a:stretch>
                <a:fillRect l="0" t="-492852" r="0" b="-492852"/>
              </a:stretch>
            </a:blipFill>
          </p:spPr>
          <p:txBody>
            <a:bodyPr/>
            <a:p/>
          </p:txBody>
        </p:sp>
        <p:sp>
          <p:nvSpPr>
            <p:cNvPr name="TextBox 12" id="12"/>
            <p:cNvSpPr txBox="true"/>
            <p:nvPr/>
          </p:nvSpPr>
          <p:spPr>
            <a:xfrm>
              <a:off x="0" y="-104775"/>
              <a:ext cx="17190720" cy="721817"/>
            </a:xfrm>
            <a:prstGeom prst="rect">
              <a:avLst/>
            </a:prstGeom>
          </p:spPr>
          <p:txBody>
            <a:bodyPr anchor="ctr" rtlCol="false" tIns="0" lIns="0" bIns="0" rIns="0"/>
            <a:lstStyle/>
            <a:p>
              <a:pPr algn="l">
                <a:lnSpc>
                  <a:spcPts val="4372"/>
                </a:lnSpc>
              </a:pPr>
              <a:r>
                <a:rPr lang="en-US" sz="3037">
                  <a:solidFill>
                    <a:srgbClr val="0F172A"/>
                  </a:solidFill>
                  <a:latin typeface="Poppins"/>
                  <a:ea typeface="Poppins"/>
                  <a:cs typeface="Poppins"/>
                  <a:sym typeface="Poppins"/>
                </a:rPr>
                <a:t>CAD Design &amp; Mechanical Specs: Sensing Strip &amp; Laser Process</a:t>
              </a:r>
            </a:p>
          </p:txBody>
        </p:sp>
      </p:grpSp>
      <p:sp>
        <p:nvSpPr>
          <p:cNvPr name="TextBox 13" id="13"/>
          <p:cNvSpPr txBox="true"/>
          <p:nvPr/>
        </p:nvSpPr>
        <p:spPr>
          <a:xfrm rot="0">
            <a:off x="1085850" y="8394268"/>
            <a:ext cx="16047720" cy="291689"/>
          </a:xfrm>
          <a:prstGeom prst="rect">
            <a:avLst/>
          </a:prstGeom>
        </p:spPr>
        <p:txBody>
          <a:bodyPr anchor="t" rtlCol="false" tIns="0" lIns="0" bIns="0" rIns="0">
            <a:spAutoFit/>
          </a:bodyPr>
          <a:lstStyle/>
          <a:p>
            <a:pPr algn="l">
              <a:lnSpc>
                <a:spcPts val="2506"/>
              </a:lnSpc>
            </a:pPr>
            <a:r>
              <a:rPr lang="en-US" b="true" sz="1439">
                <a:solidFill>
                  <a:srgbClr val="0F172A"/>
                </a:solidFill>
                <a:latin typeface="DM Sans Bold"/>
                <a:ea typeface="DM Sans Bold"/>
                <a:cs typeface="DM Sans Bold"/>
                <a:sym typeface="DM Sans Bold"/>
              </a:rPr>
              <a:t>All 35 design-file checks pass. No v0.1 strip has been cut yet; the LaserCAD import is confirmed at the machine before fabrication.</a:t>
            </a:r>
          </a:p>
        </p:txBody>
      </p:sp>
      <p:sp>
        <p:nvSpPr>
          <p:cNvPr name="TextBox 14" id="14"/>
          <p:cNvSpPr txBox="true"/>
          <p:nvPr/>
        </p:nvSpPr>
        <p:spPr>
          <a:xfrm rot="0">
            <a:off x="800100" y="7294626"/>
            <a:ext cx="8143875" cy="226600"/>
          </a:xfrm>
          <a:prstGeom prst="rect">
            <a:avLst/>
          </a:prstGeom>
        </p:spPr>
        <p:txBody>
          <a:bodyPr anchor="t" rtlCol="false" tIns="0" lIns="0" bIns="0" rIns="0">
            <a:spAutoFit/>
          </a:bodyPr>
          <a:lstStyle/>
          <a:p>
            <a:pPr algn="r">
              <a:lnSpc>
                <a:spcPts val="1983"/>
              </a:lnSpc>
            </a:pPr>
            <a:r>
              <a:rPr lang="en-US" sz="1139">
                <a:solidFill>
                  <a:srgbClr val="64748B"/>
                </a:solidFill>
                <a:latin typeface="DM Sans"/>
                <a:ea typeface="DM Sans"/>
                <a:cs typeface="DM Sans"/>
                <a:sym typeface="DM Sans"/>
              </a:rPr>
              <a:t>Laser pattern from our DXF files; it has not been fabricated yet.</a:t>
            </a:r>
          </a:p>
        </p:txBody>
      </p:sp>
      <p:grpSp>
        <p:nvGrpSpPr>
          <p:cNvPr name="Group 15" id="15"/>
          <p:cNvGrpSpPr/>
          <p:nvPr/>
        </p:nvGrpSpPr>
        <p:grpSpPr>
          <a:xfrm rot="0">
            <a:off x="9672638" y="1762944"/>
            <a:ext cx="231505" cy="228600"/>
            <a:chOff x="0" y="0"/>
            <a:chExt cx="308674" cy="304800"/>
          </a:xfrm>
        </p:grpSpPr>
        <p:sp>
          <p:nvSpPr>
            <p:cNvPr name="Freeform 16" id="16" descr="image.png"/>
            <p:cNvSpPr/>
            <p:nvPr/>
          </p:nvSpPr>
          <p:spPr>
            <a:xfrm flipH="false" flipV="false" rot="0">
              <a:off x="0" y="0"/>
              <a:ext cx="308610" cy="304800"/>
            </a:xfrm>
            <a:custGeom>
              <a:avLst/>
              <a:gdLst/>
              <a:ahLst/>
              <a:cxnLst/>
              <a:rect r="r" b="b" t="t" l="l"/>
              <a:pathLst>
                <a:path h="304800" w="308610">
                  <a:moveTo>
                    <a:pt x="0" y="0"/>
                  </a:moveTo>
                  <a:lnTo>
                    <a:pt x="308610" y="0"/>
                  </a:lnTo>
                  <a:lnTo>
                    <a:pt x="308610" y="304800"/>
                  </a:lnTo>
                  <a:lnTo>
                    <a:pt x="0" y="304800"/>
                  </a:lnTo>
                  <a:lnTo>
                    <a:pt x="0" y="0"/>
                  </a:lnTo>
                  <a:close/>
                </a:path>
              </a:pathLst>
            </a:custGeom>
            <a:blipFill>
              <a:blip r:embed="rId8"/>
              <a:stretch>
                <a:fillRect l="0" t="0" r="-20" b="-1270"/>
              </a:stretch>
            </a:blipFill>
          </p:spPr>
          <p:txBody>
            <a:bodyPr/>
            <a:p/>
          </p:txBody>
        </p:sp>
      </p:grpSp>
      <p:sp>
        <p:nvSpPr>
          <p:cNvPr name="TextBox 17" id="17"/>
          <p:cNvSpPr txBox="true"/>
          <p:nvPr/>
        </p:nvSpPr>
        <p:spPr>
          <a:xfrm rot="0">
            <a:off x="10047018" y="1743894"/>
            <a:ext cx="7269480" cy="247650"/>
          </a:xfrm>
          <a:prstGeom prst="rect">
            <a:avLst/>
          </a:prstGeom>
        </p:spPr>
        <p:txBody>
          <a:bodyPr anchor="t" rtlCol="false" tIns="0" lIns="0" bIns="0" rIns="0">
            <a:spAutoFit/>
          </a:bodyPr>
          <a:lstStyle/>
          <a:p>
            <a:pPr algn="l">
              <a:lnSpc>
                <a:spcPts val="2070"/>
              </a:lnSpc>
            </a:pPr>
            <a:r>
              <a:rPr lang="en-US" b="true" sz="1725">
                <a:solidFill>
                  <a:srgbClr val="0F172A"/>
                </a:solidFill>
                <a:latin typeface="DM Sans Bold"/>
                <a:ea typeface="DM Sans Bold"/>
                <a:cs typeface="DM Sans Bold"/>
                <a:sym typeface="DM Sans Bold"/>
              </a:rPr>
              <a:t>E2: laser and strip validation</a:t>
            </a:r>
          </a:p>
        </p:txBody>
      </p:sp>
      <p:grpSp>
        <p:nvGrpSpPr>
          <p:cNvPr name="Group 18" id="18"/>
          <p:cNvGrpSpPr/>
          <p:nvPr/>
        </p:nvGrpSpPr>
        <p:grpSpPr>
          <a:xfrm rot="0">
            <a:off x="16642794" y="9421197"/>
            <a:ext cx="1645206" cy="865803"/>
            <a:chOff x="0" y="0"/>
            <a:chExt cx="2193608" cy="1154405"/>
          </a:xfrm>
        </p:grpSpPr>
        <p:sp>
          <p:nvSpPr>
            <p:cNvPr name="Freeform 19" id="19"/>
            <p:cNvSpPr/>
            <p:nvPr/>
          </p:nvSpPr>
          <p:spPr>
            <a:xfrm flipH="false" flipV="false" rot="0">
              <a:off x="0" y="0"/>
              <a:ext cx="2193671" cy="1154430"/>
            </a:xfrm>
            <a:custGeom>
              <a:avLst/>
              <a:gdLst/>
              <a:ahLst/>
              <a:cxnLst/>
              <a:rect r="r" b="b" t="t" l="l"/>
              <a:pathLst>
                <a:path h="1154430" w="2193671">
                  <a:moveTo>
                    <a:pt x="0" y="0"/>
                  </a:moveTo>
                  <a:lnTo>
                    <a:pt x="2193671" y="0"/>
                  </a:lnTo>
                  <a:lnTo>
                    <a:pt x="2193671" y="1154430"/>
                  </a:lnTo>
                  <a:lnTo>
                    <a:pt x="0" y="1154430"/>
                  </a:lnTo>
                  <a:lnTo>
                    <a:pt x="0" y="0"/>
                  </a:lnTo>
                  <a:close/>
                </a:path>
              </a:pathLst>
            </a:custGeom>
            <a:blipFill>
              <a:blip r:embed="rId9"/>
              <a:stretch>
                <a:fillRect l="0" t="0" r="2" b="2"/>
              </a:stretch>
            </a:blipFill>
          </p:spPr>
          <p:txBody>
            <a:bodyPr/>
            <a:p/>
          </p:txBody>
        </p:sp>
      </p:grpSp>
      <p:grpSp>
        <p:nvGrpSpPr>
          <p:cNvPr name="Group 20" id="20"/>
          <p:cNvGrpSpPr/>
          <p:nvPr/>
        </p:nvGrpSpPr>
        <p:grpSpPr>
          <a:xfrm rot="0">
            <a:off x="0" y="9421197"/>
            <a:ext cx="2679421" cy="865803"/>
            <a:chOff x="0" y="0"/>
            <a:chExt cx="3572561" cy="1154405"/>
          </a:xfrm>
        </p:grpSpPr>
        <p:sp>
          <p:nvSpPr>
            <p:cNvPr name="Freeform 21" id="21"/>
            <p:cNvSpPr/>
            <p:nvPr/>
          </p:nvSpPr>
          <p:spPr>
            <a:xfrm flipH="false" flipV="false" rot="0">
              <a:off x="0" y="0"/>
              <a:ext cx="3572510" cy="1154430"/>
            </a:xfrm>
            <a:custGeom>
              <a:avLst/>
              <a:gdLst/>
              <a:ahLst/>
              <a:cxnLst/>
              <a:rect r="r" b="b" t="t" l="l"/>
              <a:pathLst>
                <a:path h="1154430" w="3572510">
                  <a:moveTo>
                    <a:pt x="0" y="0"/>
                  </a:moveTo>
                  <a:lnTo>
                    <a:pt x="3572510" y="0"/>
                  </a:lnTo>
                  <a:lnTo>
                    <a:pt x="3572510" y="1154430"/>
                  </a:lnTo>
                  <a:lnTo>
                    <a:pt x="0" y="1154430"/>
                  </a:lnTo>
                  <a:lnTo>
                    <a:pt x="0" y="0"/>
                  </a:lnTo>
                  <a:close/>
                </a:path>
              </a:pathLst>
            </a:custGeom>
            <a:blipFill>
              <a:blip r:embed="rId10"/>
              <a:stretch>
                <a:fillRect l="-21110" t="-147255" r="-22761" b="-197973"/>
              </a:stretch>
            </a:blipFill>
          </p:spPr>
          <p:txBody>
            <a:bodyPr/>
            <a:p/>
          </p:txBody>
        </p:sp>
      </p:grpSp>
      <p:grpSp>
        <p:nvGrpSpPr>
          <p:cNvPr name="Group 22" id="22"/>
          <p:cNvGrpSpPr/>
          <p:nvPr/>
        </p:nvGrpSpPr>
        <p:grpSpPr>
          <a:xfrm rot="0">
            <a:off x="14558162" y="685800"/>
            <a:ext cx="2929738" cy="370332"/>
            <a:chOff x="0" y="0"/>
            <a:chExt cx="3906317" cy="493776"/>
          </a:xfrm>
        </p:grpSpPr>
        <p:sp>
          <p:nvSpPr>
            <p:cNvPr name="Freeform 23" id="23"/>
            <p:cNvSpPr/>
            <p:nvPr/>
          </p:nvSpPr>
          <p:spPr>
            <a:xfrm flipH="false" flipV="false" rot="0">
              <a:off x="0" y="0"/>
              <a:ext cx="3906266" cy="493776"/>
            </a:xfrm>
            <a:custGeom>
              <a:avLst/>
              <a:gdLst/>
              <a:ahLst/>
              <a:cxnLst/>
              <a:rect r="r" b="b" t="t" l="l"/>
              <a:pathLst>
                <a:path h="493776" w="3906266">
                  <a:moveTo>
                    <a:pt x="0" y="246888"/>
                  </a:moveTo>
                  <a:cubicBezTo>
                    <a:pt x="0" y="110490"/>
                    <a:pt x="110490" y="0"/>
                    <a:pt x="246888" y="0"/>
                  </a:cubicBezTo>
                  <a:lnTo>
                    <a:pt x="3659378" y="0"/>
                  </a:lnTo>
                  <a:cubicBezTo>
                    <a:pt x="3795776" y="0"/>
                    <a:pt x="3906266" y="110490"/>
                    <a:pt x="3906266" y="246888"/>
                  </a:cubicBezTo>
                  <a:cubicBezTo>
                    <a:pt x="3906266" y="383286"/>
                    <a:pt x="3795776" y="493776"/>
                    <a:pt x="3659378" y="493776"/>
                  </a:cubicBezTo>
                  <a:lnTo>
                    <a:pt x="246888" y="493776"/>
                  </a:lnTo>
                  <a:cubicBezTo>
                    <a:pt x="110490" y="493776"/>
                    <a:pt x="0" y="383286"/>
                    <a:pt x="0" y="246888"/>
                  </a:cubicBezTo>
                  <a:close/>
                </a:path>
              </a:pathLst>
            </a:custGeom>
            <a:solidFill>
              <a:srgbClr val="FEF3C7"/>
            </a:solidFill>
          </p:spPr>
          <p:txBody>
            <a:bodyPr/>
            <a:p/>
          </p:txBody>
        </p:sp>
        <p:sp>
          <p:nvSpPr>
            <p:cNvPr name="TextBox 24" id="24"/>
            <p:cNvSpPr txBox="true"/>
            <p:nvPr/>
          </p:nvSpPr>
          <p:spPr>
            <a:xfrm>
              <a:off x="0" y="0"/>
              <a:ext cx="3906317" cy="493776"/>
            </a:xfrm>
            <a:prstGeom prst="rect">
              <a:avLst/>
            </a:prstGeom>
          </p:spPr>
          <p:txBody>
            <a:bodyPr anchor="ctr" rtlCol="false" tIns="50800" lIns="50800" bIns="50800" rIns="50800"/>
            <a:lstStyle/>
            <a:p>
              <a:pPr algn="ctr">
                <a:lnSpc>
                  <a:spcPts val="1350"/>
                </a:lnSpc>
              </a:pPr>
              <a:r>
                <a:rPr lang="en-US" sz="1125" b="true">
                  <a:solidFill>
                    <a:srgbClr val="B45309"/>
                  </a:solidFill>
                  <a:latin typeface="DM Sans Bold"/>
                  <a:ea typeface="DM Sans Bold"/>
                  <a:cs typeface="DM Sans Bold"/>
                  <a:sym typeface="DM Sans Bold"/>
                </a:rPr>
                <a:t>DESIGNED · LAB TEST PENDING</a:t>
              </a:r>
            </a:p>
          </p:txBody>
        </p:sp>
      </p:grpSp>
      <p:grpSp>
        <p:nvGrpSpPr>
          <p:cNvPr name="Group 25" id="25"/>
          <p:cNvGrpSpPr/>
          <p:nvPr/>
        </p:nvGrpSpPr>
        <p:grpSpPr>
          <a:xfrm rot="0">
            <a:off x="809244" y="1455068"/>
            <a:ext cx="8119872" cy="5813231"/>
            <a:chOff x="0" y="0"/>
            <a:chExt cx="10826496" cy="7750975"/>
          </a:xfrm>
        </p:grpSpPr>
        <p:sp>
          <p:nvSpPr>
            <p:cNvPr name="Freeform 26" id="26" descr="fig_strip.png"/>
            <p:cNvSpPr/>
            <p:nvPr/>
          </p:nvSpPr>
          <p:spPr>
            <a:xfrm flipH="false" flipV="false" rot="0">
              <a:off x="0" y="0"/>
              <a:ext cx="10826496" cy="7750937"/>
            </a:xfrm>
            <a:custGeom>
              <a:avLst/>
              <a:gdLst/>
              <a:ahLst/>
              <a:cxnLst/>
              <a:rect r="r" b="b" t="t" l="l"/>
              <a:pathLst>
                <a:path h="7750937" w="10826496">
                  <a:moveTo>
                    <a:pt x="0" y="0"/>
                  </a:moveTo>
                  <a:lnTo>
                    <a:pt x="10826496" y="0"/>
                  </a:lnTo>
                  <a:lnTo>
                    <a:pt x="10826496" y="7750937"/>
                  </a:lnTo>
                  <a:lnTo>
                    <a:pt x="0" y="7750937"/>
                  </a:lnTo>
                  <a:lnTo>
                    <a:pt x="0" y="0"/>
                  </a:lnTo>
                  <a:close/>
                </a:path>
              </a:pathLst>
            </a:custGeom>
            <a:blipFill>
              <a:blip r:embed="rId11"/>
              <a:stretch>
                <a:fillRect l="0" t="0" r="0" b="0"/>
              </a:stretch>
            </a:blipFill>
          </p:spPr>
          <p:txBody>
            <a:bodyPr/>
            <a:p/>
          </p:txBody>
        </p:sp>
      </p:grpSp>
      <p:sp>
        <p:nvSpPr>
          <p:cNvPr name="TextBox 27" id="27"/>
          <p:cNvSpPr txBox="true"/>
          <p:nvPr/>
        </p:nvSpPr>
        <p:spPr>
          <a:xfrm rot="0">
            <a:off x="9715500" y="2349246"/>
            <a:ext cx="7507224" cy="2949854"/>
          </a:xfrm>
          <a:prstGeom prst="rect">
            <a:avLst/>
          </a:prstGeom>
        </p:spPr>
        <p:txBody>
          <a:bodyPr anchor="t" rtlCol="false" tIns="0" lIns="0" bIns="0" rIns="0">
            <a:spAutoFit/>
          </a:bodyPr>
          <a:lstStyle/>
          <a:p>
            <a:pPr algn="l" marL="0" indent="0" lvl="0">
              <a:lnSpc>
                <a:spcPts val="2332"/>
              </a:lnSpc>
              <a:spcBef>
                <a:spcPct val="0"/>
              </a:spcBef>
            </a:pPr>
            <a:r>
              <a:rPr lang="en-US" sz="1800" strike="noStrike" u="none">
                <a:solidFill>
                  <a:srgbClr val="059669"/>
                </a:solidFill>
                <a:latin typeface="DM Sans"/>
                <a:ea typeface="DM Sans"/>
                <a:cs typeface="DM Sans"/>
                <a:sym typeface="DM Sans"/>
              </a:rPr>
              <a:t>▪  Material:  We plan to create a laser-carbonised, LIG-like layer on polyimide [7].</a:t>
            </a:r>
          </a:p>
          <a:p>
            <a:pPr algn="l" marL="0" indent="0" lvl="0">
              <a:lnSpc>
                <a:spcPts val="2332"/>
              </a:lnSpc>
              <a:spcBef>
                <a:spcPct val="0"/>
              </a:spcBef>
            </a:pPr>
            <a:r>
              <a:rPr lang="en-US" sz="1800" strike="noStrike" u="none">
                <a:solidFill>
                  <a:srgbClr val="059669"/>
                </a:solidFill>
                <a:latin typeface="DM Sans"/>
                <a:ea typeface="DM Sans"/>
                <a:cs typeface="DM Sans"/>
                <a:sym typeface="DM Sans"/>
              </a:rPr>
              <a:t>▪  Reference:  The machine’s “12” setting is likely a PWM percentage, not watts; it still needs confirmation.</a:t>
            </a:r>
          </a:p>
          <a:p>
            <a:pPr algn="l" marL="0" indent="0" lvl="0">
              <a:lnSpc>
                <a:spcPts val="2332"/>
              </a:lnSpc>
              <a:spcBef>
                <a:spcPct val="0"/>
              </a:spcBef>
            </a:pPr>
            <a:r>
              <a:rPr lang="en-US" sz="1800" strike="noStrike" u="none">
                <a:solidFill>
                  <a:srgbClr val="059669"/>
                </a:solidFill>
                <a:latin typeface="DM Sans"/>
                <a:ea typeface="DM Sans"/>
                <a:cs typeface="DM Sans"/>
                <a:sym typeface="DM Sans"/>
              </a:rPr>
              <a:t>▪  E2 matrix:  7 coupons, 2 days, 72 pre-registered samples.</a:t>
            </a:r>
          </a:p>
          <a:p>
            <a:pPr algn="l" marL="0" indent="0" lvl="0">
              <a:lnSpc>
                <a:spcPts val="2332"/>
              </a:lnSpc>
              <a:spcBef>
                <a:spcPct val="0"/>
              </a:spcBef>
            </a:pPr>
            <a:r>
              <a:rPr lang="en-US" sz="1800" strike="noStrike" u="none">
                <a:solidFill>
                  <a:srgbClr val="059669"/>
                </a:solidFill>
                <a:latin typeface="DM Sans"/>
                <a:ea typeface="DM Sans"/>
                <a:cs typeface="DM Sans"/>
                <a:sym typeface="DM Sans"/>
              </a:rPr>
              <a:t>▪  Pass rules:  Pre-set limits are CV ≤20% and electrical isolation across gaps &gt;3 MΩ.</a:t>
            </a:r>
          </a:p>
          <a:p>
            <a:pPr algn="l" marL="0" indent="0" lvl="0">
              <a:lnSpc>
                <a:spcPts val="2332"/>
              </a:lnSpc>
              <a:spcBef>
                <a:spcPct val="0"/>
              </a:spcBef>
            </a:pPr>
            <a:r>
              <a:rPr lang="en-US" sz="1800" strike="noStrike" u="none">
                <a:solidFill>
                  <a:srgbClr val="059669"/>
                </a:solidFill>
                <a:latin typeface="DM Sans"/>
                <a:ea typeface="DM Sans"/>
                <a:cs typeface="DM Sans"/>
                <a:sym typeface="DM Sans"/>
              </a:rPr>
              <a:t>▪  Seal:  laser-carbon made in air is superhydrophilic [9]; polyimide tape over the leads is designed to stop fluid wicking along the traces. E2 tests the seal.</a:t>
            </a:r>
          </a:p>
        </p:txBody>
      </p:sp>
    </p:spTree>
  </p:cSld>
  <p:clrMapOvr>
    <a:masterClrMapping/>
  </p:clrMapOvr>
</p:sld>
</file>

<file path=ppt/slides/slide10.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0"/>
            <a:ext cx="18288000" cy="10287000"/>
            <a:chOff x="0" y="0"/>
            <a:chExt cx="24384000" cy="13716000"/>
          </a:xfrm>
        </p:grpSpPr>
        <p:sp>
          <p:nvSpPr>
            <p:cNvPr name="Freeform 3" id="3" descr="image.png"/>
            <p:cNvSpPr/>
            <p:nvPr/>
          </p:nvSpPr>
          <p:spPr>
            <a:xfrm flipH="false" flipV="false" rot="0">
              <a:off x="0" y="0"/>
              <a:ext cx="24384000" cy="13716000"/>
            </a:xfrm>
            <a:custGeom>
              <a:avLst/>
              <a:gdLst/>
              <a:ahLst/>
              <a:cxnLst/>
              <a:rect r="r" b="b" t="t" l="l"/>
              <a:pathLst>
                <a:path h="13716000" w="24384000">
                  <a:moveTo>
                    <a:pt x="0" y="0"/>
                  </a:moveTo>
                  <a:lnTo>
                    <a:pt x="24384000" y="0"/>
                  </a:lnTo>
                  <a:lnTo>
                    <a:pt x="24384000" y="13716000"/>
                  </a:lnTo>
                  <a:lnTo>
                    <a:pt x="0" y="13716000"/>
                  </a:lnTo>
                  <a:lnTo>
                    <a:pt x="0" y="0"/>
                  </a:lnTo>
                  <a:close/>
                </a:path>
              </a:pathLst>
            </a:custGeom>
            <a:blipFill>
              <a:blip r:embed="rId3"/>
              <a:stretch>
                <a:fillRect l="0" t="0" r="0" b="0"/>
              </a:stretch>
            </a:blipFill>
          </p:spPr>
          <p:txBody>
            <a:bodyPr/>
            <a:p/>
          </p:txBody>
        </p:sp>
      </p:grpSp>
      <p:grpSp>
        <p:nvGrpSpPr>
          <p:cNvPr name="Group 4" id="4"/>
          <p:cNvGrpSpPr/>
          <p:nvPr/>
        </p:nvGrpSpPr>
        <p:grpSpPr>
          <a:xfrm rot="0">
            <a:off x="800100" y="8624449"/>
            <a:ext cx="16687800" cy="544706"/>
            <a:chOff x="0" y="0"/>
            <a:chExt cx="22250400" cy="726275"/>
          </a:xfrm>
        </p:grpSpPr>
        <p:sp>
          <p:nvSpPr>
            <p:cNvPr name="Freeform 5" id="5" descr="image.png"/>
            <p:cNvSpPr/>
            <p:nvPr/>
          </p:nvSpPr>
          <p:spPr>
            <a:xfrm flipH="false" flipV="false" rot="0">
              <a:off x="0" y="0"/>
              <a:ext cx="22250400" cy="726313"/>
            </a:xfrm>
            <a:custGeom>
              <a:avLst/>
              <a:gdLst/>
              <a:ahLst/>
              <a:cxnLst/>
              <a:rect r="r" b="b" t="t" l="l"/>
              <a:pathLst>
                <a:path h="726313" w="22250400">
                  <a:moveTo>
                    <a:pt x="0" y="0"/>
                  </a:moveTo>
                  <a:lnTo>
                    <a:pt x="22250400" y="0"/>
                  </a:lnTo>
                  <a:lnTo>
                    <a:pt x="22250400" y="726313"/>
                  </a:lnTo>
                  <a:lnTo>
                    <a:pt x="0" y="726313"/>
                  </a:lnTo>
                  <a:lnTo>
                    <a:pt x="0" y="0"/>
                  </a:lnTo>
                  <a:close/>
                </a:path>
              </a:pathLst>
            </a:custGeom>
            <a:blipFill>
              <a:blip r:embed="rId4"/>
              <a:stretch>
                <a:fillRect l="0" t="0" r="0" b="-2290"/>
              </a:stretch>
            </a:blipFill>
          </p:spPr>
          <p:txBody>
            <a:bodyPr/>
            <a:p/>
          </p:txBody>
        </p:sp>
      </p:grpSp>
      <p:grpSp>
        <p:nvGrpSpPr>
          <p:cNvPr name="Group 6" id="6"/>
          <p:cNvGrpSpPr/>
          <p:nvPr/>
        </p:nvGrpSpPr>
        <p:grpSpPr>
          <a:xfrm rot="0">
            <a:off x="9344025" y="1434341"/>
            <a:ext cx="8143875" cy="6702152"/>
            <a:chOff x="0" y="0"/>
            <a:chExt cx="10858500" cy="8936203"/>
          </a:xfrm>
        </p:grpSpPr>
        <p:sp>
          <p:nvSpPr>
            <p:cNvPr name="Freeform 7" id="7" descr="image.png"/>
            <p:cNvSpPr/>
            <p:nvPr/>
          </p:nvSpPr>
          <p:spPr>
            <a:xfrm flipH="false" flipV="false" rot="0">
              <a:off x="0" y="0"/>
              <a:ext cx="10858500" cy="8936228"/>
            </a:xfrm>
            <a:custGeom>
              <a:avLst/>
              <a:gdLst/>
              <a:ahLst/>
              <a:cxnLst/>
              <a:rect r="r" b="b" t="t" l="l"/>
              <a:pathLst>
                <a:path h="8936228" w="10858500">
                  <a:moveTo>
                    <a:pt x="0" y="0"/>
                  </a:moveTo>
                  <a:lnTo>
                    <a:pt x="10858500" y="0"/>
                  </a:lnTo>
                  <a:lnTo>
                    <a:pt x="10858500" y="8936228"/>
                  </a:lnTo>
                  <a:lnTo>
                    <a:pt x="0" y="8936228"/>
                  </a:lnTo>
                  <a:lnTo>
                    <a:pt x="0" y="0"/>
                  </a:lnTo>
                  <a:close/>
                </a:path>
              </a:pathLst>
            </a:custGeom>
            <a:blipFill>
              <a:blip r:embed="rId5"/>
              <a:stretch>
                <a:fillRect l="0" t="0" r="0" b="-11704"/>
              </a:stretch>
            </a:blipFill>
          </p:spPr>
          <p:txBody>
            <a:bodyPr/>
            <a:p/>
          </p:txBody>
        </p:sp>
      </p:grpSp>
      <p:grpSp>
        <p:nvGrpSpPr>
          <p:cNvPr name="Group 8" id="8"/>
          <p:cNvGrpSpPr/>
          <p:nvPr/>
        </p:nvGrpSpPr>
        <p:grpSpPr>
          <a:xfrm rot="0">
            <a:off x="795528" y="1440180"/>
            <a:ext cx="8147304" cy="5843016"/>
            <a:chOff x="0" y="0"/>
            <a:chExt cx="10863072" cy="7790688"/>
          </a:xfrm>
        </p:grpSpPr>
        <p:sp>
          <p:nvSpPr>
            <p:cNvPr name="Freeform 9" id="9" descr="image.png"/>
            <p:cNvSpPr/>
            <p:nvPr/>
          </p:nvSpPr>
          <p:spPr>
            <a:xfrm flipH="false" flipV="false" rot="0">
              <a:off x="0" y="0"/>
              <a:ext cx="10863072" cy="7790688"/>
            </a:xfrm>
            <a:custGeom>
              <a:avLst/>
              <a:gdLst/>
              <a:ahLst/>
              <a:cxnLst/>
              <a:rect r="r" b="b" t="t" l="l"/>
              <a:pathLst>
                <a:path h="7790688" w="10863072">
                  <a:moveTo>
                    <a:pt x="0" y="0"/>
                  </a:moveTo>
                  <a:lnTo>
                    <a:pt x="10863072" y="0"/>
                  </a:lnTo>
                  <a:lnTo>
                    <a:pt x="10863072" y="7790688"/>
                  </a:lnTo>
                  <a:lnTo>
                    <a:pt x="0" y="7790688"/>
                  </a:lnTo>
                  <a:lnTo>
                    <a:pt x="0" y="0"/>
                  </a:lnTo>
                  <a:close/>
                </a:path>
              </a:pathLst>
            </a:custGeom>
            <a:blipFill>
              <a:blip r:embed="rId6"/>
              <a:stretch>
                <a:fillRect l="0" t="0" r="-59682" b="0"/>
              </a:stretch>
            </a:blipFill>
          </p:spPr>
          <p:txBody>
            <a:bodyPr/>
            <a:p/>
          </p:txBody>
        </p:sp>
      </p:grpSp>
      <p:grpSp>
        <p:nvGrpSpPr>
          <p:cNvPr name="Group 10" id="10"/>
          <p:cNvGrpSpPr/>
          <p:nvPr/>
        </p:nvGrpSpPr>
        <p:grpSpPr>
          <a:xfrm rot="0">
            <a:off x="800100" y="657225"/>
            <a:ext cx="12893040" cy="754049"/>
            <a:chOff x="0" y="0"/>
            <a:chExt cx="17190720" cy="1005399"/>
          </a:xfrm>
        </p:grpSpPr>
        <p:sp>
          <p:nvSpPr>
            <p:cNvPr name="Freeform 11" id="11"/>
            <p:cNvSpPr/>
            <p:nvPr/>
          </p:nvSpPr>
          <p:spPr>
            <a:xfrm flipH="false" flipV="false" rot="0">
              <a:off x="0" y="0"/>
              <a:ext cx="17190720" cy="1005396"/>
            </a:xfrm>
            <a:custGeom>
              <a:avLst/>
              <a:gdLst/>
              <a:ahLst/>
              <a:cxnLst/>
              <a:rect r="r" b="b" t="t" l="l"/>
              <a:pathLst>
                <a:path h="1005396" w="17190720">
                  <a:moveTo>
                    <a:pt x="0" y="0"/>
                  </a:moveTo>
                  <a:lnTo>
                    <a:pt x="17190720" y="0"/>
                  </a:lnTo>
                  <a:lnTo>
                    <a:pt x="17190720" y="1005396"/>
                  </a:lnTo>
                  <a:lnTo>
                    <a:pt x="0" y="1005396"/>
                  </a:lnTo>
                  <a:close/>
                </a:path>
              </a:pathLst>
            </a:custGeom>
            <a:blipFill>
              <a:blip r:embed="rId7">
                <a:alphaModFix amt="0"/>
              </a:blip>
              <a:stretch>
                <a:fillRect l="0" t="-302477" r="0" b="-263850"/>
              </a:stretch>
            </a:blipFill>
          </p:spPr>
          <p:txBody>
            <a:bodyPr/>
            <a:p/>
          </p:txBody>
        </p:sp>
        <p:sp>
          <p:nvSpPr>
            <p:cNvPr name="TextBox 12" id="12"/>
            <p:cNvSpPr txBox="true"/>
            <p:nvPr/>
          </p:nvSpPr>
          <p:spPr>
            <a:xfrm>
              <a:off x="0" y="-104775"/>
              <a:ext cx="17190720" cy="1110174"/>
            </a:xfrm>
            <a:prstGeom prst="rect">
              <a:avLst/>
            </a:prstGeom>
          </p:spPr>
          <p:txBody>
            <a:bodyPr anchor="ctr" rtlCol="false" tIns="0" lIns="0" bIns="0" rIns="0"/>
            <a:lstStyle/>
            <a:p>
              <a:pPr algn="l" marL="0" indent="0" lvl="0">
                <a:lnSpc>
                  <a:spcPts val="4372"/>
                </a:lnSpc>
                <a:spcBef>
                  <a:spcPct val="0"/>
                </a:spcBef>
              </a:pPr>
              <a:r>
                <a:rPr lang="en-US" sz="3037" strike="noStrike" u="none">
                  <a:solidFill>
                    <a:srgbClr val="0F172A"/>
                  </a:solidFill>
                  <a:latin typeface="Poppins"/>
                  <a:ea typeface="Poppins"/>
                  <a:cs typeface="Poppins"/>
                  <a:sym typeface="Poppins"/>
                </a:rPr>
                <a:t>Electronics Architecture &amp; Signal Path</a:t>
              </a:r>
            </a:p>
          </p:txBody>
        </p:sp>
      </p:grpSp>
      <p:sp>
        <p:nvSpPr>
          <p:cNvPr name="TextBox 13" id="13"/>
          <p:cNvSpPr txBox="true"/>
          <p:nvPr/>
        </p:nvSpPr>
        <p:spPr>
          <a:xfrm rot="0">
            <a:off x="1085850" y="8691124"/>
            <a:ext cx="16047720" cy="291689"/>
          </a:xfrm>
          <a:prstGeom prst="rect">
            <a:avLst/>
          </a:prstGeom>
        </p:spPr>
        <p:txBody>
          <a:bodyPr anchor="t" rtlCol="false" tIns="0" lIns="0" bIns="0" rIns="0">
            <a:spAutoFit/>
          </a:bodyPr>
          <a:lstStyle/>
          <a:p>
            <a:pPr algn="l">
              <a:lnSpc>
                <a:spcPts val="2506"/>
              </a:lnSpc>
            </a:pPr>
            <a:r>
              <a:rPr lang="en-US" b="true" sz="1439">
                <a:solidFill>
                  <a:srgbClr val="0F172A"/>
                </a:solidFill>
                <a:latin typeface="DM Sans Bold"/>
                <a:ea typeface="DM Sans Bold"/>
                <a:cs typeface="DM Sans Bold"/>
                <a:sym typeface="DM Sans Bold"/>
              </a:rPr>
              <a:t>The electrical rules check found 0 violations. The netlist matches the firmware and strip pads, with 0 mismatches.</a:t>
            </a:r>
          </a:p>
        </p:txBody>
      </p:sp>
      <p:sp>
        <p:nvSpPr>
          <p:cNvPr name="TextBox 14" id="14"/>
          <p:cNvSpPr txBox="true"/>
          <p:nvPr/>
        </p:nvSpPr>
        <p:spPr>
          <a:xfrm rot="0">
            <a:off x="800100" y="7294626"/>
            <a:ext cx="8143875" cy="226600"/>
          </a:xfrm>
          <a:prstGeom prst="rect">
            <a:avLst/>
          </a:prstGeom>
        </p:spPr>
        <p:txBody>
          <a:bodyPr anchor="t" rtlCol="false" tIns="0" lIns="0" bIns="0" rIns="0">
            <a:spAutoFit/>
          </a:bodyPr>
          <a:lstStyle/>
          <a:p>
            <a:pPr algn="r">
              <a:lnSpc>
                <a:spcPts val="1983"/>
              </a:lnSpc>
            </a:pPr>
            <a:r>
              <a:rPr lang="en-US" sz="1139">
                <a:solidFill>
                  <a:srgbClr val="64748B"/>
                </a:solidFill>
                <a:latin typeface="DM Sans"/>
                <a:ea typeface="DM Sans"/>
                <a:cs typeface="DM Sans"/>
                <a:sym typeface="DM Sans"/>
              </a:rPr>
              <a:t>This figure shows zone C’s measurement path from our KiCad 10 netlist.</a:t>
            </a:r>
          </a:p>
        </p:txBody>
      </p:sp>
      <p:grpSp>
        <p:nvGrpSpPr>
          <p:cNvPr name="Group 15" id="15"/>
          <p:cNvGrpSpPr/>
          <p:nvPr/>
        </p:nvGrpSpPr>
        <p:grpSpPr>
          <a:xfrm rot="0">
            <a:off x="9672638" y="1762944"/>
            <a:ext cx="174355" cy="228600"/>
            <a:chOff x="0" y="0"/>
            <a:chExt cx="232474" cy="304800"/>
          </a:xfrm>
        </p:grpSpPr>
        <p:sp>
          <p:nvSpPr>
            <p:cNvPr name="Freeform 16" id="16" descr="image.png"/>
            <p:cNvSpPr/>
            <p:nvPr/>
          </p:nvSpPr>
          <p:spPr>
            <a:xfrm flipH="false" flipV="false" rot="0">
              <a:off x="0" y="0"/>
              <a:ext cx="232410" cy="304800"/>
            </a:xfrm>
            <a:custGeom>
              <a:avLst/>
              <a:gdLst/>
              <a:ahLst/>
              <a:cxnLst/>
              <a:rect r="r" b="b" t="t" l="l"/>
              <a:pathLst>
                <a:path h="304800" w="232410">
                  <a:moveTo>
                    <a:pt x="0" y="0"/>
                  </a:moveTo>
                  <a:lnTo>
                    <a:pt x="232410" y="0"/>
                  </a:lnTo>
                  <a:lnTo>
                    <a:pt x="232410" y="304800"/>
                  </a:lnTo>
                  <a:lnTo>
                    <a:pt x="0" y="304800"/>
                  </a:lnTo>
                  <a:lnTo>
                    <a:pt x="0" y="0"/>
                  </a:lnTo>
                  <a:close/>
                </a:path>
              </a:pathLst>
            </a:custGeom>
            <a:blipFill>
              <a:blip r:embed="rId8"/>
              <a:stretch>
                <a:fillRect l="0" t="0" r="-289" b="0"/>
              </a:stretch>
            </a:blipFill>
          </p:spPr>
          <p:txBody>
            <a:bodyPr/>
            <a:p/>
          </p:txBody>
        </p:sp>
      </p:grpSp>
      <p:sp>
        <p:nvSpPr>
          <p:cNvPr name="TextBox 17" id="17"/>
          <p:cNvSpPr txBox="true"/>
          <p:nvPr/>
        </p:nvSpPr>
        <p:spPr>
          <a:xfrm rot="0">
            <a:off x="9989868" y="1743894"/>
            <a:ext cx="4577801" cy="247650"/>
          </a:xfrm>
          <a:prstGeom prst="rect">
            <a:avLst/>
          </a:prstGeom>
        </p:spPr>
        <p:txBody>
          <a:bodyPr anchor="t" rtlCol="false" tIns="0" lIns="0" bIns="0" rIns="0">
            <a:spAutoFit/>
          </a:bodyPr>
          <a:lstStyle/>
          <a:p>
            <a:pPr algn="l">
              <a:lnSpc>
                <a:spcPts val="2070"/>
              </a:lnSpc>
            </a:pPr>
            <a:r>
              <a:rPr lang="en-US" b="true" sz="1725">
                <a:solidFill>
                  <a:srgbClr val="0F172A"/>
                </a:solidFill>
                <a:latin typeface="DM Sans Bold"/>
                <a:ea typeface="DM Sans Bold"/>
                <a:cs typeface="DM Sans Bold"/>
                <a:sym typeface="DM Sans Bold"/>
              </a:rPr>
              <a:t>Pin and net map from our KiCad netlist</a:t>
            </a:r>
          </a:p>
        </p:txBody>
      </p:sp>
      <p:grpSp>
        <p:nvGrpSpPr>
          <p:cNvPr name="Group 18" id="18"/>
          <p:cNvGrpSpPr/>
          <p:nvPr/>
        </p:nvGrpSpPr>
        <p:grpSpPr>
          <a:xfrm rot="0">
            <a:off x="16642794" y="9421197"/>
            <a:ext cx="1645206" cy="865803"/>
            <a:chOff x="0" y="0"/>
            <a:chExt cx="2193608" cy="1154405"/>
          </a:xfrm>
        </p:grpSpPr>
        <p:sp>
          <p:nvSpPr>
            <p:cNvPr name="Freeform 19" id="19"/>
            <p:cNvSpPr/>
            <p:nvPr/>
          </p:nvSpPr>
          <p:spPr>
            <a:xfrm flipH="false" flipV="false" rot="0">
              <a:off x="0" y="0"/>
              <a:ext cx="2193671" cy="1154430"/>
            </a:xfrm>
            <a:custGeom>
              <a:avLst/>
              <a:gdLst/>
              <a:ahLst/>
              <a:cxnLst/>
              <a:rect r="r" b="b" t="t" l="l"/>
              <a:pathLst>
                <a:path h="1154430" w="2193671">
                  <a:moveTo>
                    <a:pt x="0" y="0"/>
                  </a:moveTo>
                  <a:lnTo>
                    <a:pt x="2193671" y="0"/>
                  </a:lnTo>
                  <a:lnTo>
                    <a:pt x="2193671" y="1154430"/>
                  </a:lnTo>
                  <a:lnTo>
                    <a:pt x="0" y="1154430"/>
                  </a:lnTo>
                  <a:lnTo>
                    <a:pt x="0" y="0"/>
                  </a:lnTo>
                  <a:close/>
                </a:path>
              </a:pathLst>
            </a:custGeom>
            <a:blipFill>
              <a:blip r:embed="rId9"/>
              <a:stretch>
                <a:fillRect l="0" t="0" r="2" b="2"/>
              </a:stretch>
            </a:blipFill>
          </p:spPr>
          <p:txBody>
            <a:bodyPr/>
            <a:p/>
          </p:txBody>
        </p:sp>
      </p:grpSp>
      <p:grpSp>
        <p:nvGrpSpPr>
          <p:cNvPr name="Group 20" id="20"/>
          <p:cNvGrpSpPr/>
          <p:nvPr/>
        </p:nvGrpSpPr>
        <p:grpSpPr>
          <a:xfrm rot="0">
            <a:off x="0" y="9421197"/>
            <a:ext cx="2679421" cy="865803"/>
            <a:chOff x="0" y="0"/>
            <a:chExt cx="3572561" cy="1154405"/>
          </a:xfrm>
        </p:grpSpPr>
        <p:sp>
          <p:nvSpPr>
            <p:cNvPr name="Freeform 21" id="21"/>
            <p:cNvSpPr/>
            <p:nvPr/>
          </p:nvSpPr>
          <p:spPr>
            <a:xfrm flipH="false" flipV="false" rot="0">
              <a:off x="0" y="0"/>
              <a:ext cx="3572510" cy="1154430"/>
            </a:xfrm>
            <a:custGeom>
              <a:avLst/>
              <a:gdLst/>
              <a:ahLst/>
              <a:cxnLst/>
              <a:rect r="r" b="b" t="t" l="l"/>
              <a:pathLst>
                <a:path h="1154430" w="3572510">
                  <a:moveTo>
                    <a:pt x="0" y="0"/>
                  </a:moveTo>
                  <a:lnTo>
                    <a:pt x="3572510" y="0"/>
                  </a:lnTo>
                  <a:lnTo>
                    <a:pt x="3572510" y="1154430"/>
                  </a:lnTo>
                  <a:lnTo>
                    <a:pt x="0" y="1154430"/>
                  </a:lnTo>
                  <a:lnTo>
                    <a:pt x="0" y="0"/>
                  </a:lnTo>
                  <a:close/>
                </a:path>
              </a:pathLst>
            </a:custGeom>
            <a:blipFill>
              <a:blip r:embed="rId10"/>
              <a:stretch>
                <a:fillRect l="-21110" t="-147255" r="-22761" b="-197973"/>
              </a:stretch>
            </a:blipFill>
          </p:spPr>
          <p:txBody>
            <a:bodyPr/>
            <a:p/>
          </p:txBody>
        </p:sp>
      </p:grpSp>
      <p:grpSp>
        <p:nvGrpSpPr>
          <p:cNvPr name="Group 22" id="22"/>
          <p:cNvGrpSpPr/>
          <p:nvPr/>
        </p:nvGrpSpPr>
        <p:grpSpPr>
          <a:xfrm rot="0">
            <a:off x="14464894" y="685800"/>
            <a:ext cx="3023006" cy="462248"/>
            <a:chOff x="0" y="0"/>
            <a:chExt cx="4030675" cy="616331"/>
          </a:xfrm>
        </p:grpSpPr>
        <p:sp>
          <p:nvSpPr>
            <p:cNvPr name="Freeform 23" id="23"/>
            <p:cNvSpPr/>
            <p:nvPr/>
          </p:nvSpPr>
          <p:spPr>
            <a:xfrm flipH="false" flipV="false" rot="0">
              <a:off x="0" y="0"/>
              <a:ext cx="4030726" cy="616331"/>
            </a:xfrm>
            <a:custGeom>
              <a:avLst/>
              <a:gdLst/>
              <a:ahLst/>
              <a:cxnLst/>
              <a:rect r="r" b="b" t="t" l="l"/>
              <a:pathLst>
                <a:path h="616331" w="4030726">
                  <a:moveTo>
                    <a:pt x="0" y="308166"/>
                  </a:moveTo>
                  <a:cubicBezTo>
                    <a:pt x="0" y="137914"/>
                    <a:pt x="110490" y="0"/>
                    <a:pt x="246888" y="0"/>
                  </a:cubicBezTo>
                  <a:lnTo>
                    <a:pt x="3783838" y="0"/>
                  </a:lnTo>
                  <a:cubicBezTo>
                    <a:pt x="3920236" y="0"/>
                    <a:pt x="4030726" y="137914"/>
                    <a:pt x="4030726" y="308166"/>
                  </a:cubicBezTo>
                  <a:cubicBezTo>
                    <a:pt x="4030726" y="478417"/>
                    <a:pt x="3920236" y="616331"/>
                    <a:pt x="3783838" y="616331"/>
                  </a:cubicBezTo>
                  <a:lnTo>
                    <a:pt x="246888" y="616331"/>
                  </a:lnTo>
                  <a:cubicBezTo>
                    <a:pt x="110490" y="616331"/>
                    <a:pt x="0" y="478417"/>
                    <a:pt x="0" y="308166"/>
                  </a:cubicBezTo>
                  <a:close/>
                </a:path>
              </a:pathLst>
            </a:custGeom>
            <a:solidFill>
              <a:srgbClr val="D1FAE5"/>
            </a:solidFill>
          </p:spPr>
          <p:txBody>
            <a:bodyPr/>
            <a:p/>
          </p:txBody>
        </p:sp>
        <p:sp>
          <p:nvSpPr>
            <p:cNvPr name="TextBox 24" id="24"/>
            <p:cNvSpPr txBox="true"/>
            <p:nvPr/>
          </p:nvSpPr>
          <p:spPr>
            <a:xfrm>
              <a:off x="0" y="0"/>
              <a:ext cx="4030675" cy="616331"/>
            </a:xfrm>
            <a:prstGeom prst="rect">
              <a:avLst/>
            </a:prstGeom>
          </p:spPr>
          <p:txBody>
            <a:bodyPr anchor="ctr" rtlCol="false" tIns="50800" lIns="50800" bIns="50800" rIns="50800"/>
            <a:lstStyle/>
            <a:p>
              <a:pPr algn="ctr">
                <a:lnSpc>
                  <a:spcPts val="1350"/>
                </a:lnSpc>
              </a:pPr>
              <a:r>
                <a:rPr lang="en-US" sz="1125" b="true">
                  <a:solidFill>
                    <a:srgbClr val="047857"/>
                  </a:solidFill>
                  <a:latin typeface="DM Sans Bold"/>
                  <a:ea typeface="DM Sans Bold"/>
                  <a:cs typeface="DM Sans Bold"/>
                  <a:sym typeface="DM Sans Bold"/>
                </a:rPr>
                <a:t>SCHEMATIC CHECK PASSED · NOT YET WIRED</a:t>
              </a:r>
            </a:p>
          </p:txBody>
        </p:sp>
      </p:grpSp>
      <p:grpSp>
        <p:nvGrpSpPr>
          <p:cNvPr name="Group 25" id="25"/>
          <p:cNvGrpSpPr/>
          <p:nvPr/>
        </p:nvGrpSpPr>
        <p:grpSpPr>
          <a:xfrm rot="0">
            <a:off x="809244" y="1455068"/>
            <a:ext cx="8119872" cy="5813231"/>
            <a:chOff x="0" y="0"/>
            <a:chExt cx="10826496" cy="7750975"/>
          </a:xfrm>
        </p:grpSpPr>
        <p:sp>
          <p:nvSpPr>
            <p:cNvPr name="Freeform 26" id="26" descr="fig_schematic.png"/>
            <p:cNvSpPr/>
            <p:nvPr/>
          </p:nvSpPr>
          <p:spPr>
            <a:xfrm flipH="false" flipV="false" rot="0">
              <a:off x="0" y="0"/>
              <a:ext cx="10826496" cy="7750937"/>
            </a:xfrm>
            <a:custGeom>
              <a:avLst/>
              <a:gdLst/>
              <a:ahLst/>
              <a:cxnLst/>
              <a:rect r="r" b="b" t="t" l="l"/>
              <a:pathLst>
                <a:path h="7750937" w="10826496">
                  <a:moveTo>
                    <a:pt x="0" y="0"/>
                  </a:moveTo>
                  <a:lnTo>
                    <a:pt x="10826496" y="0"/>
                  </a:lnTo>
                  <a:lnTo>
                    <a:pt x="10826496" y="7750937"/>
                  </a:lnTo>
                  <a:lnTo>
                    <a:pt x="0" y="7750937"/>
                  </a:lnTo>
                  <a:lnTo>
                    <a:pt x="0" y="0"/>
                  </a:lnTo>
                  <a:close/>
                </a:path>
              </a:pathLst>
            </a:custGeom>
            <a:blipFill>
              <a:blip r:embed="rId11"/>
              <a:stretch>
                <a:fillRect l="0" t="0" r="0" b="0"/>
              </a:stretch>
            </a:blipFill>
          </p:spPr>
          <p:txBody>
            <a:bodyPr/>
            <a:p/>
          </p:txBody>
        </p:sp>
      </p:grpSp>
      <p:graphicFrame>
        <p:nvGraphicFramePr>
          <p:cNvPr name="Table 27" id="27"/>
          <p:cNvGraphicFramePr>
            <a:graphicFrameLocks noGrp="true"/>
          </p:cNvGraphicFramePr>
          <p:nvPr/>
        </p:nvGraphicFramePr>
        <p:xfrm>
          <a:off x="9669780" y="2221992"/>
          <a:ext cx="7486650" cy="5143500"/>
        </p:xfrm>
        <a:graphic>
          <a:graphicData uri="http://schemas.openxmlformats.org/drawingml/2006/table">
            <a:tbl>
              <a:tblPr/>
              <a:tblGrid>
                <a:gridCol w="1989456"/>
                <a:gridCol w="2350952"/>
                <a:gridCol w="3146243"/>
              </a:tblGrid>
              <a:tr h="527120">
                <a:tc>
                  <a:txBody>
                    <a:bodyPr anchor="t" rtlCol="false"/>
                    <a:lstStyle/>
                    <a:p>
                      <a:pPr algn="l">
                        <a:lnSpc>
                          <a:spcPts val="1620"/>
                        </a:lnSpc>
                        <a:defRPr/>
                      </a:pPr>
                      <a:r>
                        <a:rPr lang="en-US" sz="1350" b="true">
                          <a:solidFill>
                            <a:srgbClr val="0F172A"/>
                          </a:solidFill>
                          <a:latin typeface="DM Sans Bold"/>
                          <a:ea typeface="DM Sans Bold"/>
                          <a:cs typeface="DM Sans Bold"/>
                          <a:sym typeface="DM Sans Bold"/>
                        </a:rPr>
                        <a:t>Net</a:t>
                      </a:r>
                      <a:endParaRPr lang="en-US" sz="1100"/>
                    </a:p>
                  </a:txBody>
                  <a:tcPr marL="36576" marR="36576" marT="36576" marB="36576" anchor="ctr">
                    <a:lnL cmpd="sng" algn="ctr" cap="flat" w="12700">
                      <a:solidFill>
                        <a:srgbClr val="000000"/>
                      </a:solidFill>
                      <a:prstDash val="solid"/>
                      <a:round/>
                      <a:headEnd type="none" w="med" len="med"/>
                      <a:tailEnd type="none" w="med" len="med"/>
                    </a:lnL>
                    <a:lnR cmpd="sng" algn="ctr" cap="flat" w="12700">
                      <a:solidFill>
                        <a:srgbClr val="000000"/>
                      </a:solidFill>
                      <a:prstDash val="solid"/>
                      <a:round/>
                      <a:headEnd type="none" w="med" len="med"/>
                      <a:tailEnd type="none" w="med" len="med"/>
                    </a:lnR>
                    <a:lnT cmpd="sng" algn="ctr" cap="flat" w="12700">
                      <a:solidFill>
                        <a:srgbClr val="000000"/>
                      </a:solidFill>
                      <a:prstDash val="solid"/>
                      <a:round/>
                      <a:headEnd type="none" w="med" len="med"/>
                      <a:tailEnd type="none" w="med" len="med"/>
                    </a:lnT>
                    <a:lnB cmpd="sng" algn="ctr" cap="flat" w="12700">
                      <a:solidFill>
                        <a:srgbClr val="CBD5E1"/>
                      </a:solidFill>
                      <a:prstDash val="solid"/>
                      <a:round/>
                      <a:headEnd type="none" w="med" len="med"/>
                      <a:tailEnd type="none" w="med" len="med"/>
                    </a:lnB>
                  </a:tcPr>
                </a:tc>
                <a:tc>
                  <a:txBody>
                    <a:bodyPr anchor="t" rtlCol="false"/>
                    <a:lstStyle/>
                    <a:p>
                      <a:pPr algn="l">
                        <a:lnSpc>
                          <a:spcPts val="1620"/>
                        </a:lnSpc>
                        <a:defRPr/>
                      </a:pPr>
                      <a:r>
                        <a:rPr lang="en-US" sz="1350" b="true">
                          <a:solidFill>
                            <a:srgbClr val="0F172A"/>
                          </a:solidFill>
                          <a:latin typeface="DM Sans Bold"/>
                          <a:ea typeface="DM Sans Bold"/>
                          <a:cs typeface="DM Sans Bold"/>
                          <a:sym typeface="DM Sans Bold"/>
                        </a:rPr>
                        <a:t>Pin</a:t>
                      </a:r>
                      <a:endParaRPr lang="en-US" sz="1100"/>
                    </a:p>
                  </a:txBody>
                  <a:tcPr marL="36576" marR="36576" marT="36576" marB="36576" anchor="ctr">
                    <a:lnL cmpd="sng" algn="ctr" cap="flat" w="12700">
                      <a:solidFill>
                        <a:srgbClr val="000000"/>
                      </a:solidFill>
                      <a:prstDash val="solid"/>
                      <a:round/>
                      <a:headEnd type="none" w="med" len="med"/>
                      <a:tailEnd type="none" w="med" len="med"/>
                    </a:lnL>
                    <a:lnR cmpd="sng" algn="ctr" cap="flat" w="12700">
                      <a:solidFill>
                        <a:srgbClr val="000000"/>
                      </a:solidFill>
                      <a:prstDash val="solid"/>
                      <a:round/>
                      <a:headEnd type="none" w="med" len="med"/>
                      <a:tailEnd type="none" w="med" len="med"/>
                    </a:lnR>
                    <a:lnT cmpd="sng" algn="ctr" cap="flat" w="12700">
                      <a:solidFill>
                        <a:srgbClr val="000000"/>
                      </a:solidFill>
                      <a:prstDash val="solid"/>
                      <a:round/>
                      <a:headEnd type="none" w="med" len="med"/>
                      <a:tailEnd type="none" w="med" len="med"/>
                    </a:lnT>
                    <a:lnB cmpd="sng" algn="ctr" cap="flat" w="12700">
                      <a:solidFill>
                        <a:srgbClr val="CBD5E1"/>
                      </a:solidFill>
                      <a:prstDash val="solid"/>
                      <a:round/>
                      <a:headEnd type="none" w="med" len="med"/>
                      <a:tailEnd type="none" w="med" len="med"/>
                    </a:lnB>
                  </a:tcPr>
                </a:tc>
                <a:tc>
                  <a:txBody>
                    <a:bodyPr anchor="t" rtlCol="false"/>
                    <a:lstStyle/>
                    <a:p>
                      <a:pPr algn="l">
                        <a:lnSpc>
                          <a:spcPts val="1620"/>
                        </a:lnSpc>
                        <a:defRPr/>
                      </a:pPr>
                      <a:r>
                        <a:rPr lang="en-US" sz="1350" b="true">
                          <a:solidFill>
                            <a:srgbClr val="0F172A"/>
                          </a:solidFill>
                          <a:latin typeface="DM Sans Bold"/>
                          <a:ea typeface="DM Sans Bold"/>
                          <a:cs typeface="DM Sans Bold"/>
                          <a:sym typeface="DM Sans Bold"/>
                        </a:rPr>
                        <a:t>Function</a:t>
                      </a:r>
                      <a:endParaRPr lang="en-US" sz="1100"/>
                    </a:p>
                  </a:txBody>
                  <a:tcPr marL="36576" marR="36576" marT="36576" marB="36576" anchor="ctr">
                    <a:lnL cmpd="sng" algn="ctr" cap="flat" w="12700">
                      <a:solidFill>
                        <a:srgbClr val="000000"/>
                      </a:solidFill>
                      <a:prstDash val="solid"/>
                      <a:round/>
                      <a:headEnd type="none" w="med" len="med"/>
                      <a:tailEnd type="none" w="med" len="med"/>
                    </a:lnL>
                    <a:lnR cmpd="sng" algn="ctr" cap="flat" w="12700">
                      <a:solidFill>
                        <a:srgbClr val="000000"/>
                      </a:solidFill>
                      <a:prstDash val="solid"/>
                      <a:round/>
                      <a:headEnd type="none" w="med" len="med"/>
                      <a:tailEnd type="none" w="med" len="med"/>
                    </a:lnR>
                    <a:lnT cmpd="sng" algn="ctr" cap="flat" w="12700">
                      <a:solidFill>
                        <a:srgbClr val="000000"/>
                      </a:solidFill>
                      <a:prstDash val="solid"/>
                      <a:round/>
                      <a:headEnd type="none" w="med" len="med"/>
                      <a:tailEnd type="none" w="med" len="med"/>
                    </a:lnT>
                    <a:lnB cmpd="sng" algn="ctr" cap="flat" w="12700">
                      <a:solidFill>
                        <a:srgbClr val="CBD5E1"/>
                      </a:solidFill>
                      <a:prstDash val="solid"/>
                      <a:round/>
                      <a:headEnd type="none" w="med" len="med"/>
                      <a:tailEnd type="none" w="med" len="med"/>
                    </a:lnB>
                  </a:tcPr>
                </a:tc>
              </a:tr>
              <a:tr h="512931">
                <a:tc>
                  <a:txBody>
                    <a:bodyPr anchor="t" rtlCol="false"/>
                    <a:lstStyle/>
                    <a:p>
                      <a:pPr algn="l">
                        <a:lnSpc>
                          <a:spcPts val="1692"/>
                        </a:lnSpc>
                        <a:defRPr/>
                      </a:pPr>
                      <a:r>
                        <a:rPr lang="en-US" sz="1410" b="true">
                          <a:solidFill>
                            <a:srgbClr val="0F172A"/>
                          </a:solidFill>
                          <a:latin typeface="DM Sans Bold"/>
                          <a:ea typeface="DM Sans Bold"/>
                          <a:cs typeface="DM Sans Bold"/>
                          <a:sym typeface="DM Sans Bold"/>
                        </a:rPr>
                        <a:t>DRV_C · DRV_A</a:t>
                      </a:r>
                      <a:endParaRPr lang="en-US" sz="1100"/>
                    </a:p>
                  </a:txBody>
                  <a:tcPr marL="36576" marR="36576" marT="36576" marB="36576" anchor="ctr">
                    <a:lnL cmpd="sng" algn="ctr" cap="flat" w="7620">
                      <a:solidFill>
                        <a:srgbClr val="000000"/>
                      </a:solidFill>
                      <a:prstDash val="solid"/>
                      <a:round/>
                      <a:headEnd type="none" w="med" len="med"/>
                      <a:tailEnd type="none" w="med" len="med"/>
                    </a:lnL>
                    <a:lnR cmpd="sng" algn="ctr" cap="flat" w="7620">
                      <a:solidFill>
                        <a:srgbClr val="000000"/>
                      </a:solidFill>
                      <a:prstDash val="solid"/>
                      <a:round/>
                      <a:headEnd type="none" w="med" len="med"/>
                      <a:tailEnd type="none" w="med" len="med"/>
                    </a:lnR>
                    <a:lnT cmpd="sng" algn="ctr" cap="flat" w="7620">
                      <a:solidFill>
                        <a:srgbClr val="000000"/>
                      </a:solidFill>
                      <a:prstDash val="solid"/>
                      <a:round/>
                      <a:headEnd type="none" w="med" len="med"/>
                      <a:tailEnd type="none" w="med" len="med"/>
                    </a:lnT>
                    <a:lnB cmpd="sng" algn="ctr" cap="flat" w="7620">
                      <a:solidFill>
                        <a:srgbClr val="E2E8F0"/>
                      </a:solidFill>
                      <a:prstDash val="solid"/>
                      <a:round/>
                      <a:headEnd type="none" w="med" len="med"/>
                      <a:tailEnd type="none" w="med" len="med"/>
                    </a:lnB>
                  </a:tcPr>
                </a:tc>
                <a:tc>
                  <a:txBody>
                    <a:bodyPr anchor="t" rtlCol="false"/>
                    <a:lstStyle/>
                    <a:p>
                      <a:pPr algn="l">
                        <a:lnSpc>
                          <a:spcPts val="1692"/>
                        </a:lnSpc>
                        <a:defRPr/>
                      </a:pPr>
                      <a:r>
                        <a:rPr lang="en-US" sz="1410">
                          <a:solidFill>
                            <a:srgbClr val="334155"/>
                          </a:solidFill>
                          <a:latin typeface="DM Sans"/>
                          <a:ea typeface="DM Sans"/>
                          <a:cs typeface="DM Sans"/>
                          <a:sym typeface="DM Sans"/>
                        </a:rPr>
                        <a:t>GPIO3 · GPIO4</a:t>
                      </a:r>
                      <a:endParaRPr lang="en-US" sz="1100"/>
                    </a:p>
                  </a:txBody>
                  <a:tcPr marL="36576" marR="36576" marT="36576" marB="36576" anchor="ctr">
                    <a:lnL cmpd="sng" algn="ctr" cap="flat" w="7620">
                      <a:solidFill>
                        <a:srgbClr val="000000"/>
                      </a:solidFill>
                      <a:prstDash val="solid"/>
                      <a:round/>
                      <a:headEnd type="none" w="med" len="med"/>
                      <a:tailEnd type="none" w="med" len="med"/>
                    </a:lnL>
                    <a:lnR cmpd="sng" algn="ctr" cap="flat" w="7620">
                      <a:solidFill>
                        <a:srgbClr val="000000"/>
                      </a:solidFill>
                      <a:prstDash val="solid"/>
                      <a:round/>
                      <a:headEnd type="none" w="med" len="med"/>
                      <a:tailEnd type="none" w="med" len="med"/>
                    </a:lnR>
                    <a:lnT cmpd="sng" algn="ctr" cap="flat" w="7620">
                      <a:solidFill>
                        <a:srgbClr val="000000"/>
                      </a:solidFill>
                      <a:prstDash val="solid"/>
                      <a:round/>
                      <a:headEnd type="none" w="med" len="med"/>
                      <a:tailEnd type="none" w="med" len="med"/>
                    </a:lnT>
                    <a:lnB cmpd="sng" algn="ctr" cap="flat" w="7620">
                      <a:solidFill>
                        <a:srgbClr val="E2E8F0"/>
                      </a:solidFill>
                      <a:prstDash val="solid"/>
                      <a:round/>
                      <a:headEnd type="none" w="med" len="med"/>
                      <a:tailEnd type="none" w="med" len="med"/>
                    </a:lnB>
                  </a:tcPr>
                </a:tc>
                <a:tc>
                  <a:txBody>
                    <a:bodyPr anchor="t" rtlCol="false"/>
                    <a:lstStyle/>
                    <a:p>
                      <a:pPr algn="l">
                        <a:lnSpc>
                          <a:spcPts val="1692"/>
                        </a:lnSpc>
                        <a:defRPr/>
                      </a:pPr>
                      <a:r>
                        <a:rPr lang="en-US" sz="1410">
                          <a:solidFill>
                            <a:srgbClr val="334155"/>
                          </a:solidFill>
                          <a:latin typeface="DM Sans"/>
                          <a:ea typeface="DM Sans"/>
                          <a:cs typeface="DM Sans"/>
                          <a:sym typeface="DM Sans"/>
                        </a:rPr>
                        <a:t>drive zone C · A via 1 kΩ</a:t>
                      </a:r>
                      <a:endParaRPr lang="en-US" sz="1100"/>
                    </a:p>
                  </a:txBody>
                  <a:tcPr marL="36576" marR="36576" marT="36576" marB="36576" anchor="ctr">
                    <a:lnL cmpd="sng" algn="ctr" cap="flat" w="7620">
                      <a:solidFill>
                        <a:srgbClr val="000000"/>
                      </a:solidFill>
                      <a:prstDash val="solid"/>
                      <a:round/>
                      <a:headEnd type="none" w="med" len="med"/>
                      <a:tailEnd type="none" w="med" len="med"/>
                    </a:lnL>
                    <a:lnR cmpd="sng" algn="ctr" cap="flat" w="7620">
                      <a:solidFill>
                        <a:srgbClr val="000000"/>
                      </a:solidFill>
                      <a:prstDash val="solid"/>
                      <a:round/>
                      <a:headEnd type="none" w="med" len="med"/>
                      <a:tailEnd type="none" w="med" len="med"/>
                    </a:lnR>
                    <a:lnT cmpd="sng" algn="ctr" cap="flat" w="7620">
                      <a:solidFill>
                        <a:srgbClr val="000000"/>
                      </a:solidFill>
                      <a:prstDash val="solid"/>
                      <a:round/>
                      <a:headEnd type="none" w="med" len="med"/>
                      <a:tailEnd type="none" w="med" len="med"/>
                    </a:lnT>
                    <a:lnB cmpd="sng" algn="ctr" cap="flat" w="7620">
                      <a:solidFill>
                        <a:srgbClr val="E2E8F0"/>
                      </a:solidFill>
                      <a:prstDash val="solid"/>
                      <a:round/>
                      <a:headEnd type="none" w="med" len="med"/>
                      <a:tailEnd type="none" w="med" len="med"/>
                    </a:lnB>
                  </a:tcPr>
                </a:tc>
              </a:tr>
              <a:tr h="512931">
                <a:tc>
                  <a:txBody>
                    <a:bodyPr anchor="t" rtlCol="false"/>
                    <a:lstStyle/>
                    <a:p>
                      <a:pPr algn="l">
                        <a:lnSpc>
                          <a:spcPts val="1692"/>
                        </a:lnSpc>
                        <a:defRPr/>
                      </a:pPr>
                      <a:r>
                        <a:rPr lang="en-US" sz="1410" b="true">
                          <a:solidFill>
                            <a:srgbClr val="0F172A"/>
                          </a:solidFill>
                          <a:latin typeface="DM Sans Bold"/>
                          <a:ea typeface="DM Sans Bold"/>
                          <a:cs typeface="DM Sans Bold"/>
                          <a:sym typeface="DM Sans Bold"/>
                        </a:rPr>
                        <a:t>DRV_LOOP</a:t>
                      </a:r>
                      <a:endParaRPr lang="en-US" sz="1100"/>
                    </a:p>
                  </a:txBody>
                  <a:tcPr marL="36576" marR="36576" marT="36576" marB="36576" anchor="ctr">
                    <a:lnL cmpd="sng" algn="ctr" cap="flat" w="7620">
                      <a:solidFill>
                        <a:srgbClr val="000000"/>
                      </a:solidFill>
                      <a:prstDash val="solid"/>
                      <a:round/>
                      <a:headEnd type="none" w="med" len="med"/>
                      <a:tailEnd type="none" w="med" len="med"/>
                    </a:lnL>
                    <a:lnR cmpd="sng" algn="ctr" cap="flat" w="7620">
                      <a:solidFill>
                        <a:srgbClr val="000000"/>
                      </a:solidFill>
                      <a:prstDash val="solid"/>
                      <a:round/>
                      <a:headEnd type="none" w="med" len="med"/>
                      <a:tailEnd type="none" w="med" len="med"/>
                    </a:lnR>
                    <a:lnT cmpd="sng" algn="ctr" cap="flat" w="7620">
                      <a:solidFill>
                        <a:srgbClr val="000000"/>
                      </a:solidFill>
                      <a:prstDash val="solid"/>
                      <a:round/>
                      <a:headEnd type="none" w="med" len="med"/>
                      <a:tailEnd type="none" w="med" len="med"/>
                    </a:lnT>
                    <a:lnB cmpd="sng" algn="ctr" cap="flat" w="7620">
                      <a:solidFill>
                        <a:srgbClr val="E2E8F0"/>
                      </a:solidFill>
                      <a:prstDash val="solid"/>
                      <a:round/>
                      <a:headEnd type="none" w="med" len="med"/>
                      <a:tailEnd type="none" w="med" len="med"/>
                    </a:lnB>
                  </a:tcPr>
                </a:tc>
                <a:tc>
                  <a:txBody>
                    <a:bodyPr anchor="t" rtlCol="false"/>
                    <a:lstStyle/>
                    <a:p>
                      <a:pPr algn="l">
                        <a:lnSpc>
                          <a:spcPts val="1692"/>
                        </a:lnSpc>
                        <a:defRPr/>
                      </a:pPr>
                      <a:r>
                        <a:rPr lang="en-US" sz="1410">
                          <a:solidFill>
                            <a:srgbClr val="334155"/>
                          </a:solidFill>
                          <a:latin typeface="DM Sans"/>
                          <a:ea typeface="DM Sans"/>
                          <a:cs typeface="DM Sans"/>
                          <a:sym typeface="DM Sans"/>
                        </a:rPr>
                        <a:t>GPIO5</a:t>
                      </a:r>
                      <a:endParaRPr lang="en-US" sz="1100"/>
                    </a:p>
                  </a:txBody>
                  <a:tcPr marL="36576" marR="36576" marT="36576" marB="36576" anchor="ctr">
                    <a:lnL cmpd="sng" algn="ctr" cap="flat" w="7620">
                      <a:solidFill>
                        <a:srgbClr val="000000"/>
                      </a:solidFill>
                      <a:prstDash val="solid"/>
                      <a:round/>
                      <a:headEnd type="none" w="med" len="med"/>
                      <a:tailEnd type="none" w="med" len="med"/>
                    </a:lnL>
                    <a:lnR cmpd="sng" algn="ctr" cap="flat" w="7620">
                      <a:solidFill>
                        <a:srgbClr val="000000"/>
                      </a:solidFill>
                      <a:prstDash val="solid"/>
                      <a:round/>
                      <a:headEnd type="none" w="med" len="med"/>
                      <a:tailEnd type="none" w="med" len="med"/>
                    </a:lnR>
                    <a:lnT cmpd="sng" algn="ctr" cap="flat" w="7620">
                      <a:solidFill>
                        <a:srgbClr val="000000"/>
                      </a:solidFill>
                      <a:prstDash val="solid"/>
                      <a:round/>
                      <a:headEnd type="none" w="med" len="med"/>
                      <a:tailEnd type="none" w="med" len="med"/>
                    </a:lnT>
                    <a:lnB cmpd="sng" algn="ctr" cap="flat" w="7620">
                      <a:solidFill>
                        <a:srgbClr val="E2E8F0"/>
                      </a:solidFill>
                      <a:prstDash val="solid"/>
                      <a:round/>
                      <a:headEnd type="none" w="med" len="med"/>
                      <a:tailEnd type="none" w="med" len="med"/>
                    </a:lnB>
                  </a:tcPr>
                </a:tc>
                <a:tc>
                  <a:txBody>
                    <a:bodyPr anchor="t" rtlCol="false"/>
                    <a:lstStyle/>
                    <a:p>
                      <a:pPr algn="l">
                        <a:lnSpc>
                          <a:spcPts val="1692"/>
                        </a:lnSpc>
                        <a:defRPr/>
                      </a:pPr>
                      <a:r>
                        <a:rPr lang="en-US" sz="1410">
                          <a:solidFill>
                            <a:srgbClr val="334155"/>
                          </a:solidFill>
                          <a:latin typeface="DM Sans"/>
                          <a:ea typeface="DM Sans"/>
                          <a:cs typeface="DM Sans"/>
                          <a:sym typeface="DM Sans"/>
                        </a:rPr>
                        <a:t>strip loop (broken strip)</a:t>
                      </a:r>
                      <a:endParaRPr lang="en-US" sz="1100"/>
                    </a:p>
                  </a:txBody>
                  <a:tcPr marL="36576" marR="36576" marT="36576" marB="36576" anchor="ctr">
                    <a:lnL cmpd="sng" algn="ctr" cap="flat" w="7620">
                      <a:solidFill>
                        <a:srgbClr val="000000"/>
                      </a:solidFill>
                      <a:prstDash val="solid"/>
                      <a:round/>
                      <a:headEnd type="none" w="med" len="med"/>
                      <a:tailEnd type="none" w="med" len="med"/>
                    </a:lnL>
                    <a:lnR cmpd="sng" algn="ctr" cap="flat" w="7620">
                      <a:solidFill>
                        <a:srgbClr val="000000"/>
                      </a:solidFill>
                      <a:prstDash val="solid"/>
                      <a:round/>
                      <a:headEnd type="none" w="med" len="med"/>
                      <a:tailEnd type="none" w="med" len="med"/>
                    </a:lnR>
                    <a:lnT cmpd="sng" algn="ctr" cap="flat" w="7620">
                      <a:solidFill>
                        <a:srgbClr val="000000"/>
                      </a:solidFill>
                      <a:prstDash val="solid"/>
                      <a:round/>
                      <a:headEnd type="none" w="med" len="med"/>
                      <a:tailEnd type="none" w="med" len="med"/>
                    </a:lnT>
                    <a:lnB cmpd="sng" algn="ctr" cap="flat" w="7620">
                      <a:solidFill>
                        <a:srgbClr val="E2E8F0"/>
                      </a:solidFill>
                      <a:prstDash val="solid"/>
                      <a:round/>
                      <a:headEnd type="none" w="med" len="med"/>
                      <a:tailEnd type="none" w="med" len="med"/>
                    </a:lnB>
                  </a:tcPr>
                </a:tc>
              </a:tr>
              <a:tr h="512931">
                <a:tc>
                  <a:txBody>
                    <a:bodyPr anchor="t" rtlCol="false"/>
                    <a:lstStyle/>
                    <a:p>
                      <a:pPr algn="l">
                        <a:lnSpc>
                          <a:spcPts val="1692"/>
                        </a:lnSpc>
                        <a:defRPr/>
                      </a:pPr>
                      <a:r>
                        <a:rPr lang="en-US" sz="1410" b="true">
                          <a:solidFill>
                            <a:srgbClr val="0F172A"/>
                          </a:solidFill>
                          <a:latin typeface="DM Sans Bold"/>
                          <a:ea typeface="DM Sans Bold"/>
                          <a:cs typeface="DM Sans Bold"/>
                          <a:sym typeface="DM Sans Bold"/>
                        </a:rPr>
                        <a:t>DRV_REF</a:t>
                      </a:r>
                      <a:endParaRPr lang="en-US" sz="1100"/>
                    </a:p>
                  </a:txBody>
                  <a:tcPr marL="36576" marR="36576" marT="36576" marB="36576" anchor="ctr">
                    <a:lnL cmpd="sng" algn="ctr" cap="flat" w="7620">
                      <a:solidFill>
                        <a:srgbClr val="000000"/>
                      </a:solidFill>
                      <a:prstDash val="solid"/>
                      <a:round/>
                      <a:headEnd type="none" w="med" len="med"/>
                      <a:tailEnd type="none" w="med" len="med"/>
                    </a:lnL>
                    <a:lnR cmpd="sng" algn="ctr" cap="flat" w="7620">
                      <a:solidFill>
                        <a:srgbClr val="000000"/>
                      </a:solidFill>
                      <a:prstDash val="solid"/>
                      <a:round/>
                      <a:headEnd type="none" w="med" len="med"/>
                      <a:tailEnd type="none" w="med" len="med"/>
                    </a:lnR>
                    <a:lnT cmpd="sng" algn="ctr" cap="flat" w="7620">
                      <a:solidFill>
                        <a:srgbClr val="000000"/>
                      </a:solidFill>
                      <a:prstDash val="solid"/>
                      <a:round/>
                      <a:headEnd type="none" w="med" len="med"/>
                      <a:tailEnd type="none" w="med" len="med"/>
                    </a:lnT>
                    <a:lnB cmpd="sng" algn="ctr" cap="flat" w="7620">
                      <a:solidFill>
                        <a:srgbClr val="E2E8F0"/>
                      </a:solidFill>
                      <a:prstDash val="solid"/>
                      <a:round/>
                      <a:headEnd type="none" w="med" len="med"/>
                      <a:tailEnd type="none" w="med" len="med"/>
                    </a:lnB>
                  </a:tcPr>
                </a:tc>
                <a:tc>
                  <a:txBody>
                    <a:bodyPr anchor="t" rtlCol="false"/>
                    <a:lstStyle/>
                    <a:p>
                      <a:pPr algn="l">
                        <a:lnSpc>
                          <a:spcPts val="1692"/>
                        </a:lnSpc>
                        <a:defRPr/>
                      </a:pPr>
                      <a:r>
                        <a:rPr lang="en-US" sz="1410">
                          <a:solidFill>
                            <a:srgbClr val="334155"/>
                          </a:solidFill>
                          <a:latin typeface="DM Sans"/>
                          <a:ea typeface="DM Sans"/>
                          <a:cs typeface="DM Sans"/>
                          <a:sym typeface="DM Sans"/>
                        </a:rPr>
                        <a:t>GPIO10</a:t>
                      </a:r>
                      <a:endParaRPr lang="en-US" sz="1100"/>
                    </a:p>
                  </a:txBody>
                  <a:tcPr marL="36576" marR="36576" marT="36576" marB="36576" anchor="ctr">
                    <a:lnL cmpd="sng" algn="ctr" cap="flat" w="7620">
                      <a:solidFill>
                        <a:srgbClr val="000000"/>
                      </a:solidFill>
                      <a:prstDash val="solid"/>
                      <a:round/>
                      <a:headEnd type="none" w="med" len="med"/>
                      <a:tailEnd type="none" w="med" len="med"/>
                    </a:lnL>
                    <a:lnR cmpd="sng" algn="ctr" cap="flat" w="7620">
                      <a:solidFill>
                        <a:srgbClr val="000000"/>
                      </a:solidFill>
                      <a:prstDash val="solid"/>
                      <a:round/>
                      <a:headEnd type="none" w="med" len="med"/>
                      <a:tailEnd type="none" w="med" len="med"/>
                    </a:lnR>
                    <a:lnT cmpd="sng" algn="ctr" cap="flat" w="7620">
                      <a:solidFill>
                        <a:srgbClr val="000000"/>
                      </a:solidFill>
                      <a:prstDash val="solid"/>
                      <a:round/>
                      <a:headEnd type="none" w="med" len="med"/>
                      <a:tailEnd type="none" w="med" len="med"/>
                    </a:lnT>
                    <a:lnB cmpd="sng" algn="ctr" cap="flat" w="7620">
                      <a:solidFill>
                        <a:srgbClr val="E2E8F0"/>
                      </a:solidFill>
                      <a:prstDash val="solid"/>
                      <a:round/>
                      <a:headEnd type="none" w="med" len="med"/>
                      <a:tailEnd type="none" w="med" len="med"/>
                    </a:lnB>
                  </a:tcPr>
                </a:tc>
                <a:tc>
                  <a:txBody>
                    <a:bodyPr anchor="t" rtlCol="false"/>
                    <a:lstStyle/>
                    <a:p>
                      <a:pPr algn="l">
                        <a:lnSpc>
                          <a:spcPts val="1692"/>
                        </a:lnSpc>
                        <a:defRPr/>
                      </a:pPr>
                      <a:r>
                        <a:rPr lang="en-US" sz="1410">
                          <a:solidFill>
                            <a:srgbClr val="334155"/>
                          </a:solidFill>
                          <a:latin typeface="DM Sans"/>
                          <a:ea typeface="DM Sans"/>
                          <a:cs typeface="DM Sans"/>
                          <a:sym typeface="DM Sans"/>
                        </a:rPr>
                        <a:t>100 kΩ 0.1 % reference</a:t>
                      </a:r>
                      <a:endParaRPr lang="en-US" sz="1100"/>
                    </a:p>
                  </a:txBody>
                  <a:tcPr marL="36576" marR="36576" marT="36576" marB="36576" anchor="ctr">
                    <a:lnL cmpd="sng" algn="ctr" cap="flat" w="7620">
                      <a:solidFill>
                        <a:srgbClr val="000000"/>
                      </a:solidFill>
                      <a:prstDash val="solid"/>
                      <a:round/>
                      <a:headEnd type="none" w="med" len="med"/>
                      <a:tailEnd type="none" w="med" len="med"/>
                    </a:lnL>
                    <a:lnR cmpd="sng" algn="ctr" cap="flat" w="7620">
                      <a:solidFill>
                        <a:srgbClr val="000000"/>
                      </a:solidFill>
                      <a:prstDash val="solid"/>
                      <a:round/>
                      <a:headEnd type="none" w="med" len="med"/>
                      <a:tailEnd type="none" w="med" len="med"/>
                    </a:lnR>
                    <a:lnT cmpd="sng" algn="ctr" cap="flat" w="7620">
                      <a:solidFill>
                        <a:srgbClr val="000000"/>
                      </a:solidFill>
                      <a:prstDash val="solid"/>
                      <a:round/>
                      <a:headEnd type="none" w="med" len="med"/>
                      <a:tailEnd type="none" w="med" len="med"/>
                    </a:lnT>
                    <a:lnB cmpd="sng" algn="ctr" cap="flat" w="7620">
                      <a:solidFill>
                        <a:srgbClr val="E2E8F0"/>
                      </a:solidFill>
                      <a:prstDash val="solid"/>
                      <a:round/>
                      <a:headEnd type="none" w="med" len="med"/>
                      <a:tailEnd type="none" w="med" len="med"/>
                    </a:lnB>
                  </a:tcPr>
                </a:tc>
              </a:tr>
              <a:tr h="512931">
                <a:tc>
                  <a:txBody>
                    <a:bodyPr anchor="t" rtlCol="false"/>
                    <a:lstStyle/>
                    <a:p>
                      <a:pPr algn="l">
                        <a:lnSpc>
                          <a:spcPts val="1692"/>
                        </a:lnSpc>
                        <a:defRPr/>
                      </a:pPr>
                      <a:r>
                        <a:rPr lang="en-US" sz="1410" b="true">
                          <a:solidFill>
                            <a:srgbClr val="0F172A"/>
                          </a:solidFill>
                          <a:latin typeface="DM Sans Bold"/>
                          <a:ea typeface="DM Sans Bold"/>
                          <a:cs typeface="DM Sans Bold"/>
                          <a:sym typeface="DM Sans Bold"/>
                        </a:rPr>
                        <a:t>DRV_CHK</a:t>
                      </a:r>
                      <a:endParaRPr lang="en-US" sz="1100"/>
                    </a:p>
                  </a:txBody>
                  <a:tcPr marL="36576" marR="36576" marT="36576" marB="36576" anchor="ctr">
                    <a:lnL cmpd="sng" algn="ctr" cap="flat" w="7620">
                      <a:solidFill>
                        <a:srgbClr val="000000"/>
                      </a:solidFill>
                      <a:prstDash val="solid"/>
                      <a:round/>
                      <a:headEnd type="none" w="med" len="med"/>
                      <a:tailEnd type="none" w="med" len="med"/>
                    </a:lnL>
                    <a:lnR cmpd="sng" algn="ctr" cap="flat" w="7620">
                      <a:solidFill>
                        <a:srgbClr val="000000"/>
                      </a:solidFill>
                      <a:prstDash val="solid"/>
                      <a:round/>
                      <a:headEnd type="none" w="med" len="med"/>
                      <a:tailEnd type="none" w="med" len="med"/>
                    </a:lnR>
                    <a:lnT cmpd="sng" algn="ctr" cap="flat" w="7620">
                      <a:solidFill>
                        <a:srgbClr val="000000"/>
                      </a:solidFill>
                      <a:prstDash val="solid"/>
                      <a:round/>
                      <a:headEnd type="none" w="med" len="med"/>
                      <a:tailEnd type="none" w="med" len="med"/>
                    </a:lnT>
                    <a:lnB cmpd="sng" algn="ctr" cap="flat" w="7620">
                      <a:solidFill>
                        <a:srgbClr val="E2E8F0"/>
                      </a:solidFill>
                      <a:prstDash val="solid"/>
                      <a:round/>
                      <a:headEnd type="none" w="med" len="med"/>
                      <a:tailEnd type="none" w="med" len="med"/>
                    </a:lnB>
                  </a:tcPr>
                </a:tc>
                <a:tc>
                  <a:txBody>
                    <a:bodyPr anchor="t" rtlCol="false"/>
                    <a:lstStyle/>
                    <a:p>
                      <a:pPr algn="l">
                        <a:lnSpc>
                          <a:spcPts val="1692"/>
                        </a:lnSpc>
                        <a:defRPr/>
                      </a:pPr>
                      <a:r>
                        <a:rPr lang="en-US" sz="1410">
                          <a:solidFill>
                            <a:srgbClr val="334155"/>
                          </a:solidFill>
                          <a:latin typeface="DM Sans"/>
                          <a:ea typeface="DM Sans"/>
                          <a:cs typeface="DM Sans"/>
                          <a:sym typeface="DM Sans"/>
                        </a:rPr>
                        <a:t>GPIO20</a:t>
                      </a:r>
                      <a:endParaRPr lang="en-US" sz="1100"/>
                    </a:p>
                  </a:txBody>
                  <a:tcPr marL="36576" marR="36576" marT="36576" marB="36576" anchor="ctr">
                    <a:lnL cmpd="sng" algn="ctr" cap="flat" w="7620">
                      <a:solidFill>
                        <a:srgbClr val="000000"/>
                      </a:solidFill>
                      <a:prstDash val="solid"/>
                      <a:round/>
                      <a:headEnd type="none" w="med" len="med"/>
                      <a:tailEnd type="none" w="med" len="med"/>
                    </a:lnL>
                    <a:lnR cmpd="sng" algn="ctr" cap="flat" w="7620">
                      <a:solidFill>
                        <a:srgbClr val="000000"/>
                      </a:solidFill>
                      <a:prstDash val="solid"/>
                      <a:round/>
                      <a:headEnd type="none" w="med" len="med"/>
                      <a:tailEnd type="none" w="med" len="med"/>
                    </a:lnR>
                    <a:lnT cmpd="sng" algn="ctr" cap="flat" w="7620">
                      <a:solidFill>
                        <a:srgbClr val="000000"/>
                      </a:solidFill>
                      <a:prstDash val="solid"/>
                      <a:round/>
                      <a:headEnd type="none" w="med" len="med"/>
                      <a:tailEnd type="none" w="med" len="med"/>
                    </a:lnT>
                    <a:lnB cmpd="sng" algn="ctr" cap="flat" w="7620">
                      <a:solidFill>
                        <a:srgbClr val="E2E8F0"/>
                      </a:solidFill>
                      <a:prstDash val="solid"/>
                      <a:round/>
                      <a:headEnd type="none" w="med" len="med"/>
                      <a:tailEnd type="none" w="med" len="med"/>
                    </a:lnB>
                  </a:tcPr>
                </a:tc>
                <a:tc>
                  <a:txBody>
                    <a:bodyPr anchor="t" rtlCol="false"/>
                    <a:lstStyle/>
                    <a:p>
                      <a:pPr algn="l">
                        <a:lnSpc>
                          <a:spcPts val="1692"/>
                        </a:lnSpc>
                        <a:defRPr/>
                      </a:pPr>
                      <a:r>
                        <a:rPr lang="en-US" sz="1410">
                          <a:solidFill>
                            <a:srgbClr val="334155"/>
                          </a:solidFill>
                          <a:latin typeface="DM Sans"/>
                          <a:ea typeface="DM Sans"/>
                          <a:cs typeface="DM Sans"/>
                          <a:sym typeface="DM Sans"/>
                        </a:rPr>
                        <a:t>100 kΩ self-check</a:t>
                      </a:r>
                      <a:endParaRPr lang="en-US" sz="1100"/>
                    </a:p>
                  </a:txBody>
                  <a:tcPr marL="36576" marR="36576" marT="36576" marB="36576" anchor="ctr">
                    <a:lnL cmpd="sng" algn="ctr" cap="flat" w="7620">
                      <a:solidFill>
                        <a:srgbClr val="000000"/>
                      </a:solidFill>
                      <a:prstDash val="solid"/>
                      <a:round/>
                      <a:headEnd type="none" w="med" len="med"/>
                      <a:tailEnd type="none" w="med" len="med"/>
                    </a:lnL>
                    <a:lnR cmpd="sng" algn="ctr" cap="flat" w="7620">
                      <a:solidFill>
                        <a:srgbClr val="000000"/>
                      </a:solidFill>
                      <a:prstDash val="solid"/>
                      <a:round/>
                      <a:headEnd type="none" w="med" len="med"/>
                      <a:tailEnd type="none" w="med" len="med"/>
                    </a:lnR>
                    <a:lnT cmpd="sng" algn="ctr" cap="flat" w="7620">
                      <a:solidFill>
                        <a:srgbClr val="000000"/>
                      </a:solidFill>
                      <a:prstDash val="solid"/>
                      <a:round/>
                      <a:headEnd type="none" w="med" len="med"/>
                      <a:tailEnd type="none" w="med" len="med"/>
                    </a:lnT>
                    <a:lnB cmpd="sng" algn="ctr" cap="flat" w="7620">
                      <a:solidFill>
                        <a:srgbClr val="E2E8F0"/>
                      </a:solidFill>
                      <a:prstDash val="solid"/>
                      <a:round/>
                      <a:headEnd type="none" w="med" len="med"/>
                      <a:tailEnd type="none" w="med" len="med"/>
                    </a:lnB>
                  </a:tcPr>
                </a:tc>
              </a:tr>
              <a:tr h="512931">
                <a:tc>
                  <a:txBody>
                    <a:bodyPr anchor="t" rtlCol="false"/>
                    <a:lstStyle/>
                    <a:p>
                      <a:pPr algn="l">
                        <a:lnSpc>
                          <a:spcPts val="1692"/>
                        </a:lnSpc>
                        <a:defRPr/>
                      </a:pPr>
                      <a:r>
                        <a:rPr lang="en-US" sz="1410" b="true">
                          <a:solidFill>
                            <a:srgbClr val="0F172A"/>
                          </a:solidFill>
                          <a:latin typeface="DM Sans Bold"/>
                          <a:ea typeface="DM Sans Bold"/>
                          <a:cs typeface="DM Sans Bold"/>
                          <a:sym typeface="DM Sans Bold"/>
                        </a:rPr>
                        <a:t>SDA · SCL</a:t>
                      </a:r>
                      <a:endParaRPr lang="en-US" sz="1100"/>
                    </a:p>
                  </a:txBody>
                  <a:tcPr marL="36576" marR="36576" marT="36576" marB="36576" anchor="ctr">
                    <a:lnL cmpd="sng" algn="ctr" cap="flat" w="7620">
                      <a:solidFill>
                        <a:srgbClr val="000000"/>
                      </a:solidFill>
                      <a:prstDash val="solid"/>
                      <a:round/>
                      <a:headEnd type="none" w="med" len="med"/>
                      <a:tailEnd type="none" w="med" len="med"/>
                    </a:lnL>
                    <a:lnR cmpd="sng" algn="ctr" cap="flat" w="7620">
                      <a:solidFill>
                        <a:srgbClr val="000000"/>
                      </a:solidFill>
                      <a:prstDash val="solid"/>
                      <a:round/>
                      <a:headEnd type="none" w="med" len="med"/>
                      <a:tailEnd type="none" w="med" len="med"/>
                    </a:lnR>
                    <a:lnT cmpd="sng" algn="ctr" cap="flat" w="7620">
                      <a:solidFill>
                        <a:srgbClr val="000000"/>
                      </a:solidFill>
                      <a:prstDash val="solid"/>
                      <a:round/>
                      <a:headEnd type="none" w="med" len="med"/>
                      <a:tailEnd type="none" w="med" len="med"/>
                    </a:lnT>
                    <a:lnB cmpd="sng" algn="ctr" cap="flat" w="7620">
                      <a:solidFill>
                        <a:srgbClr val="E2E8F0"/>
                      </a:solidFill>
                      <a:prstDash val="solid"/>
                      <a:round/>
                      <a:headEnd type="none" w="med" len="med"/>
                      <a:tailEnd type="none" w="med" len="med"/>
                    </a:lnB>
                  </a:tcPr>
                </a:tc>
                <a:tc>
                  <a:txBody>
                    <a:bodyPr anchor="t" rtlCol="false"/>
                    <a:lstStyle/>
                    <a:p>
                      <a:pPr algn="l">
                        <a:lnSpc>
                          <a:spcPts val="1692"/>
                        </a:lnSpc>
                        <a:defRPr/>
                      </a:pPr>
                      <a:r>
                        <a:rPr lang="en-US" sz="1410">
                          <a:solidFill>
                            <a:srgbClr val="334155"/>
                          </a:solidFill>
                          <a:latin typeface="DM Sans"/>
                          <a:ea typeface="DM Sans"/>
                          <a:cs typeface="DM Sans"/>
                          <a:sym typeface="DM Sans"/>
                        </a:rPr>
                        <a:t>GPIO6 · GPIO7</a:t>
                      </a:r>
                      <a:endParaRPr lang="en-US" sz="1100"/>
                    </a:p>
                  </a:txBody>
                  <a:tcPr marL="36576" marR="36576" marT="36576" marB="36576" anchor="ctr">
                    <a:lnL cmpd="sng" algn="ctr" cap="flat" w="7620">
                      <a:solidFill>
                        <a:srgbClr val="000000"/>
                      </a:solidFill>
                      <a:prstDash val="solid"/>
                      <a:round/>
                      <a:headEnd type="none" w="med" len="med"/>
                      <a:tailEnd type="none" w="med" len="med"/>
                    </a:lnL>
                    <a:lnR cmpd="sng" algn="ctr" cap="flat" w="7620">
                      <a:solidFill>
                        <a:srgbClr val="000000"/>
                      </a:solidFill>
                      <a:prstDash val="solid"/>
                      <a:round/>
                      <a:headEnd type="none" w="med" len="med"/>
                      <a:tailEnd type="none" w="med" len="med"/>
                    </a:lnR>
                    <a:lnT cmpd="sng" algn="ctr" cap="flat" w="7620">
                      <a:solidFill>
                        <a:srgbClr val="000000"/>
                      </a:solidFill>
                      <a:prstDash val="solid"/>
                      <a:round/>
                      <a:headEnd type="none" w="med" len="med"/>
                      <a:tailEnd type="none" w="med" len="med"/>
                    </a:lnT>
                    <a:lnB cmpd="sng" algn="ctr" cap="flat" w="7620">
                      <a:solidFill>
                        <a:srgbClr val="E2E8F0"/>
                      </a:solidFill>
                      <a:prstDash val="solid"/>
                      <a:round/>
                      <a:headEnd type="none" w="med" len="med"/>
                      <a:tailEnd type="none" w="med" len="med"/>
                    </a:lnB>
                  </a:tcPr>
                </a:tc>
                <a:tc>
                  <a:txBody>
                    <a:bodyPr anchor="t" rtlCol="false"/>
                    <a:lstStyle/>
                    <a:p>
                      <a:pPr algn="l">
                        <a:lnSpc>
                          <a:spcPts val="1692"/>
                        </a:lnSpc>
                        <a:defRPr/>
                      </a:pPr>
                      <a:r>
                        <a:rPr lang="en-US" sz="1410">
                          <a:solidFill>
                            <a:srgbClr val="334155"/>
                          </a:solidFill>
                          <a:latin typeface="DM Sans"/>
                          <a:ea typeface="DM Sans"/>
                          <a:cs typeface="DM Sans"/>
                          <a:sym typeface="DM Sans"/>
                        </a:rPr>
                        <a:t>I²C to ADS1115 (0x48)</a:t>
                      </a:r>
                      <a:endParaRPr lang="en-US" sz="1100"/>
                    </a:p>
                  </a:txBody>
                  <a:tcPr marL="36576" marR="36576" marT="36576" marB="36576" anchor="ctr">
                    <a:lnL cmpd="sng" algn="ctr" cap="flat" w="7620">
                      <a:solidFill>
                        <a:srgbClr val="000000"/>
                      </a:solidFill>
                      <a:prstDash val="solid"/>
                      <a:round/>
                      <a:headEnd type="none" w="med" len="med"/>
                      <a:tailEnd type="none" w="med" len="med"/>
                    </a:lnL>
                    <a:lnR cmpd="sng" algn="ctr" cap="flat" w="7620">
                      <a:solidFill>
                        <a:srgbClr val="000000"/>
                      </a:solidFill>
                      <a:prstDash val="solid"/>
                      <a:round/>
                      <a:headEnd type="none" w="med" len="med"/>
                      <a:tailEnd type="none" w="med" len="med"/>
                    </a:lnR>
                    <a:lnT cmpd="sng" algn="ctr" cap="flat" w="7620">
                      <a:solidFill>
                        <a:srgbClr val="000000"/>
                      </a:solidFill>
                      <a:prstDash val="solid"/>
                      <a:round/>
                      <a:headEnd type="none" w="med" len="med"/>
                      <a:tailEnd type="none" w="med" len="med"/>
                    </a:lnT>
                    <a:lnB cmpd="sng" algn="ctr" cap="flat" w="7620">
                      <a:solidFill>
                        <a:srgbClr val="E2E8F0"/>
                      </a:solidFill>
                      <a:prstDash val="solid"/>
                      <a:round/>
                      <a:headEnd type="none" w="med" len="med"/>
                      <a:tailEnd type="none" w="med" len="med"/>
                    </a:lnB>
                  </a:tcPr>
                </a:tc>
              </a:tr>
              <a:tr h="512931">
                <a:tc>
                  <a:txBody>
                    <a:bodyPr anchor="t" rtlCol="false"/>
                    <a:lstStyle/>
                    <a:p>
                      <a:pPr algn="l">
                        <a:lnSpc>
                          <a:spcPts val="1692"/>
                        </a:lnSpc>
                        <a:defRPr/>
                      </a:pPr>
                      <a:r>
                        <a:rPr lang="en-US" sz="1410" b="true">
                          <a:solidFill>
                            <a:srgbClr val="0F172A"/>
                          </a:solidFill>
                          <a:latin typeface="DM Sans Bold"/>
                          <a:ea typeface="DM Sans Bold"/>
                          <a:cs typeface="DM Sans Bold"/>
                          <a:sym typeface="DM Sans Bold"/>
                        </a:rPr>
                        <a:t>N · 3V3</a:t>
                      </a:r>
                      <a:endParaRPr lang="en-US" sz="1100"/>
                    </a:p>
                  </a:txBody>
                  <a:tcPr marL="36576" marR="36576" marT="36576" marB="36576" anchor="ctr">
                    <a:lnL cmpd="sng" algn="ctr" cap="flat" w="7620">
                      <a:solidFill>
                        <a:srgbClr val="000000"/>
                      </a:solidFill>
                      <a:prstDash val="solid"/>
                      <a:round/>
                      <a:headEnd type="none" w="med" len="med"/>
                      <a:tailEnd type="none" w="med" len="med"/>
                    </a:lnL>
                    <a:lnR cmpd="sng" algn="ctr" cap="flat" w="7620">
                      <a:solidFill>
                        <a:srgbClr val="000000"/>
                      </a:solidFill>
                      <a:prstDash val="solid"/>
                      <a:round/>
                      <a:headEnd type="none" w="med" len="med"/>
                      <a:tailEnd type="none" w="med" len="med"/>
                    </a:lnR>
                    <a:lnT cmpd="sng" algn="ctr" cap="flat" w="7620">
                      <a:solidFill>
                        <a:srgbClr val="000000"/>
                      </a:solidFill>
                      <a:prstDash val="solid"/>
                      <a:round/>
                      <a:headEnd type="none" w="med" len="med"/>
                      <a:tailEnd type="none" w="med" len="med"/>
                    </a:lnT>
                    <a:lnB cmpd="sng" algn="ctr" cap="flat" w="7620">
                      <a:solidFill>
                        <a:srgbClr val="E2E8F0"/>
                      </a:solidFill>
                      <a:prstDash val="solid"/>
                      <a:round/>
                      <a:headEnd type="none" w="med" len="med"/>
                      <a:tailEnd type="none" w="med" len="med"/>
                    </a:lnB>
                  </a:tcPr>
                </a:tc>
                <a:tc>
                  <a:txBody>
                    <a:bodyPr anchor="t" rtlCol="false"/>
                    <a:lstStyle/>
                    <a:p>
                      <a:pPr algn="l">
                        <a:lnSpc>
                          <a:spcPts val="1692"/>
                        </a:lnSpc>
                        <a:defRPr/>
                      </a:pPr>
                      <a:r>
                        <a:rPr lang="en-US" sz="1410">
                          <a:solidFill>
                            <a:srgbClr val="334155"/>
                          </a:solidFill>
                          <a:latin typeface="DM Sans"/>
                          <a:ea typeface="DM Sans"/>
                          <a:cs typeface="DM Sans"/>
                          <a:sym typeface="DM Sans"/>
                        </a:rPr>
                        <a:t>ADS1115 A0 · A1</a:t>
                      </a:r>
                      <a:endParaRPr lang="en-US" sz="1100"/>
                    </a:p>
                  </a:txBody>
                  <a:tcPr marL="36576" marR="36576" marT="36576" marB="36576" anchor="ctr">
                    <a:lnL cmpd="sng" algn="ctr" cap="flat" w="7620">
                      <a:solidFill>
                        <a:srgbClr val="000000"/>
                      </a:solidFill>
                      <a:prstDash val="solid"/>
                      <a:round/>
                      <a:headEnd type="none" w="med" len="med"/>
                      <a:tailEnd type="none" w="med" len="med"/>
                    </a:lnL>
                    <a:lnR cmpd="sng" algn="ctr" cap="flat" w="7620">
                      <a:solidFill>
                        <a:srgbClr val="000000"/>
                      </a:solidFill>
                      <a:prstDash val="solid"/>
                      <a:round/>
                      <a:headEnd type="none" w="med" len="med"/>
                      <a:tailEnd type="none" w="med" len="med"/>
                    </a:lnR>
                    <a:lnT cmpd="sng" algn="ctr" cap="flat" w="7620">
                      <a:solidFill>
                        <a:srgbClr val="000000"/>
                      </a:solidFill>
                      <a:prstDash val="solid"/>
                      <a:round/>
                      <a:headEnd type="none" w="med" len="med"/>
                      <a:tailEnd type="none" w="med" len="med"/>
                    </a:lnT>
                    <a:lnB cmpd="sng" algn="ctr" cap="flat" w="7620">
                      <a:solidFill>
                        <a:srgbClr val="E2E8F0"/>
                      </a:solidFill>
                      <a:prstDash val="solid"/>
                      <a:round/>
                      <a:headEnd type="none" w="med" len="med"/>
                      <a:tailEnd type="none" w="med" len="med"/>
                    </a:lnB>
                  </a:tcPr>
                </a:tc>
                <a:tc>
                  <a:txBody>
                    <a:bodyPr anchor="t" rtlCol="false"/>
                    <a:lstStyle/>
                    <a:p>
                      <a:pPr algn="l">
                        <a:lnSpc>
                          <a:spcPts val="1692"/>
                        </a:lnSpc>
                        <a:defRPr/>
                      </a:pPr>
                      <a:r>
                        <a:rPr lang="en-US" sz="1410">
                          <a:solidFill>
                            <a:srgbClr val="334155"/>
                          </a:solidFill>
                          <a:latin typeface="DM Sans"/>
                          <a:ea typeface="DM Sans"/>
                          <a:cs typeface="DM Sans"/>
                          <a:sym typeface="DM Sans"/>
                        </a:rPr>
                        <a:t>node · rail (ratiometric)</a:t>
                      </a:r>
                      <a:endParaRPr lang="en-US" sz="1100"/>
                    </a:p>
                  </a:txBody>
                  <a:tcPr marL="36576" marR="36576" marT="36576" marB="36576" anchor="ctr">
                    <a:lnL cmpd="sng" algn="ctr" cap="flat" w="7620">
                      <a:solidFill>
                        <a:srgbClr val="000000"/>
                      </a:solidFill>
                      <a:prstDash val="solid"/>
                      <a:round/>
                      <a:headEnd type="none" w="med" len="med"/>
                      <a:tailEnd type="none" w="med" len="med"/>
                    </a:lnL>
                    <a:lnR cmpd="sng" algn="ctr" cap="flat" w="7620">
                      <a:solidFill>
                        <a:srgbClr val="000000"/>
                      </a:solidFill>
                      <a:prstDash val="solid"/>
                      <a:round/>
                      <a:headEnd type="none" w="med" len="med"/>
                      <a:tailEnd type="none" w="med" len="med"/>
                    </a:lnR>
                    <a:lnT cmpd="sng" algn="ctr" cap="flat" w="7620">
                      <a:solidFill>
                        <a:srgbClr val="000000"/>
                      </a:solidFill>
                      <a:prstDash val="solid"/>
                      <a:round/>
                      <a:headEnd type="none" w="med" len="med"/>
                      <a:tailEnd type="none" w="med" len="med"/>
                    </a:lnT>
                    <a:lnB cmpd="sng" algn="ctr" cap="flat" w="7620">
                      <a:solidFill>
                        <a:srgbClr val="E2E8F0"/>
                      </a:solidFill>
                      <a:prstDash val="solid"/>
                      <a:round/>
                      <a:headEnd type="none" w="med" len="med"/>
                      <a:tailEnd type="none" w="med" len="med"/>
                    </a:lnB>
                  </a:tcPr>
                </a:tc>
              </a:tr>
              <a:tr h="512931">
                <a:tc>
                  <a:txBody>
                    <a:bodyPr anchor="t" rtlCol="false"/>
                    <a:lstStyle/>
                    <a:p>
                      <a:pPr algn="l">
                        <a:lnSpc>
                          <a:spcPts val="1692"/>
                        </a:lnSpc>
                        <a:defRPr/>
                      </a:pPr>
                      <a:r>
                        <a:rPr lang="en-US" sz="1410" b="true">
                          <a:solidFill>
                            <a:srgbClr val="0F172A"/>
                          </a:solidFill>
                          <a:latin typeface="DM Sans Bold"/>
                          <a:ea typeface="DM Sans Bold"/>
                          <a:cs typeface="DM Sans Bold"/>
                          <a:sym typeface="DM Sans Bold"/>
                        </a:rPr>
                        <a:t>LED G · Y · R</a:t>
                      </a:r>
                      <a:endParaRPr lang="en-US" sz="1100"/>
                    </a:p>
                  </a:txBody>
                  <a:tcPr marL="36576" marR="36576" marT="36576" marB="36576" anchor="ctr">
                    <a:lnL cmpd="sng" algn="ctr" cap="flat" w="7620">
                      <a:solidFill>
                        <a:srgbClr val="000000"/>
                      </a:solidFill>
                      <a:prstDash val="solid"/>
                      <a:round/>
                      <a:headEnd type="none" w="med" len="med"/>
                      <a:tailEnd type="none" w="med" len="med"/>
                    </a:lnL>
                    <a:lnR cmpd="sng" algn="ctr" cap="flat" w="7620">
                      <a:solidFill>
                        <a:srgbClr val="000000"/>
                      </a:solidFill>
                      <a:prstDash val="solid"/>
                      <a:round/>
                      <a:headEnd type="none" w="med" len="med"/>
                      <a:tailEnd type="none" w="med" len="med"/>
                    </a:lnR>
                    <a:lnT cmpd="sng" algn="ctr" cap="flat" w="7620">
                      <a:solidFill>
                        <a:srgbClr val="000000"/>
                      </a:solidFill>
                      <a:prstDash val="solid"/>
                      <a:round/>
                      <a:headEnd type="none" w="med" len="med"/>
                      <a:tailEnd type="none" w="med" len="med"/>
                    </a:lnT>
                    <a:lnB cmpd="sng" algn="ctr" cap="flat" w="7620">
                      <a:solidFill>
                        <a:srgbClr val="E2E8F0"/>
                      </a:solidFill>
                      <a:prstDash val="solid"/>
                      <a:round/>
                      <a:headEnd type="none" w="med" len="med"/>
                      <a:tailEnd type="none" w="med" len="med"/>
                    </a:lnB>
                  </a:tcPr>
                </a:tc>
                <a:tc>
                  <a:txBody>
                    <a:bodyPr anchor="t" rtlCol="false"/>
                    <a:lstStyle/>
                    <a:p>
                      <a:pPr algn="l">
                        <a:lnSpc>
                          <a:spcPts val="1692"/>
                        </a:lnSpc>
                        <a:defRPr/>
                      </a:pPr>
                      <a:r>
                        <a:rPr lang="en-US" sz="1410">
                          <a:solidFill>
                            <a:srgbClr val="334155"/>
                          </a:solidFill>
                          <a:latin typeface="DM Sans"/>
                          <a:ea typeface="DM Sans"/>
                          <a:cs typeface="DM Sans"/>
                          <a:sym typeface="DM Sans"/>
                        </a:rPr>
                        <a:t>GPIO0 · 1 · 21</a:t>
                      </a:r>
                      <a:endParaRPr lang="en-US" sz="1100"/>
                    </a:p>
                  </a:txBody>
                  <a:tcPr marL="36576" marR="36576" marT="36576" marB="36576" anchor="ctr">
                    <a:lnL cmpd="sng" algn="ctr" cap="flat" w="7620">
                      <a:solidFill>
                        <a:srgbClr val="000000"/>
                      </a:solidFill>
                      <a:prstDash val="solid"/>
                      <a:round/>
                      <a:headEnd type="none" w="med" len="med"/>
                      <a:tailEnd type="none" w="med" len="med"/>
                    </a:lnL>
                    <a:lnR cmpd="sng" algn="ctr" cap="flat" w="7620">
                      <a:solidFill>
                        <a:srgbClr val="000000"/>
                      </a:solidFill>
                      <a:prstDash val="solid"/>
                      <a:round/>
                      <a:headEnd type="none" w="med" len="med"/>
                      <a:tailEnd type="none" w="med" len="med"/>
                    </a:lnR>
                    <a:lnT cmpd="sng" algn="ctr" cap="flat" w="7620">
                      <a:solidFill>
                        <a:srgbClr val="000000"/>
                      </a:solidFill>
                      <a:prstDash val="solid"/>
                      <a:round/>
                      <a:headEnd type="none" w="med" len="med"/>
                      <a:tailEnd type="none" w="med" len="med"/>
                    </a:lnT>
                    <a:lnB cmpd="sng" algn="ctr" cap="flat" w="7620">
                      <a:solidFill>
                        <a:srgbClr val="E2E8F0"/>
                      </a:solidFill>
                      <a:prstDash val="solid"/>
                      <a:round/>
                      <a:headEnd type="none" w="med" len="med"/>
                      <a:tailEnd type="none" w="med" len="med"/>
                    </a:lnB>
                  </a:tcPr>
                </a:tc>
                <a:tc>
                  <a:txBody>
                    <a:bodyPr anchor="t" rtlCol="false"/>
                    <a:lstStyle/>
                    <a:p>
                      <a:pPr algn="l">
                        <a:lnSpc>
                          <a:spcPts val="1692"/>
                        </a:lnSpc>
                        <a:defRPr/>
                      </a:pPr>
                      <a:r>
                        <a:rPr lang="en-US" sz="1410">
                          <a:solidFill>
                            <a:srgbClr val="334155"/>
                          </a:solidFill>
                          <a:latin typeface="DM Sans"/>
                          <a:ea typeface="DM Sans"/>
                          <a:cs typeface="DM Sans"/>
                          <a:sym typeface="DM Sans"/>
                        </a:rPr>
                        <a:t>OK · CHANGE · CHECK/FAULT</a:t>
                      </a:r>
                      <a:endParaRPr lang="en-US" sz="1100"/>
                    </a:p>
                  </a:txBody>
                  <a:tcPr marL="36576" marR="36576" marT="36576" marB="36576" anchor="ctr">
                    <a:lnL cmpd="sng" algn="ctr" cap="flat" w="7620">
                      <a:solidFill>
                        <a:srgbClr val="000000"/>
                      </a:solidFill>
                      <a:prstDash val="solid"/>
                      <a:round/>
                      <a:headEnd type="none" w="med" len="med"/>
                      <a:tailEnd type="none" w="med" len="med"/>
                    </a:lnL>
                    <a:lnR cmpd="sng" algn="ctr" cap="flat" w="7620">
                      <a:solidFill>
                        <a:srgbClr val="000000"/>
                      </a:solidFill>
                      <a:prstDash val="solid"/>
                      <a:round/>
                      <a:headEnd type="none" w="med" len="med"/>
                      <a:tailEnd type="none" w="med" len="med"/>
                    </a:lnR>
                    <a:lnT cmpd="sng" algn="ctr" cap="flat" w="7620">
                      <a:solidFill>
                        <a:srgbClr val="000000"/>
                      </a:solidFill>
                      <a:prstDash val="solid"/>
                      <a:round/>
                      <a:headEnd type="none" w="med" len="med"/>
                      <a:tailEnd type="none" w="med" len="med"/>
                    </a:lnT>
                    <a:lnB cmpd="sng" algn="ctr" cap="flat" w="7620">
                      <a:solidFill>
                        <a:srgbClr val="E2E8F0"/>
                      </a:solidFill>
                      <a:prstDash val="solid"/>
                      <a:round/>
                      <a:headEnd type="none" w="med" len="med"/>
                      <a:tailEnd type="none" w="med" len="med"/>
                    </a:lnB>
                  </a:tcPr>
                </a:tc>
              </a:tr>
              <a:tr h="512931">
                <a:tc>
                  <a:txBody>
                    <a:bodyPr anchor="t" rtlCol="false"/>
                    <a:lstStyle/>
                    <a:p>
                      <a:pPr algn="l">
                        <a:lnSpc>
                          <a:spcPts val="1692"/>
                        </a:lnSpc>
                        <a:defRPr/>
                      </a:pPr>
                      <a:r>
                        <a:rPr lang="en-US" sz="1410" b="true">
                          <a:solidFill>
                            <a:srgbClr val="0F172A"/>
                          </a:solidFill>
                          <a:latin typeface="DM Sans Bold"/>
                          <a:ea typeface="DM Sans Bold"/>
                          <a:cs typeface="DM Sans Bold"/>
                          <a:sym typeface="DM Sans Bold"/>
                        </a:rPr>
                        <a:t>Strip pads</a:t>
                      </a:r>
                      <a:endParaRPr lang="en-US" sz="1100"/>
                    </a:p>
                  </a:txBody>
                  <a:tcPr marL="36576" marR="36576" marT="36576" marB="36576" anchor="ctr">
                    <a:lnL cmpd="sng" algn="ctr" cap="flat" w="7620">
                      <a:solidFill>
                        <a:srgbClr val="000000"/>
                      </a:solidFill>
                      <a:prstDash val="solid"/>
                      <a:round/>
                      <a:headEnd type="none" w="med" len="med"/>
                      <a:tailEnd type="none" w="med" len="med"/>
                    </a:lnL>
                    <a:lnR cmpd="sng" algn="ctr" cap="flat" w="7620">
                      <a:solidFill>
                        <a:srgbClr val="000000"/>
                      </a:solidFill>
                      <a:prstDash val="solid"/>
                      <a:round/>
                      <a:headEnd type="none" w="med" len="med"/>
                      <a:tailEnd type="none" w="med" len="med"/>
                    </a:lnR>
                    <a:lnT cmpd="sng" algn="ctr" cap="flat" w="7620">
                      <a:solidFill>
                        <a:srgbClr val="000000"/>
                      </a:solidFill>
                      <a:prstDash val="solid"/>
                      <a:round/>
                      <a:headEnd type="none" w="med" len="med"/>
                      <a:tailEnd type="none" w="med" len="med"/>
                    </a:lnT>
                    <a:lnB cmpd="sng" algn="ctr" cap="flat" w="7620">
                      <a:solidFill>
                        <a:srgbClr val="E2E8F0"/>
                      </a:solidFill>
                      <a:prstDash val="solid"/>
                      <a:round/>
                      <a:headEnd type="none" w="med" len="med"/>
                      <a:tailEnd type="none" w="med" len="med"/>
                    </a:lnB>
                  </a:tcPr>
                </a:tc>
                <a:tc>
                  <a:txBody>
                    <a:bodyPr anchor="t" rtlCol="false"/>
                    <a:lstStyle/>
                    <a:p>
                      <a:pPr algn="l">
                        <a:lnSpc>
                          <a:spcPts val="1692"/>
                        </a:lnSpc>
                        <a:defRPr/>
                      </a:pPr>
                      <a:r>
                        <a:rPr lang="en-US" sz="1410">
                          <a:solidFill>
                            <a:srgbClr val="334155"/>
                          </a:solidFill>
                          <a:latin typeface="DM Sans"/>
                          <a:ea typeface="DM Sans"/>
                          <a:cs typeface="DM Sans"/>
                          <a:sym typeface="DM Sans"/>
                        </a:rPr>
                        <a:t>J4.1 – J4.4</a:t>
                      </a:r>
                      <a:endParaRPr lang="en-US" sz="1100"/>
                    </a:p>
                  </a:txBody>
                  <a:tcPr marL="36576" marR="36576" marT="36576" marB="36576" anchor="ctr">
                    <a:lnL cmpd="sng" algn="ctr" cap="flat" w="7620">
                      <a:solidFill>
                        <a:srgbClr val="000000"/>
                      </a:solidFill>
                      <a:prstDash val="solid"/>
                      <a:round/>
                      <a:headEnd type="none" w="med" len="med"/>
                      <a:tailEnd type="none" w="med" len="med"/>
                    </a:lnL>
                    <a:lnR cmpd="sng" algn="ctr" cap="flat" w="7620">
                      <a:solidFill>
                        <a:srgbClr val="000000"/>
                      </a:solidFill>
                      <a:prstDash val="solid"/>
                      <a:round/>
                      <a:headEnd type="none" w="med" len="med"/>
                      <a:tailEnd type="none" w="med" len="med"/>
                    </a:lnR>
                    <a:lnT cmpd="sng" algn="ctr" cap="flat" w="7620">
                      <a:solidFill>
                        <a:srgbClr val="000000"/>
                      </a:solidFill>
                      <a:prstDash val="solid"/>
                      <a:round/>
                      <a:headEnd type="none" w="med" len="med"/>
                      <a:tailEnd type="none" w="med" len="med"/>
                    </a:lnT>
                    <a:lnB cmpd="sng" algn="ctr" cap="flat" w="7620">
                      <a:solidFill>
                        <a:srgbClr val="E2E8F0"/>
                      </a:solidFill>
                      <a:prstDash val="solid"/>
                      <a:round/>
                      <a:headEnd type="none" w="med" len="med"/>
                      <a:tailEnd type="none" w="med" len="med"/>
                    </a:lnB>
                  </a:tcPr>
                </a:tc>
                <a:tc>
                  <a:txBody>
                    <a:bodyPr anchor="t" rtlCol="false"/>
                    <a:lstStyle/>
                    <a:p>
                      <a:pPr algn="l">
                        <a:lnSpc>
                          <a:spcPts val="1692"/>
                        </a:lnSpc>
                        <a:defRPr/>
                      </a:pPr>
                      <a:r>
                        <a:rPr lang="en-US" sz="1410">
                          <a:solidFill>
                            <a:srgbClr val="334155"/>
                          </a:solidFill>
                          <a:latin typeface="DM Sans"/>
                          <a:ea typeface="DM Sans"/>
                          <a:cs typeface="DM Sans"/>
                          <a:sym typeface="DM Sans"/>
                        </a:rPr>
                        <a:t>S_C · S_A · COM1 · COM2</a:t>
                      </a:r>
                      <a:endParaRPr lang="en-US" sz="1100"/>
                    </a:p>
                  </a:txBody>
                  <a:tcPr marL="36576" marR="36576" marT="36576" marB="36576" anchor="ctr">
                    <a:lnL cmpd="sng" algn="ctr" cap="flat" w="7620">
                      <a:solidFill>
                        <a:srgbClr val="000000"/>
                      </a:solidFill>
                      <a:prstDash val="solid"/>
                      <a:round/>
                      <a:headEnd type="none" w="med" len="med"/>
                      <a:tailEnd type="none" w="med" len="med"/>
                    </a:lnL>
                    <a:lnR cmpd="sng" algn="ctr" cap="flat" w="7620">
                      <a:solidFill>
                        <a:srgbClr val="000000"/>
                      </a:solidFill>
                      <a:prstDash val="solid"/>
                      <a:round/>
                      <a:headEnd type="none" w="med" len="med"/>
                      <a:tailEnd type="none" w="med" len="med"/>
                    </a:lnR>
                    <a:lnT cmpd="sng" algn="ctr" cap="flat" w="7620">
                      <a:solidFill>
                        <a:srgbClr val="000000"/>
                      </a:solidFill>
                      <a:prstDash val="solid"/>
                      <a:round/>
                      <a:headEnd type="none" w="med" len="med"/>
                      <a:tailEnd type="none" w="med" len="med"/>
                    </a:lnT>
                    <a:lnB cmpd="sng" algn="ctr" cap="flat" w="7620">
                      <a:solidFill>
                        <a:srgbClr val="E2E8F0"/>
                      </a:solidFill>
                      <a:prstDash val="solid"/>
                      <a:round/>
                      <a:headEnd type="none" w="med" len="med"/>
                      <a:tailEnd type="none" w="med" len="med"/>
                    </a:lnB>
                  </a:tcPr>
                </a:tc>
              </a:tr>
              <a:tr h="512931">
                <a:tc>
                  <a:txBody>
                    <a:bodyPr anchor="t" rtlCol="false"/>
                    <a:lstStyle/>
                    <a:p>
                      <a:pPr algn="l">
                        <a:lnSpc>
                          <a:spcPts val="1692"/>
                        </a:lnSpc>
                        <a:defRPr/>
                      </a:pPr>
                      <a:r>
                        <a:rPr lang="en-US" sz="1410" b="true">
                          <a:solidFill>
                            <a:srgbClr val="0F172A"/>
                          </a:solidFill>
                          <a:latin typeface="DM Sans Bold"/>
                          <a:ea typeface="DM Sans Bold"/>
                          <a:cs typeface="DM Sans Bold"/>
                          <a:sym typeface="DM Sans Bold"/>
                        </a:rPr>
                        <a:t>Power</a:t>
                      </a:r>
                      <a:endParaRPr lang="en-US" sz="1100"/>
                    </a:p>
                  </a:txBody>
                  <a:tcPr marL="36576" marR="36576" marT="36576" marB="36576" anchor="ctr">
                    <a:lnL cmpd="sng" algn="ctr" cap="flat" w="7620">
                      <a:solidFill>
                        <a:srgbClr val="000000"/>
                      </a:solidFill>
                      <a:prstDash val="solid"/>
                      <a:round/>
                      <a:headEnd type="none" w="med" len="med"/>
                      <a:tailEnd type="none" w="med" len="med"/>
                    </a:lnL>
                    <a:lnR cmpd="sng" algn="ctr" cap="flat" w="7620">
                      <a:solidFill>
                        <a:srgbClr val="000000"/>
                      </a:solidFill>
                      <a:prstDash val="solid"/>
                      <a:round/>
                      <a:headEnd type="none" w="med" len="med"/>
                      <a:tailEnd type="none" w="med" len="med"/>
                    </a:lnR>
                    <a:lnT cmpd="sng" algn="ctr" cap="flat" w="7620">
                      <a:solidFill>
                        <a:srgbClr val="000000"/>
                      </a:solidFill>
                      <a:prstDash val="solid"/>
                      <a:round/>
                      <a:headEnd type="none" w="med" len="med"/>
                      <a:tailEnd type="none" w="med" len="med"/>
                    </a:lnT>
                    <a:lnB cmpd="sng" algn="ctr" cap="flat" w="7620">
                      <a:solidFill>
                        <a:srgbClr val="E2E8F0"/>
                      </a:solidFill>
                      <a:prstDash val="solid"/>
                      <a:round/>
                      <a:headEnd type="none" w="med" len="med"/>
                      <a:tailEnd type="none" w="med" len="med"/>
                    </a:lnB>
                  </a:tcPr>
                </a:tc>
                <a:tc>
                  <a:txBody>
                    <a:bodyPr anchor="t" rtlCol="false"/>
                    <a:lstStyle/>
                    <a:p>
                      <a:pPr algn="l">
                        <a:lnSpc>
                          <a:spcPts val="1692"/>
                        </a:lnSpc>
                        <a:defRPr/>
                      </a:pPr>
                      <a:r>
                        <a:rPr lang="en-US" sz="1410">
                          <a:solidFill>
                            <a:srgbClr val="334155"/>
                          </a:solidFill>
                          <a:latin typeface="DM Sans"/>
                          <a:ea typeface="DM Sans"/>
                          <a:cs typeface="DM Sans"/>
                          <a:sym typeface="DM Sans"/>
                        </a:rPr>
                        <a:t>USB-C → 3V3</a:t>
                      </a:r>
                      <a:endParaRPr lang="en-US" sz="1100"/>
                    </a:p>
                  </a:txBody>
                  <a:tcPr marL="36576" marR="36576" marT="36576" marB="36576" anchor="ctr">
                    <a:lnL cmpd="sng" algn="ctr" cap="flat" w="7620">
                      <a:solidFill>
                        <a:srgbClr val="000000"/>
                      </a:solidFill>
                      <a:prstDash val="solid"/>
                      <a:round/>
                      <a:headEnd type="none" w="med" len="med"/>
                      <a:tailEnd type="none" w="med" len="med"/>
                    </a:lnL>
                    <a:lnR cmpd="sng" algn="ctr" cap="flat" w="7620">
                      <a:solidFill>
                        <a:srgbClr val="000000"/>
                      </a:solidFill>
                      <a:prstDash val="solid"/>
                      <a:round/>
                      <a:headEnd type="none" w="med" len="med"/>
                      <a:tailEnd type="none" w="med" len="med"/>
                    </a:lnR>
                    <a:lnT cmpd="sng" algn="ctr" cap="flat" w="7620">
                      <a:solidFill>
                        <a:srgbClr val="000000"/>
                      </a:solidFill>
                      <a:prstDash val="solid"/>
                      <a:round/>
                      <a:headEnd type="none" w="med" len="med"/>
                      <a:tailEnd type="none" w="med" len="med"/>
                    </a:lnT>
                    <a:lnB cmpd="sng" algn="ctr" cap="flat" w="7620">
                      <a:solidFill>
                        <a:srgbClr val="E2E8F0"/>
                      </a:solidFill>
                      <a:prstDash val="solid"/>
                      <a:round/>
                      <a:headEnd type="none" w="med" len="med"/>
                      <a:tailEnd type="none" w="med" len="med"/>
                    </a:lnB>
                  </a:tcPr>
                </a:tc>
                <a:tc>
                  <a:txBody>
                    <a:bodyPr anchor="t" rtlCol="false"/>
                    <a:lstStyle/>
                    <a:p>
                      <a:pPr algn="l">
                        <a:lnSpc>
                          <a:spcPts val="1692"/>
                        </a:lnSpc>
                        <a:defRPr/>
                      </a:pPr>
                      <a:r>
                        <a:rPr lang="en-US" sz="1410">
                          <a:solidFill>
                            <a:srgbClr val="334155"/>
                          </a:solidFill>
                          <a:latin typeface="DM Sans"/>
                          <a:ea typeface="DM Sans"/>
                          <a:cs typeface="DM Sans"/>
                          <a:sym typeface="DM Sans"/>
                        </a:rPr>
                        <a:t>LDO on the SuperMini</a:t>
                      </a:r>
                      <a:endParaRPr lang="en-US" sz="1100"/>
                    </a:p>
                  </a:txBody>
                  <a:tcPr marL="36576" marR="36576" marT="36576" marB="36576" anchor="ctr">
                    <a:lnL cmpd="sng" algn="ctr" cap="flat" w="7620">
                      <a:solidFill>
                        <a:srgbClr val="000000"/>
                      </a:solidFill>
                      <a:prstDash val="solid"/>
                      <a:round/>
                      <a:headEnd type="none" w="med" len="med"/>
                      <a:tailEnd type="none" w="med" len="med"/>
                    </a:lnL>
                    <a:lnR cmpd="sng" algn="ctr" cap="flat" w="7620">
                      <a:solidFill>
                        <a:srgbClr val="000000"/>
                      </a:solidFill>
                      <a:prstDash val="solid"/>
                      <a:round/>
                      <a:headEnd type="none" w="med" len="med"/>
                      <a:tailEnd type="none" w="med" len="med"/>
                    </a:lnR>
                    <a:lnT cmpd="sng" algn="ctr" cap="flat" w="7620">
                      <a:solidFill>
                        <a:srgbClr val="000000"/>
                      </a:solidFill>
                      <a:prstDash val="solid"/>
                      <a:round/>
                      <a:headEnd type="none" w="med" len="med"/>
                      <a:tailEnd type="none" w="med" len="med"/>
                    </a:lnT>
                    <a:lnB cmpd="sng" algn="ctr" cap="flat" w="7620">
                      <a:solidFill>
                        <a:srgbClr val="E2E8F0"/>
                      </a:solidFill>
                      <a:prstDash val="solid"/>
                      <a:round/>
                      <a:headEnd type="none" w="med" len="med"/>
                      <a:tailEnd type="none" w="med" len="med"/>
                    </a:lnB>
                  </a:tcPr>
                </a:tc>
              </a:tr>
            </a:tbl>
          </a:graphicData>
        </a:graphic>
      </p:graphicFrame>
    </p:spTree>
  </p:cSld>
  <p:clrMapOvr>
    <a:masterClrMapping/>
  </p:clrMapOvr>
</p:sld>
</file>

<file path=ppt/slides/slide1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0"/>
            <a:ext cx="18288000" cy="10287000"/>
            <a:chOff x="0" y="0"/>
            <a:chExt cx="24384000" cy="13716000"/>
          </a:xfrm>
        </p:grpSpPr>
        <p:sp>
          <p:nvSpPr>
            <p:cNvPr name="Freeform 3" id="3" descr="image.png"/>
            <p:cNvSpPr/>
            <p:nvPr/>
          </p:nvSpPr>
          <p:spPr>
            <a:xfrm flipH="false" flipV="false" rot="0">
              <a:off x="0" y="0"/>
              <a:ext cx="24384000" cy="13716000"/>
            </a:xfrm>
            <a:custGeom>
              <a:avLst/>
              <a:gdLst/>
              <a:ahLst/>
              <a:cxnLst/>
              <a:rect r="r" b="b" t="t" l="l"/>
              <a:pathLst>
                <a:path h="13716000" w="24384000">
                  <a:moveTo>
                    <a:pt x="0" y="0"/>
                  </a:moveTo>
                  <a:lnTo>
                    <a:pt x="24384000" y="0"/>
                  </a:lnTo>
                  <a:lnTo>
                    <a:pt x="24384000" y="13716000"/>
                  </a:lnTo>
                  <a:lnTo>
                    <a:pt x="0" y="13716000"/>
                  </a:lnTo>
                  <a:lnTo>
                    <a:pt x="0" y="0"/>
                  </a:lnTo>
                  <a:close/>
                </a:path>
              </a:pathLst>
            </a:custGeom>
            <a:blipFill>
              <a:blip r:embed="rId3"/>
              <a:stretch>
                <a:fillRect l="0" t="0" r="0" b="0"/>
              </a:stretch>
            </a:blipFill>
          </p:spPr>
          <p:txBody>
            <a:bodyPr/>
            <a:p/>
          </p:txBody>
        </p:sp>
      </p:grpSp>
      <p:grpSp>
        <p:nvGrpSpPr>
          <p:cNvPr name="Group 4" id="4"/>
          <p:cNvGrpSpPr/>
          <p:nvPr/>
        </p:nvGrpSpPr>
        <p:grpSpPr>
          <a:xfrm rot="0">
            <a:off x="800100" y="8624449"/>
            <a:ext cx="16687800" cy="544706"/>
            <a:chOff x="0" y="0"/>
            <a:chExt cx="22250400" cy="726275"/>
          </a:xfrm>
        </p:grpSpPr>
        <p:sp>
          <p:nvSpPr>
            <p:cNvPr name="Freeform 5" id="5" descr="image.png"/>
            <p:cNvSpPr/>
            <p:nvPr/>
          </p:nvSpPr>
          <p:spPr>
            <a:xfrm flipH="false" flipV="false" rot="0">
              <a:off x="0" y="0"/>
              <a:ext cx="22250400" cy="726313"/>
            </a:xfrm>
            <a:custGeom>
              <a:avLst/>
              <a:gdLst/>
              <a:ahLst/>
              <a:cxnLst/>
              <a:rect r="r" b="b" t="t" l="l"/>
              <a:pathLst>
                <a:path h="726313" w="22250400">
                  <a:moveTo>
                    <a:pt x="0" y="0"/>
                  </a:moveTo>
                  <a:lnTo>
                    <a:pt x="22250400" y="0"/>
                  </a:lnTo>
                  <a:lnTo>
                    <a:pt x="22250400" y="726313"/>
                  </a:lnTo>
                  <a:lnTo>
                    <a:pt x="0" y="726313"/>
                  </a:lnTo>
                  <a:lnTo>
                    <a:pt x="0" y="0"/>
                  </a:lnTo>
                  <a:close/>
                </a:path>
              </a:pathLst>
            </a:custGeom>
            <a:blipFill>
              <a:blip r:embed="rId4"/>
              <a:stretch>
                <a:fillRect l="0" t="0" r="0" b="-2290"/>
              </a:stretch>
            </a:blipFill>
          </p:spPr>
          <p:txBody>
            <a:bodyPr/>
            <a:p/>
          </p:txBody>
        </p:sp>
      </p:grpSp>
      <p:grpSp>
        <p:nvGrpSpPr>
          <p:cNvPr name="Group 6" id="6"/>
          <p:cNvGrpSpPr/>
          <p:nvPr/>
        </p:nvGrpSpPr>
        <p:grpSpPr>
          <a:xfrm rot="0">
            <a:off x="9344025" y="1434341"/>
            <a:ext cx="8143875" cy="6702152"/>
            <a:chOff x="0" y="0"/>
            <a:chExt cx="10858500" cy="8936203"/>
          </a:xfrm>
        </p:grpSpPr>
        <p:sp>
          <p:nvSpPr>
            <p:cNvPr name="Freeform 7" id="7" descr="image.png"/>
            <p:cNvSpPr/>
            <p:nvPr/>
          </p:nvSpPr>
          <p:spPr>
            <a:xfrm flipH="false" flipV="false" rot="0">
              <a:off x="0" y="0"/>
              <a:ext cx="10858500" cy="8936228"/>
            </a:xfrm>
            <a:custGeom>
              <a:avLst/>
              <a:gdLst/>
              <a:ahLst/>
              <a:cxnLst/>
              <a:rect r="r" b="b" t="t" l="l"/>
              <a:pathLst>
                <a:path h="8936228" w="10858500">
                  <a:moveTo>
                    <a:pt x="0" y="0"/>
                  </a:moveTo>
                  <a:lnTo>
                    <a:pt x="10858500" y="0"/>
                  </a:lnTo>
                  <a:lnTo>
                    <a:pt x="10858500" y="8936228"/>
                  </a:lnTo>
                  <a:lnTo>
                    <a:pt x="0" y="8936228"/>
                  </a:lnTo>
                  <a:lnTo>
                    <a:pt x="0" y="0"/>
                  </a:lnTo>
                  <a:close/>
                </a:path>
              </a:pathLst>
            </a:custGeom>
            <a:blipFill>
              <a:blip r:embed="rId5"/>
              <a:stretch>
                <a:fillRect l="0" t="0" r="0" b="-11704"/>
              </a:stretch>
            </a:blipFill>
          </p:spPr>
          <p:txBody>
            <a:bodyPr/>
            <a:p/>
          </p:txBody>
        </p:sp>
      </p:grpSp>
      <p:grpSp>
        <p:nvGrpSpPr>
          <p:cNvPr name="Group 8" id="8"/>
          <p:cNvGrpSpPr/>
          <p:nvPr/>
        </p:nvGrpSpPr>
        <p:grpSpPr>
          <a:xfrm rot="0">
            <a:off x="795528" y="1440180"/>
            <a:ext cx="8147304" cy="5843016"/>
            <a:chOff x="0" y="0"/>
            <a:chExt cx="10863072" cy="7790688"/>
          </a:xfrm>
        </p:grpSpPr>
        <p:sp>
          <p:nvSpPr>
            <p:cNvPr name="Freeform 9" id="9" descr="image.png"/>
            <p:cNvSpPr/>
            <p:nvPr/>
          </p:nvSpPr>
          <p:spPr>
            <a:xfrm flipH="false" flipV="false" rot="0">
              <a:off x="0" y="0"/>
              <a:ext cx="10863072" cy="7790688"/>
            </a:xfrm>
            <a:custGeom>
              <a:avLst/>
              <a:gdLst/>
              <a:ahLst/>
              <a:cxnLst/>
              <a:rect r="r" b="b" t="t" l="l"/>
              <a:pathLst>
                <a:path h="7790688" w="10863072">
                  <a:moveTo>
                    <a:pt x="0" y="0"/>
                  </a:moveTo>
                  <a:lnTo>
                    <a:pt x="10863072" y="0"/>
                  </a:lnTo>
                  <a:lnTo>
                    <a:pt x="10863072" y="7790688"/>
                  </a:lnTo>
                  <a:lnTo>
                    <a:pt x="0" y="7790688"/>
                  </a:lnTo>
                  <a:lnTo>
                    <a:pt x="0" y="0"/>
                  </a:lnTo>
                  <a:close/>
                </a:path>
              </a:pathLst>
            </a:custGeom>
            <a:blipFill>
              <a:blip r:embed="rId6"/>
              <a:stretch>
                <a:fillRect l="0" t="0" r="-59682" b="0"/>
              </a:stretch>
            </a:blipFill>
          </p:spPr>
          <p:txBody>
            <a:bodyPr/>
            <a:p/>
          </p:txBody>
        </p:sp>
      </p:grpSp>
      <p:grpSp>
        <p:nvGrpSpPr>
          <p:cNvPr name="Group 10" id="10"/>
          <p:cNvGrpSpPr/>
          <p:nvPr/>
        </p:nvGrpSpPr>
        <p:grpSpPr>
          <a:xfrm rot="0">
            <a:off x="800100" y="657225"/>
            <a:ext cx="12893040" cy="462782"/>
            <a:chOff x="0" y="0"/>
            <a:chExt cx="17190720" cy="617042"/>
          </a:xfrm>
        </p:grpSpPr>
        <p:sp>
          <p:nvSpPr>
            <p:cNvPr name="Freeform 11" id="11"/>
            <p:cNvSpPr/>
            <p:nvPr/>
          </p:nvSpPr>
          <p:spPr>
            <a:xfrm flipH="false" flipV="false" rot="0">
              <a:off x="0" y="0"/>
              <a:ext cx="17190720" cy="617040"/>
            </a:xfrm>
            <a:custGeom>
              <a:avLst/>
              <a:gdLst/>
              <a:ahLst/>
              <a:cxnLst/>
              <a:rect r="r" b="b" t="t" l="l"/>
              <a:pathLst>
                <a:path h="617040" w="17190720">
                  <a:moveTo>
                    <a:pt x="0" y="0"/>
                  </a:moveTo>
                  <a:lnTo>
                    <a:pt x="17190720" y="0"/>
                  </a:lnTo>
                  <a:lnTo>
                    <a:pt x="17190720" y="617040"/>
                  </a:lnTo>
                  <a:lnTo>
                    <a:pt x="0" y="617040"/>
                  </a:lnTo>
                  <a:close/>
                </a:path>
              </a:pathLst>
            </a:custGeom>
            <a:blipFill>
              <a:blip r:embed="rId7">
                <a:alphaModFix amt="0"/>
              </a:blip>
              <a:stretch>
                <a:fillRect l="0" t="-492852" r="0" b="-492852"/>
              </a:stretch>
            </a:blipFill>
          </p:spPr>
          <p:txBody>
            <a:bodyPr/>
            <a:p/>
          </p:txBody>
        </p:sp>
        <p:sp>
          <p:nvSpPr>
            <p:cNvPr name="TextBox 12" id="12"/>
            <p:cNvSpPr txBox="true"/>
            <p:nvPr/>
          </p:nvSpPr>
          <p:spPr>
            <a:xfrm>
              <a:off x="0" y="-104775"/>
              <a:ext cx="17190720" cy="721817"/>
            </a:xfrm>
            <a:prstGeom prst="rect">
              <a:avLst/>
            </a:prstGeom>
          </p:spPr>
          <p:txBody>
            <a:bodyPr anchor="ctr" rtlCol="false" tIns="0" lIns="0" bIns="0" rIns="0"/>
            <a:lstStyle/>
            <a:p>
              <a:pPr algn="l">
                <a:lnSpc>
                  <a:spcPts val="4372"/>
                </a:lnSpc>
              </a:pPr>
              <a:r>
                <a:rPr lang="en-US" sz="3037">
                  <a:solidFill>
                    <a:srgbClr val="0F172A"/>
                  </a:solidFill>
                  <a:latin typeface="Poppins"/>
                  <a:ea typeface="Poppins"/>
                  <a:cs typeface="Poppins"/>
                  <a:sym typeface="Poppins"/>
                </a:rPr>
                <a:t>Electronics Schematics &amp; BOM: Bill of Materials</a:t>
              </a:r>
            </a:p>
          </p:txBody>
        </p:sp>
      </p:grpSp>
      <p:sp>
        <p:nvSpPr>
          <p:cNvPr name="TextBox 13" id="13"/>
          <p:cNvSpPr txBox="true"/>
          <p:nvPr/>
        </p:nvSpPr>
        <p:spPr>
          <a:xfrm rot="0">
            <a:off x="1085850" y="8691124"/>
            <a:ext cx="16047720" cy="291689"/>
          </a:xfrm>
          <a:prstGeom prst="rect">
            <a:avLst/>
          </a:prstGeom>
        </p:spPr>
        <p:txBody>
          <a:bodyPr anchor="t" rtlCol="false" tIns="0" lIns="0" bIns="0" rIns="0">
            <a:spAutoFit/>
          </a:bodyPr>
          <a:lstStyle/>
          <a:p>
            <a:pPr algn="l" marL="0" indent="0" lvl="0">
              <a:lnSpc>
                <a:spcPts val="2506"/>
              </a:lnSpc>
              <a:spcBef>
                <a:spcPct val="0"/>
              </a:spcBef>
            </a:pPr>
            <a:r>
              <a:rPr lang="en-US" b="true" sz="1439" strike="noStrike" u="none">
                <a:solidFill>
                  <a:srgbClr val="0F172A"/>
                </a:solidFill>
                <a:latin typeface="DM Sans Bold"/>
                <a:ea typeface="DM Sans Bold"/>
                <a:cs typeface="DM Sans Bold"/>
                <a:sym typeface="DM Sans Bold"/>
              </a:rPr>
              <a:t>Parts status: Three items quoted on 19 Oct; nothing ordered; other costs are estimates. Total ₹2,259–6,942 covers bulk purchases and bench/test setup, not one strip.</a:t>
            </a:r>
          </a:p>
        </p:txBody>
      </p:sp>
      <p:sp>
        <p:nvSpPr>
          <p:cNvPr name="TextBox 14" id="14"/>
          <p:cNvSpPr txBox="true"/>
          <p:nvPr/>
        </p:nvSpPr>
        <p:spPr>
          <a:xfrm rot="0">
            <a:off x="800100" y="7285101"/>
            <a:ext cx="8143875" cy="498709"/>
          </a:xfrm>
          <a:prstGeom prst="rect">
            <a:avLst/>
          </a:prstGeom>
        </p:spPr>
        <p:txBody>
          <a:bodyPr anchor="t" rtlCol="false" tIns="0" lIns="0" bIns="0" rIns="0">
            <a:spAutoFit/>
          </a:bodyPr>
          <a:lstStyle/>
          <a:p>
            <a:pPr algn="r" marL="0" indent="0" lvl="0">
              <a:lnSpc>
                <a:spcPts val="2088"/>
              </a:lnSpc>
              <a:spcBef>
                <a:spcPct val="0"/>
              </a:spcBef>
            </a:pPr>
            <a:r>
              <a:rPr lang="en-US" b="1" sz="1500" strike="noStrike" u="none">
                <a:solidFill>
                  <a:srgbClr val="047857"/>
                </a:solidFill>
                <a:latin typeface="DM Sans Bold"/>
                <a:ea typeface="DM Sans Bold"/>
                <a:cs typeface="DM Sans Bold"/>
                <a:sym typeface="DM Sans Bold"/>
              </a:rPr>
              <a:t>Reusable reader ≈ ₹560–1,160 (BOM estimate)  ·  Disposable strip: target ≤ ₹100</a:t>
            </a:r>
          </a:p>
        </p:txBody>
      </p:sp>
      <p:grpSp>
        <p:nvGrpSpPr>
          <p:cNvPr name="Group 15" id="15"/>
          <p:cNvGrpSpPr/>
          <p:nvPr/>
        </p:nvGrpSpPr>
        <p:grpSpPr>
          <a:xfrm rot="0">
            <a:off x="9672638" y="1762944"/>
            <a:ext cx="174355" cy="228600"/>
            <a:chOff x="0" y="0"/>
            <a:chExt cx="232474" cy="304800"/>
          </a:xfrm>
        </p:grpSpPr>
        <p:sp>
          <p:nvSpPr>
            <p:cNvPr name="Freeform 16" id="16" descr="image.png"/>
            <p:cNvSpPr/>
            <p:nvPr/>
          </p:nvSpPr>
          <p:spPr>
            <a:xfrm flipH="false" flipV="false" rot="0">
              <a:off x="0" y="0"/>
              <a:ext cx="232410" cy="304800"/>
            </a:xfrm>
            <a:custGeom>
              <a:avLst/>
              <a:gdLst/>
              <a:ahLst/>
              <a:cxnLst/>
              <a:rect r="r" b="b" t="t" l="l"/>
              <a:pathLst>
                <a:path h="304800" w="232410">
                  <a:moveTo>
                    <a:pt x="0" y="0"/>
                  </a:moveTo>
                  <a:lnTo>
                    <a:pt x="232410" y="0"/>
                  </a:lnTo>
                  <a:lnTo>
                    <a:pt x="232410" y="304800"/>
                  </a:lnTo>
                  <a:lnTo>
                    <a:pt x="0" y="304800"/>
                  </a:lnTo>
                  <a:lnTo>
                    <a:pt x="0" y="0"/>
                  </a:lnTo>
                  <a:close/>
                </a:path>
              </a:pathLst>
            </a:custGeom>
            <a:blipFill>
              <a:blip r:embed="rId8"/>
              <a:stretch>
                <a:fillRect l="0" t="0" r="-289" b="0"/>
              </a:stretch>
            </a:blipFill>
          </p:spPr>
          <p:txBody>
            <a:bodyPr/>
            <a:p/>
          </p:txBody>
        </p:sp>
      </p:grpSp>
      <p:sp>
        <p:nvSpPr>
          <p:cNvPr name="TextBox 17" id="17"/>
          <p:cNvSpPr txBox="true"/>
          <p:nvPr/>
        </p:nvSpPr>
        <p:spPr>
          <a:xfrm rot="0">
            <a:off x="9989868" y="1743894"/>
            <a:ext cx="4577801" cy="247650"/>
          </a:xfrm>
          <a:prstGeom prst="rect">
            <a:avLst/>
          </a:prstGeom>
        </p:spPr>
        <p:txBody>
          <a:bodyPr anchor="t" rtlCol="false" tIns="0" lIns="0" bIns="0" rIns="0">
            <a:spAutoFit/>
          </a:bodyPr>
          <a:lstStyle/>
          <a:p>
            <a:pPr algn="l" marL="0" indent="0" lvl="0">
              <a:lnSpc>
                <a:spcPts val="2070"/>
              </a:lnSpc>
              <a:spcBef>
                <a:spcPct val="0"/>
              </a:spcBef>
            </a:pPr>
            <a:r>
              <a:rPr lang="en-US" b="true" sz="1725" strike="noStrike" u="none">
                <a:solidFill>
                  <a:srgbClr val="0F172A"/>
                </a:solidFill>
                <a:latin typeface="DM Sans Bold"/>
                <a:ea typeface="DM Sans Bold"/>
                <a:cs typeface="DM Sans Bold"/>
                <a:sym typeface="DM Sans Bold"/>
              </a:rPr>
              <a:t>Bulk prototype purchases and test setup</a:t>
            </a:r>
          </a:p>
        </p:txBody>
      </p:sp>
      <p:grpSp>
        <p:nvGrpSpPr>
          <p:cNvPr name="Group 18" id="18"/>
          <p:cNvGrpSpPr/>
          <p:nvPr/>
        </p:nvGrpSpPr>
        <p:grpSpPr>
          <a:xfrm rot="0">
            <a:off x="16642794" y="9421197"/>
            <a:ext cx="1645206" cy="865803"/>
            <a:chOff x="0" y="0"/>
            <a:chExt cx="2193608" cy="1154405"/>
          </a:xfrm>
        </p:grpSpPr>
        <p:sp>
          <p:nvSpPr>
            <p:cNvPr name="Freeform 19" id="19"/>
            <p:cNvSpPr/>
            <p:nvPr/>
          </p:nvSpPr>
          <p:spPr>
            <a:xfrm flipH="false" flipV="false" rot="0">
              <a:off x="0" y="0"/>
              <a:ext cx="2193671" cy="1154430"/>
            </a:xfrm>
            <a:custGeom>
              <a:avLst/>
              <a:gdLst/>
              <a:ahLst/>
              <a:cxnLst/>
              <a:rect r="r" b="b" t="t" l="l"/>
              <a:pathLst>
                <a:path h="1154430" w="2193671">
                  <a:moveTo>
                    <a:pt x="0" y="0"/>
                  </a:moveTo>
                  <a:lnTo>
                    <a:pt x="2193671" y="0"/>
                  </a:lnTo>
                  <a:lnTo>
                    <a:pt x="2193671" y="1154430"/>
                  </a:lnTo>
                  <a:lnTo>
                    <a:pt x="0" y="1154430"/>
                  </a:lnTo>
                  <a:lnTo>
                    <a:pt x="0" y="0"/>
                  </a:lnTo>
                  <a:close/>
                </a:path>
              </a:pathLst>
            </a:custGeom>
            <a:blipFill>
              <a:blip r:embed="rId9"/>
              <a:stretch>
                <a:fillRect l="0" t="0" r="2" b="2"/>
              </a:stretch>
            </a:blipFill>
          </p:spPr>
          <p:txBody>
            <a:bodyPr/>
            <a:p/>
          </p:txBody>
        </p:sp>
      </p:grpSp>
      <p:grpSp>
        <p:nvGrpSpPr>
          <p:cNvPr name="Group 20" id="20"/>
          <p:cNvGrpSpPr/>
          <p:nvPr/>
        </p:nvGrpSpPr>
        <p:grpSpPr>
          <a:xfrm rot="0">
            <a:off x="0" y="9421197"/>
            <a:ext cx="2679421" cy="865803"/>
            <a:chOff x="0" y="0"/>
            <a:chExt cx="3572561" cy="1154405"/>
          </a:xfrm>
        </p:grpSpPr>
        <p:sp>
          <p:nvSpPr>
            <p:cNvPr name="Freeform 21" id="21"/>
            <p:cNvSpPr/>
            <p:nvPr/>
          </p:nvSpPr>
          <p:spPr>
            <a:xfrm flipH="false" flipV="false" rot="0">
              <a:off x="0" y="0"/>
              <a:ext cx="3572510" cy="1154430"/>
            </a:xfrm>
            <a:custGeom>
              <a:avLst/>
              <a:gdLst/>
              <a:ahLst/>
              <a:cxnLst/>
              <a:rect r="r" b="b" t="t" l="l"/>
              <a:pathLst>
                <a:path h="1154430" w="3572510">
                  <a:moveTo>
                    <a:pt x="0" y="0"/>
                  </a:moveTo>
                  <a:lnTo>
                    <a:pt x="3572510" y="0"/>
                  </a:lnTo>
                  <a:lnTo>
                    <a:pt x="3572510" y="1154430"/>
                  </a:lnTo>
                  <a:lnTo>
                    <a:pt x="0" y="1154430"/>
                  </a:lnTo>
                  <a:lnTo>
                    <a:pt x="0" y="0"/>
                  </a:lnTo>
                  <a:close/>
                </a:path>
              </a:pathLst>
            </a:custGeom>
            <a:blipFill>
              <a:blip r:embed="rId10"/>
              <a:stretch>
                <a:fillRect l="-21110" t="-147255" r="-22761" b="-197973"/>
              </a:stretch>
            </a:blipFill>
          </p:spPr>
          <p:txBody>
            <a:bodyPr/>
            <a:p/>
          </p:txBody>
        </p:sp>
      </p:grpSp>
      <p:grpSp>
        <p:nvGrpSpPr>
          <p:cNvPr name="Group 22" id="22"/>
          <p:cNvGrpSpPr/>
          <p:nvPr/>
        </p:nvGrpSpPr>
        <p:grpSpPr>
          <a:xfrm rot="0">
            <a:off x="13998550" y="685800"/>
            <a:ext cx="3489350" cy="370332"/>
            <a:chOff x="0" y="0"/>
            <a:chExt cx="4652467" cy="493776"/>
          </a:xfrm>
        </p:grpSpPr>
        <p:sp>
          <p:nvSpPr>
            <p:cNvPr name="Freeform 23" id="23"/>
            <p:cNvSpPr/>
            <p:nvPr/>
          </p:nvSpPr>
          <p:spPr>
            <a:xfrm flipH="false" flipV="false" rot="0">
              <a:off x="0" y="0"/>
              <a:ext cx="4652518" cy="493776"/>
            </a:xfrm>
            <a:custGeom>
              <a:avLst/>
              <a:gdLst/>
              <a:ahLst/>
              <a:cxnLst/>
              <a:rect r="r" b="b" t="t" l="l"/>
              <a:pathLst>
                <a:path h="493776" w="4652518">
                  <a:moveTo>
                    <a:pt x="0" y="246888"/>
                  </a:moveTo>
                  <a:cubicBezTo>
                    <a:pt x="0" y="110490"/>
                    <a:pt x="110490" y="0"/>
                    <a:pt x="246888" y="0"/>
                  </a:cubicBezTo>
                  <a:lnTo>
                    <a:pt x="4405630" y="0"/>
                  </a:lnTo>
                  <a:cubicBezTo>
                    <a:pt x="4542028" y="0"/>
                    <a:pt x="4652518" y="110490"/>
                    <a:pt x="4652518" y="246888"/>
                  </a:cubicBezTo>
                  <a:cubicBezTo>
                    <a:pt x="4652518" y="383286"/>
                    <a:pt x="4542028" y="493776"/>
                    <a:pt x="4405630" y="493776"/>
                  </a:cubicBezTo>
                  <a:lnTo>
                    <a:pt x="246888" y="493776"/>
                  </a:lnTo>
                  <a:cubicBezTo>
                    <a:pt x="110490" y="493776"/>
                    <a:pt x="0" y="383286"/>
                    <a:pt x="0" y="246888"/>
                  </a:cubicBezTo>
                  <a:close/>
                </a:path>
              </a:pathLst>
            </a:custGeom>
            <a:solidFill>
              <a:srgbClr val="FEF3C7"/>
            </a:solidFill>
          </p:spPr>
          <p:txBody>
            <a:bodyPr/>
            <a:p/>
          </p:txBody>
        </p:sp>
        <p:sp>
          <p:nvSpPr>
            <p:cNvPr name="TextBox 24" id="24"/>
            <p:cNvSpPr txBox="true"/>
            <p:nvPr/>
          </p:nvSpPr>
          <p:spPr>
            <a:xfrm>
              <a:off x="0" y="0"/>
              <a:ext cx="4652467" cy="493776"/>
            </a:xfrm>
            <a:prstGeom prst="rect">
              <a:avLst/>
            </a:prstGeom>
          </p:spPr>
          <p:txBody>
            <a:bodyPr anchor="ctr" rtlCol="false" tIns="50800" lIns="50800" bIns="50800" rIns="50800"/>
            <a:lstStyle/>
            <a:p>
              <a:pPr algn="ctr">
                <a:lnSpc>
                  <a:spcPts val="1350"/>
                </a:lnSpc>
              </a:pPr>
              <a:r>
                <a:rPr lang="en-US" sz="1125" b="true">
                  <a:solidFill>
                    <a:srgbClr val="B45309"/>
                  </a:solidFill>
                  <a:latin typeface="DM Sans Bold"/>
                  <a:ea typeface="DM Sans Bold"/>
                  <a:cs typeface="DM Sans Bold"/>
                  <a:sym typeface="DM Sans Bold"/>
                </a:rPr>
                <a:t>3 ITEMS QUOTED · NOTHING ORDERED</a:t>
              </a:r>
            </a:p>
          </p:txBody>
        </p:sp>
      </p:grpSp>
      <p:grpSp>
        <p:nvGrpSpPr>
          <p:cNvPr name="Group 25" id="25"/>
          <p:cNvGrpSpPr/>
          <p:nvPr/>
        </p:nvGrpSpPr>
        <p:grpSpPr>
          <a:xfrm rot="0">
            <a:off x="809244" y="1455068"/>
            <a:ext cx="8119872" cy="5813231"/>
            <a:chOff x="0" y="0"/>
            <a:chExt cx="10826496" cy="7750975"/>
          </a:xfrm>
        </p:grpSpPr>
        <p:sp>
          <p:nvSpPr>
            <p:cNvPr name="Freeform 26" id="26" descr="fig_window.png"/>
            <p:cNvSpPr/>
            <p:nvPr/>
          </p:nvSpPr>
          <p:spPr>
            <a:xfrm flipH="false" flipV="false" rot="0">
              <a:off x="0" y="0"/>
              <a:ext cx="10826496" cy="7750937"/>
            </a:xfrm>
            <a:custGeom>
              <a:avLst/>
              <a:gdLst/>
              <a:ahLst/>
              <a:cxnLst/>
              <a:rect r="r" b="b" t="t" l="l"/>
              <a:pathLst>
                <a:path h="7750937" w="10826496">
                  <a:moveTo>
                    <a:pt x="0" y="0"/>
                  </a:moveTo>
                  <a:lnTo>
                    <a:pt x="10826496" y="0"/>
                  </a:lnTo>
                  <a:lnTo>
                    <a:pt x="10826496" y="7750937"/>
                  </a:lnTo>
                  <a:lnTo>
                    <a:pt x="0" y="7750937"/>
                  </a:lnTo>
                  <a:lnTo>
                    <a:pt x="0" y="0"/>
                  </a:lnTo>
                  <a:close/>
                </a:path>
              </a:pathLst>
            </a:custGeom>
            <a:blipFill>
              <a:blip r:embed="rId11"/>
              <a:stretch>
                <a:fillRect l="0" t="0" r="0" b="0"/>
              </a:stretch>
            </a:blipFill>
          </p:spPr>
          <p:txBody>
            <a:bodyPr/>
            <a:p/>
          </p:txBody>
        </p:sp>
      </p:grpSp>
      <p:graphicFrame>
        <p:nvGraphicFramePr>
          <p:cNvPr name="Table 27" id="27"/>
          <p:cNvGraphicFramePr>
            <a:graphicFrameLocks noGrp="true"/>
          </p:cNvGraphicFramePr>
          <p:nvPr/>
        </p:nvGraphicFramePr>
        <p:xfrm>
          <a:off x="9669780" y="2276856"/>
          <a:ext cx="7486650" cy="4972050"/>
        </p:xfrm>
        <a:graphic>
          <a:graphicData uri="http://schemas.openxmlformats.org/drawingml/2006/table">
            <a:tbl>
              <a:tblPr/>
              <a:tblGrid>
                <a:gridCol w="3116958"/>
                <a:gridCol w="639757"/>
                <a:gridCol w="1978785"/>
                <a:gridCol w="1751150"/>
              </a:tblGrid>
              <a:tr h="565201">
                <a:tc>
                  <a:txBody>
                    <a:bodyPr anchor="t" rtlCol="false"/>
                    <a:lstStyle/>
                    <a:p>
                      <a:pPr algn="l">
                        <a:lnSpc>
                          <a:spcPts val="1654"/>
                        </a:lnSpc>
                        <a:defRPr/>
                      </a:pPr>
                      <a:r>
                        <a:rPr lang="en-US" sz="1378" b="true">
                          <a:solidFill>
                            <a:srgbClr val="0F172A"/>
                          </a:solidFill>
                          <a:latin typeface="DM Sans Bold"/>
                          <a:ea typeface="DM Sans Bold"/>
                          <a:cs typeface="DM Sans Bold"/>
                          <a:sym typeface="DM Sans Bold"/>
                        </a:rPr>
                        <a:t>Item</a:t>
                      </a:r>
                      <a:endParaRPr lang="en-US" sz="1100"/>
                    </a:p>
                  </a:txBody>
                  <a:tcPr marL="36576" marR="36576" marT="36576" marB="36576" anchor="ctr">
                    <a:lnL cmpd="sng" algn="ctr" cap="flat" w="12700">
                      <a:solidFill>
                        <a:srgbClr val="000000"/>
                      </a:solidFill>
                      <a:prstDash val="solid"/>
                      <a:round/>
                      <a:headEnd type="none" w="med" len="med"/>
                      <a:tailEnd type="none" w="med" len="med"/>
                    </a:lnL>
                    <a:lnR cmpd="sng" algn="ctr" cap="flat" w="12700">
                      <a:solidFill>
                        <a:srgbClr val="000000"/>
                      </a:solidFill>
                      <a:prstDash val="solid"/>
                      <a:round/>
                      <a:headEnd type="none" w="med" len="med"/>
                      <a:tailEnd type="none" w="med" len="med"/>
                    </a:lnR>
                    <a:lnT cmpd="sng" algn="ctr" cap="flat" w="12700">
                      <a:solidFill>
                        <a:srgbClr val="000000"/>
                      </a:solidFill>
                      <a:prstDash val="solid"/>
                      <a:round/>
                      <a:headEnd type="none" w="med" len="med"/>
                      <a:tailEnd type="none" w="med" len="med"/>
                    </a:lnT>
                    <a:lnB cmpd="sng" algn="ctr" cap="flat" w="12700">
                      <a:solidFill>
                        <a:srgbClr val="CBD5E1"/>
                      </a:solidFill>
                      <a:prstDash val="solid"/>
                      <a:round/>
                      <a:headEnd type="none" w="med" len="med"/>
                      <a:tailEnd type="none" w="med" len="med"/>
                    </a:lnB>
                  </a:tcPr>
                </a:tc>
                <a:tc>
                  <a:txBody>
                    <a:bodyPr anchor="t" rtlCol="false"/>
                    <a:lstStyle/>
                    <a:p>
                      <a:pPr algn="l">
                        <a:lnSpc>
                          <a:spcPts val="1654"/>
                        </a:lnSpc>
                        <a:defRPr/>
                      </a:pPr>
                      <a:r>
                        <a:rPr lang="en-US" sz="1378" b="true">
                          <a:solidFill>
                            <a:srgbClr val="0F172A"/>
                          </a:solidFill>
                          <a:latin typeface="DM Sans Bold"/>
                          <a:ea typeface="DM Sans Bold"/>
                          <a:cs typeface="DM Sans Bold"/>
                          <a:sym typeface="DM Sans Bold"/>
                        </a:rPr>
                        <a:t>Qty</a:t>
                      </a:r>
                      <a:endParaRPr lang="en-US" sz="1100"/>
                    </a:p>
                  </a:txBody>
                  <a:tcPr marL="36576" marR="36576" marT="36576" marB="36576" anchor="ctr">
                    <a:lnL cmpd="sng" algn="ctr" cap="flat" w="12700">
                      <a:solidFill>
                        <a:srgbClr val="000000"/>
                      </a:solidFill>
                      <a:prstDash val="solid"/>
                      <a:round/>
                      <a:headEnd type="none" w="med" len="med"/>
                      <a:tailEnd type="none" w="med" len="med"/>
                    </a:lnL>
                    <a:lnR cmpd="sng" algn="ctr" cap="flat" w="12700">
                      <a:solidFill>
                        <a:srgbClr val="000000"/>
                      </a:solidFill>
                      <a:prstDash val="solid"/>
                      <a:round/>
                      <a:headEnd type="none" w="med" len="med"/>
                      <a:tailEnd type="none" w="med" len="med"/>
                    </a:lnR>
                    <a:lnT cmpd="sng" algn="ctr" cap="flat" w="12700">
                      <a:solidFill>
                        <a:srgbClr val="000000"/>
                      </a:solidFill>
                      <a:prstDash val="solid"/>
                      <a:round/>
                      <a:headEnd type="none" w="med" len="med"/>
                      <a:tailEnd type="none" w="med" len="med"/>
                    </a:lnT>
                    <a:lnB cmpd="sng" algn="ctr" cap="flat" w="12700">
                      <a:solidFill>
                        <a:srgbClr val="CBD5E1"/>
                      </a:solidFill>
                      <a:prstDash val="solid"/>
                      <a:round/>
                      <a:headEnd type="none" w="med" len="med"/>
                      <a:tailEnd type="none" w="med" len="med"/>
                    </a:lnB>
                  </a:tcPr>
                </a:tc>
                <a:tc>
                  <a:txBody>
                    <a:bodyPr anchor="t" rtlCol="false"/>
                    <a:lstStyle/>
                    <a:p>
                      <a:pPr algn="l">
                        <a:lnSpc>
                          <a:spcPts val="1654"/>
                        </a:lnSpc>
                        <a:defRPr/>
                      </a:pPr>
                      <a:r>
                        <a:rPr lang="en-US" sz="1378" b="true">
                          <a:solidFill>
                            <a:srgbClr val="0F172A"/>
                          </a:solidFill>
                          <a:latin typeface="DM Sans Bold"/>
                          <a:ea typeface="DM Sans Bold"/>
                          <a:cs typeface="DM Sans Bold"/>
                          <a:sym typeface="DM Sans Bold"/>
                        </a:rPr>
                        <a:t>Source</a:t>
                      </a:r>
                      <a:endParaRPr lang="en-US" sz="1100"/>
                    </a:p>
                  </a:txBody>
                  <a:tcPr marL="36576" marR="36576" marT="36576" marB="36576" anchor="ctr">
                    <a:lnL cmpd="sng" algn="ctr" cap="flat" w="12700">
                      <a:solidFill>
                        <a:srgbClr val="000000"/>
                      </a:solidFill>
                      <a:prstDash val="solid"/>
                      <a:round/>
                      <a:headEnd type="none" w="med" len="med"/>
                      <a:tailEnd type="none" w="med" len="med"/>
                    </a:lnL>
                    <a:lnR cmpd="sng" algn="ctr" cap="flat" w="12700">
                      <a:solidFill>
                        <a:srgbClr val="000000"/>
                      </a:solidFill>
                      <a:prstDash val="solid"/>
                      <a:round/>
                      <a:headEnd type="none" w="med" len="med"/>
                      <a:tailEnd type="none" w="med" len="med"/>
                    </a:lnR>
                    <a:lnT cmpd="sng" algn="ctr" cap="flat" w="12700">
                      <a:solidFill>
                        <a:srgbClr val="000000"/>
                      </a:solidFill>
                      <a:prstDash val="solid"/>
                      <a:round/>
                      <a:headEnd type="none" w="med" len="med"/>
                      <a:tailEnd type="none" w="med" len="med"/>
                    </a:lnT>
                    <a:lnB cmpd="sng" algn="ctr" cap="flat" w="12700">
                      <a:solidFill>
                        <a:srgbClr val="CBD5E1"/>
                      </a:solidFill>
                      <a:prstDash val="solid"/>
                      <a:round/>
                      <a:headEnd type="none" w="med" len="med"/>
                      <a:tailEnd type="none" w="med" len="med"/>
                    </a:lnB>
                  </a:tcPr>
                </a:tc>
                <a:tc>
                  <a:txBody>
                    <a:bodyPr anchor="t" rtlCol="false"/>
                    <a:lstStyle/>
                    <a:p>
                      <a:pPr algn="l">
                        <a:lnSpc>
                          <a:spcPts val="1654"/>
                        </a:lnSpc>
                        <a:defRPr/>
                      </a:pPr>
                      <a:r>
                        <a:rPr lang="en-US" sz="1378" b="true">
                          <a:solidFill>
                            <a:srgbClr val="0F172A"/>
                          </a:solidFill>
                          <a:latin typeface="DM Sans Bold"/>
                          <a:ea typeface="DM Sans Bold"/>
                          <a:cs typeface="DM Sans Bold"/>
                          <a:sym typeface="DM Sans Bold"/>
                        </a:rPr>
                        <a:t>₹</a:t>
                      </a:r>
                      <a:endParaRPr lang="en-US" sz="1100"/>
                    </a:p>
                  </a:txBody>
                  <a:tcPr marL="36576" marR="36576" marT="36576" marB="36576" anchor="ctr">
                    <a:lnL cmpd="sng" algn="ctr" cap="flat" w="12700">
                      <a:solidFill>
                        <a:srgbClr val="000000"/>
                      </a:solidFill>
                      <a:prstDash val="solid"/>
                      <a:round/>
                      <a:headEnd type="none" w="med" len="med"/>
                      <a:tailEnd type="none" w="med" len="med"/>
                    </a:lnL>
                    <a:lnR cmpd="sng" algn="ctr" cap="flat" w="12700">
                      <a:solidFill>
                        <a:srgbClr val="000000"/>
                      </a:solidFill>
                      <a:prstDash val="solid"/>
                      <a:round/>
                      <a:headEnd type="none" w="med" len="med"/>
                      <a:tailEnd type="none" w="med" len="med"/>
                    </a:lnR>
                    <a:lnT cmpd="sng" algn="ctr" cap="flat" w="12700">
                      <a:solidFill>
                        <a:srgbClr val="000000"/>
                      </a:solidFill>
                      <a:prstDash val="solid"/>
                      <a:round/>
                      <a:headEnd type="none" w="med" len="med"/>
                      <a:tailEnd type="none" w="med" len="med"/>
                    </a:lnT>
                    <a:lnB cmpd="sng" algn="ctr" cap="flat" w="12700">
                      <a:solidFill>
                        <a:srgbClr val="CBD5E1"/>
                      </a:solidFill>
                      <a:prstDash val="solid"/>
                      <a:round/>
                      <a:headEnd type="none" w="med" len="med"/>
                      <a:tailEnd type="none" w="med" len="med"/>
                    </a:lnB>
                  </a:tcPr>
                </a:tc>
              </a:tr>
              <a:tr h="550856">
                <a:tc>
                  <a:txBody>
                    <a:bodyPr anchor="t" rtlCol="false"/>
                    <a:lstStyle/>
                    <a:p>
                      <a:pPr algn="l">
                        <a:lnSpc>
                          <a:spcPts val="1764"/>
                        </a:lnSpc>
                        <a:defRPr/>
                      </a:pPr>
                      <a:r>
                        <a:rPr lang="en-US" sz="1470" b="true">
                          <a:solidFill>
                            <a:srgbClr val="0F172A"/>
                          </a:solidFill>
                          <a:latin typeface="DM Sans Bold"/>
                          <a:ea typeface="DM Sans Bold"/>
                          <a:cs typeface="DM Sans Bold"/>
                          <a:sym typeface="DM Sans Bold"/>
                        </a:rPr>
                        <a:t>ESP32-C3 SuperMini (PRO4607)</a:t>
                      </a:r>
                      <a:endParaRPr lang="en-US" sz="1100"/>
                    </a:p>
                  </a:txBody>
                  <a:tcPr marL="36576" marR="36576" marT="36576" marB="36576" anchor="ctr">
                    <a:lnL cmpd="sng" algn="ctr" cap="flat" w="7620">
                      <a:solidFill>
                        <a:srgbClr val="000000"/>
                      </a:solidFill>
                      <a:prstDash val="solid"/>
                      <a:round/>
                      <a:headEnd type="none" w="med" len="med"/>
                      <a:tailEnd type="none" w="med" len="med"/>
                    </a:lnL>
                    <a:lnR cmpd="sng" algn="ctr" cap="flat" w="7620">
                      <a:solidFill>
                        <a:srgbClr val="000000"/>
                      </a:solidFill>
                      <a:prstDash val="solid"/>
                      <a:round/>
                      <a:headEnd type="none" w="med" len="med"/>
                      <a:tailEnd type="none" w="med" len="med"/>
                    </a:lnR>
                    <a:lnT cmpd="sng" algn="ctr" cap="flat" w="7620">
                      <a:solidFill>
                        <a:srgbClr val="000000"/>
                      </a:solidFill>
                      <a:prstDash val="solid"/>
                      <a:round/>
                      <a:headEnd type="none" w="med" len="med"/>
                      <a:tailEnd type="none" w="med" len="med"/>
                    </a:lnT>
                    <a:lnB cmpd="sng" algn="ctr" cap="flat" w="7620">
                      <a:solidFill>
                        <a:srgbClr val="E2E8F0"/>
                      </a:solidFill>
                      <a:prstDash val="solid"/>
                      <a:round/>
                      <a:headEnd type="none" w="med" len="med"/>
                      <a:tailEnd type="none" w="med" len="med"/>
                    </a:lnB>
                  </a:tcPr>
                </a:tc>
                <a:tc>
                  <a:txBody>
                    <a:bodyPr anchor="t" rtlCol="false"/>
                    <a:lstStyle/>
                    <a:p>
                      <a:pPr algn="l">
                        <a:lnSpc>
                          <a:spcPts val="1764"/>
                        </a:lnSpc>
                        <a:defRPr/>
                      </a:pPr>
                      <a:r>
                        <a:rPr lang="en-US" sz="1470">
                          <a:solidFill>
                            <a:srgbClr val="334155"/>
                          </a:solidFill>
                          <a:latin typeface="DM Sans"/>
                          <a:ea typeface="DM Sans"/>
                          <a:cs typeface="DM Sans"/>
                          <a:sym typeface="DM Sans"/>
                        </a:rPr>
                        <a:t>1</a:t>
                      </a:r>
                      <a:endParaRPr lang="en-US" sz="1100"/>
                    </a:p>
                  </a:txBody>
                  <a:tcPr marL="36576" marR="36576" marT="36576" marB="36576" anchor="ctr">
                    <a:lnL cmpd="sng" algn="ctr" cap="flat" w="7620">
                      <a:solidFill>
                        <a:srgbClr val="000000"/>
                      </a:solidFill>
                      <a:prstDash val="solid"/>
                      <a:round/>
                      <a:headEnd type="none" w="med" len="med"/>
                      <a:tailEnd type="none" w="med" len="med"/>
                    </a:lnL>
                    <a:lnR cmpd="sng" algn="ctr" cap="flat" w="7620">
                      <a:solidFill>
                        <a:srgbClr val="000000"/>
                      </a:solidFill>
                      <a:prstDash val="solid"/>
                      <a:round/>
                      <a:headEnd type="none" w="med" len="med"/>
                      <a:tailEnd type="none" w="med" len="med"/>
                    </a:lnR>
                    <a:lnT cmpd="sng" algn="ctr" cap="flat" w="7620">
                      <a:solidFill>
                        <a:srgbClr val="000000"/>
                      </a:solidFill>
                      <a:prstDash val="solid"/>
                      <a:round/>
                      <a:headEnd type="none" w="med" len="med"/>
                      <a:tailEnd type="none" w="med" len="med"/>
                    </a:lnT>
                    <a:lnB cmpd="sng" algn="ctr" cap="flat" w="7620">
                      <a:solidFill>
                        <a:srgbClr val="E2E8F0"/>
                      </a:solidFill>
                      <a:prstDash val="solid"/>
                      <a:round/>
                      <a:headEnd type="none" w="med" len="med"/>
                      <a:tailEnd type="none" w="med" len="med"/>
                    </a:lnB>
                  </a:tcPr>
                </a:tc>
                <a:tc>
                  <a:txBody>
                    <a:bodyPr anchor="t" rtlCol="false"/>
                    <a:lstStyle/>
                    <a:p>
                      <a:pPr algn="l">
                        <a:lnSpc>
                          <a:spcPts val="1764"/>
                        </a:lnSpc>
                        <a:defRPr/>
                      </a:pPr>
                      <a:r>
                        <a:rPr lang="en-US" sz="1470">
                          <a:solidFill>
                            <a:srgbClr val="334155"/>
                          </a:solidFill>
                          <a:latin typeface="DM Sans"/>
                          <a:ea typeface="DM Sans"/>
                          <a:cs typeface="DM Sans"/>
                          <a:sym typeface="DM Sans"/>
                        </a:rPr>
                        <a:t>Probots · quoted</a:t>
                      </a:r>
                      <a:endParaRPr lang="en-US" sz="1100"/>
                    </a:p>
                  </a:txBody>
                  <a:tcPr marL="36576" marR="36576" marT="36576" marB="36576" anchor="ctr">
                    <a:lnL cmpd="sng" algn="ctr" cap="flat" w="7620">
                      <a:solidFill>
                        <a:srgbClr val="000000"/>
                      </a:solidFill>
                      <a:prstDash val="solid"/>
                      <a:round/>
                      <a:headEnd type="none" w="med" len="med"/>
                      <a:tailEnd type="none" w="med" len="med"/>
                    </a:lnL>
                    <a:lnR cmpd="sng" algn="ctr" cap="flat" w="7620">
                      <a:solidFill>
                        <a:srgbClr val="000000"/>
                      </a:solidFill>
                      <a:prstDash val="solid"/>
                      <a:round/>
                      <a:headEnd type="none" w="med" len="med"/>
                      <a:tailEnd type="none" w="med" len="med"/>
                    </a:lnR>
                    <a:lnT cmpd="sng" algn="ctr" cap="flat" w="7620">
                      <a:solidFill>
                        <a:srgbClr val="000000"/>
                      </a:solidFill>
                      <a:prstDash val="solid"/>
                      <a:round/>
                      <a:headEnd type="none" w="med" len="med"/>
                      <a:tailEnd type="none" w="med" len="med"/>
                    </a:lnT>
                    <a:lnB cmpd="sng" algn="ctr" cap="flat" w="7620">
                      <a:solidFill>
                        <a:srgbClr val="E2E8F0"/>
                      </a:solidFill>
                      <a:prstDash val="solid"/>
                      <a:round/>
                      <a:headEnd type="none" w="med" len="med"/>
                      <a:tailEnd type="none" w="med" len="med"/>
                    </a:lnB>
                  </a:tcPr>
                </a:tc>
                <a:tc>
                  <a:txBody>
                    <a:bodyPr anchor="t" rtlCol="false"/>
                    <a:lstStyle/>
                    <a:p>
                      <a:pPr algn="l">
                        <a:lnSpc>
                          <a:spcPts val="1764"/>
                        </a:lnSpc>
                        <a:defRPr/>
                      </a:pPr>
                      <a:r>
                        <a:rPr lang="en-US" sz="1470">
                          <a:solidFill>
                            <a:srgbClr val="334155"/>
                          </a:solidFill>
                          <a:latin typeface="DM Sans"/>
                          <a:ea typeface="DM Sans"/>
                          <a:cs typeface="DM Sans"/>
                          <a:sym typeface="DM Sans"/>
                        </a:rPr>
                        <a:t>242</a:t>
                      </a:r>
                      <a:endParaRPr lang="en-US" sz="1100"/>
                    </a:p>
                  </a:txBody>
                  <a:tcPr marL="36576" marR="36576" marT="36576" marB="36576" anchor="ctr">
                    <a:lnL cmpd="sng" algn="ctr" cap="flat" w="7620">
                      <a:solidFill>
                        <a:srgbClr val="000000"/>
                      </a:solidFill>
                      <a:prstDash val="solid"/>
                      <a:round/>
                      <a:headEnd type="none" w="med" len="med"/>
                      <a:tailEnd type="none" w="med" len="med"/>
                    </a:lnL>
                    <a:lnR cmpd="sng" algn="ctr" cap="flat" w="7620">
                      <a:solidFill>
                        <a:srgbClr val="000000"/>
                      </a:solidFill>
                      <a:prstDash val="solid"/>
                      <a:round/>
                      <a:headEnd type="none" w="med" len="med"/>
                      <a:tailEnd type="none" w="med" len="med"/>
                    </a:lnR>
                    <a:lnT cmpd="sng" algn="ctr" cap="flat" w="7620">
                      <a:solidFill>
                        <a:srgbClr val="000000"/>
                      </a:solidFill>
                      <a:prstDash val="solid"/>
                      <a:round/>
                      <a:headEnd type="none" w="med" len="med"/>
                      <a:tailEnd type="none" w="med" len="med"/>
                    </a:lnT>
                    <a:lnB cmpd="sng" algn="ctr" cap="flat" w="7620">
                      <a:solidFill>
                        <a:srgbClr val="E2E8F0"/>
                      </a:solidFill>
                      <a:prstDash val="solid"/>
                      <a:round/>
                      <a:headEnd type="none" w="med" len="med"/>
                      <a:tailEnd type="none" w="med" len="med"/>
                    </a:lnB>
                  </a:tcPr>
                </a:tc>
              </a:tr>
              <a:tr h="550856">
                <a:tc>
                  <a:txBody>
                    <a:bodyPr anchor="t" rtlCol="false"/>
                    <a:lstStyle/>
                    <a:p>
                      <a:pPr algn="l">
                        <a:lnSpc>
                          <a:spcPts val="1764"/>
                        </a:lnSpc>
                        <a:defRPr/>
                      </a:pPr>
                      <a:r>
                        <a:rPr lang="en-US" sz="1470" b="true">
                          <a:solidFill>
                            <a:srgbClr val="0F172A"/>
                          </a:solidFill>
                          <a:latin typeface="DM Sans Bold"/>
                          <a:ea typeface="DM Sans Bold"/>
                          <a:cs typeface="DM Sans Bold"/>
                          <a:sym typeface="DM Sans Bold"/>
                        </a:rPr>
                        <a:t>ADS1115 module (PRO789)</a:t>
                      </a:r>
                      <a:endParaRPr lang="en-US" sz="1100"/>
                    </a:p>
                  </a:txBody>
                  <a:tcPr marL="36576" marR="36576" marT="36576" marB="36576" anchor="ctr">
                    <a:lnL cmpd="sng" algn="ctr" cap="flat" w="7620">
                      <a:solidFill>
                        <a:srgbClr val="000000"/>
                      </a:solidFill>
                      <a:prstDash val="solid"/>
                      <a:round/>
                      <a:headEnd type="none" w="med" len="med"/>
                      <a:tailEnd type="none" w="med" len="med"/>
                    </a:lnL>
                    <a:lnR cmpd="sng" algn="ctr" cap="flat" w="7620">
                      <a:solidFill>
                        <a:srgbClr val="000000"/>
                      </a:solidFill>
                      <a:prstDash val="solid"/>
                      <a:round/>
                      <a:headEnd type="none" w="med" len="med"/>
                      <a:tailEnd type="none" w="med" len="med"/>
                    </a:lnR>
                    <a:lnT cmpd="sng" algn="ctr" cap="flat" w="7620">
                      <a:solidFill>
                        <a:srgbClr val="000000"/>
                      </a:solidFill>
                      <a:prstDash val="solid"/>
                      <a:round/>
                      <a:headEnd type="none" w="med" len="med"/>
                      <a:tailEnd type="none" w="med" len="med"/>
                    </a:lnT>
                    <a:lnB cmpd="sng" algn="ctr" cap="flat" w="7620">
                      <a:solidFill>
                        <a:srgbClr val="E2E8F0"/>
                      </a:solidFill>
                      <a:prstDash val="solid"/>
                      <a:round/>
                      <a:headEnd type="none" w="med" len="med"/>
                      <a:tailEnd type="none" w="med" len="med"/>
                    </a:lnB>
                  </a:tcPr>
                </a:tc>
                <a:tc>
                  <a:txBody>
                    <a:bodyPr anchor="t" rtlCol="false"/>
                    <a:lstStyle/>
                    <a:p>
                      <a:pPr algn="l">
                        <a:lnSpc>
                          <a:spcPts val="1764"/>
                        </a:lnSpc>
                        <a:defRPr/>
                      </a:pPr>
                      <a:r>
                        <a:rPr lang="en-US" sz="1470">
                          <a:solidFill>
                            <a:srgbClr val="334155"/>
                          </a:solidFill>
                          <a:latin typeface="DM Sans"/>
                          <a:ea typeface="DM Sans"/>
                          <a:cs typeface="DM Sans"/>
                          <a:sym typeface="DM Sans"/>
                        </a:rPr>
                        <a:t>1</a:t>
                      </a:r>
                      <a:endParaRPr lang="en-US" sz="1100"/>
                    </a:p>
                  </a:txBody>
                  <a:tcPr marL="36576" marR="36576" marT="36576" marB="36576" anchor="ctr">
                    <a:lnL cmpd="sng" algn="ctr" cap="flat" w="7620">
                      <a:solidFill>
                        <a:srgbClr val="000000"/>
                      </a:solidFill>
                      <a:prstDash val="solid"/>
                      <a:round/>
                      <a:headEnd type="none" w="med" len="med"/>
                      <a:tailEnd type="none" w="med" len="med"/>
                    </a:lnL>
                    <a:lnR cmpd="sng" algn="ctr" cap="flat" w="7620">
                      <a:solidFill>
                        <a:srgbClr val="000000"/>
                      </a:solidFill>
                      <a:prstDash val="solid"/>
                      <a:round/>
                      <a:headEnd type="none" w="med" len="med"/>
                      <a:tailEnd type="none" w="med" len="med"/>
                    </a:lnR>
                    <a:lnT cmpd="sng" algn="ctr" cap="flat" w="7620">
                      <a:solidFill>
                        <a:srgbClr val="000000"/>
                      </a:solidFill>
                      <a:prstDash val="solid"/>
                      <a:round/>
                      <a:headEnd type="none" w="med" len="med"/>
                      <a:tailEnd type="none" w="med" len="med"/>
                    </a:lnT>
                    <a:lnB cmpd="sng" algn="ctr" cap="flat" w="7620">
                      <a:solidFill>
                        <a:srgbClr val="E2E8F0"/>
                      </a:solidFill>
                      <a:prstDash val="solid"/>
                      <a:round/>
                      <a:headEnd type="none" w="med" len="med"/>
                      <a:tailEnd type="none" w="med" len="med"/>
                    </a:lnB>
                  </a:tcPr>
                </a:tc>
                <a:tc>
                  <a:txBody>
                    <a:bodyPr anchor="t" rtlCol="false"/>
                    <a:lstStyle/>
                    <a:p>
                      <a:pPr algn="l">
                        <a:lnSpc>
                          <a:spcPts val="1764"/>
                        </a:lnSpc>
                        <a:defRPr/>
                      </a:pPr>
                      <a:r>
                        <a:rPr lang="en-US" sz="1470">
                          <a:solidFill>
                            <a:srgbClr val="334155"/>
                          </a:solidFill>
                          <a:latin typeface="DM Sans"/>
                          <a:ea typeface="DM Sans"/>
                          <a:cs typeface="DM Sans"/>
                          <a:sym typeface="DM Sans"/>
                        </a:rPr>
                        <a:t>Probots · quoted</a:t>
                      </a:r>
                      <a:endParaRPr lang="en-US" sz="1100"/>
                    </a:p>
                  </a:txBody>
                  <a:tcPr marL="36576" marR="36576" marT="36576" marB="36576" anchor="ctr">
                    <a:lnL cmpd="sng" algn="ctr" cap="flat" w="7620">
                      <a:solidFill>
                        <a:srgbClr val="000000"/>
                      </a:solidFill>
                      <a:prstDash val="solid"/>
                      <a:round/>
                      <a:headEnd type="none" w="med" len="med"/>
                      <a:tailEnd type="none" w="med" len="med"/>
                    </a:lnL>
                    <a:lnR cmpd="sng" algn="ctr" cap="flat" w="7620">
                      <a:solidFill>
                        <a:srgbClr val="000000"/>
                      </a:solidFill>
                      <a:prstDash val="solid"/>
                      <a:round/>
                      <a:headEnd type="none" w="med" len="med"/>
                      <a:tailEnd type="none" w="med" len="med"/>
                    </a:lnR>
                    <a:lnT cmpd="sng" algn="ctr" cap="flat" w="7620">
                      <a:solidFill>
                        <a:srgbClr val="000000"/>
                      </a:solidFill>
                      <a:prstDash val="solid"/>
                      <a:round/>
                      <a:headEnd type="none" w="med" len="med"/>
                      <a:tailEnd type="none" w="med" len="med"/>
                    </a:lnT>
                    <a:lnB cmpd="sng" algn="ctr" cap="flat" w="7620">
                      <a:solidFill>
                        <a:srgbClr val="E2E8F0"/>
                      </a:solidFill>
                      <a:prstDash val="solid"/>
                      <a:round/>
                      <a:headEnd type="none" w="med" len="med"/>
                      <a:tailEnd type="none" w="med" len="med"/>
                    </a:lnB>
                  </a:tcPr>
                </a:tc>
                <a:tc>
                  <a:txBody>
                    <a:bodyPr anchor="t" rtlCol="false"/>
                    <a:lstStyle/>
                    <a:p>
                      <a:pPr algn="l">
                        <a:lnSpc>
                          <a:spcPts val="1764"/>
                        </a:lnSpc>
                        <a:defRPr/>
                      </a:pPr>
                      <a:r>
                        <a:rPr lang="en-US" sz="1470">
                          <a:solidFill>
                            <a:srgbClr val="334155"/>
                          </a:solidFill>
                          <a:latin typeface="DM Sans"/>
                          <a:ea typeface="DM Sans"/>
                          <a:cs typeface="DM Sans"/>
                          <a:sym typeface="DM Sans"/>
                        </a:rPr>
                        <a:t>125</a:t>
                      </a:r>
                      <a:endParaRPr lang="en-US" sz="1100"/>
                    </a:p>
                  </a:txBody>
                  <a:tcPr marL="36576" marR="36576" marT="36576" marB="36576" anchor="ctr">
                    <a:lnL cmpd="sng" algn="ctr" cap="flat" w="7620">
                      <a:solidFill>
                        <a:srgbClr val="000000"/>
                      </a:solidFill>
                      <a:prstDash val="solid"/>
                      <a:round/>
                      <a:headEnd type="none" w="med" len="med"/>
                      <a:tailEnd type="none" w="med" len="med"/>
                    </a:lnL>
                    <a:lnR cmpd="sng" algn="ctr" cap="flat" w="7620">
                      <a:solidFill>
                        <a:srgbClr val="000000"/>
                      </a:solidFill>
                      <a:prstDash val="solid"/>
                      <a:round/>
                      <a:headEnd type="none" w="med" len="med"/>
                      <a:tailEnd type="none" w="med" len="med"/>
                    </a:lnR>
                    <a:lnT cmpd="sng" algn="ctr" cap="flat" w="7620">
                      <a:solidFill>
                        <a:srgbClr val="000000"/>
                      </a:solidFill>
                      <a:prstDash val="solid"/>
                      <a:round/>
                      <a:headEnd type="none" w="med" len="med"/>
                      <a:tailEnd type="none" w="med" len="med"/>
                    </a:lnT>
                    <a:lnB cmpd="sng" algn="ctr" cap="flat" w="7620">
                      <a:solidFill>
                        <a:srgbClr val="E2E8F0"/>
                      </a:solidFill>
                      <a:prstDash val="solid"/>
                      <a:round/>
                      <a:headEnd type="none" w="med" len="med"/>
                      <a:tailEnd type="none" w="med" len="med"/>
                    </a:lnB>
                  </a:tcPr>
                </a:tc>
              </a:tr>
              <a:tr h="550856">
                <a:tc>
                  <a:txBody>
                    <a:bodyPr anchor="t" rtlCol="false"/>
                    <a:lstStyle/>
                    <a:p>
                      <a:pPr algn="l">
                        <a:lnSpc>
                          <a:spcPts val="1764"/>
                        </a:lnSpc>
                        <a:defRPr/>
                      </a:pPr>
                      <a:r>
                        <a:rPr lang="en-US" sz="1470" b="true">
                          <a:solidFill>
                            <a:srgbClr val="0F172A"/>
                          </a:solidFill>
                          <a:latin typeface="DM Sans Bold"/>
                          <a:ea typeface="DM Sans Bold"/>
                          <a:cs typeface="DM Sans Bold"/>
                          <a:sym typeface="DM Sans Bold"/>
                        </a:rPr>
                        <a:t>P75-B1 pogo pins (05880)</a:t>
                      </a:r>
                      <a:endParaRPr lang="en-US" sz="1100"/>
                    </a:p>
                  </a:txBody>
                  <a:tcPr marL="36576" marR="36576" marT="36576" marB="36576" anchor="ctr">
                    <a:lnL cmpd="sng" algn="ctr" cap="flat" w="7620">
                      <a:solidFill>
                        <a:srgbClr val="000000"/>
                      </a:solidFill>
                      <a:prstDash val="solid"/>
                      <a:round/>
                      <a:headEnd type="none" w="med" len="med"/>
                      <a:tailEnd type="none" w="med" len="med"/>
                    </a:lnL>
                    <a:lnR cmpd="sng" algn="ctr" cap="flat" w="7620">
                      <a:solidFill>
                        <a:srgbClr val="000000"/>
                      </a:solidFill>
                      <a:prstDash val="solid"/>
                      <a:round/>
                      <a:headEnd type="none" w="med" len="med"/>
                      <a:tailEnd type="none" w="med" len="med"/>
                    </a:lnR>
                    <a:lnT cmpd="sng" algn="ctr" cap="flat" w="7620">
                      <a:solidFill>
                        <a:srgbClr val="000000"/>
                      </a:solidFill>
                      <a:prstDash val="solid"/>
                      <a:round/>
                      <a:headEnd type="none" w="med" len="med"/>
                      <a:tailEnd type="none" w="med" len="med"/>
                    </a:lnT>
                    <a:lnB cmpd="sng" algn="ctr" cap="flat" w="7620">
                      <a:solidFill>
                        <a:srgbClr val="E2E8F0"/>
                      </a:solidFill>
                      <a:prstDash val="solid"/>
                      <a:round/>
                      <a:headEnd type="none" w="med" len="med"/>
                      <a:tailEnd type="none" w="med" len="med"/>
                    </a:lnB>
                  </a:tcPr>
                </a:tc>
                <a:tc>
                  <a:txBody>
                    <a:bodyPr anchor="t" rtlCol="false"/>
                    <a:lstStyle/>
                    <a:p>
                      <a:pPr algn="l">
                        <a:lnSpc>
                          <a:spcPts val="1764"/>
                        </a:lnSpc>
                        <a:defRPr/>
                      </a:pPr>
                      <a:r>
                        <a:rPr lang="en-US" sz="1470">
                          <a:solidFill>
                            <a:srgbClr val="334155"/>
                          </a:solidFill>
                          <a:latin typeface="DM Sans"/>
                          <a:ea typeface="DM Sans"/>
                          <a:cs typeface="DM Sans"/>
                          <a:sym typeface="DM Sans"/>
                        </a:rPr>
                        <a:t>100</a:t>
                      </a:r>
                      <a:endParaRPr lang="en-US" sz="1100"/>
                    </a:p>
                  </a:txBody>
                  <a:tcPr marL="36576" marR="36576" marT="36576" marB="36576" anchor="ctr">
                    <a:lnL cmpd="sng" algn="ctr" cap="flat" w="7620">
                      <a:solidFill>
                        <a:srgbClr val="000000"/>
                      </a:solidFill>
                      <a:prstDash val="solid"/>
                      <a:round/>
                      <a:headEnd type="none" w="med" len="med"/>
                      <a:tailEnd type="none" w="med" len="med"/>
                    </a:lnL>
                    <a:lnR cmpd="sng" algn="ctr" cap="flat" w="7620">
                      <a:solidFill>
                        <a:srgbClr val="000000"/>
                      </a:solidFill>
                      <a:prstDash val="solid"/>
                      <a:round/>
                      <a:headEnd type="none" w="med" len="med"/>
                      <a:tailEnd type="none" w="med" len="med"/>
                    </a:lnR>
                    <a:lnT cmpd="sng" algn="ctr" cap="flat" w="7620">
                      <a:solidFill>
                        <a:srgbClr val="000000"/>
                      </a:solidFill>
                      <a:prstDash val="solid"/>
                      <a:round/>
                      <a:headEnd type="none" w="med" len="med"/>
                      <a:tailEnd type="none" w="med" len="med"/>
                    </a:lnT>
                    <a:lnB cmpd="sng" algn="ctr" cap="flat" w="7620">
                      <a:solidFill>
                        <a:srgbClr val="E2E8F0"/>
                      </a:solidFill>
                      <a:prstDash val="solid"/>
                      <a:round/>
                      <a:headEnd type="none" w="med" len="med"/>
                      <a:tailEnd type="none" w="med" len="med"/>
                    </a:lnB>
                  </a:tcPr>
                </a:tc>
                <a:tc>
                  <a:txBody>
                    <a:bodyPr anchor="t" rtlCol="false"/>
                    <a:lstStyle/>
                    <a:p>
                      <a:pPr algn="l">
                        <a:lnSpc>
                          <a:spcPts val="1764"/>
                        </a:lnSpc>
                        <a:defRPr/>
                      </a:pPr>
                      <a:r>
                        <a:rPr lang="en-US" sz="1470">
                          <a:solidFill>
                            <a:srgbClr val="334155"/>
                          </a:solidFill>
                          <a:latin typeface="DM Sans"/>
                          <a:ea typeface="DM Sans"/>
                          <a:cs typeface="DM Sans"/>
                          <a:sym typeface="DM Sans"/>
                        </a:rPr>
                        <a:t>Hubtronics · quoted</a:t>
                      </a:r>
                      <a:endParaRPr lang="en-US" sz="1100"/>
                    </a:p>
                  </a:txBody>
                  <a:tcPr marL="36576" marR="36576" marT="36576" marB="36576" anchor="ctr">
                    <a:lnL cmpd="sng" algn="ctr" cap="flat" w="7620">
                      <a:solidFill>
                        <a:srgbClr val="000000"/>
                      </a:solidFill>
                      <a:prstDash val="solid"/>
                      <a:round/>
                      <a:headEnd type="none" w="med" len="med"/>
                      <a:tailEnd type="none" w="med" len="med"/>
                    </a:lnL>
                    <a:lnR cmpd="sng" algn="ctr" cap="flat" w="7620">
                      <a:solidFill>
                        <a:srgbClr val="000000"/>
                      </a:solidFill>
                      <a:prstDash val="solid"/>
                      <a:round/>
                      <a:headEnd type="none" w="med" len="med"/>
                      <a:tailEnd type="none" w="med" len="med"/>
                    </a:lnR>
                    <a:lnT cmpd="sng" algn="ctr" cap="flat" w="7620">
                      <a:solidFill>
                        <a:srgbClr val="000000"/>
                      </a:solidFill>
                      <a:prstDash val="solid"/>
                      <a:round/>
                      <a:headEnd type="none" w="med" len="med"/>
                      <a:tailEnd type="none" w="med" len="med"/>
                    </a:lnT>
                    <a:lnB cmpd="sng" algn="ctr" cap="flat" w="7620">
                      <a:solidFill>
                        <a:srgbClr val="E2E8F0"/>
                      </a:solidFill>
                      <a:prstDash val="solid"/>
                      <a:round/>
                      <a:headEnd type="none" w="med" len="med"/>
                      <a:tailEnd type="none" w="med" len="med"/>
                    </a:lnB>
                  </a:tcPr>
                </a:tc>
                <a:tc>
                  <a:txBody>
                    <a:bodyPr anchor="t" rtlCol="false"/>
                    <a:lstStyle/>
                    <a:p>
                      <a:pPr algn="l">
                        <a:lnSpc>
                          <a:spcPts val="1764"/>
                        </a:lnSpc>
                        <a:defRPr/>
                      </a:pPr>
                      <a:r>
                        <a:rPr lang="en-US" sz="1470">
                          <a:solidFill>
                            <a:srgbClr val="334155"/>
                          </a:solidFill>
                          <a:latin typeface="DM Sans"/>
                          <a:ea typeface="DM Sans"/>
                          <a:cs typeface="DM Sans"/>
                          <a:sym typeface="DM Sans"/>
                        </a:rPr>
                        <a:t>354</a:t>
                      </a:r>
                      <a:endParaRPr lang="en-US" sz="1100"/>
                    </a:p>
                  </a:txBody>
                  <a:tcPr marL="36576" marR="36576" marT="36576" marB="36576" anchor="ctr">
                    <a:lnL cmpd="sng" algn="ctr" cap="flat" w="7620">
                      <a:solidFill>
                        <a:srgbClr val="000000"/>
                      </a:solidFill>
                      <a:prstDash val="solid"/>
                      <a:round/>
                      <a:headEnd type="none" w="med" len="med"/>
                      <a:tailEnd type="none" w="med" len="med"/>
                    </a:lnL>
                    <a:lnR cmpd="sng" algn="ctr" cap="flat" w="7620">
                      <a:solidFill>
                        <a:srgbClr val="000000"/>
                      </a:solidFill>
                      <a:prstDash val="solid"/>
                      <a:round/>
                      <a:headEnd type="none" w="med" len="med"/>
                      <a:tailEnd type="none" w="med" len="med"/>
                    </a:lnR>
                    <a:lnT cmpd="sng" algn="ctr" cap="flat" w="7620">
                      <a:solidFill>
                        <a:srgbClr val="000000"/>
                      </a:solidFill>
                      <a:prstDash val="solid"/>
                      <a:round/>
                      <a:headEnd type="none" w="med" len="med"/>
                      <a:tailEnd type="none" w="med" len="med"/>
                    </a:lnT>
                    <a:lnB cmpd="sng" algn="ctr" cap="flat" w="7620">
                      <a:solidFill>
                        <a:srgbClr val="E2E8F0"/>
                      </a:solidFill>
                      <a:prstDash val="solid"/>
                      <a:round/>
                      <a:headEnd type="none" w="med" len="med"/>
                      <a:tailEnd type="none" w="med" len="med"/>
                    </a:lnB>
                  </a:tcPr>
                </a:tc>
              </a:tr>
              <a:tr h="550856">
                <a:tc>
                  <a:txBody>
                    <a:bodyPr anchor="t" rtlCol="false"/>
                    <a:lstStyle/>
                    <a:p>
                      <a:pPr algn="l">
                        <a:lnSpc>
                          <a:spcPts val="1764"/>
                        </a:lnSpc>
                        <a:defRPr/>
                      </a:pPr>
                      <a:r>
                        <a:rPr lang="en-US" sz="1470" b="true">
                          <a:solidFill>
                            <a:srgbClr val="0F172A"/>
                          </a:solidFill>
                          <a:latin typeface="DM Sans Bold"/>
                          <a:ea typeface="DM Sans Bold"/>
                          <a:cs typeface="DM Sans Bold"/>
                          <a:sym typeface="DM Sans Bold"/>
                        </a:rPr>
                        <a:t>Resistors, C0G cap, LEDs, board</a:t>
                      </a:r>
                      <a:endParaRPr lang="en-US" sz="1100"/>
                    </a:p>
                  </a:txBody>
                  <a:tcPr marL="36576" marR="36576" marT="36576" marB="36576" anchor="ctr">
                    <a:lnL cmpd="sng" algn="ctr" cap="flat" w="7620">
                      <a:solidFill>
                        <a:srgbClr val="000000"/>
                      </a:solidFill>
                      <a:prstDash val="solid"/>
                      <a:round/>
                      <a:headEnd type="none" w="med" len="med"/>
                      <a:tailEnd type="none" w="med" len="med"/>
                    </a:lnL>
                    <a:lnR cmpd="sng" algn="ctr" cap="flat" w="7620">
                      <a:solidFill>
                        <a:srgbClr val="000000"/>
                      </a:solidFill>
                      <a:prstDash val="solid"/>
                      <a:round/>
                      <a:headEnd type="none" w="med" len="med"/>
                      <a:tailEnd type="none" w="med" len="med"/>
                    </a:lnR>
                    <a:lnT cmpd="sng" algn="ctr" cap="flat" w="7620">
                      <a:solidFill>
                        <a:srgbClr val="000000"/>
                      </a:solidFill>
                      <a:prstDash val="solid"/>
                      <a:round/>
                      <a:headEnd type="none" w="med" len="med"/>
                      <a:tailEnd type="none" w="med" len="med"/>
                    </a:lnT>
                    <a:lnB cmpd="sng" algn="ctr" cap="flat" w="7620">
                      <a:solidFill>
                        <a:srgbClr val="E2E8F0"/>
                      </a:solidFill>
                      <a:prstDash val="solid"/>
                      <a:round/>
                      <a:headEnd type="none" w="med" len="med"/>
                      <a:tailEnd type="none" w="med" len="med"/>
                    </a:lnB>
                  </a:tcPr>
                </a:tc>
                <a:tc>
                  <a:txBody>
                    <a:bodyPr anchor="t" rtlCol="false"/>
                    <a:lstStyle/>
                    <a:p>
                      <a:pPr algn="l">
                        <a:lnSpc>
                          <a:spcPts val="1764"/>
                        </a:lnSpc>
                        <a:defRPr/>
                      </a:pPr>
                      <a:r>
                        <a:rPr lang="en-US" sz="1470">
                          <a:solidFill>
                            <a:srgbClr val="334155"/>
                          </a:solidFill>
                          <a:latin typeface="DM Sans"/>
                          <a:ea typeface="DM Sans"/>
                          <a:cs typeface="DM Sans"/>
                          <a:sym typeface="DM Sans"/>
                        </a:rPr>
                        <a:t>set</a:t>
                      </a:r>
                      <a:endParaRPr lang="en-US" sz="1100"/>
                    </a:p>
                  </a:txBody>
                  <a:tcPr marL="36576" marR="36576" marT="36576" marB="36576" anchor="ctr">
                    <a:lnL cmpd="sng" algn="ctr" cap="flat" w="7620">
                      <a:solidFill>
                        <a:srgbClr val="000000"/>
                      </a:solidFill>
                      <a:prstDash val="solid"/>
                      <a:round/>
                      <a:headEnd type="none" w="med" len="med"/>
                      <a:tailEnd type="none" w="med" len="med"/>
                    </a:lnL>
                    <a:lnR cmpd="sng" algn="ctr" cap="flat" w="7620">
                      <a:solidFill>
                        <a:srgbClr val="000000"/>
                      </a:solidFill>
                      <a:prstDash val="solid"/>
                      <a:round/>
                      <a:headEnd type="none" w="med" len="med"/>
                      <a:tailEnd type="none" w="med" len="med"/>
                    </a:lnR>
                    <a:lnT cmpd="sng" algn="ctr" cap="flat" w="7620">
                      <a:solidFill>
                        <a:srgbClr val="000000"/>
                      </a:solidFill>
                      <a:prstDash val="solid"/>
                      <a:round/>
                      <a:headEnd type="none" w="med" len="med"/>
                      <a:tailEnd type="none" w="med" len="med"/>
                    </a:lnT>
                    <a:lnB cmpd="sng" algn="ctr" cap="flat" w="7620">
                      <a:solidFill>
                        <a:srgbClr val="E2E8F0"/>
                      </a:solidFill>
                      <a:prstDash val="solid"/>
                      <a:round/>
                      <a:headEnd type="none" w="med" len="med"/>
                      <a:tailEnd type="none" w="med" len="med"/>
                    </a:lnB>
                  </a:tcPr>
                </a:tc>
                <a:tc>
                  <a:txBody>
                    <a:bodyPr anchor="t" rtlCol="false"/>
                    <a:lstStyle/>
                    <a:p>
                      <a:pPr algn="l">
                        <a:lnSpc>
                          <a:spcPts val="1764"/>
                        </a:lnSpc>
                        <a:defRPr/>
                      </a:pPr>
                      <a:r>
                        <a:rPr lang="en-US" sz="1470">
                          <a:solidFill>
                            <a:srgbClr val="334155"/>
                          </a:solidFill>
                          <a:latin typeface="DM Sans"/>
                          <a:ea typeface="DM Sans"/>
                          <a:cs typeface="DM Sans"/>
                          <a:sym typeface="DM Sans"/>
                        </a:rPr>
                        <a:t>local / online</a:t>
                      </a:r>
                      <a:endParaRPr lang="en-US" sz="1100"/>
                    </a:p>
                  </a:txBody>
                  <a:tcPr marL="36576" marR="36576" marT="36576" marB="36576" anchor="ctr">
                    <a:lnL cmpd="sng" algn="ctr" cap="flat" w="7620">
                      <a:solidFill>
                        <a:srgbClr val="000000"/>
                      </a:solidFill>
                      <a:prstDash val="solid"/>
                      <a:round/>
                      <a:headEnd type="none" w="med" len="med"/>
                      <a:tailEnd type="none" w="med" len="med"/>
                    </a:lnL>
                    <a:lnR cmpd="sng" algn="ctr" cap="flat" w="7620">
                      <a:solidFill>
                        <a:srgbClr val="000000"/>
                      </a:solidFill>
                      <a:prstDash val="solid"/>
                      <a:round/>
                      <a:headEnd type="none" w="med" len="med"/>
                      <a:tailEnd type="none" w="med" len="med"/>
                    </a:lnR>
                    <a:lnT cmpd="sng" algn="ctr" cap="flat" w="7620">
                      <a:solidFill>
                        <a:srgbClr val="000000"/>
                      </a:solidFill>
                      <a:prstDash val="solid"/>
                      <a:round/>
                      <a:headEnd type="none" w="med" len="med"/>
                      <a:tailEnd type="none" w="med" len="med"/>
                    </a:lnT>
                    <a:lnB cmpd="sng" algn="ctr" cap="flat" w="7620">
                      <a:solidFill>
                        <a:srgbClr val="E2E8F0"/>
                      </a:solidFill>
                      <a:prstDash val="solid"/>
                      <a:round/>
                      <a:headEnd type="none" w="med" len="med"/>
                      <a:tailEnd type="none" w="med" len="med"/>
                    </a:lnB>
                  </a:tcPr>
                </a:tc>
                <a:tc>
                  <a:txBody>
                    <a:bodyPr anchor="t" rtlCol="false"/>
                    <a:lstStyle/>
                    <a:p>
                      <a:pPr algn="l">
                        <a:lnSpc>
                          <a:spcPts val="1764"/>
                        </a:lnSpc>
                        <a:defRPr/>
                      </a:pPr>
                      <a:r>
                        <a:rPr lang="en-US" sz="1470">
                          <a:solidFill>
                            <a:srgbClr val="334155"/>
                          </a:solidFill>
                          <a:latin typeface="DM Sans"/>
                          <a:ea typeface="DM Sans"/>
                          <a:cs typeface="DM Sans"/>
                          <a:sym typeface="DM Sans"/>
                        </a:rPr>
                        <a:t>158–421</a:t>
                      </a:r>
                      <a:endParaRPr lang="en-US" sz="1100"/>
                    </a:p>
                  </a:txBody>
                  <a:tcPr marL="36576" marR="36576" marT="36576" marB="36576" anchor="ctr">
                    <a:lnL cmpd="sng" algn="ctr" cap="flat" w="7620">
                      <a:solidFill>
                        <a:srgbClr val="000000"/>
                      </a:solidFill>
                      <a:prstDash val="solid"/>
                      <a:round/>
                      <a:headEnd type="none" w="med" len="med"/>
                      <a:tailEnd type="none" w="med" len="med"/>
                    </a:lnL>
                    <a:lnR cmpd="sng" algn="ctr" cap="flat" w="7620">
                      <a:solidFill>
                        <a:srgbClr val="000000"/>
                      </a:solidFill>
                      <a:prstDash val="solid"/>
                      <a:round/>
                      <a:headEnd type="none" w="med" len="med"/>
                      <a:tailEnd type="none" w="med" len="med"/>
                    </a:lnR>
                    <a:lnT cmpd="sng" algn="ctr" cap="flat" w="7620">
                      <a:solidFill>
                        <a:srgbClr val="000000"/>
                      </a:solidFill>
                      <a:prstDash val="solid"/>
                      <a:round/>
                      <a:headEnd type="none" w="med" len="med"/>
                      <a:tailEnd type="none" w="med" len="med"/>
                    </a:lnT>
                    <a:lnB cmpd="sng" algn="ctr" cap="flat" w="7620">
                      <a:solidFill>
                        <a:srgbClr val="E2E8F0"/>
                      </a:solidFill>
                      <a:prstDash val="solid"/>
                      <a:round/>
                      <a:headEnd type="none" w="med" len="med"/>
                      <a:tailEnd type="none" w="med" len="med"/>
                    </a:lnB>
                  </a:tcPr>
                </a:tc>
              </a:tr>
              <a:tr h="550856">
                <a:tc>
                  <a:txBody>
                    <a:bodyPr anchor="t" rtlCol="false"/>
                    <a:lstStyle/>
                    <a:p>
                      <a:pPr algn="l">
                        <a:lnSpc>
                          <a:spcPts val="1764"/>
                        </a:lnSpc>
                        <a:defRPr/>
                      </a:pPr>
                      <a:r>
                        <a:rPr lang="en-US" sz="1470" b="true">
                          <a:solidFill>
                            <a:srgbClr val="0F172A"/>
                          </a:solidFill>
                          <a:latin typeface="DM Sans Bold"/>
                          <a:ea typeface="DM Sans Bold"/>
                          <a:cs typeface="DM Sans Bold"/>
                          <a:sym typeface="DM Sans Bold"/>
                        </a:rPr>
                        <a:t>Clamp + bench rig</a:t>
                      </a:r>
                      <a:endParaRPr lang="en-US" sz="1100"/>
                    </a:p>
                  </a:txBody>
                  <a:tcPr marL="36576" marR="36576" marT="36576" marB="36576" anchor="ctr">
                    <a:lnL cmpd="sng" algn="ctr" cap="flat" w="7620">
                      <a:solidFill>
                        <a:srgbClr val="000000"/>
                      </a:solidFill>
                      <a:prstDash val="solid"/>
                      <a:round/>
                      <a:headEnd type="none" w="med" len="med"/>
                      <a:tailEnd type="none" w="med" len="med"/>
                    </a:lnL>
                    <a:lnR cmpd="sng" algn="ctr" cap="flat" w="7620">
                      <a:solidFill>
                        <a:srgbClr val="000000"/>
                      </a:solidFill>
                      <a:prstDash val="solid"/>
                      <a:round/>
                      <a:headEnd type="none" w="med" len="med"/>
                      <a:tailEnd type="none" w="med" len="med"/>
                    </a:lnR>
                    <a:lnT cmpd="sng" algn="ctr" cap="flat" w="7620">
                      <a:solidFill>
                        <a:srgbClr val="000000"/>
                      </a:solidFill>
                      <a:prstDash val="solid"/>
                      <a:round/>
                      <a:headEnd type="none" w="med" len="med"/>
                      <a:tailEnd type="none" w="med" len="med"/>
                    </a:lnT>
                    <a:lnB cmpd="sng" algn="ctr" cap="flat" w="7620">
                      <a:solidFill>
                        <a:srgbClr val="E2E8F0"/>
                      </a:solidFill>
                      <a:prstDash val="solid"/>
                      <a:round/>
                      <a:headEnd type="none" w="med" len="med"/>
                      <a:tailEnd type="none" w="med" len="med"/>
                    </a:lnB>
                  </a:tcPr>
                </a:tc>
                <a:tc>
                  <a:txBody>
                    <a:bodyPr anchor="t" rtlCol="false"/>
                    <a:lstStyle/>
                    <a:p>
                      <a:pPr algn="l">
                        <a:lnSpc>
                          <a:spcPts val="1764"/>
                        </a:lnSpc>
                        <a:defRPr/>
                      </a:pPr>
                      <a:r>
                        <a:rPr lang="en-US" sz="1470">
                          <a:solidFill>
                            <a:srgbClr val="334155"/>
                          </a:solidFill>
                          <a:latin typeface="DM Sans"/>
                          <a:ea typeface="DM Sans"/>
                          <a:cs typeface="DM Sans"/>
                          <a:sym typeface="DM Sans"/>
                        </a:rPr>
                        <a:t>set</a:t>
                      </a:r>
                      <a:endParaRPr lang="en-US" sz="1100"/>
                    </a:p>
                  </a:txBody>
                  <a:tcPr marL="36576" marR="36576" marT="36576" marB="36576" anchor="ctr">
                    <a:lnL cmpd="sng" algn="ctr" cap="flat" w="7620">
                      <a:solidFill>
                        <a:srgbClr val="000000"/>
                      </a:solidFill>
                      <a:prstDash val="solid"/>
                      <a:round/>
                      <a:headEnd type="none" w="med" len="med"/>
                      <a:tailEnd type="none" w="med" len="med"/>
                    </a:lnL>
                    <a:lnR cmpd="sng" algn="ctr" cap="flat" w="7620">
                      <a:solidFill>
                        <a:srgbClr val="000000"/>
                      </a:solidFill>
                      <a:prstDash val="solid"/>
                      <a:round/>
                      <a:headEnd type="none" w="med" len="med"/>
                      <a:tailEnd type="none" w="med" len="med"/>
                    </a:lnR>
                    <a:lnT cmpd="sng" algn="ctr" cap="flat" w="7620">
                      <a:solidFill>
                        <a:srgbClr val="000000"/>
                      </a:solidFill>
                      <a:prstDash val="solid"/>
                      <a:round/>
                      <a:headEnd type="none" w="med" len="med"/>
                      <a:tailEnd type="none" w="med" len="med"/>
                    </a:lnT>
                    <a:lnB cmpd="sng" algn="ctr" cap="flat" w="7620">
                      <a:solidFill>
                        <a:srgbClr val="E2E8F0"/>
                      </a:solidFill>
                      <a:prstDash val="solid"/>
                      <a:round/>
                      <a:headEnd type="none" w="med" len="med"/>
                      <a:tailEnd type="none" w="med" len="med"/>
                    </a:lnB>
                  </a:tcPr>
                </a:tc>
                <a:tc>
                  <a:txBody>
                    <a:bodyPr anchor="t" rtlCol="false"/>
                    <a:lstStyle/>
                    <a:p>
                      <a:pPr algn="l">
                        <a:lnSpc>
                          <a:spcPts val="1764"/>
                        </a:lnSpc>
                        <a:defRPr/>
                      </a:pPr>
                      <a:r>
                        <a:rPr lang="en-US" sz="1470">
                          <a:solidFill>
                            <a:srgbClr val="334155"/>
                          </a:solidFill>
                          <a:latin typeface="DM Sans"/>
                          <a:ea typeface="DM Sans"/>
                          <a:cs typeface="DM Sans"/>
                          <a:sym typeface="DM Sans"/>
                        </a:rPr>
                        <a:t>lab / local</a:t>
                      </a:r>
                      <a:endParaRPr lang="en-US" sz="1100"/>
                    </a:p>
                  </a:txBody>
                  <a:tcPr marL="36576" marR="36576" marT="36576" marB="36576" anchor="ctr">
                    <a:lnL cmpd="sng" algn="ctr" cap="flat" w="7620">
                      <a:solidFill>
                        <a:srgbClr val="000000"/>
                      </a:solidFill>
                      <a:prstDash val="solid"/>
                      <a:round/>
                      <a:headEnd type="none" w="med" len="med"/>
                      <a:tailEnd type="none" w="med" len="med"/>
                    </a:lnL>
                    <a:lnR cmpd="sng" algn="ctr" cap="flat" w="7620">
                      <a:solidFill>
                        <a:srgbClr val="000000"/>
                      </a:solidFill>
                      <a:prstDash val="solid"/>
                      <a:round/>
                      <a:headEnd type="none" w="med" len="med"/>
                      <a:tailEnd type="none" w="med" len="med"/>
                    </a:lnR>
                    <a:lnT cmpd="sng" algn="ctr" cap="flat" w="7620">
                      <a:solidFill>
                        <a:srgbClr val="000000"/>
                      </a:solidFill>
                      <a:prstDash val="solid"/>
                      <a:round/>
                      <a:headEnd type="none" w="med" len="med"/>
                      <a:tailEnd type="none" w="med" len="med"/>
                    </a:lnT>
                    <a:lnB cmpd="sng" algn="ctr" cap="flat" w="7620">
                      <a:solidFill>
                        <a:srgbClr val="E2E8F0"/>
                      </a:solidFill>
                      <a:prstDash val="solid"/>
                      <a:round/>
                      <a:headEnd type="none" w="med" len="med"/>
                      <a:tailEnd type="none" w="med" len="med"/>
                    </a:lnB>
                  </a:tcPr>
                </a:tc>
                <a:tc>
                  <a:txBody>
                    <a:bodyPr anchor="t" rtlCol="false"/>
                    <a:lstStyle/>
                    <a:p>
                      <a:pPr algn="l">
                        <a:lnSpc>
                          <a:spcPts val="1764"/>
                        </a:lnSpc>
                        <a:defRPr/>
                      </a:pPr>
                      <a:r>
                        <a:rPr lang="en-US" sz="1470">
                          <a:solidFill>
                            <a:srgbClr val="334155"/>
                          </a:solidFill>
                          <a:latin typeface="DM Sans"/>
                          <a:ea typeface="DM Sans"/>
                          <a:cs typeface="DM Sans"/>
                          <a:sym typeface="DM Sans"/>
                        </a:rPr>
                        <a:t>100–1,240</a:t>
                      </a:r>
                      <a:endParaRPr lang="en-US" sz="1100"/>
                    </a:p>
                  </a:txBody>
                  <a:tcPr marL="36576" marR="36576" marT="36576" marB="36576" anchor="ctr">
                    <a:lnL cmpd="sng" algn="ctr" cap="flat" w="7620">
                      <a:solidFill>
                        <a:srgbClr val="000000"/>
                      </a:solidFill>
                      <a:prstDash val="solid"/>
                      <a:round/>
                      <a:headEnd type="none" w="med" len="med"/>
                      <a:tailEnd type="none" w="med" len="med"/>
                    </a:lnL>
                    <a:lnR cmpd="sng" algn="ctr" cap="flat" w="7620">
                      <a:solidFill>
                        <a:srgbClr val="000000"/>
                      </a:solidFill>
                      <a:prstDash val="solid"/>
                      <a:round/>
                      <a:headEnd type="none" w="med" len="med"/>
                      <a:tailEnd type="none" w="med" len="med"/>
                    </a:lnR>
                    <a:lnT cmpd="sng" algn="ctr" cap="flat" w="7620">
                      <a:solidFill>
                        <a:srgbClr val="000000"/>
                      </a:solidFill>
                      <a:prstDash val="solid"/>
                      <a:round/>
                      <a:headEnd type="none" w="med" len="med"/>
                      <a:tailEnd type="none" w="med" len="med"/>
                    </a:lnT>
                    <a:lnB cmpd="sng" algn="ctr" cap="flat" w="7620">
                      <a:solidFill>
                        <a:srgbClr val="E2E8F0"/>
                      </a:solidFill>
                      <a:prstDash val="solid"/>
                      <a:round/>
                      <a:headEnd type="none" w="med" len="med"/>
                      <a:tailEnd type="none" w="med" len="med"/>
                    </a:lnB>
                  </a:tcPr>
                </a:tc>
              </a:tr>
              <a:tr h="550856">
                <a:tc>
                  <a:txBody>
                    <a:bodyPr anchor="t" rtlCol="false"/>
                    <a:lstStyle/>
                    <a:p>
                      <a:pPr algn="l">
                        <a:lnSpc>
                          <a:spcPts val="1764"/>
                        </a:lnSpc>
                        <a:defRPr/>
                      </a:pPr>
                      <a:r>
                        <a:rPr lang="en-US" sz="1470" b="true">
                          <a:solidFill>
                            <a:srgbClr val="0F172A"/>
                          </a:solidFill>
                          <a:latin typeface="DM Sans Bold"/>
                          <a:ea typeface="DM Sans Bold"/>
                          <a:cs typeface="DM Sans Bold"/>
                          <a:sym typeface="DM Sans Bold"/>
                        </a:rPr>
                        <a:t>Strip materials</a:t>
                      </a:r>
                      <a:endParaRPr lang="en-US" sz="1100"/>
                    </a:p>
                  </a:txBody>
                  <a:tcPr marL="36576" marR="36576" marT="36576" marB="36576" anchor="ctr">
                    <a:lnL cmpd="sng" algn="ctr" cap="flat" w="7620">
                      <a:solidFill>
                        <a:srgbClr val="000000"/>
                      </a:solidFill>
                      <a:prstDash val="solid"/>
                      <a:round/>
                      <a:headEnd type="none" w="med" len="med"/>
                      <a:tailEnd type="none" w="med" len="med"/>
                    </a:lnL>
                    <a:lnR cmpd="sng" algn="ctr" cap="flat" w="7620">
                      <a:solidFill>
                        <a:srgbClr val="000000"/>
                      </a:solidFill>
                      <a:prstDash val="solid"/>
                      <a:round/>
                      <a:headEnd type="none" w="med" len="med"/>
                      <a:tailEnd type="none" w="med" len="med"/>
                    </a:lnR>
                    <a:lnT cmpd="sng" algn="ctr" cap="flat" w="7620">
                      <a:solidFill>
                        <a:srgbClr val="000000"/>
                      </a:solidFill>
                      <a:prstDash val="solid"/>
                      <a:round/>
                      <a:headEnd type="none" w="med" len="med"/>
                      <a:tailEnd type="none" w="med" len="med"/>
                    </a:lnT>
                    <a:lnB cmpd="sng" algn="ctr" cap="flat" w="7620">
                      <a:solidFill>
                        <a:srgbClr val="E2E8F0"/>
                      </a:solidFill>
                      <a:prstDash val="solid"/>
                      <a:round/>
                      <a:headEnd type="none" w="med" len="med"/>
                      <a:tailEnd type="none" w="med" len="med"/>
                    </a:lnB>
                  </a:tcPr>
                </a:tc>
                <a:tc>
                  <a:txBody>
                    <a:bodyPr anchor="t" rtlCol="false"/>
                    <a:lstStyle/>
                    <a:p>
                      <a:pPr algn="l">
                        <a:lnSpc>
                          <a:spcPts val="1764"/>
                        </a:lnSpc>
                        <a:defRPr/>
                      </a:pPr>
                      <a:r>
                        <a:rPr lang="en-US" sz="1470">
                          <a:solidFill>
                            <a:srgbClr val="334155"/>
                          </a:solidFill>
                          <a:latin typeface="DM Sans"/>
                          <a:ea typeface="DM Sans"/>
                          <a:cs typeface="DM Sans"/>
                          <a:sym typeface="DM Sans"/>
                        </a:rPr>
                        <a:t>set</a:t>
                      </a:r>
                      <a:endParaRPr lang="en-US" sz="1100"/>
                    </a:p>
                  </a:txBody>
                  <a:tcPr marL="36576" marR="36576" marT="36576" marB="36576" anchor="ctr">
                    <a:lnL cmpd="sng" algn="ctr" cap="flat" w="7620">
                      <a:solidFill>
                        <a:srgbClr val="000000"/>
                      </a:solidFill>
                      <a:prstDash val="solid"/>
                      <a:round/>
                      <a:headEnd type="none" w="med" len="med"/>
                      <a:tailEnd type="none" w="med" len="med"/>
                    </a:lnL>
                    <a:lnR cmpd="sng" algn="ctr" cap="flat" w="7620">
                      <a:solidFill>
                        <a:srgbClr val="000000"/>
                      </a:solidFill>
                      <a:prstDash val="solid"/>
                      <a:round/>
                      <a:headEnd type="none" w="med" len="med"/>
                      <a:tailEnd type="none" w="med" len="med"/>
                    </a:lnR>
                    <a:lnT cmpd="sng" algn="ctr" cap="flat" w="7620">
                      <a:solidFill>
                        <a:srgbClr val="000000"/>
                      </a:solidFill>
                      <a:prstDash val="solid"/>
                      <a:round/>
                      <a:headEnd type="none" w="med" len="med"/>
                      <a:tailEnd type="none" w="med" len="med"/>
                    </a:lnT>
                    <a:lnB cmpd="sng" algn="ctr" cap="flat" w="7620">
                      <a:solidFill>
                        <a:srgbClr val="E2E8F0"/>
                      </a:solidFill>
                      <a:prstDash val="solid"/>
                      <a:round/>
                      <a:headEnd type="none" w="med" len="med"/>
                      <a:tailEnd type="none" w="med" len="med"/>
                    </a:lnB>
                  </a:tcPr>
                </a:tc>
                <a:tc>
                  <a:txBody>
                    <a:bodyPr anchor="t" rtlCol="false"/>
                    <a:lstStyle/>
                    <a:p>
                      <a:pPr algn="l">
                        <a:lnSpc>
                          <a:spcPts val="1764"/>
                        </a:lnSpc>
                        <a:defRPr/>
                      </a:pPr>
                      <a:r>
                        <a:rPr lang="en-US" sz="1470">
                          <a:solidFill>
                            <a:srgbClr val="334155"/>
                          </a:solidFill>
                          <a:latin typeface="DM Sans"/>
                          <a:ea typeface="DM Sans"/>
                          <a:cs typeface="DM Sans"/>
                          <a:sym typeface="DM Sans"/>
                        </a:rPr>
                        <a:t>lab / online</a:t>
                      </a:r>
                      <a:endParaRPr lang="en-US" sz="1100"/>
                    </a:p>
                  </a:txBody>
                  <a:tcPr marL="36576" marR="36576" marT="36576" marB="36576" anchor="ctr">
                    <a:lnL cmpd="sng" algn="ctr" cap="flat" w="7620">
                      <a:solidFill>
                        <a:srgbClr val="000000"/>
                      </a:solidFill>
                      <a:prstDash val="solid"/>
                      <a:round/>
                      <a:headEnd type="none" w="med" len="med"/>
                      <a:tailEnd type="none" w="med" len="med"/>
                    </a:lnL>
                    <a:lnR cmpd="sng" algn="ctr" cap="flat" w="7620">
                      <a:solidFill>
                        <a:srgbClr val="000000"/>
                      </a:solidFill>
                      <a:prstDash val="solid"/>
                      <a:round/>
                      <a:headEnd type="none" w="med" len="med"/>
                      <a:tailEnd type="none" w="med" len="med"/>
                    </a:lnR>
                    <a:lnT cmpd="sng" algn="ctr" cap="flat" w="7620">
                      <a:solidFill>
                        <a:srgbClr val="000000"/>
                      </a:solidFill>
                      <a:prstDash val="solid"/>
                      <a:round/>
                      <a:headEnd type="none" w="med" len="med"/>
                      <a:tailEnd type="none" w="med" len="med"/>
                    </a:lnT>
                    <a:lnB cmpd="sng" algn="ctr" cap="flat" w="7620">
                      <a:solidFill>
                        <a:srgbClr val="E2E8F0"/>
                      </a:solidFill>
                      <a:prstDash val="solid"/>
                      <a:round/>
                      <a:headEnd type="none" w="med" len="med"/>
                      <a:tailEnd type="none" w="med" len="med"/>
                    </a:lnB>
                  </a:tcPr>
                </a:tc>
                <a:tc>
                  <a:txBody>
                    <a:bodyPr anchor="t" rtlCol="false"/>
                    <a:lstStyle/>
                    <a:p>
                      <a:pPr algn="l">
                        <a:lnSpc>
                          <a:spcPts val="1764"/>
                        </a:lnSpc>
                        <a:defRPr/>
                      </a:pPr>
                      <a:r>
                        <a:rPr lang="en-US" sz="1470">
                          <a:solidFill>
                            <a:srgbClr val="334155"/>
                          </a:solidFill>
                          <a:latin typeface="DM Sans"/>
                          <a:ea typeface="DM Sans"/>
                          <a:cs typeface="DM Sans"/>
                          <a:sym typeface="DM Sans"/>
                        </a:rPr>
                        <a:t>800–3,500</a:t>
                      </a:r>
                      <a:endParaRPr lang="en-US" sz="1100"/>
                    </a:p>
                  </a:txBody>
                  <a:tcPr marL="36576" marR="36576" marT="36576" marB="36576" anchor="ctr">
                    <a:lnL cmpd="sng" algn="ctr" cap="flat" w="7620">
                      <a:solidFill>
                        <a:srgbClr val="000000"/>
                      </a:solidFill>
                      <a:prstDash val="solid"/>
                      <a:round/>
                      <a:headEnd type="none" w="med" len="med"/>
                      <a:tailEnd type="none" w="med" len="med"/>
                    </a:lnL>
                    <a:lnR cmpd="sng" algn="ctr" cap="flat" w="7620">
                      <a:solidFill>
                        <a:srgbClr val="000000"/>
                      </a:solidFill>
                      <a:prstDash val="solid"/>
                      <a:round/>
                      <a:headEnd type="none" w="med" len="med"/>
                      <a:tailEnd type="none" w="med" len="med"/>
                    </a:lnR>
                    <a:lnT cmpd="sng" algn="ctr" cap="flat" w="7620">
                      <a:solidFill>
                        <a:srgbClr val="000000"/>
                      </a:solidFill>
                      <a:prstDash val="solid"/>
                      <a:round/>
                      <a:headEnd type="none" w="med" len="med"/>
                      <a:tailEnd type="none" w="med" len="med"/>
                    </a:lnT>
                    <a:lnB cmpd="sng" algn="ctr" cap="flat" w="7620">
                      <a:solidFill>
                        <a:srgbClr val="E2E8F0"/>
                      </a:solidFill>
                      <a:prstDash val="solid"/>
                      <a:round/>
                      <a:headEnd type="none" w="med" len="med"/>
                      <a:tailEnd type="none" w="med" len="med"/>
                    </a:lnB>
                  </a:tcPr>
                </a:tc>
              </a:tr>
              <a:tr h="550856">
                <a:tc>
                  <a:txBody>
                    <a:bodyPr anchor="t" rtlCol="false"/>
                    <a:lstStyle/>
                    <a:p>
                      <a:pPr algn="l">
                        <a:lnSpc>
                          <a:spcPts val="1764"/>
                        </a:lnSpc>
                        <a:defRPr/>
                      </a:pPr>
                      <a:r>
                        <a:rPr lang="en-US" sz="1470" b="true">
                          <a:solidFill>
                            <a:srgbClr val="0F172A"/>
                          </a:solidFill>
                          <a:latin typeface="DM Sans Bold"/>
                          <a:ea typeface="DM Sans Bold"/>
                          <a:cs typeface="DM Sans Bold"/>
                          <a:sym typeface="DM Sans Bold"/>
                        </a:rPr>
                        <a:t>Test consumables</a:t>
                      </a:r>
                      <a:endParaRPr lang="en-US" sz="1100"/>
                    </a:p>
                  </a:txBody>
                  <a:tcPr marL="36576" marR="36576" marT="36576" marB="36576" anchor="ctr">
                    <a:lnL cmpd="sng" algn="ctr" cap="flat" w="7620">
                      <a:solidFill>
                        <a:srgbClr val="000000"/>
                      </a:solidFill>
                      <a:prstDash val="solid"/>
                      <a:round/>
                      <a:headEnd type="none" w="med" len="med"/>
                      <a:tailEnd type="none" w="med" len="med"/>
                    </a:lnL>
                    <a:lnR cmpd="sng" algn="ctr" cap="flat" w="7620">
                      <a:solidFill>
                        <a:srgbClr val="000000"/>
                      </a:solidFill>
                      <a:prstDash val="solid"/>
                      <a:round/>
                      <a:headEnd type="none" w="med" len="med"/>
                      <a:tailEnd type="none" w="med" len="med"/>
                    </a:lnR>
                    <a:lnT cmpd="sng" algn="ctr" cap="flat" w="7620">
                      <a:solidFill>
                        <a:srgbClr val="000000"/>
                      </a:solidFill>
                      <a:prstDash val="solid"/>
                      <a:round/>
                      <a:headEnd type="none" w="med" len="med"/>
                      <a:tailEnd type="none" w="med" len="med"/>
                    </a:lnT>
                    <a:lnB cmpd="sng" algn="ctr" cap="flat" w="7620">
                      <a:solidFill>
                        <a:srgbClr val="E2E8F0"/>
                      </a:solidFill>
                      <a:prstDash val="solid"/>
                      <a:round/>
                      <a:headEnd type="none" w="med" len="med"/>
                      <a:tailEnd type="none" w="med" len="med"/>
                    </a:lnB>
                  </a:tcPr>
                </a:tc>
                <a:tc>
                  <a:txBody>
                    <a:bodyPr anchor="t" rtlCol="false"/>
                    <a:lstStyle/>
                    <a:p>
                      <a:pPr algn="l">
                        <a:lnSpc>
                          <a:spcPts val="1764"/>
                        </a:lnSpc>
                        <a:defRPr/>
                      </a:pPr>
                      <a:r>
                        <a:rPr lang="en-US" sz="1470">
                          <a:solidFill>
                            <a:srgbClr val="334155"/>
                          </a:solidFill>
                          <a:latin typeface="DM Sans"/>
                          <a:ea typeface="DM Sans"/>
                          <a:cs typeface="DM Sans"/>
                          <a:sym typeface="DM Sans"/>
                        </a:rPr>
                        <a:t>set</a:t>
                      </a:r>
                      <a:endParaRPr lang="en-US" sz="1100"/>
                    </a:p>
                  </a:txBody>
                  <a:tcPr marL="36576" marR="36576" marT="36576" marB="36576" anchor="ctr">
                    <a:lnL cmpd="sng" algn="ctr" cap="flat" w="7620">
                      <a:solidFill>
                        <a:srgbClr val="000000"/>
                      </a:solidFill>
                      <a:prstDash val="solid"/>
                      <a:round/>
                      <a:headEnd type="none" w="med" len="med"/>
                      <a:tailEnd type="none" w="med" len="med"/>
                    </a:lnL>
                    <a:lnR cmpd="sng" algn="ctr" cap="flat" w="7620">
                      <a:solidFill>
                        <a:srgbClr val="000000"/>
                      </a:solidFill>
                      <a:prstDash val="solid"/>
                      <a:round/>
                      <a:headEnd type="none" w="med" len="med"/>
                      <a:tailEnd type="none" w="med" len="med"/>
                    </a:lnR>
                    <a:lnT cmpd="sng" algn="ctr" cap="flat" w="7620">
                      <a:solidFill>
                        <a:srgbClr val="000000"/>
                      </a:solidFill>
                      <a:prstDash val="solid"/>
                      <a:round/>
                      <a:headEnd type="none" w="med" len="med"/>
                      <a:tailEnd type="none" w="med" len="med"/>
                    </a:lnT>
                    <a:lnB cmpd="sng" algn="ctr" cap="flat" w="7620">
                      <a:solidFill>
                        <a:srgbClr val="E2E8F0"/>
                      </a:solidFill>
                      <a:prstDash val="solid"/>
                      <a:round/>
                      <a:headEnd type="none" w="med" len="med"/>
                      <a:tailEnd type="none" w="med" len="med"/>
                    </a:lnB>
                  </a:tcPr>
                </a:tc>
                <a:tc>
                  <a:txBody>
                    <a:bodyPr anchor="t" rtlCol="false"/>
                    <a:lstStyle/>
                    <a:p>
                      <a:pPr algn="l">
                        <a:lnSpc>
                          <a:spcPts val="1764"/>
                        </a:lnSpc>
                        <a:defRPr/>
                      </a:pPr>
                      <a:r>
                        <a:rPr lang="en-US" sz="1470">
                          <a:solidFill>
                            <a:srgbClr val="334155"/>
                          </a:solidFill>
                          <a:latin typeface="DM Sans"/>
                          <a:ea typeface="DM Sans"/>
                          <a:cs typeface="DM Sans"/>
                          <a:sym typeface="DM Sans"/>
                        </a:rPr>
                        <a:t>local</a:t>
                      </a:r>
                      <a:endParaRPr lang="en-US" sz="1100"/>
                    </a:p>
                  </a:txBody>
                  <a:tcPr marL="36576" marR="36576" marT="36576" marB="36576" anchor="ctr">
                    <a:lnL cmpd="sng" algn="ctr" cap="flat" w="7620">
                      <a:solidFill>
                        <a:srgbClr val="000000"/>
                      </a:solidFill>
                      <a:prstDash val="solid"/>
                      <a:round/>
                      <a:headEnd type="none" w="med" len="med"/>
                      <a:tailEnd type="none" w="med" len="med"/>
                    </a:lnL>
                    <a:lnR cmpd="sng" algn="ctr" cap="flat" w="7620">
                      <a:solidFill>
                        <a:srgbClr val="000000"/>
                      </a:solidFill>
                      <a:prstDash val="solid"/>
                      <a:round/>
                      <a:headEnd type="none" w="med" len="med"/>
                      <a:tailEnd type="none" w="med" len="med"/>
                    </a:lnR>
                    <a:lnT cmpd="sng" algn="ctr" cap="flat" w="7620">
                      <a:solidFill>
                        <a:srgbClr val="000000"/>
                      </a:solidFill>
                      <a:prstDash val="solid"/>
                      <a:round/>
                      <a:headEnd type="none" w="med" len="med"/>
                      <a:tailEnd type="none" w="med" len="med"/>
                    </a:lnT>
                    <a:lnB cmpd="sng" algn="ctr" cap="flat" w="7620">
                      <a:solidFill>
                        <a:srgbClr val="E2E8F0"/>
                      </a:solidFill>
                      <a:prstDash val="solid"/>
                      <a:round/>
                      <a:headEnd type="none" w="med" len="med"/>
                      <a:tailEnd type="none" w="med" len="med"/>
                    </a:lnB>
                  </a:tcPr>
                </a:tc>
                <a:tc>
                  <a:txBody>
                    <a:bodyPr anchor="t" rtlCol="false"/>
                    <a:lstStyle/>
                    <a:p>
                      <a:pPr algn="l">
                        <a:lnSpc>
                          <a:spcPts val="1764"/>
                        </a:lnSpc>
                        <a:defRPr/>
                      </a:pPr>
                      <a:r>
                        <a:rPr lang="en-US" sz="1470">
                          <a:solidFill>
                            <a:srgbClr val="334155"/>
                          </a:solidFill>
                          <a:latin typeface="DM Sans"/>
                          <a:ea typeface="DM Sans"/>
                          <a:cs typeface="DM Sans"/>
                          <a:sym typeface="DM Sans"/>
                        </a:rPr>
                        <a:t>480–1,060</a:t>
                      </a:r>
                      <a:endParaRPr lang="en-US" sz="1100"/>
                    </a:p>
                  </a:txBody>
                  <a:tcPr marL="36576" marR="36576" marT="36576" marB="36576" anchor="ctr">
                    <a:lnL cmpd="sng" algn="ctr" cap="flat" w="7620">
                      <a:solidFill>
                        <a:srgbClr val="000000"/>
                      </a:solidFill>
                      <a:prstDash val="solid"/>
                      <a:round/>
                      <a:headEnd type="none" w="med" len="med"/>
                      <a:tailEnd type="none" w="med" len="med"/>
                    </a:lnL>
                    <a:lnR cmpd="sng" algn="ctr" cap="flat" w="7620">
                      <a:solidFill>
                        <a:srgbClr val="000000"/>
                      </a:solidFill>
                      <a:prstDash val="solid"/>
                      <a:round/>
                      <a:headEnd type="none" w="med" len="med"/>
                      <a:tailEnd type="none" w="med" len="med"/>
                    </a:lnR>
                    <a:lnT cmpd="sng" algn="ctr" cap="flat" w="7620">
                      <a:solidFill>
                        <a:srgbClr val="000000"/>
                      </a:solidFill>
                      <a:prstDash val="solid"/>
                      <a:round/>
                      <a:headEnd type="none" w="med" len="med"/>
                      <a:tailEnd type="none" w="med" len="med"/>
                    </a:lnT>
                    <a:lnB cmpd="sng" algn="ctr" cap="flat" w="7620">
                      <a:solidFill>
                        <a:srgbClr val="E2E8F0"/>
                      </a:solidFill>
                      <a:prstDash val="solid"/>
                      <a:round/>
                      <a:headEnd type="none" w="med" len="med"/>
                      <a:tailEnd type="none" w="med" len="med"/>
                    </a:lnB>
                  </a:tcPr>
                </a:tc>
              </a:tr>
              <a:tr h="550856">
                <a:tc>
                  <a:txBody>
                    <a:bodyPr anchor="t" rtlCol="false"/>
                    <a:lstStyle/>
                    <a:p>
                      <a:pPr algn="l" marL="0" indent="0" lvl="0">
                        <a:lnSpc>
                          <a:spcPts val="1764"/>
                        </a:lnSpc>
                        <a:spcBef>
                          <a:spcPct val="0"/>
                        </a:spcBef>
                        <a:defRPr/>
                      </a:pPr>
                      <a:r>
                        <a:rPr lang="en-US" b="true" sz="1470" strike="noStrike" u="none">
                          <a:solidFill>
                            <a:srgbClr val="0F172A"/>
                          </a:solidFill>
                          <a:latin typeface="DM Sans Bold"/>
                          <a:ea typeface="DM Sans Bold"/>
                          <a:cs typeface="DM Sans Bold"/>
                          <a:sym typeface="DM Sans Bold"/>
                        </a:rPr>
                        <a:t>Prototype bulk outlay</a:t>
                      </a:r>
                      <a:endParaRPr lang="en-US" sz="1100"/>
                    </a:p>
                  </a:txBody>
                  <a:tcPr marL="36576" marR="36576" marT="36576" marB="36576" anchor="ctr">
                    <a:lnL cmpd="sng" algn="ctr" cap="flat" w="7620">
                      <a:solidFill>
                        <a:srgbClr val="000000"/>
                      </a:solidFill>
                      <a:prstDash val="solid"/>
                      <a:round/>
                      <a:headEnd type="none" w="med" len="med"/>
                      <a:tailEnd type="none" w="med" len="med"/>
                    </a:lnL>
                    <a:lnR cmpd="sng" algn="ctr" cap="flat" w="7620">
                      <a:solidFill>
                        <a:srgbClr val="000000"/>
                      </a:solidFill>
                      <a:prstDash val="solid"/>
                      <a:round/>
                      <a:headEnd type="none" w="med" len="med"/>
                      <a:tailEnd type="none" w="med" len="med"/>
                    </a:lnR>
                    <a:lnT cmpd="sng" algn="ctr" cap="flat" w="7620">
                      <a:solidFill>
                        <a:srgbClr val="000000"/>
                      </a:solidFill>
                      <a:prstDash val="solid"/>
                      <a:round/>
                      <a:headEnd type="none" w="med" len="med"/>
                      <a:tailEnd type="none" w="med" len="med"/>
                    </a:lnT>
                    <a:lnB cmpd="sng" algn="ctr" cap="flat" w="7620">
                      <a:solidFill>
                        <a:srgbClr val="E2E8F0"/>
                      </a:solidFill>
                      <a:prstDash val="solid"/>
                      <a:round/>
                      <a:headEnd type="none" w="med" len="med"/>
                      <a:tailEnd type="none" w="med" len="med"/>
                    </a:lnB>
                  </a:tcPr>
                </a:tc>
                <a:tc>
                  <a:txBody>
                    <a:bodyPr anchor="t" rtlCol="false"/>
                    <a:lstStyle/>
                    <a:p>
                      <a:pPr algn="l">
                        <a:lnSpc>
                          <a:spcPts val="1679"/>
                        </a:lnSpc>
                        <a:defRPr/>
                      </a:pPr>
                      <a:endParaRPr lang="en-US" sz="1100"/>
                    </a:p>
                  </a:txBody>
                  <a:tcPr marL="36576" marR="36576" marT="36576" marB="36576" anchor="ctr">
                    <a:lnL cmpd="sng" algn="ctr" cap="flat" w="7620">
                      <a:solidFill>
                        <a:srgbClr val="000000"/>
                      </a:solidFill>
                      <a:prstDash val="solid"/>
                      <a:round/>
                      <a:headEnd type="none" w="med" len="med"/>
                      <a:tailEnd type="none" w="med" len="med"/>
                    </a:lnL>
                    <a:lnR cmpd="sng" algn="ctr" cap="flat" w="7620">
                      <a:solidFill>
                        <a:srgbClr val="000000"/>
                      </a:solidFill>
                      <a:prstDash val="solid"/>
                      <a:round/>
                      <a:headEnd type="none" w="med" len="med"/>
                      <a:tailEnd type="none" w="med" len="med"/>
                    </a:lnR>
                    <a:lnT cmpd="sng" algn="ctr" cap="flat" w="7620">
                      <a:solidFill>
                        <a:srgbClr val="000000"/>
                      </a:solidFill>
                      <a:prstDash val="solid"/>
                      <a:round/>
                      <a:headEnd type="none" w="med" len="med"/>
                      <a:tailEnd type="none" w="med" len="med"/>
                    </a:lnT>
                    <a:lnB cmpd="sng" algn="ctr" cap="flat" w="7620">
                      <a:solidFill>
                        <a:srgbClr val="E2E8F0"/>
                      </a:solidFill>
                      <a:prstDash val="solid"/>
                      <a:round/>
                      <a:headEnd type="none" w="med" len="med"/>
                      <a:tailEnd type="none" w="med" len="med"/>
                    </a:lnB>
                  </a:tcPr>
                </a:tc>
                <a:tc>
                  <a:txBody>
                    <a:bodyPr anchor="t" rtlCol="false"/>
                    <a:lstStyle/>
                    <a:p>
                      <a:pPr algn="l">
                        <a:lnSpc>
                          <a:spcPts val="1679"/>
                        </a:lnSpc>
                        <a:defRPr/>
                      </a:pPr>
                      <a:endParaRPr lang="en-US" sz="1100"/>
                    </a:p>
                  </a:txBody>
                  <a:tcPr marL="36576" marR="36576" marT="36576" marB="36576" anchor="ctr">
                    <a:lnL cmpd="sng" algn="ctr" cap="flat" w="7620">
                      <a:solidFill>
                        <a:srgbClr val="000000"/>
                      </a:solidFill>
                      <a:prstDash val="solid"/>
                      <a:round/>
                      <a:headEnd type="none" w="med" len="med"/>
                      <a:tailEnd type="none" w="med" len="med"/>
                    </a:lnL>
                    <a:lnR cmpd="sng" algn="ctr" cap="flat" w="7620">
                      <a:solidFill>
                        <a:srgbClr val="000000"/>
                      </a:solidFill>
                      <a:prstDash val="solid"/>
                      <a:round/>
                      <a:headEnd type="none" w="med" len="med"/>
                      <a:tailEnd type="none" w="med" len="med"/>
                    </a:lnR>
                    <a:lnT cmpd="sng" algn="ctr" cap="flat" w="7620">
                      <a:solidFill>
                        <a:srgbClr val="000000"/>
                      </a:solidFill>
                      <a:prstDash val="solid"/>
                      <a:round/>
                      <a:headEnd type="none" w="med" len="med"/>
                      <a:tailEnd type="none" w="med" len="med"/>
                    </a:lnT>
                    <a:lnB cmpd="sng" algn="ctr" cap="flat" w="7620">
                      <a:solidFill>
                        <a:srgbClr val="E2E8F0"/>
                      </a:solidFill>
                      <a:prstDash val="solid"/>
                      <a:round/>
                      <a:headEnd type="none" w="med" len="med"/>
                      <a:tailEnd type="none" w="med" len="med"/>
                    </a:lnB>
                  </a:tcPr>
                </a:tc>
                <a:tc>
                  <a:txBody>
                    <a:bodyPr anchor="t" rtlCol="false"/>
                    <a:lstStyle/>
                    <a:p>
                      <a:pPr algn="l">
                        <a:lnSpc>
                          <a:spcPts val="1764"/>
                        </a:lnSpc>
                        <a:defRPr/>
                      </a:pPr>
                      <a:r>
                        <a:rPr lang="en-US" sz="1470" b="true">
                          <a:solidFill>
                            <a:srgbClr val="0F172A"/>
                          </a:solidFill>
                          <a:latin typeface="DM Sans Bold"/>
                          <a:ea typeface="DM Sans Bold"/>
                          <a:cs typeface="DM Sans Bold"/>
                          <a:sym typeface="DM Sans Bold"/>
                        </a:rPr>
                        <a:t>≈ 2,259–6,942</a:t>
                      </a:r>
                      <a:endParaRPr lang="en-US" sz="1100"/>
                    </a:p>
                  </a:txBody>
                  <a:tcPr marL="36576" marR="36576" marT="36576" marB="36576" anchor="ctr">
                    <a:lnL cmpd="sng" algn="ctr" cap="flat" w="7620">
                      <a:solidFill>
                        <a:srgbClr val="000000"/>
                      </a:solidFill>
                      <a:prstDash val="solid"/>
                      <a:round/>
                      <a:headEnd type="none" w="med" len="med"/>
                      <a:tailEnd type="none" w="med" len="med"/>
                    </a:lnL>
                    <a:lnR cmpd="sng" algn="ctr" cap="flat" w="7620">
                      <a:solidFill>
                        <a:srgbClr val="000000"/>
                      </a:solidFill>
                      <a:prstDash val="solid"/>
                      <a:round/>
                      <a:headEnd type="none" w="med" len="med"/>
                      <a:tailEnd type="none" w="med" len="med"/>
                    </a:lnR>
                    <a:lnT cmpd="sng" algn="ctr" cap="flat" w="7620">
                      <a:solidFill>
                        <a:srgbClr val="000000"/>
                      </a:solidFill>
                      <a:prstDash val="solid"/>
                      <a:round/>
                      <a:headEnd type="none" w="med" len="med"/>
                      <a:tailEnd type="none" w="med" len="med"/>
                    </a:lnT>
                    <a:lnB cmpd="sng" algn="ctr" cap="flat" w="7620">
                      <a:solidFill>
                        <a:srgbClr val="E2E8F0"/>
                      </a:solidFill>
                      <a:prstDash val="solid"/>
                      <a:round/>
                      <a:headEnd type="none" w="med" len="med"/>
                      <a:tailEnd type="none" w="med" len="med"/>
                    </a:lnB>
                  </a:tcPr>
                </a:tc>
              </a:tr>
            </a:tbl>
          </a:graphicData>
        </a:graphic>
      </p:graphicFrame>
    </p:spTree>
  </p:cSld>
  <p:clrMapOvr>
    <a:masterClrMapping/>
  </p:clrMapOvr>
</p:sld>
</file>

<file path=ppt/slides/slide1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0"/>
            <a:ext cx="18288000" cy="10287000"/>
            <a:chOff x="0" y="0"/>
            <a:chExt cx="24384000" cy="13716000"/>
          </a:xfrm>
        </p:grpSpPr>
        <p:sp>
          <p:nvSpPr>
            <p:cNvPr name="Freeform 3" id="3" descr="image.png"/>
            <p:cNvSpPr/>
            <p:nvPr/>
          </p:nvSpPr>
          <p:spPr>
            <a:xfrm flipH="false" flipV="false" rot="0">
              <a:off x="0" y="0"/>
              <a:ext cx="24384000" cy="13716000"/>
            </a:xfrm>
            <a:custGeom>
              <a:avLst/>
              <a:gdLst/>
              <a:ahLst/>
              <a:cxnLst/>
              <a:rect r="r" b="b" t="t" l="l"/>
              <a:pathLst>
                <a:path h="13716000" w="24384000">
                  <a:moveTo>
                    <a:pt x="0" y="0"/>
                  </a:moveTo>
                  <a:lnTo>
                    <a:pt x="24384000" y="0"/>
                  </a:lnTo>
                  <a:lnTo>
                    <a:pt x="24384000" y="13716000"/>
                  </a:lnTo>
                  <a:lnTo>
                    <a:pt x="0" y="13716000"/>
                  </a:lnTo>
                  <a:lnTo>
                    <a:pt x="0" y="0"/>
                  </a:lnTo>
                  <a:close/>
                </a:path>
              </a:pathLst>
            </a:custGeom>
            <a:blipFill>
              <a:blip r:embed="rId3"/>
              <a:stretch>
                <a:fillRect l="0" t="0" r="0" b="0"/>
              </a:stretch>
            </a:blipFill>
          </p:spPr>
          <p:txBody>
            <a:bodyPr/>
            <a:p/>
          </p:txBody>
        </p:sp>
      </p:grpSp>
      <p:grpSp>
        <p:nvGrpSpPr>
          <p:cNvPr name="Group 4" id="4"/>
          <p:cNvGrpSpPr/>
          <p:nvPr/>
        </p:nvGrpSpPr>
        <p:grpSpPr>
          <a:xfrm rot="0">
            <a:off x="800100" y="8498634"/>
            <a:ext cx="16687800" cy="544706"/>
            <a:chOff x="0" y="0"/>
            <a:chExt cx="22250400" cy="726275"/>
          </a:xfrm>
        </p:grpSpPr>
        <p:sp>
          <p:nvSpPr>
            <p:cNvPr name="Freeform 5" id="5" descr="image.png"/>
            <p:cNvSpPr/>
            <p:nvPr/>
          </p:nvSpPr>
          <p:spPr>
            <a:xfrm flipH="false" flipV="false" rot="0">
              <a:off x="0" y="0"/>
              <a:ext cx="22250400" cy="726313"/>
            </a:xfrm>
            <a:custGeom>
              <a:avLst/>
              <a:gdLst/>
              <a:ahLst/>
              <a:cxnLst/>
              <a:rect r="r" b="b" t="t" l="l"/>
              <a:pathLst>
                <a:path h="726313" w="22250400">
                  <a:moveTo>
                    <a:pt x="0" y="0"/>
                  </a:moveTo>
                  <a:lnTo>
                    <a:pt x="22250400" y="0"/>
                  </a:lnTo>
                  <a:lnTo>
                    <a:pt x="22250400" y="726313"/>
                  </a:lnTo>
                  <a:lnTo>
                    <a:pt x="0" y="726313"/>
                  </a:lnTo>
                  <a:lnTo>
                    <a:pt x="0" y="0"/>
                  </a:lnTo>
                  <a:close/>
                </a:path>
              </a:pathLst>
            </a:custGeom>
            <a:blipFill>
              <a:blip r:embed="rId4"/>
              <a:stretch>
                <a:fillRect l="0" t="0" r="0" b="-2290"/>
              </a:stretch>
            </a:blipFill>
          </p:spPr>
          <p:txBody>
            <a:bodyPr/>
            <a:p/>
          </p:txBody>
        </p:sp>
      </p:grpSp>
      <p:grpSp>
        <p:nvGrpSpPr>
          <p:cNvPr name="Group 6" id="6"/>
          <p:cNvGrpSpPr/>
          <p:nvPr/>
        </p:nvGrpSpPr>
        <p:grpSpPr>
          <a:xfrm rot="0">
            <a:off x="9344025" y="1434332"/>
            <a:ext cx="8143875" cy="6789420"/>
            <a:chOff x="0" y="0"/>
            <a:chExt cx="10858500" cy="9052560"/>
          </a:xfrm>
        </p:grpSpPr>
        <p:sp>
          <p:nvSpPr>
            <p:cNvPr name="Freeform 7" id="7" descr="image.png"/>
            <p:cNvSpPr/>
            <p:nvPr/>
          </p:nvSpPr>
          <p:spPr>
            <a:xfrm flipH="false" flipV="false" rot="0">
              <a:off x="0" y="0"/>
              <a:ext cx="10858500" cy="9052560"/>
            </a:xfrm>
            <a:custGeom>
              <a:avLst/>
              <a:gdLst/>
              <a:ahLst/>
              <a:cxnLst/>
              <a:rect r="r" b="b" t="t" l="l"/>
              <a:pathLst>
                <a:path h="9052560" w="10858500">
                  <a:moveTo>
                    <a:pt x="0" y="0"/>
                  </a:moveTo>
                  <a:lnTo>
                    <a:pt x="10858500" y="0"/>
                  </a:lnTo>
                  <a:lnTo>
                    <a:pt x="10858500" y="9052560"/>
                  </a:lnTo>
                  <a:lnTo>
                    <a:pt x="0" y="9052560"/>
                  </a:lnTo>
                  <a:lnTo>
                    <a:pt x="0" y="0"/>
                  </a:lnTo>
                  <a:close/>
                </a:path>
              </a:pathLst>
            </a:custGeom>
            <a:blipFill>
              <a:blip r:embed="rId5"/>
              <a:stretch>
                <a:fillRect l="0" t="0" r="0" b="-10269"/>
              </a:stretch>
            </a:blipFill>
          </p:spPr>
          <p:txBody>
            <a:bodyPr/>
            <a:p/>
          </p:txBody>
        </p:sp>
      </p:grpSp>
      <p:grpSp>
        <p:nvGrpSpPr>
          <p:cNvPr name="Group 8" id="8"/>
          <p:cNvGrpSpPr/>
          <p:nvPr/>
        </p:nvGrpSpPr>
        <p:grpSpPr>
          <a:xfrm rot="0">
            <a:off x="795528" y="1440180"/>
            <a:ext cx="8147304" cy="5843016"/>
            <a:chOff x="0" y="0"/>
            <a:chExt cx="10863072" cy="7790688"/>
          </a:xfrm>
        </p:grpSpPr>
        <p:sp>
          <p:nvSpPr>
            <p:cNvPr name="Freeform 9" id="9" descr="image.png"/>
            <p:cNvSpPr/>
            <p:nvPr/>
          </p:nvSpPr>
          <p:spPr>
            <a:xfrm flipH="false" flipV="false" rot="0">
              <a:off x="0" y="0"/>
              <a:ext cx="10863072" cy="7790688"/>
            </a:xfrm>
            <a:custGeom>
              <a:avLst/>
              <a:gdLst/>
              <a:ahLst/>
              <a:cxnLst/>
              <a:rect r="r" b="b" t="t" l="l"/>
              <a:pathLst>
                <a:path h="7790688" w="10863072">
                  <a:moveTo>
                    <a:pt x="0" y="0"/>
                  </a:moveTo>
                  <a:lnTo>
                    <a:pt x="10863072" y="0"/>
                  </a:lnTo>
                  <a:lnTo>
                    <a:pt x="10863072" y="7790688"/>
                  </a:lnTo>
                  <a:lnTo>
                    <a:pt x="0" y="7790688"/>
                  </a:lnTo>
                  <a:lnTo>
                    <a:pt x="0" y="0"/>
                  </a:lnTo>
                  <a:close/>
                </a:path>
              </a:pathLst>
            </a:custGeom>
            <a:blipFill>
              <a:blip r:embed="rId6"/>
              <a:stretch>
                <a:fillRect l="0" t="0" r="-59682" b="0"/>
              </a:stretch>
            </a:blipFill>
          </p:spPr>
          <p:txBody>
            <a:bodyPr/>
            <a:p/>
          </p:txBody>
        </p:sp>
      </p:grpSp>
      <p:grpSp>
        <p:nvGrpSpPr>
          <p:cNvPr name="Group 10" id="10"/>
          <p:cNvGrpSpPr/>
          <p:nvPr/>
        </p:nvGrpSpPr>
        <p:grpSpPr>
          <a:xfrm rot="0">
            <a:off x="800100" y="657225"/>
            <a:ext cx="12893040" cy="467554"/>
            <a:chOff x="0" y="0"/>
            <a:chExt cx="17190720" cy="623405"/>
          </a:xfrm>
        </p:grpSpPr>
        <p:sp>
          <p:nvSpPr>
            <p:cNvPr name="Freeform 11" id="11"/>
            <p:cNvSpPr/>
            <p:nvPr/>
          </p:nvSpPr>
          <p:spPr>
            <a:xfrm flipH="false" flipV="false" rot="0">
              <a:off x="0" y="0"/>
              <a:ext cx="17190720" cy="623400"/>
            </a:xfrm>
            <a:custGeom>
              <a:avLst/>
              <a:gdLst/>
              <a:ahLst/>
              <a:cxnLst/>
              <a:rect r="r" b="b" t="t" l="l"/>
              <a:pathLst>
                <a:path h="623400" w="17190720">
                  <a:moveTo>
                    <a:pt x="0" y="0"/>
                  </a:moveTo>
                  <a:lnTo>
                    <a:pt x="17190720" y="0"/>
                  </a:lnTo>
                  <a:lnTo>
                    <a:pt x="17190720" y="623400"/>
                  </a:lnTo>
                  <a:lnTo>
                    <a:pt x="0" y="623400"/>
                  </a:lnTo>
                  <a:close/>
                </a:path>
              </a:pathLst>
            </a:custGeom>
            <a:blipFill>
              <a:blip r:embed="rId7">
                <a:alphaModFix amt="0"/>
              </a:blip>
              <a:stretch>
                <a:fillRect l="0" t="-487314" r="0" b="-487314"/>
              </a:stretch>
            </a:blipFill>
          </p:spPr>
          <p:txBody>
            <a:bodyPr/>
            <a:p/>
          </p:txBody>
        </p:sp>
        <p:sp>
          <p:nvSpPr>
            <p:cNvPr name="TextBox 12" id="12"/>
            <p:cNvSpPr txBox="true"/>
            <p:nvPr/>
          </p:nvSpPr>
          <p:spPr>
            <a:xfrm>
              <a:off x="0" y="-104775"/>
              <a:ext cx="17190720" cy="728180"/>
            </a:xfrm>
            <a:prstGeom prst="rect">
              <a:avLst/>
            </a:prstGeom>
          </p:spPr>
          <p:txBody>
            <a:bodyPr anchor="ctr" rtlCol="false" tIns="0" lIns="0" bIns="0" rIns="0"/>
            <a:lstStyle/>
            <a:p>
              <a:pPr algn="l">
                <a:lnSpc>
                  <a:spcPts val="4372"/>
                </a:lnSpc>
              </a:pPr>
              <a:r>
                <a:rPr lang="en-US" sz="3037">
                  <a:solidFill>
                    <a:srgbClr val="0F172A"/>
                  </a:solidFill>
                  <a:latin typeface="Poppins"/>
                  <a:ea typeface="Poppins"/>
                  <a:cs typeface="Poppins"/>
                  <a:sym typeface="Poppins"/>
                </a:rPr>
                <a:t>Maker Journey</a:t>
              </a:r>
            </a:p>
          </p:txBody>
        </p:sp>
      </p:grpSp>
      <p:sp>
        <p:nvSpPr>
          <p:cNvPr name="TextBox 13" id="13"/>
          <p:cNvSpPr txBox="true"/>
          <p:nvPr/>
        </p:nvSpPr>
        <p:spPr>
          <a:xfrm rot="0">
            <a:off x="1085850" y="8565309"/>
            <a:ext cx="16047720" cy="291689"/>
          </a:xfrm>
          <a:prstGeom prst="rect">
            <a:avLst/>
          </a:prstGeom>
        </p:spPr>
        <p:txBody>
          <a:bodyPr anchor="t" rtlCol="false" tIns="0" lIns="0" bIns="0" rIns="0">
            <a:spAutoFit/>
          </a:bodyPr>
          <a:lstStyle/>
          <a:p>
            <a:pPr algn="l">
              <a:lnSpc>
                <a:spcPts val="2506"/>
              </a:lnSpc>
            </a:pPr>
            <a:r>
              <a:rPr lang="en-US" b="true" sz="1439">
                <a:solidFill>
                  <a:srgbClr val="0F172A"/>
                </a:solidFill>
                <a:latin typeface="DM Sans Bold"/>
                <a:ea typeface="DM Sans Bold"/>
                <a:cs typeface="DM Sans Bold"/>
                <a:sym typeface="DM Sans Bold"/>
              </a:rPr>
              <a:t>Project files: </a:t>
            </a:r>
            <a:r>
              <a:rPr lang="en-US" b="true" sz="1439">
                <a:solidFill>
                  <a:srgbClr val="334155"/>
                </a:solidFill>
                <a:latin typeface="DM Sans Bold"/>
                <a:ea typeface="DM Sans Bold"/>
                <a:cs typeface="DM Sans Bold"/>
                <a:sym typeface="DM Sans Bold"/>
                <a:hlinkClick r:id="rId13"/>
              </a:rPr>
              <a:t>github.com/soham0777/dermasense-vishwakarma-2026 · native CAD, KiCad, firmware and laser files with dated work history.</a:t>
            </a:r>
          </a:p>
        </p:txBody>
      </p:sp>
      <p:sp>
        <p:nvSpPr>
          <p:cNvPr name="TextBox 14" id="14"/>
          <p:cNvSpPr txBox="true"/>
          <p:nvPr/>
        </p:nvSpPr>
        <p:spPr>
          <a:xfrm rot="0">
            <a:off x="800100" y="7294626"/>
            <a:ext cx="8143875" cy="226600"/>
          </a:xfrm>
          <a:prstGeom prst="rect">
            <a:avLst/>
          </a:prstGeom>
        </p:spPr>
        <p:txBody>
          <a:bodyPr anchor="t" rtlCol="false" tIns="0" lIns="0" bIns="0" rIns="0">
            <a:spAutoFit/>
          </a:bodyPr>
          <a:lstStyle/>
          <a:p>
            <a:pPr algn="r">
              <a:lnSpc>
                <a:spcPts val="1983"/>
              </a:lnSpc>
            </a:pPr>
            <a:r>
              <a:rPr lang="en-US" sz="1139">
                <a:solidFill>
                  <a:srgbClr val="64748B"/>
                </a:solidFill>
                <a:latin typeface="DM Sans"/>
                <a:ea typeface="DM Sans"/>
                <a:cs typeface="DM Sans"/>
                <a:sym typeface="DM Sans"/>
              </a:rPr>
              <a:t>Evidence from our project files and checks rerun on 19 October 2026.</a:t>
            </a:r>
          </a:p>
        </p:txBody>
      </p:sp>
      <p:grpSp>
        <p:nvGrpSpPr>
          <p:cNvPr name="Group 15" id="15"/>
          <p:cNvGrpSpPr/>
          <p:nvPr/>
        </p:nvGrpSpPr>
        <p:grpSpPr>
          <a:xfrm rot="0">
            <a:off x="9672638" y="1762944"/>
            <a:ext cx="260080" cy="228600"/>
            <a:chOff x="0" y="0"/>
            <a:chExt cx="346774" cy="304800"/>
          </a:xfrm>
        </p:grpSpPr>
        <p:sp>
          <p:nvSpPr>
            <p:cNvPr name="Freeform 16" id="16" descr="image.png"/>
            <p:cNvSpPr/>
            <p:nvPr/>
          </p:nvSpPr>
          <p:spPr>
            <a:xfrm flipH="false" flipV="false" rot="0">
              <a:off x="0" y="0"/>
              <a:ext cx="346710" cy="304800"/>
            </a:xfrm>
            <a:custGeom>
              <a:avLst/>
              <a:gdLst/>
              <a:ahLst/>
              <a:cxnLst/>
              <a:rect r="r" b="b" t="t" l="l"/>
              <a:pathLst>
                <a:path h="304800" w="346710">
                  <a:moveTo>
                    <a:pt x="0" y="0"/>
                  </a:moveTo>
                  <a:lnTo>
                    <a:pt x="346710" y="0"/>
                  </a:lnTo>
                  <a:lnTo>
                    <a:pt x="346710" y="304800"/>
                  </a:lnTo>
                  <a:lnTo>
                    <a:pt x="0" y="304800"/>
                  </a:lnTo>
                  <a:lnTo>
                    <a:pt x="0" y="0"/>
                  </a:lnTo>
                  <a:close/>
                </a:path>
              </a:pathLst>
            </a:custGeom>
            <a:blipFill>
              <a:blip r:embed="rId8"/>
              <a:stretch>
                <a:fillRect l="0" t="0" r="-18" b="-1791"/>
              </a:stretch>
            </a:blipFill>
          </p:spPr>
          <p:txBody>
            <a:bodyPr/>
            <a:p/>
          </p:txBody>
        </p:sp>
      </p:grpSp>
      <p:sp>
        <p:nvSpPr>
          <p:cNvPr name="TextBox 17" id="17"/>
          <p:cNvSpPr txBox="true"/>
          <p:nvPr/>
        </p:nvSpPr>
        <p:spPr>
          <a:xfrm rot="0">
            <a:off x="10075593" y="1743894"/>
            <a:ext cx="7269480" cy="247650"/>
          </a:xfrm>
          <a:prstGeom prst="rect">
            <a:avLst/>
          </a:prstGeom>
        </p:spPr>
        <p:txBody>
          <a:bodyPr anchor="t" rtlCol="false" tIns="0" lIns="0" bIns="0" rIns="0">
            <a:spAutoFit/>
          </a:bodyPr>
          <a:lstStyle/>
          <a:p>
            <a:pPr algn="l">
              <a:lnSpc>
                <a:spcPts val="2070"/>
              </a:lnSpc>
            </a:pPr>
            <a:r>
              <a:rPr lang="en-US" b="true" sz="1725">
                <a:solidFill>
                  <a:srgbClr val="0F172A"/>
                </a:solidFill>
                <a:latin typeface="DM Sans Bold"/>
                <a:ea typeface="DM Sans Bold"/>
                <a:cs typeface="DM Sans Bold"/>
                <a:sym typeface="DM Sans Bold"/>
              </a:rPr>
              <a:t>Our team and project files</a:t>
            </a:r>
          </a:p>
        </p:txBody>
      </p:sp>
      <p:grpSp>
        <p:nvGrpSpPr>
          <p:cNvPr name="Group 18" id="18"/>
          <p:cNvGrpSpPr/>
          <p:nvPr/>
        </p:nvGrpSpPr>
        <p:grpSpPr>
          <a:xfrm rot="0">
            <a:off x="16642794" y="9421197"/>
            <a:ext cx="1645206" cy="865803"/>
            <a:chOff x="0" y="0"/>
            <a:chExt cx="2193608" cy="1154405"/>
          </a:xfrm>
        </p:grpSpPr>
        <p:sp>
          <p:nvSpPr>
            <p:cNvPr name="Freeform 19" id="19"/>
            <p:cNvSpPr/>
            <p:nvPr/>
          </p:nvSpPr>
          <p:spPr>
            <a:xfrm flipH="false" flipV="false" rot="0">
              <a:off x="0" y="0"/>
              <a:ext cx="2193671" cy="1154430"/>
            </a:xfrm>
            <a:custGeom>
              <a:avLst/>
              <a:gdLst/>
              <a:ahLst/>
              <a:cxnLst/>
              <a:rect r="r" b="b" t="t" l="l"/>
              <a:pathLst>
                <a:path h="1154430" w="2193671">
                  <a:moveTo>
                    <a:pt x="0" y="0"/>
                  </a:moveTo>
                  <a:lnTo>
                    <a:pt x="2193671" y="0"/>
                  </a:lnTo>
                  <a:lnTo>
                    <a:pt x="2193671" y="1154430"/>
                  </a:lnTo>
                  <a:lnTo>
                    <a:pt x="0" y="1154430"/>
                  </a:lnTo>
                  <a:lnTo>
                    <a:pt x="0" y="0"/>
                  </a:lnTo>
                  <a:close/>
                </a:path>
              </a:pathLst>
            </a:custGeom>
            <a:blipFill>
              <a:blip r:embed="rId9"/>
              <a:stretch>
                <a:fillRect l="0" t="0" r="2" b="2"/>
              </a:stretch>
            </a:blipFill>
          </p:spPr>
          <p:txBody>
            <a:bodyPr/>
            <a:p/>
          </p:txBody>
        </p:sp>
      </p:grpSp>
      <p:grpSp>
        <p:nvGrpSpPr>
          <p:cNvPr name="Group 20" id="20"/>
          <p:cNvGrpSpPr/>
          <p:nvPr/>
        </p:nvGrpSpPr>
        <p:grpSpPr>
          <a:xfrm rot="0">
            <a:off x="0" y="9421197"/>
            <a:ext cx="2679421" cy="865803"/>
            <a:chOff x="0" y="0"/>
            <a:chExt cx="3572561" cy="1154405"/>
          </a:xfrm>
        </p:grpSpPr>
        <p:sp>
          <p:nvSpPr>
            <p:cNvPr name="Freeform 21" id="21"/>
            <p:cNvSpPr/>
            <p:nvPr/>
          </p:nvSpPr>
          <p:spPr>
            <a:xfrm flipH="false" flipV="false" rot="0">
              <a:off x="0" y="0"/>
              <a:ext cx="3572510" cy="1154430"/>
            </a:xfrm>
            <a:custGeom>
              <a:avLst/>
              <a:gdLst/>
              <a:ahLst/>
              <a:cxnLst/>
              <a:rect r="r" b="b" t="t" l="l"/>
              <a:pathLst>
                <a:path h="1154430" w="3572510">
                  <a:moveTo>
                    <a:pt x="0" y="0"/>
                  </a:moveTo>
                  <a:lnTo>
                    <a:pt x="3572510" y="0"/>
                  </a:lnTo>
                  <a:lnTo>
                    <a:pt x="3572510" y="1154430"/>
                  </a:lnTo>
                  <a:lnTo>
                    <a:pt x="0" y="1154430"/>
                  </a:lnTo>
                  <a:lnTo>
                    <a:pt x="0" y="0"/>
                  </a:lnTo>
                  <a:close/>
                </a:path>
              </a:pathLst>
            </a:custGeom>
            <a:blipFill>
              <a:blip r:embed="rId10"/>
              <a:stretch>
                <a:fillRect l="-21110" t="-147255" r="-22761" b="-197973"/>
              </a:stretch>
            </a:blipFill>
          </p:spPr>
          <p:txBody>
            <a:bodyPr/>
            <a:p/>
          </p:txBody>
        </p:sp>
      </p:grpSp>
      <p:grpSp>
        <p:nvGrpSpPr>
          <p:cNvPr name="Group 22" id="22"/>
          <p:cNvGrpSpPr/>
          <p:nvPr/>
        </p:nvGrpSpPr>
        <p:grpSpPr>
          <a:xfrm rot="0">
            <a:off x="12972593" y="685800"/>
            <a:ext cx="4515307" cy="370332"/>
            <a:chOff x="0" y="0"/>
            <a:chExt cx="6020410" cy="493776"/>
          </a:xfrm>
        </p:grpSpPr>
        <p:sp>
          <p:nvSpPr>
            <p:cNvPr name="Freeform 23" id="23"/>
            <p:cNvSpPr/>
            <p:nvPr/>
          </p:nvSpPr>
          <p:spPr>
            <a:xfrm flipH="false" flipV="false" rot="0">
              <a:off x="0" y="0"/>
              <a:ext cx="6020435" cy="493776"/>
            </a:xfrm>
            <a:custGeom>
              <a:avLst/>
              <a:gdLst/>
              <a:ahLst/>
              <a:cxnLst/>
              <a:rect r="r" b="b" t="t" l="l"/>
              <a:pathLst>
                <a:path h="493776" w="6020435">
                  <a:moveTo>
                    <a:pt x="0" y="246888"/>
                  </a:moveTo>
                  <a:cubicBezTo>
                    <a:pt x="0" y="110490"/>
                    <a:pt x="110490" y="0"/>
                    <a:pt x="246888" y="0"/>
                  </a:cubicBezTo>
                  <a:lnTo>
                    <a:pt x="5773547" y="0"/>
                  </a:lnTo>
                  <a:cubicBezTo>
                    <a:pt x="5909945" y="0"/>
                    <a:pt x="6020435" y="110490"/>
                    <a:pt x="6020435" y="246888"/>
                  </a:cubicBezTo>
                  <a:cubicBezTo>
                    <a:pt x="6020435" y="383286"/>
                    <a:pt x="5909945" y="493776"/>
                    <a:pt x="5773547" y="493776"/>
                  </a:cubicBezTo>
                  <a:lnTo>
                    <a:pt x="246888" y="493776"/>
                  </a:lnTo>
                  <a:cubicBezTo>
                    <a:pt x="110490" y="493776"/>
                    <a:pt x="0" y="383286"/>
                    <a:pt x="0" y="246888"/>
                  </a:cubicBezTo>
                  <a:close/>
                </a:path>
              </a:pathLst>
            </a:custGeom>
            <a:solidFill>
              <a:srgbClr val="D1FAE5"/>
            </a:solidFill>
          </p:spPr>
          <p:txBody>
            <a:bodyPr/>
            <a:p/>
          </p:txBody>
        </p:sp>
        <p:sp>
          <p:nvSpPr>
            <p:cNvPr name="TextBox 24" id="24"/>
            <p:cNvSpPr txBox="true"/>
            <p:nvPr/>
          </p:nvSpPr>
          <p:spPr>
            <a:xfrm>
              <a:off x="0" y="0"/>
              <a:ext cx="6020410" cy="493776"/>
            </a:xfrm>
            <a:prstGeom prst="rect">
              <a:avLst/>
            </a:prstGeom>
          </p:spPr>
          <p:txBody>
            <a:bodyPr anchor="ctr" rtlCol="false" tIns="50800" lIns="50800" bIns="50800" rIns="50800"/>
            <a:lstStyle/>
            <a:p>
              <a:pPr algn="ctr">
                <a:lnSpc>
                  <a:spcPts val="1350"/>
                </a:lnSpc>
              </a:pPr>
              <a:r>
                <a:rPr lang="en-US" sz="1125" b="true">
                  <a:solidFill>
                    <a:srgbClr val="047857"/>
                  </a:solidFill>
                  <a:latin typeface="DM Sans Bold"/>
                  <a:ea typeface="DM Sans Bold"/>
                  <a:cs typeface="DM Sans Bold"/>
                  <a:sym typeface="DM Sans Bold"/>
                </a:rPr>
                <a:t>PROJECT FILES · CHECKS CAN BE RERUN</a:t>
              </a:r>
            </a:p>
          </p:txBody>
        </p:sp>
      </p:grpSp>
      <p:grpSp>
        <p:nvGrpSpPr>
          <p:cNvPr name="Group 25" id="25"/>
          <p:cNvGrpSpPr/>
          <p:nvPr/>
        </p:nvGrpSpPr>
        <p:grpSpPr>
          <a:xfrm rot="0">
            <a:off x="809244" y="1455068"/>
            <a:ext cx="8119872" cy="5813231"/>
            <a:chOff x="0" y="0"/>
            <a:chExt cx="10826496" cy="7750975"/>
          </a:xfrm>
        </p:grpSpPr>
        <p:sp>
          <p:nvSpPr>
            <p:cNvPr name="Freeform 26" id="26" descr="fig_maker.png"/>
            <p:cNvSpPr/>
            <p:nvPr/>
          </p:nvSpPr>
          <p:spPr>
            <a:xfrm flipH="false" flipV="false" rot="0">
              <a:off x="0" y="0"/>
              <a:ext cx="10826496" cy="7750937"/>
            </a:xfrm>
            <a:custGeom>
              <a:avLst/>
              <a:gdLst/>
              <a:ahLst/>
              <a:cxnLst/>
              <a:rect r="r" b="b" t="t" l="l"/>
              <a:pathLst>
                <a:path h="7750937" w="10826496">
                  <a:moveTo>
                    <a:pt x="0" y="0"/>
                  </a:moveTo>
                  <a:lnTo>
                    <a:pt x="10826496" y="0"/>
                  </a:lnTo>
                  <a:lnTo>
                    <a:pt x="10826496" y="7750937"/>
                  </a:lnTo>
                  <a:lnTo>
                    <a:pt x="0" y="7750937"/>
                  </a:lnTo>
                  <a:lnTo>
                    <a:pt x="0" y="0"/>
                  </a:lnTo>
                  <a:close/>
                </a:path>
              </a:pathLst>
            </a:custGeom>
            <a:blipFill>
              <a:blip r:embed="rId11"/>
              <a:stretch>
                <a:fillRect l="0" t="0" r="0" b="0"/>
              </a:stretch>
            </a:blipFill>
          </p:spPr>
          <p:txBody>
            <a:bodyPr/>
            <a:p/>
          </p:txBody>
        </p:sp>
      </p:grpSp>
      <p:sp>
        <p:nvSpPr>
          <p:cNvPr name="TextBox 31" id="31"/>
          <p:cNvSpPr txBox="true"/>
          <p:nvPr/>
        </p:nvSpPr>
        <p:spPr>
          <a:xfrm rot="0">
            <a:off x="9715500" y="4635627"/>
            <a:ext cx="7507224" cy="431216"/>
          </a:xfrm>
          <a:prstGeom prst="rect">
            <a:avLst/>
          </a:prstGeom>
        </p:spPr>
        <p:txBody>
          <a:bodyPr anchor="t" rtlCol="false" tIns="0" lIns="0" bIns="0" rIns="0">
            <a:spAutoFit/>
          </a:bodyPr>
          <a:lstStyle/>
          <a:p>
            <a:pPr algn="l" marL="0" indent="0" lvl="0">
              <a:lnSpc>
                <a:spcPts val="1749"/>
              </a:lnSpc>
              <a:spcBef>
                <a:spcPct val="0"/>
              </a:spcBef>
            </a:pPr>
            <a:r>
              <a:rPr lang="en-US" b="true" sz="1350" strike="noStrike" u="none">
                <a:solidFill>
                  <a:srgbClr val="0F172A"/>
                </a:solidFill>
                <a:latin typeface="DM Sans Bold"/>
                <a:ea typeface="DM Sans Bold"/>
                <a:cs typeface="DM Sans Bold"/>
                <a:sym typeface="DM Sans Bold"/>
              </a:rPr>
              <a:t>Soham Prabhakar Kadu · Lead, Mechanical Architecture &amp; Sensor Design</a:t>
            </a:r>
          </a:p>
          <a:p>
            <a:pPr algn="l" marL="0" indent="0" lvl="0">
              <a:lnSpc>
                <a:spcPts val="1749"/>
              </a:lnSpc>
              <a:spcBef>
                <a:spcPct val="0"/>
              </a:spcBef>
            </a:pPr>
            <a:r>
              <a:rPr lang="en-US" b="true" sz="1350" strike="noStrike" u="none">
                <a:solidFill>
                  <a:srgbClr val="0F172A"/>
                </a:solidFill>
                <a:latin typeface="DM Sans Bold"/>
                <a:ea typeface="DM Sans Bold"/>
                <a:cs typeface="DM Sans Bold"/>
                <a:sym typeface="DM Sans Bold"/>
              </a:rPr>
              <a:t>Bhakti Ajay Kadam · Lead, Materials &amp; Micro-fabrication (semiconductor background)</a:t>
            </a:r>
          </a:p>
        </p:txBody>
      </p:sp>
      <p:sp>
        <p:nvSpPr>
          <p:cNvPr name="TextBox 32" id="32"/>
          <p:cNvSpPr txBox="true"/>
          <p:nvPr/>
        </p:nvSpPr>
        <p:spPr>
          <a:xfrm rot="0">
            <a:off x="9715500" y="5449062"/>
            <a:ext cx="7507224" cy="1667637"/>
          </a:xfrm>
          <a:prstGeom prst="rect">
            <a:avLst/>
          </a:prstGeom>
        </p:spPr>
        <p:txBody>
          <a:bodyPr anchor="t" rtlCol="false" tIns="0" lIns="0" bIns="0" rIns="0">
            <a:spAutoFit/>
          </a:bodyPr>
          <a:lstStyle/>
          <a:p>
            <a:pPr algn="l" marL="0" indent="0" lvl="0">
              <a:lnSpc>
                <a:spcPts val="1944"/>
              </a:lnSpc>
              <a:spcBef>
                <a:spcPct val="0"/>
              </a:spcBef>
            </a:pPr>
            <a:r>
              <a:rPr lang="en-US" sz="1500" strike="noStrike" u="none">
                <a:solidFill>
                  <a:srgbClr val="059669"/>
                </a:solidFill>
                <a:latin typeface="DM Sans"/>
                <a:ea typeface="DM Sans"/>
                <a:cs typeface="DM Sans"/>
                <a:sym typeface="DM Sans"/>
              </a:rPr>
              <a:t>▪  Real files:  The repository includes CAD models and drawings, the KiCad schematic, firmware and laser files, with dated work history since 14 October.</a:t>
            </a:r>
          </a:p>
          <a:p>
            <a:pPr algn="l" marL="0" indent="0" lvl="0">
              <a:lnSpc>
                <a:spcPts val="1944"/>
              </a:lnSpc>
              <a:spcBef>
                <a:spcPct val="0"/>
              </a:spcBef>
            </a:pPr>
            <a:r>
              <a:rPr lang="en-US" sz="1500" strike="noStrike" u="none">
                <a:solidFill>
                  <a:srgbClr val="059669"/>
                </a:solidFill>
                <a:latin typeface="DM Sans"/>
                <a:ea typeface="DM Sans"/>
                <a:cs typeface="DM Sans"/>
                <a:sym typeface="DM Sans"/>
              </a:rPr>
              <a:t>▪  Re-checkable:  Project scripts can rerun the checks shown here.</a:t>
            </a:r>
          </a:p>
          <a:p>
            <a:pPr algn="l" marL="0" indent="0" lvl="0">
              <a:lnSpc>
                <a:spcPts val="1944"/>
              </a:lnSpc>
              <a:spcBef>
                <a:spcPct val="0"/>
              </a:spcBef>
            </a:pPr>
            <a:r>
              <a:rPr lang="en-US" sz="1500" strike="noStrike" u="none">
                <a:solidFill>
                  <a:srgbClr val="059669"/>
                </a:solidFill>
                <a:latin typeface="DM Sans"/>
                <a:ea typeface="DM Sans"/>
                <a:cs typeface="DM Sans"/>
                <a:sym typeface="DM Sans"/>
              </a:rPr>
              <a:t>▪  How we work:  We used Claude to help write some scripts and reviewed their outputs. The physical build and tests are still planned, starting with E2.</a:t>
            </a:r>
          </a:p>
          <a:p>
            <a:pPr algn="l" marL="0" indent="0" lvl="0">
              <a:lnSpc>
                <a:spcPts val="1944"/>
              </a:lnSpc>
              <a:spcBef>
                <a:spcPct val="0"/>
              </a:spcBef>
            </a:pPr>
            <a:r>
              <a:rPr lang="en-US" sz="1500" strike="noStrike" u="none">
                <a:solidFill>
                  <a:srgbClr val="059669"/>
                </a:solidFill>
                <a:latin typeface="DM Sans"/>
                <a:ea typeface="DM Sans"/>
                <a:cs typeface="DM Sans"/>
                <a:sym typeface="DM Sans"/>
              </a:rPr>
              <a:t>▪  Photos:  real, unedited photos of our team: Soham with early laser-written test samples; Bhakti in the cleanroom.</a:t>
            </a:r>
          </a:p>
        </p:txBody>
      </p:sp>
      <p:pic>
        <p:nvPicPr>
          <p:cNvPr id="33" name="PHOTO Soham" descr="2.jpg"/>
          <p:cNvPicPr>
            <a:picLocks noChangeAspect="1"/>
          </p:cNvPicPr>
          <p:nvPr/>
        </p:nvPicPr>
        <p:blipFill>
          <a:blip r:embed="rId14"/>
          <a:srcRect t="3000" b="20000"/>
          <a:stretch>
            <a:fillRect/>
          </a:stretch>
        </p:blipFill>
        <p:spPr>
          <a:xfrm>
            <a:off x="9692640" y="2212848"/>
            <a:ext cx="5486400" cy="2377440"/>
          </a:xfrm>
          <a:prstGeom prst="rect">
            <a:avLst/>
          </a:prstGeom>
          <a:ln w="12700">
            <a:solidFill>
              <a:srgbClr val="CBD5E1"/>
            </a:solidFill>
          </a:ln>
        </p:spPr>
      </p:pic>
      <p:pic>
        <p:nvPicPr>
          <p:cNvPr id="34" name="PHOTO Bhakti" descr="1.jpg"/>
          <p:cNvPicPr>
            <a:picLocks noChangeAspect="1"/>
          </p:cNvPicPr>
          <p:nvPr/>
        </p:nvPicPr>
        <p:blipFill>
          <a:blip r:embed="rId15"/>
          <a:srcRect/>
          <a:stretch>
            <a:fillRect/>
          </a:stretch>
        </p:blipFill>
        <p:spPr>
          <a:xfrm>
            <a:off x="15343632" y="2212848"/>
            <a:ext cx="1682496" cy="2377440"/>
          </a:xfrm>
          <a:prstGeom prst="rect">
            <a:avLst/>
          </a:prstGeom>
          <a:ln w="12700">
            <a:solidFill>
              <a:srgbClr val="CBD5E1"/>
            </a:solidFill>
          </a:ln>
        </p:spPr>
      </p:pic>
    </p:spTree>
  </p:cSld>
  <p:clrMapOvr>
    <a:masterClrMapping/>
  </p:clrMapOvr>
</p:sld>
</file>

<file path=ppt/slides/slide13.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0"/>
            <a:ext cx="18288000" cy="10287000"/>
            <a:chOff x="0" y="0"/>
            <a:chExt cx="24384000" cy="13716000"/>
          </a:xfrm>
        </p:grpSpPr>
        <p:sp>
          <p:nvSpPr>
            <p:cNvPr name="Freeform 3" id="3" descr="image.png"/>
            <p:cNvSpPr/>
            <p:nvPr/>
          </p:nvSpPr>
          <p:spPr>
            <a:xfrm flipH="false" flipV="false" rot="0">
              <a:off x="0" y="0"/>
              <a:ext cx="24384000" cy="13716000"/>
            </a:xfrm>
            <a:custGeom>
              <a:avLst/>
              <a:gdLst/>
              <a:ahLst/>
              <a:cxnLst/>
              <a:rect r="r" b="b" t="t" l="l"/>
              <a:pathLst>
                <a:path h="13716000" w="24384000">
                  <a:moveTo>
                    <a:pt x="0" y="0"/>
                  </a:moveTo>
                  <a:lnTo>
                    <a:pt x="24384000" y="0"/>
                  </a:lnTo>
                  <a:lnTo>
                    <a:pt x="24384000" y="13716000"/>
                  </a:lnTo>
                  <a:lnTo>
                    <a:pt x="0" y="13716000"/>
                  </a:lnTo>
                  <a:lnTo>
                    <a:pt x="0" y="0"/>
                  </a:lnTo>
                  <a:close/>
                </a:path>
              </a:pathLst>
            </a:custGeom>
            <a:blipFill>
              <a:blip r:embed="rId3"/>
              <a:stretch>
                <a:fillRect l="0" t="0" r="0" b="0"/>
              </a:stretch>
            </a:blipFill>
          </p:spPr>
          <p:txBody>
            <a:bodyPr/>
            <a:p/>
          </p:txBody>
        </p:sp>
      </p:grpSp>
      <p:grpSp>
        <p:nvGrpSpPr>
          <p:cNvPr name="Group 4" id="4"/>
          <p:cNvGrpSpPr/>
          <p:nvPr/>
        </p:nvGrpSpPr>
        <p:grpSpPr>
          <a:xfrm rot="0">
            <a:off x="800100" y="8498634"/>
            <a:ext cx="16687800" cy="544706"/>
            <a:chOff x="0" y="0"/>
            <a:chExt cx="22250400" cy="726275"/>
          </a:xfrm>
        </p:grpSpPr>
        <p:sp>
          <p:nvSpPr>
            <p:cNvPr name="Freeform 5" id="5" descr="image.png"/>
            <p:cNvSpPr/>
            <p:nvPr/>
          </p:nvSpPr>
          <p:spPr>
            <a:xfrm flipH="false" flipV="false" rot="0">
              <a:off x="0" y="0"/>
              <a:ext cx="22250400" cy="726313"/>
            </a:xfrm>
            <a:custGeom>
              <a:avLst/>
              <a:gdLst/>
              <a:ahLst/>
              <a:cxnLst/>
              <a:rect r="r" b="b" t="t" l="l"/>
              <a:pathLst>
                <a:path h="726313" w="22250400">
                  <a:moveTo>
                    <a:pt x="0" y="0"/>
                  </a:moveTo>
                  <a:lnTo>
                    <a:pt x="22250400" y="0"/>
                  </a:lnTo>
                  <a:lnTo>
                    <a:pt x="22250400" y="726313"/>
                  </a:lnTo>
                  <a:lnTo>
                    <a:pt x="0" y="726313"/>
                  </a:lnTo>
                  <a:lnTo>
                    <a:pt x="0" y="0"/>
                  </a:lnTo>
                  <a:close/>
                </a:path>
              </a:pathLst>
            </a:custGeom>
            <a:blipFill>
              <a:blip r:embed="rId4"/>
              <a:stretch>
                <a:fillRect l="0" t="0" r="0" b="-2290"/>
              </a:stretch>
            </a:blipFill>
          </p:spPr>
          <p:txBody>
            <a:bodyPr/>
            <a:p/>
          </p:txBody>
        </p:sp>
      </p:grpSp>
      <p:grpSp>
        <p:nvGrpSpPr>
          <p:cNvPr name="Group 6" id="6"/>
          <p:cNvGrpSpPr/>
          <p:nvPr/>
        </p:nvGrpSpPr>
        <p:grpSpPr>
          <a:xfrm rot="0">
            <a:off x="9344025" y="1434332"/>
            <a:ext cx="8143875" cy="6789420"/>
            <a:chOff x="0" y="0"/>
            <a:chExt cx="10858500" cy="9052560"/>
          </a:xfrm>
        </p:grpSpPr>
        <p:sp>
          <p:nvSpPr>
            <p:cNvPr name="Freeform 7" id="7" descr="image.png"/>
            <p:cNvSpPr/>
            <p:nvPr/>
          </p:nvSpPr>
          <p:spPr>
            <a:xfrm flipH="false" flipV="false" rot="0">
              <a:off x="0" y="0"/>
              <a:ext cx="10858500" cy="9052560"/>
            </a:xfrm>
            <a:custGeom>
              <a:avLst/>
              <a:gdLst/>
              <a:ahLst/>
              <a:cxnLst/>
              <a:rect r="r" b="b" t="t" l="l"/>
              <a:pathLst>
                <a:path h="9052560" w="10858500">
                  <a:moveTo>
                    <a:pt x="0" y="0"/>
                  </a:moveTo>
                  <a:lnTo>
                    <a:pt x="10858500" y="0"/>
                  </a:lnTo>
                  <a:lnTo>
                    <a:pt x="10858500" y="9052560"/>
                  </a:lnTo>
                  <a:lnTo>
                    <a:pt x="0" y="9052560"/>
                  </a:lnTo>
                  <a:lnTo>
                    <a:pt x="0" y="0"/>
                  </a:lnTo>
                  <a:close/>
                </a:path>
              </a:pathLst>
            </a:custGeom>
            <a:blipFill>
              <a:blip r:embed="rId5"/>
              <a:stretch>
                <a:fillRect l="0" t="0" r="0" b="-10269"/>
              </a:stretch>
            </a:blipFill>
          </p:spPr>
          <p:txBody>
            <a:bodyPr/>
            <a:p/>
          </p:txBody>
        </p:sp>
      </p:grpSp>
      <p:grpSp>
        <p:nvGrpSpPr>
          <p:cNvPr name="Group 8" id="8"/>
          <p:cNvGrpSpPr/>
          <p:nvPr/>
        </p:nvGrpSpPr>
        <p:grpSpPr>
          <a:xfrm rot="0">
            <a:off x="795528" y="1440180"/>
            <a:ext cx="8147304" cy="5843016"/>
            <a:chOff x="0" y="0"/>
            <a:chExt cx="10863072" cy="7790688"/>
          </a:xfrm>
        </p:grpSpPr>
        <p:sp>
          <p:nvSpPr>
            <p:cNvPr name="Freeform 9" id="9" descr="image.png"/>
            <p:cNvSpPr/>
            <p:nvPr/>
          </p:nvSpPr>
          <p:spPr>
            <a:xfrm flipH="false" flipV="false" rot="0">
              <a:off x="0" y="0"/>
              <a:ext cx="10863072" cy="7790688"/>
            </a:xfrm>
            <a:custGeom>
              <a:avLst/>
              <a:gdLst/>
              <a:ahLst/>
              <a:cxnLst/>
              <a:rect r="r" b="b" t="t" l="l"/>
              <a:pathLst>
                <a:path h="7790688" w="10863072">
                  <a:moveTo>
                    <a:pt x="0" y="0"/>
                  </a:moveTo>
                  <a:lnTo>
                    <a:pt x="10863072" y="0"/>
                  </a:lnTo>
                  <a:lnTo>
                    <a:pt x="10863072" y="7790688"/>
                  </a:lnTo>
                  <a:lnTo>
                    <a:pt x="0" y="7790688"/>
                  </a:lnTo>
                  <a:lnTo>
                    <a:pt x="0" y="0"/>
                  </a:lnTo>
                  <a:close/>
                </a:path>
              </a:pathLst>
            </a:custGeom>
            <a:blipFill>
              <a:blip r:embed="rId6"/>
              <a:stretch>
                <a:fillRect l="0" t="0" r="-59682" b="0"/>
              </a:stretch>
            </a:blipFill>
          </p:spPr>
          <p:txBody>
            <a:bodyPr/>
            <a:p/>
          </p:txBody>
        </p:sp>
      </p:grpSp>
      <p:grpSp>
        <p:nvGrpSpPr>
          <p:cNvPr name="Group 10" id="10"/>
          <p:cNvGrpSpPr/>
          <p:nvPr/>
        </p:nvGrpSpPr>
        <p:grpSpPr>
          <a:xfrm rot="0">
            <a:off x="800100" y="657225"/>
            <a:ext cx="12893040" cy="467554"/>
            <a:chOff x="0" y="0"/>
            <a:chExt cx="17190720" cy="623405"/>
          </a:xfrm>
        </p:grpSpPr>
        <p:sp>
          <p:nvSpPr>
            <p:cNvPr name="Freeform 11" id="11"/>
            <p:cNvSpPr/>
            <p:nvPr/>
          </p:nvSpPr>
          <p:spPr>
            <a:xfrm flipH="false" flipV="false" rot="0">
              <a:off x="0" y="0"/>
              <a:ext cx="17190720" cy="623400"/>
            </a:xfrm>
            <a:custGeom>
              <a:avLst/>
              <a:gdLst/>
              <a:ahLst/>
              <a:cxnLst/>
              <a:rect r="r" b="b" t="t" l="l"/>
              <a:pathLst>
                <a:path h="623400" w="17190720">
                  <a:moveTo>
                    <a:pt x="0" y="0"/>
                  </a:moveTo>
                  <a:lnTo>
                    <a:pt x="17190720" y="0"/>
                  </a:lnTo>
                  <a:lnTo>
                    <a:pt x="17190720" y="623400"/>
                  </a:lnTo>
                  <a:lnTo>
                    <a:pt x="0" y="623400"/>
                  </a:lnTo>
                  <a:close/>
                </a:path>
              </a:pathLst>
            </a:custGeom>
            <a:blipFill>
              <a:blip r:embed="rId7">
                <a:alphaModFix amt="0"/>
              </a:blip>
              <a:stretch>
                <a:fillRect l="0" t="-487314" r="0" b="-487314"/>
              </a:stretch>
            </a:blipFill>
          </p:spPr>
          <p:txBody>
            <a:bodyPr/>
            <a:p/>
          </p:txBody>
        </p:sp>
        <p:sp>
          <p:nvSpPr>
            <p:cNvPr name="TextBox 12" id="12"/>
            <p:cNvSpPr txBox="true"/>
            <p:nvPr/>
          </p:nvSpPr>
          <p:spPr>
            <a:xfrm>
              <a:off x="0" y="-104775"/>
              <a:ext cx="17190720" cy="728180"/>
            </a:xfrm>
            <a:prstGeom prst="rect">
              <a:avLst/>
            </a:prstGeom>
          </p:spPr>
          <p:txBody>
            <a:bodyPr anchor="ctr" rtlCol="false" tIns="0" lIns="0" bIns="0" rIns="0"/>
            <a:lstStyle/>
            <a:p>
              <a:pPr algn="l">
                <a:lnSpc>
                  <a:spcPts val="4372"/>
                </a:lnSpc>
              </a:pPr>
              <a:r>
                <a:rPr lang="en-US" sz="3037">
                  <a:solidFill>
                    <a:srgbClr val="0F172A"/>
                  </a:solidFill>
                  <a:latin typeface="Poppins"/>
                  <a:ea typeface="Poppins"/>
                  <a:cs typeface="Poppins"/>
                  <a:sym typeface="Poppins"/>
                </a:rPr>
                <a:t>Maker Journey: Engineering Iterations</a:t>
              </a:r>
            </a:p>
          </p:txBody>
        </p:sp>
      </p:grpSp>
      <p:sp>
        <p:nvSpPr>
          <p:cNvPr name="TextBox 13" id="13"/>
          <p:cNvSpPr txBox="true"/>
          <p:nvPr/>
        </p:nvSpPr>
        <p:spPr>
          <a:xfrm rot="0">
            <a:off x="1085850" y="8565309"/>
            <a:ext cx="16047720" cy="291689"/>
          </a:xfrm>
          <a:prstGeom prst="rect">
            <a:avLst/>
          </a:prstGeom>
        </p:spPr>
        <p:txBody>
          <a:bodyPr anchor="t" rtlCol="false" tIns="0" lIns="0" bIns="0" rIns="0">
            <a:spAutoFit/>
          </a:bodyPr>
          <a:lstStyle/>
          <a:p>
            <a:pPr algn="l">
              <a:lnSpc>
                <a:spcPts val="2506"/>
              </a:lnSpc>
            </a:pPr>
            <a:r>
              <a:rPr lang="en-US" b="true" sz="1439">
                <a:solidFill>
                  <a:srgbClr val="0F172A"/>
                </a:solidFill>
                <a:latin typeface="DM Sans Bold"/>
                <a:ea typeface="DM Sans Bold"/>
                <a:cs typeface="DM Sans Bold"/>
                <a:sym typeface="DM Sans Bold"/>
              </a:rPr>
              <a:t>Existing options: </a:t>
            </a:r>
            <a:r>
              <a:rPr lang="en-US" b="true" sz="1439">
                <a:solidFill>
                  <a:srgbClr val="334155"/>
                </a:solidFill>
                <a:latin typeface="DM Sans Bold"/>
                <a:ea typeface="DM Sans Bold"/>
                <a:cs typeface="DM Sans Bold"/>
                <a:sym typeface="DM Sans Bold"/>
              </a:rPr>
              <a:t>diaper strips⁴ and visual change indicators¹⁴ already exist. We are testing a two-zone strip that reads the change line electrically and checks which zone wets first.</a:t>
            </a:r>
          </a:p>
        </p:txBody>
      </p:sp>
      <p:sp>
        <p:nvSpPr>
          <p:cNvPr name="TextBox 14" id="14"/>
          <p:cNvSpPr txBox="true"/>
          <p:nvPr/>
        </p:nvSpPr>
        <p:spPr>
          <a:xfrm rot="0">
            <a:off x="800100" y="7294626"/>
            <a:ext cx="8143875" cy="358902"/>
          </a:xfrm>
          <a:prstGeom prst="rect">
            <a:avLst/>
          </a:prstGeom>
        </p:spPr>
        <p:txBody>
          <a:bodyPr anchor="t" rtlCol="false" tIns="0" lIns="0" bIns="0" rIns="0">
            <a:spAutoFit/>
          </a:bodyPr>
          <a:lstStyle/>
          <a:p>
            <a:pPr algn="r">
              <a:lnSpc>
                <a:spcPts val="1983"/>
              </a:lnSpc>
            </a:pPr>
            <a:r>
              <a:rPr lang="en-US" sz="1139">
                <a:solidFill>
                  <a:srgbClr val="64748B"/>
                </a:solidFill>
                <a:latin typeface="DM Sans"/>
                <a:ea typeface="DM Sans"/>
                <a:cs typeface="DM Sans"/>
                <a:sym typeface="DM Sans"/>
              </a:rPr>
              <a:t>Figure: concept scores and the iteration path (each a dated commit).</a:t>
            </a:r>
          </a:p>
        </p:txBody>
      </p:sp>
      <p:grpSp>
        <p:nvGrpSpPr>
          <p:cNvPr name="Group 15" id="15"/>
          <p:cNvGrpSpPr/>
          <p:nvPr/>
        </p:nvGrpSpPr>
        <p:grpSpPr>
          <a:xfrm rot="0">
            <a:off x="9672638" y="1762944"/>
            <a:ext cx="260080" cy="228600"/>
            <a:chOff x="0" y="0"/>
            <a:chExt cx="346774" cy="304800"/>
          </a:xfrm>
        </p:grpSpPr>
        <p:sp>
          <p:nvSpPr>
            <p:cNvPr name="Freeform 16" id="16" descr="image.png"/>
            <p:cNvSpPr/>
            <p:nvPr/>
          </p:nvSpPr>
          <p:spPr>
            <a:xfrm flipH="false" flipV="false" rot="0">
              <a:off x="0" y="0"/>
              <a:ext cx="346710" cy="304800"/>
            </a:xfrm>
            <a:custGeom>
              <a:avLst/>
              <a:gdLst/>
              <a:ahLst/>
              <a:cxnLst/>
              <a:rect r="r" b="b" t="t" l="l"/>
              <a:pathLst>
                <a:path h="304800" w="346710">
                  <a:moveTo>
                    <a:pt x="0" y="0"/>
                  </a:moveTo>
                  <a:lnTo>
                    <a:pt x="346710" y="0"/>
                  </a:lnTo>
                  <a:lnTo>
                    <a:pt x="346710" y="304800"/>
                  </a:lnTo>
                  <a:lnTo>
                    <a:pt x="0" y="304800"/>
                  </a:lnTo>
                  <a:lnTo>
                    <a:pt x="0" y="0"/>
                  </a:lnTo>
                  <a:close/>
                </a:path>
              </a:pathLst>
            </a:custGeom>
            <a:blipFill>
              <a:blip r:embed="rId8"/>
              <a:stretch>
                <a:fillRect l="0" t="0" r="-18" b="-1791"/>
              </a:stretch>
            </a:blipFill>
          </p:spPr>
          <p:txBody>
            <a:bodyPr/>
            <a:p/>
          </p:txBody>
        </p:sp>
      </p:grpSp>
      <p:sp>
        <p:nvSpPr>
          <p:cNvPr name="TextBox 17" id="17"/>
          <p:cNvSpPr txBox="true"/>
          <p:nvPr/>
        </p:nvSpPr>
        <p:spPr>
          <a:xfrm rot="0">
            <a:off x="10075593" y="1743894"/>
            <a:ext cx="7269480" cy="247650"/>
          </a:xfrm>
          <a:prstGeom prst="rect">
            <a:avLst/>
          </a:prstGeom>
        </p:spPr>
        <p:txBody>
          <a:bodyPr anchor="t" rtlCol="false" tIns="0" lIns="0" bIns="0" rIns="0">
            <a:spAutoFit/>
          </a:bodyPr>
          <a:lstStyle/>
          <a:p>
            <a:pPr algn="l">
              <a:lnSpc>
                <a:spcPts val="2070"/>
              </a:lnSpc>
            </a:pPr>
            <a:r>
              <a:rPr lang="en-US" b="true" sz="1725">
                <a:solidFill>
                  <a:srgbClr val="0F172A"/>
                </a:solidFill>
                <a:latin typeface="DM Sans Bold"/>
                <a:ea typeface="DM Sans Bold"/>
                <a:cs typeface="DM Sans Bold"/>
                <a:sym typeface="DM Sans Bold"/>
              </a:rPr>
              <a:t>How our design changed from Stage 1 to Stage 2</a:t>
            </a:r>
          </a:p>
        </p:txBody>
      </p:sp>
      <p:grpSp>
        <p:nvGrpSpPr>
          <p:cNvPr name="Group 18" id="18"/>
          <p:cNvGrpSpPr/>
          <p:nvPr/>
        </p:nvGrpSpPr>
        <p:grpSpPr>
          <a:xfrm rot="0">
            <a:off x="16642794" y="9421197"/>
            <a:ext cx="1645206" cy="865803"/>
            <a:chOff x="0" y="0"/>
            <a:chExt cx="2193608" cy="1154405"/>
          </a:xfrm>
        </p:grpSpPr>
        <p:sp>
          <p:nvSpPr>
            <p:cNvPr name="Freeform 19" id="19"/>
            <p:cNvSpPr/>
            <p:nvPr/>
          </p:nvSpPr>
          <p:spPr>
            <a:xfrm flipH="false" flipV="false" rot="0">
              <a:off x="0" y="0"/>
              <a:ext cx="2193671" cy="1154430"/>
            </a:xfrm>
            <a:custGeom>
              <a:avLst/>
              <a:gdLst/>
              <a:ahLst/>
              <a:cxnLst/>
              <a:rect r="r" b="b" t="t" l="l"/>
              <a:pathLst>
                <a:path h="1154430" w="2193671">
                  <a:moveTo>
                    <a:pt x="0" y="0"/>
                  </a:moveTo>
                  <a:lnTo>
                    <a:pt x="2193671" y="0"/>
                  </a:lnTo>
                  <a:lnTo>
                    <a:pt x="2193671" y="1154430"/>
                  </a:lnTo>
                  <a:lnTo>
                    <a:pt x="0" y="1154430"/>
                  </a:lnTo>
                  <a:lnTo>
                    <a:pt x="0" y="0"/>
                  </a:lnTo>
                  <a:close/>
                </a:path>
              </a:pathLst>
            </a:custGeom>
            <a:blipFill>
              <a:blip r:embed="rId9"/>
              <a:stretch>
                <a:fillRect l="0" t="0" r="2" b="2"/>
              </a:stretch>
            </a:blipFill>
          </p:spPr>
          <p:txBody>
            <a:bodyPr/>
            <a:p/>
          </p:txBody>
        </p:sp>
      </p:grpSp>
      <p:grpSp>
        <p:nvGrpSpPr>
          <p:cNvPr name="Group 20" id="20"/>
          <p:cNvGrpSpPr/>
          <p:nvPr/>
        </p:nvGrpSpPr>
        <p:grpSpPr>
          <a:xfrm rot="0">
            <a:off x="0" y="9421197"/>
            <a:ext cx="2679421" cy="865803"/>
            <a:chOff x="0" y="0"/>
            <a:chExt cx="3572561" cy="1154405"/>
          </a:xfrm>
        </p:grpSpPr>
        <p:sp>
          <p:nvSpPr>
            <p:cNvPr name="Freeform 21" id="21"/>
            <p:cNvSpPr/>
            <p:nvPr/>
          </p:nvSpPr>
          <p:spPr>
            <a:xfrm flipH="false" flipV="false" rot="0">
              <a:off x="0" y="0"/>
              <a:ext cx="3572510" cy="1154430"/>
            </a:xfrm>
            <a:custGeom>
              <a:avLst/>
              <a:gdLst/>
              <a:ahLst/>
              <a:cxnLst/>
              <a:rect r="r" b="b" t="t" l="l"/>
              <a:pathLst>
                <a:path h="1154430" w="3572510">
                  <a:moveTo>
                    <a:pt x="0" y="0"/>
                  </a:moveTo>
                  <a:lnTo>
                    <a:pt x="3572510" y="0"/>
                  </a:lnTo>
                  <a:lnTo>
                    <a:pt x="3572510" y="1154430"/>
                  </a:lnTo>
                  <a:lnTo>
                    <a:pt x="0" y="1154430"/>
                  </a:lnTo>
                  <a:lnTo>
                    <a:pt x="0" y="0"/>
                  </a:lnTo>
                  <a:close/>
                </a:path>
              </a:pathLst>
            </a:custGeom>
            <a:blipFill>
              <a:blip r:embed="rId10"/>
              <a:stretch>
                <a:fillRect l="-21110" t="-147255" r="-22761" b="-197973"/>
              </a:stretch>
            </a:blipFill>
          </p:spPr>
          <p:txBody>
            <a:bodyPr/>
            <a:p/>
          </p:txBody>
        </p:sp>
      </p:grpSp>
      <p:grpSp>
        <p:nvGrpSpPr>
          <p:cNvPr name="Group 22" id="22"/>
          <p:cNvGrpSpPr/>
          <p:nvPr/>
        </p:nvGrpSpPr>
        <p:grpSpPr>
          <a:xfrm rot="0">
            <a:off x="15211044" y="685800"/>
            <a:ext cx="2276856" cy="462248"/>
            <a:chOff x="0" y="0"/>
            <a:chExt cx="3035808" cy="616331"/>
          </a:xfrm>
        </p:grpSpPr>
        <p:sp>
          <p:nvSpPr>
            <p:cNvPr name="Freeform 23" id="23"/>
            <p:cNvSpPr/>
            <p:nvPr/>
          </p:nvSpPr>
          <p:spPr>
            <a:xfrm flipH="false" flipV="false" rot="0">
              <a:off x="0" y="0"/>
              <a:ext cx="3035808" cy="616331"/>
            </a:xfrm>
            <a:custGeom>
              <a:avLst/>
              <a:gdLst/>
              <a:ahLst/>
              <a:cxnLst/>
              <a:rect r="r" b="b" t="t" l="l"/>
              <a:pathLst>
                <a:path h="616331" w="3035808">
                  <a:moveTo>
                    <a:pt x="0" y="308166"/>
                  </a:moveTo>
                  <a:cubicBezTo>
                    <a:pt x="0" y="137914"/>
                    <a:pt x="110490" y="0"/>
                    <a:pt x="246888" y="0"/>
                  </a:cubicBezTo>
                  <a:lnTo>
                    <a:pt x="2788920" y="0"/>
                  </a:lnTo>
                  <a:cubicBezTo>
                    <a:pt x="2925318" y="0"/>
                    <a:pt x="3035808" y="137914"/>
                    <a:pt x="3035808" y="308166"/>
                  </a:cubicBezTo>
                  <a:cubicBezTo>
                    <a:pt x="3035808" y="478417"/>
                    <a:pt x="2925318" y="616331"/>
                    <a:pt x="2788920" y="616331"/>
                  </a:cubicBezTo>
                  <a:lnTo>
                    <a:pt x="246888" y="616331"/>
                  </a:lnTo>
                  <a:cubicBezTo>
                    <a:pt x="110490" y="616331"/>
                    <a:pt x="0" y="478417"/>
                    <a:pt x="0" y="308166"/>
                  </a:cubicBezTo>
                  <a:close/>
                </a:path>
              </a:pathLst>
            </a:custGeom>
            <a:solidFill>
              <a:srgbClr val="E0F2FE"/>
            </a:solidFill>
          </p:spPr>
          <p:txBody>
            <a:bodyPr/>
            <a:p/>
          </p:txBody>
        </p:sp>
        <p:sp>
          <p:nvSpPr>
            <p:cNvPr name="TextBox 24" id="24"/>
            <p:cNvSpPr txBox="true"/>
            <p:nvPr/>
          </p:nvSpPr>
          <p:spPr>
            <a:xfrm>
              <a:off x="0" y="0"/>
              <a:ext cx="3035808" cy="616331"/>
            </a:xfrm>
            <a:prstGeom prst="rect">
              <a:avLst/>
            </a:prstGeom>
          </p:spPr>
          <p:txBody>
            <a:bodyPr anchor="ctr" rtlCol="false" tIns="50800" lIns="50800" bIns="50800" rIns="50800"/>
            <a:lstStyle/>
            <a:p>
              <a:pPr algn="ctr">
                <a:lnSpc>
                  <a:spcPts val="1350"/>
                </a:lnSpc>
              </a:pPr>
              <a:r>
                <a:rPr lang="en-US" sz="1125" b="true">
                  <a:solidFill>
                    <a:srgbClr val="0369A1"/>
                  </a:solidFill>
                  <a:latin typeface="DM Sans Bold"/>
                  <a:ea typeface="DM Sans Bold"/>
                  <a:cs typeface="DM Sans Bold"/>
                  <a:sym typeface="DM Sans Bold"/>
                </a:rPr>
                <a:t>DECISIONS RECORDED IN OUR PROJECT</a:t>
              </a:r>
            </a:p>
          </p:txBody>
        </p:sp>
      </p:grpSp>
      <p:grpSp>
        <p:nvGrpSpPr>
          <p:cNvPr name="Group 25" id="25"/>
          <p:cNvGrpSpPr/>
          <p:nvPr/>
        </p:nvGrpSpPr>
        <p:grpSpPr>
          <a:xfrm rot="0">
            <a:off x="809244" y="1455068"/>
            <a:ext cx="8119872" cy="5813231"/>
            <a:chOff x="0" y="0"/>
            <a:chExt cx="10826496" cy="7750975"/>
          </a:xfrm>
        </p:grpSpPr>
        <p:sp>
          <p:nvSpPr>
            <p:cNvPr name="Freeform 26" id="26" descr="fig_decision.png"/>
            <p:cNvSpPr/>
            <p:nvPr/>
          </p:nvSpPr>
          <p:spPr>
            <a:xfrm flipH="false" flipV="false" rot="0">
              <a:off x="0" y="0"/>
              <a:ext cx="10826496" cy="7750937"/>
            </a:xfrm>
            <a:custGeom>
              <a:avLst/>
              <a:gdLst/>
              <a:ahLst/>
              <a:cxnLst/>
              <a:rect r="r" b="b" t="t" l="l"/>
              <a:pathLst>
                <a:path h="7750937" w="10826496">
                  <a:moveTo>
                    <a:pt x="0" y="0"/>
                  </a:moveTo>
                  <a:lnTo>
                    <a:pt x="10826496" y="0"/>
                  </a:lnTo>
                  <a:lnTo>
                    <a:pt x="10826496" y="7750937"/>
                  </a:lnTo>
                  <a:lnTo>
                    <a:pt x="0" y="7750937"/>
                  </a:lnTo>
                  <a:lnTo>
                    <a:pt x="0" y="0"/>
                  </a:lnTo>
                  <a:close/>
                </a:path>
              </a:pathLst>
            </a:custGeom>
            <a:blipFill>
              <a:blip r:embed="rId11"/>
              <a:stretch>
                <a:fillRect l="0" t="0" r="0" b="0"/>
              </a:stretch>
            </a:blipFill>
          </p:spPr>
          <p:txBody>
            <a:bodyPr/>
            <a:p/>
          </p:txBody>
        </p:sp>
      </p:grpSp>
      <p:sp>
        <p:nvSpPr>
          <p:cNvPr name="TextBox 27" id="27"/>
          <p:cNvSpPr txBox="true"/>
          <p:nvPr/>
        </p:nvSpPr>
        <p:spPr>
          <a:xfrm rot="0">
            <a:off x="9715500" y="2349246"/>
            <a:ext cx="7507224" cy="2949854"/>
          </a:xfrm>
          <a:prstGeom prst="rect">
            <a:avLst/>
          </a:prstGeom>
        </p:spPr>
        <p:txBody>
          <a:bodyPr anchor="t" rtlCol="false" tIns="0" lIns="0" bIns="0" rIns="0">
            <a:spAutoFit/>
          </a:bodyPr>
          <a:lstStyle/>
          <a:p>
            <a:pPr algn="l" marL="0" indent="0" lvl="0">
              <a:lnSpc>
                <a:spcPts val="2332"/>
              </a:lnSpc>
              <a:spcBef>
                <a:spcPct val="0"/>
              </a:spcBef>
            </a:pPr>
            <a:r>
              <a:rPr lang="en-US" sz="1800" strike="noStrike" u="none">
                <a:solidFill>
                  <a:srgbClr val="059669"/>
                </a:solidFill>
                <a:latin typeface="DM Sans"/>
                <a:ea typeface="DM Sans"/>
                <a:cs typeface="DM Sans"/>
                <a:sym typeface="DM Sans"/>
              </a:rPr>
              <a:t>▪  Pivot:  We narrowed the idea from a therapy bandage to one question: has the dressing reached its change line?</a:t>
            </a:r>
          </a:p>
          <a:p>
            <a:pPr algn="l" marL="0" indent="0" lvl="0">
              <a:lnSpc>
                <a:spcPts val="2332"/>
              </a:lnSpc>
              <a:spcBef>
                <a:spcPct val="0"/>
              </a:spcBef>
            </a:pPr>
            <a:r>
              <a:rPr lang="en-US" sz="1800" strike="noStrike" u="none">
                <a:solidFill>
                  <a:srgbClr val="059669"/>
                </a:solidFill>
                <a:latin typeface="DM Sans"/>
                <a:ea typeface="DM Sans"/>
                <a:cs typeface="DM Sans"/>
                <a:sym typeface="DM Sans"/>
              </a:rPr>
              <a:t>▪  Choice:  two zones (score 4.36) beat one zone (4.29), because only two zones give the order check (centre before change line) that flags leaks.</a:t>
            </a:r>
          </a:p>
          <a:p>
            <a:pPr algn="l" marL="0" indent="0" lvl="0">
              <a:lnSpc>
                <a:spcPts val="2332"/>
              </a:lnSpc>
              <a:spcBef>
                <a:spcPct val="0"/>
              </a:spcBef>
            </a:pPr>
            <a:r>
              <a:rPr lang="en-US" sz="1800" strike="noStrike" u="none">
                <a:solidFill>
                  <a:srgbClr val="059669"/>
                </a:solidFill>
                <a:latin typeface="DM Sans"/>
                <a:ea typeface="DM Sans"/>
                <a:cs typeface="DM Sans"/>
                <a:sym typeface="DM Sans"/>
              </a:rPr>
              <a:t>▪  Kept:  We kept Bluetooth as a local status broadcast. It compiles; hardware testing is pending.</a:t>
            </a:r>
          </a:p>
          <a:p>
            <a:pPr algn="l" marL="0" indent="0" lvl="0">
              <a:lnSpc>
                <a:spcPts val="2332"/>
              </a:lnSpc>
              <a:spcBef>
                <a:spcPct val="0"/>
              </a:spcBef>
            </a:pPr>
            <a:r>
              <a:rPr lang="en-US" sz="1800" strike="noStrike" u="none">
                <a:solidFill>
                  <a:srgbClr val="059669"/>
                </a:solidFill>
                <a:latin typeface="DM Sans"/>
                <a:ea typeface="DM Sans"/>
                <a:cs typeface="DM Sans"/>
                <a:sym typeface="DM Sans"/>
              </a:rPr>
              <a:t>▪  Corrected:  We corrected the Stage 1 description of Kapton: DuPont cautions against calling it medical-grade [11].</a:t>
            </a:r>
          </a:p>
          <a:p>
            <a:pPr algn="l" marL="0" indent="0" lvl="0">
              <a:lnSpc>
                <a:spcPts val="2332"/>
              </a:lnSpc>
              <a:spcBef>
                <a:spcPct val="0"/>
              </a:spcBef>
            </a:pPr>
            <a:r>
              <a:rPr lang="en-US" sz="1800" strike="noStrike" u="none">
                <a:solidFill>
                  <a:srgbClr val="059669"/>
                </a:solidFill>
                <a:latin typeface="DM Sans"/>
                <a:ea typeface="DM Sans"/>
                <a:cs typeface="DM Sans"/>
                <a:sym typeface="DM Sans"/>
              </a:rPr>
              <a:t>▪  Redesign:  To address the FMEA risk, version 0.2 loops each sensing lead.</a:t>
            </a:r>
          </a:p>
        </p:txBody>
      </p:sp>
    </p:spTree>
  </p:cSld>
  <p:clrMapOvr>
    <a:masterClrMapping/>
  </p:clrMapOvr>
</p:sld>
</file>

<file path=ppt/slides/slide14.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0"/>
            <a:ext cx="18288000" cy="10287000"/>
            <a:chOff x="0" y="0"/>
            <a:chExt cx="24384000" cy="13716000"/>
          </a:xfrm>
        </p:grpSpPr>
        <p:sp>
          <p:nvSpPr>
            <p:cNvPr name="Freeform 3" id="3" descr="image.png"/>
            <p:cNvSpPr/>
            <p:nvPr/>
          </p:nvSpPr>
          <p:spPr>
            <a:xfrm flipH="false" flipV="false" rot="0">
              <a:off x="0" y="0"/>
              <a:ext cx="24384000" cy="13716000"/>
            </a:xfrm>
            <a:custGeom>
              <a:avLst/>
              <a:gdLst/>
              <a:ahLst/>
              <a:cxnLst/>
              <a:rect r="r" b="b" t="t" l="l"/>
              <a:pathLst>
                <a:path h="13716000" w="24384000">
                  <a:moveTo>
                    <a:pt x="0" y="0"/>
                  </a:moveTo>
                  <a:lnTo>
                    <a:pt x="24384000" y="0"/>
                  </a:lnTo>
                  <a:lnTo>
                    <a:pt x="24384000" y="13716000"/>
                  </a:lnTo>
                  <a:lnTo>
                    <a:pt x="0" y="13716000"/>
                  </a:lnTo>
                  <a:lnTo>
                    <a:pt x="0" y="0"/>
                  </a:lnTo>
                  <a:close/>
                </a:path>
              </a:pathLst>
            </a:custGeom>
            <a:blipFill>
              <a:blip r:embed="rId3"/>
              <a:stretch>
                <a:fillRect l="0" t="0" r="0" b="0"/>
              </a:stretch>
            </a:blipFill>
          </p:spPr>
          <p:txBody>
            <a:bodyPr/>
            <a:p/>
          </p:txBody>
        </p:sp>
      </p:grpSp>
      <p:grpSp>
        <p:nvGrpSpPr>
          <p:cNvPr name="Group 4" id="4"/>
          <p:cNvGrpSpPr/>
          <p:nvPr/>
        </p:nvGrpSpPr>
        <p:grpSpPr>
          <a:xfrm rot="0">
            <a:off x="800100" y="1434332"/>
            <a:ext cx="16687800" cy="4210050"/>
            <a:chOff x="0" y="0"/>
            <a:chExt cx="22250400" cy="5613400"/>
          </a:xfrm>
        </p:grpSpPr>
        <p:sp>
          <p:nvSpPr>
            <p:cNvPr name="Freeform 5" id="5" descr="image.png"/>
            <p:cNvSpPr/>
            <p:nvPr/>
          </p:nvSpPr>
          <p:spPr>
            <a:xfrm flipH="false" flipV="false" rot="0">
              <a:off x="0" y="0"/>
              <a:ext cx="22250400" cy="5613400"/>
            </a:xfrm>
            <a:custGeom>
              <a:avLst/>
              <a:gdLst/>
              <a:ahLst/>
              <a:cxnLst/>
              <a:rect r="r" b="b" t="t" l="l"/>
              <a:pathLst>
                <a:path h="5613400" w="22250400">
                  <a:moveTo>
                    <a:pt x="0" y="0"/>
                  </a:moveTo>
                  <a:lnTo>
                    <a:pt x="22250400" y="0"/>
                  </a:lnTo>
                  <a:lnTo>
                    <a:pt x="22250400" y="5613400"/>
                  </a:lnTo>
                  <a:lnTo>
                    <a:pt x="0" y="5613400"/>
                  </a:lnTo>
                  <a:lnTo>
                    <a:pt x="0" y="0"/>
                  </a:lnTo>
                  <a:close/>
                </a:path>
              </a:pathLst>
            </a:custGeom>
            <a:blipFill>
              <a:blip r:embed="rId4"/>
              <a:stretch>
                <a:fillRect l="0" t="0" r="-45155" b="0"/>
              </a:stretch>
            </a:blipFill>
          </p:spPr>
          <p:txBody>
            <a:bodyPr/>
            <a:p/>
          </p:txBody>
        </p:sp>
      </p:grpSp>
      <p:grpSp>
        <p:nvGrpSpPr>
          <p:cNvPr name="Group 6" id="6"/>
          <p:cNvGrpSpPr/>
          <p:nvPr/>
        </p:nvGrpSpPr>
        <p:grpSpPr>
          <a:xfrm rot="0">
            <a:off x="800100" y="5774817"/>
            <a:ext cx="8143875" cy="3552825"/>
            <a:chOff x="0" y="0"/>
            <a:chExt cx="10858500" cy="4737100"/>
          </a:xfrm>
        </p:grpSpPr>
        <p:sp>
          <p:nvSpPr>
            <p:cNvPr name="Freeform 7" id="7" descr="image.png"/>
            <p:cNvSpPr/>
            <p:nvPr/>
          </p:nvSpPr>
          <p:spPr>
            <a:xfrm flipH="false" flipV="false" rot="0">
              <a:off x="0" y="0"/>
              <a:ext cx="10858500" cy="4737100"/>
            </a:xfrm>
            <a:custGeom>
              <a:avLst/>
              <a:gdLst/>
              <a:ahLst/>
              <a:cxnLst/>
              <a:rect r="r" b="b" t="t" l="l"/>
              <a:pathLst>
                <a:path h="4737100" w="10858500">
                  <a:moveTo>
                    <a:pt x="0" y="0"/>
                  </a:moveTo>
                  <a:lnTo>
                    <a:pt x="10858500" y="0"/>
                  </a:lnTo>
                  <a:lnTo>
                    <a:pt x="10858500" y="4737100"/>
                  </a:lnTo>
                  <a:lnTo>
                    <a:pt x="0" y="4737100"/>
                  </a:lnTo>
                  <a:lnTo>
                    <a:pt x="0" y="0"/>
                  </a:lnTo>
                  <a:close/>
                </a:path>
              </a:pathLst>
            </a:custGeom>
            <a:blipFill>
              <a:blip r:embed="rId5"/>
              <a:stretch>
                <a:fillRect l="0" t="0" r="0" b="-43967"/>
              </a:stretch>
            </a:blipFill>
          </p:spPr>
          <p:txBody>
            <a:bodyPr/>
            <a:p/>
          </p:txBody>
        </p:sp>
      </p:grpSp>
      <p:grpSp>
        <p:nvGrpSpPr>
          <p:cNvPr name="Group 8" id="8"/>
          <p:cNvGrpSpPr/>
          <p:nvPr/>
        </p:nvGrpSpPr>
        <p:grpSpPr>
          <a:xfrm rot="0">
            <a:off x="9344025" y="5774817"/>
            <a:ext cx="8143875" cy="3552825"/>
            <a:chOff x="0" y="0"/>
            <a:chExt cx="10858500" cy="4737100"/>
          </a:xfrm>
        </p:grpSpPr>
        <p:sp>
          <p:nvSpPr>
            <p:cNvPr name="Freeform 9" id="9" descr="image.png"/>
            <p:cNvSpPr/>
            <p:nvPr/>
          </p:nvSpPr>
          <p:spPr>
            <a:xfrm flipH="false" flipV="false" rot="0">
              <a:off x="0" y="0"/>
              <a:ext cx="10858500" cy="4737100"/>
            </a:xfrm>
            <a:custGeom>
              <a:avLst/>
              <a:gdLst/>
              <a:ahLst/>
              <a:cxnLst/>
              <a:rect r="r" b="b" t="t" l="l"/>
              <a:pathLst>
                <a:path h="4737100" w="10858500">
                  <a:moveTo>
                    <a:pt x="0" y="0"/>
                  </a:moveTo>
                  <a:lnTo>
                    <a:pt x="10858500" y="0"/>
                  </a:lnTo>
                  <a:lnTo>
                    <a:pt x="10858500" y="4737100"/>
                  </a:lnTo>
                  <a:lnTo>
                    <a:pt x="0" y="4737100"/>
                  </a:lnTo>
                  <a:lnTo>
                    <a:pt x="0" y="0"/>
                  </a:lnTo>
                  <a:close/>
                </a:path>
              </a:pathLst>
            </a:custGeom>
            <a:blipFill>
              <a:blip r:embed="rId6"/>
              <a:stretch>
                <a:fillRect l="0" t="0" r="0" b="-43967"/>
              </a:stretch>
            </a:blipFill>
          </p:spPr>
          <p:txBody>
            <a:bodyPr/>
            <a:p/>
          </p:txBody>
        </p:sp>
      </p:grpSp>
      <p:grpSp>
        <p:nvGrpSpPr>
          <p:cNvPr name="Group 10" id="10"/>
          <p:cNvGrpSpPr/>
          <p:nvPr/>
        </p:nvGrpSpPr>
        <p:grpSpPr>
          <a:xfrm rot="0">
            <a:off x="800100" y="657225"/>
            <a:ext cx="12893040" cy="462782"/>
            <a:chOff x="0" y="0"/>
            <a:chExt cx="17190720" cy="617042"/>
          </a:xfrm>
        </p:grpSpPr>
        <p:sp>
          <p:nvSpPr>
            <p:cNvPr name="Freeform 11" id="11"/>
            <p:cNvSpPr/>
            <p:nvPr/>
          </p:nvSpPr>
          <p:spPr>
            <a:xfrm flipH="false" flipV="false" rot="0">
              <a:off x="0" y="0"/>
              <a:ext cx="17190720" cy="617040"/>
            </a:xfrm>
            <a:custGeom>
              <a:avLst/>
              <a:gdLst/>
              <a:ahLst/>
              <a:cxnLst/>
              <a:rect r="r" b="b" t="t" l="l"/>
              <a:pathLst>
                <a:path h="617040" w="17190720">
                  <a:moveTo>
                    <a:pt x="0" y="0"/>
                  </a:moveTo>
                  <a:lnTo>
                    <a:pt x="17190720" y="0"/>
                  </a:lnTo>
                  <a:lnTo>
                    <a:pt x="17190720" y="617040"/>
                  </a:lnTo>
                  <a:lnTo>
                    <a:pt x="0" y="617040"/>
                  </a:lnTo>
                  <a:close/>
                </a:path>
              </a:pathLst>
            </a:custGeom>
            <a:blipFill>
              <a:blip r:embed="rId7">
                <a:alphaModFix amt="0"/>
              </a:blip>
              <a:stretch>
                <a:fillRect l="0" t="-492852" r="0" b="-492852"/>
              </a:stretch>
            </a:blipFill>
          </p:spPr>
          <p:txBody>
            <a:bodyPr/>
            <a:p/>
          </p:txBody>
        </p:sp>
        <p:sp>
          <p:nvSpPr>
            <p:cNvPr name="TextBox 12" id="12"/>
            <p:cNvSpPr txBox="true"/>
            <p:nvPr/>
          </p:nvSpPr>
          <p:spPr>
            <a:xfrm>
              <a:off x="0" y="-104775"/>
              <a:ext cx="17190720" cy="721817"/>
            </a:xfrm>
            <a:prstGeom prst="rect">
              <a:avLst/>
            </a:prstGeom>
          </p:spPr>
          <p:txBody>
            <a:bodyPr anchor="ctr" rtlCol="false" tIns="0" lIns="0" bIns="0" rIns="0"/>
            <a:lstStyle/>
            <a:p>
              <a:pPr algn="l">
                <a:lnSpc>
                  <a:spcPts val="4372"/>
                </a:lnSpc>
              </a:pPr>
              <a:r>
                <a:rPr lang="en-US" sz="3037">
                  <a:solidFill>
                    <a:srgbClr val="0F172A"/>
                  </a:solidFill>
                  <a:latin typeface="Poppins"/>
                  <a:ea typeface="Poppins"/>
                  <a:cs typeface="Poppins"/>
                  <a:sym typeface="Poppins"/>
                </a:rPr>
                <a:t>Safety &amp; Hazard Mitigation</a:t>
              </a:r>
            </a:p>
          </p:txBody>
        </p:sp>
      </p:grpSp>
      <p:grpSp>
        <p:nvGrpSpPr>
          <p:cNvPr name="Group 13" id="13"/>
          <p:cNvGrpSpPr/>
          <p:nvPr/>
        </p:nvGrpSpPr>
        <p:grpSpPr>
          <a:xfrm rot="0">
            <a:off x="1128712" y="1762944"/>
            <a:ext cx="231505" cy="228600"/>
            <a:chOff x="0" y="0"/>
            <a:chExt cx="308674" cy="304800"/>
          </a:xfrm>
        </p:grpSpPr>
        <p:sp>
          <p:nvSpPr>
            <p:cNvPr name="Freeform 14" id="14" descr="image.png"/>
            <p:cNvSpPr/>
            <p:nvPr/>
          </p:nvSpPr>
          <p:spPr>
            <a:xfrm flipH="false" flipV="false" rot="0">
              <a:off x="0" y="0"/>
              <a:ext cx="308610" cy="304800"/>
            </a:xfrm>
            <a:custGeom>
              <a:avLst/>
              <a:gdLst/>
              <a:ahLst/>
              <a:cxnLst/>
              <a:rect r="r" b="b" t="t" l="l"/>
              <a:pathLst>
                <a:path h="304800" w="308610">
                  <a:moveTo>
                    <a:pt x="0" y="0"/>
                  </a:moveTo>
                  <a:lnTo>
                    <a:pt x="308610" y="0"/>
                  </a:lnTo>
                  <a:lnTo>
                    <a:pt x="308610" y="304800"/>
                  </a:lnTo>
                  <a:lnTo>
                    <a:pt x="0" y="304800"/>
                  </a:lnTo>
                  <a:lnTo>
                    <a:pt x="0" y="0"/>
                  </a:lnTo>
                  <a:close/>
                </a:path>
              </a:pathLst>
            </a:custGeom>
            <a:blipFill>
              <a:blip r:embed="rId8"/>
              <a:stretch>
                <a:fillRect l="0" t="0" r="-20" b="-1270"/>
              </a:stretch>
            </a:blipFill>
          </p:spPr>
          <p:txBody>
            <a:bodyPr/>
            <a:p/>
          </p:txBody>
        </p:sp>
      </p:grpSp>
      <p:sp>
        <p:nvSpPr>
          <p:cNvPr name="TextBox 15" id="15"/>
          <p:cNvSpPr txBox="true"/>
          <p:nvPr/>
        </p:nvSpPr>
        <p:spPr>
          <a:xfrm rot="0">
            <a:off x="1503093" y="1743894"/>
            <a:ext cx="10424160" cy="247650"/>
          </a:xfrm>
          <a:prstGeom prst="rect">
            <a:avLst/>
          </a:prstGeom>
        </p:spPr>
        <p:txBody>
          <a:bodyPr anchor="t" rtlCol="false" tIns="0" lIns="0" bIns="0" rIns="0">
            <a:spAutoFit/>
          </a:bodyPr>
          <a:lstStyle/>
          <a:p>
            <a:pPr algn="l">
              <a:lnSpc>
                <a:spcPts val="2070"/>
              </a:lnSpc>
            </a:pPr>
            <a:r>
              <a:rPr lang="en-US" b="true" sz="1725">
                <a:solidFill>
                  <a:srgbClr val="0F172A"/>
                </a:solidFill>
                <a:latin typeface="DM Sans Bold"/>
                <a:ea typeface="DM Sans Bold"/>
                <a:cs typeface="DM Sans Bold"/>
                <a:sym typeface="DM Sans Bold"/>
              </a:rPr>
              <a:t>We ranked 15 possible failure modes before testing. These are the five highest estimated risks.</a:t>
            </a:r>
          </a:p>
        </p:txBody>
      </p:sp>
      <p:grpSp>
        <p:nvGrpSpPr>
          <p:cNvPr name="Group 16" id="16"/>
          <p:cNvGrpSpPr/>
          <p:nvPr/>
        </p:nvGrpSpPr>
        <p:grpSpPr>
          <a:xfrm rot="0">
            <a:off x="1128712" y="6104001"/>
            <a:ext cx="231505" cy="228600"/>
            <a:chOff x="0" y="0"/>
            <a:chExt cx="308674" cy="304800"/>
          </a:xfrm>
        </p:grpSpPr>
        <p:sp>
          <p:nvSpPr>
            <p:cNvPr name="Freeform 17" id="17" descr="image.png"/>
            <p:cNvSpPr/>
            <p:nvPr/>
          </p:nvSpPr>
          <p:spPr>
            <a:xfrm flipH="false" flipV="false" rot="0">
              <a:off x="0" y="0"/>
              <a:ext cx="308610" cy="304800"/>
            </a:xfrm>
            <a:custGeom>
              <a:avLst/>
              <a:gdLst/>
              <a:ahLst/>
              <a:cxnLst/>
              <a:rect r="r" b="b" t="t" l="l"/>
              <a:pathLst>
                <a:path h="304800" w="308610">
                  <a:moveTo>
                    <a:pt x="0" y="0"/>
                  </a:moveTo>
                  <a:lnTo>
                    <a:pt x="308610" y="0"/>
                  </a:lnTo>
                  <a:lnTo>
                    <a:pt x="308610" y="304800"/>
                  </a:lnTo>
                  <a:lnTo>
                    <a:pt x="0" y="304800"/>
                  </a:lnTo>
                  <a:lnTo>
                    <a:pt x="0" y="0"/>
                  </a:lnTo>
                  <a:close/>
                </a:path>
              </a:pathLst>
            </a:custGeom>
            <a:blipFill>
              <a:blip r:embed="rId9"/>
              <a:stretch>
                <a:fillRect l="0" t="0" r="-20" b="-1270"/>
              </a:stretch>
            </a:blipFill>
          </p:spPr>
          <p:txBody>
            <a:bodyPr/>
            <a:p/>
          </p:txBody>
        </p:sp>
      </p:grpSp>
      <p:sp>
        <p:nvSpPr>
          <p:cNvPr name="TextBox 18" id="18"/>
          <p:cNvSpPr txBox="true"/>
          <p:nvPr/>
        </p:nvSpPr>
        <p:spPr>
          <a:xfrm rot="0">
            <a:off x="1503093" y="6072378"/>
            <a:ext cx="7269480" cy="276225"/>
          </a:xfrm>
          <a:prstGeom prst="rect">
            <a:avLst/>
          </a:prstGeom>
        </p:spPr>
        <p:txBody>
          <a:bodyPr anchor="t" rtlCol="false" tIns="0" lIns="0" bIns="0" rIns="0">
            <a:spAutoFit/>
          </a:bodyPr>
          <a:lstStyle/>
          <a:p>
            <a:pPr algn="l">
              <a:lnSpc>
                <a:spcPts val="2070"/>
              </a:lnSpc>
            </a:pPr>
            <a:r>
              <a:rPr lang="en-US" b="true" sz="1725">
                <a:solidFill>
                  <a:srgbClr val="0F172A"/>
                </a:solidFill>
                <a:latin typeface="DM Sans Bold"/>
                <a:ea typeface="DM Sans Bold"/>
                <a:cs typeface="DM Sans Bold"/>
                <a:sym typeface="DM Sans Bold"/>
              </a:rPr>
              <a:t>Fail-safes</a:t>
            </a:r>
          </a:p>
        </p:txBody>
      </p:sp>
      <p:grpSp>
        <p:nvGrpSpPr>
          <p:cNvPr name="Group 19" id="19"/>
          <p:cNvGrpSpPr/>
          <p:nvPr/>
        </p:nvGrpSpPr>
        <p:grpSpPr>
          <a:xfrm rot="0">
            <a:off x="9672638" y="6104001"/>
            <a:ext cx="202930" cy="228600"/>
            <a:chOff x="0" y="0"/>
            <a:chExt cx="270574" cy="304800"/>
          </a:xfrm>
        </p:grpSpPr>
        <p:sp>
          <p:nvSpPr>
            <p:cNvPr name="Freeform 20" id="20" descr="image.png"/>
            <p:cNvSpPr/>
            <p:nvPr/>
          </p:nvSpPr>
          <p:spPr>
            <a:xfrm flipH="false" flipV="false" rot="0">
              <a:off x="0" y="0"/>
              <a:ext cx="270510" cy="304800"/>
            </a:xfrm>
            <a:custGeom>
              <a:avLst/>
              <a:gdLst/>
              <a:ahLst/>
              <a:cxnLst/>
              <a:rect r="r" b="b" t="t" l="l"/>
              <a:pathLst>
                <a:path h="304800" w="270510">
                  <a:moveTo>
                    <a:pt x="0" y="0"/>
                  </a:moveTo>
                  <a:lnTo>
                    <a:pt x="270510" y="0"/>
                  </a:lnTo>
                  <a:lnTo>
                    <a:pt x="270510" y="304800"/>
                  </a:lnTo>
                  <a:lnTo>
                    <a:pt x="0" y="304800"/>
                  </a:lnTo>
                  <a:lnTo>
                    <a:pt x="0" y="0"/>
                  </a:lnTo>
                  <a:close/>
                </a:path>
              </a:pathLst>
            </a:custGeom>
            <a:blipFill>
              <a:blip r:embed="rId10"/>
              <a:stretch>
                <a:fillRect l="0" t="0" r="-23" b="-604"/>
              </a:stretch>
            </a:blipFill>
          </p:spPr>
          <p:txBody>
            <a:bodyPr/>
            <a:p/>
          </p:txBody>
        </p:sp>
      </p:grpSp>
      <p:sp>
        <p:nvSpPr>
          <p:cNvPr name="TextBox 21" id="21"/>
          <p:cNvSpPr txBox="true"/>
          <p:nvPr/>
        </p:nvSpPr>
        <p:spPr>
          <a:xfrm rot="0">
            <a:off x="10018443" y="6072378"/>
            <a:ext cx="7269480" cy="276225"/>
          </a:xfrm>
          <a:prstGeom prst="rect">
            <a:avLst/>
          </a:prstGeom>
        </p:spPr>
        <p:txBody>
          <a:bodyPr anchor="t" rtlCol="false" tIns="0" lIns="0" bIns="0" rIns="0">
            <a:spAutoFit/>
          </a:bodyPr>
          <a:lstStyle/>
          <a:p>
            <a:pPr algn="l">
              <a:lnSpc>
                <a:spcPts val="2070"/>
              </a:lnSpc>
            </a:pPr>
            <a:r>
              <a:rPr lang="en-US" b="true" sz="1725">
                <a:solidFill>
                  <a:srgbClr val="0F172A"/>
                </a:solidFill>
                <a:latin typeface="DM Sans Bold"/>
                <a:ea typeface="DM Sans Bold"/>
                <a:cs typeface="DM Sans Bold"/>
                <a:sym typeface="DM Sans Bold"/>
              </a:rPr>
              <a:t>Standards (considered, not claimed)</a:t>
            </a:r>
          </a:p>
        </p:txBody>
      </p:sp>
      <p:grpSp>
        <p:nvGrpSpPr>
          <p:cNvPr name="Group 22" id="22"/>
          <p:cNvGrpSpPr/>
          <p:nvPr/>
        </p:nvGrpSpPr>
        <p:grpSpPr>
          <a:xfrm rot="0">
            <a:off x="16642794" y="9421197"/>
            <a:ext cx="1645206" cy="865803"/>
            <a:chOff x="0" y="0"/>
            <a:chExt cx="2193608" cy="1154405"/>
          </a:xfrm>
        </p:grpSpPr>
        <p:sp>
          <p:nvSpPr>
            <p:cNvPr name="Freeform 23" id="23"/>
            <p:cNvSpPr/>
            <p:nvPr/>
          </p:nvSpPr>
          <p:spPr>
            <a:xfrm flipH="false" flipV="false" rot="0">
              <a:off x="0" y="0"/>
              <a:ext cx="2193671" cy="1154430"/>
            </a:xfrm>
            <a:custGeom>
              <a:avLst/>
              <a:gdLst/>
              <a:ahLst/>
              <a:cxnLst/>
              <a:rect r="r" b="b" t="t" l="l"/>
              <a:pathLst>
                <a:path h="1154430" w="2193671">
                  <a:moveTo>
                    <a:pt x="0" y="0"/>
                  </a:moveTo>
                  <a:lnTo>
                    <a:pt x="2193671" y="0"/>
                  </a:lnTo>
                  <a:lnTo>
                    <a:pt x="2193671" y="1154430"/>
                  </a:lnTo>
                  <a:lnTo>
                    <a:pt x="0" y="1154430"/>
                  </a:lnTo>
                  <a:lnTo>
                    <a:pt x="0" y="0"/>
                  </a:lnTo>
                  <a:close/>
                </a:path>
              </a:pathLst>
            </a:custGeom>
            <a:blipFill>
              <a:blip r:embed="rId11"/>
              <a:stretch>
                <a:fillRect l="0" t="0" r="2" b="2"/>
              </a:stretch>
            </a:blipFill>
          </p:spPr>
          <p:txBody>
            <a:bodyPr/>
            <a:p/>
          </p:txBody>
        </p:sp>
      </p:grpSp>
      <p:grpSp>
        <p:nvGrpSpPr>
          <p:cNvPr name="Group 24" id="24"/>
          <p:cNvGrpSpPr/>
          <p:nvPr/>
        </p:nvGrpSpPr>
        <p:grpSpPr>
          <a:xfrm rot="0">
            <a:off x="0" y="9421197"/>
            <a:ext cx="2679421" cy="865803"/>
            <a:chOff x="0" y="0"/>
            <a:chExt cx="3572561" cy="1154405"/>
          </a:xfrm>
        </p:grpSpPr>
        <p:sp>
          <p:nvSpPr>
            <p:cNvPr name="Freeform 25" id="25"/>
            <p:cNvSpPr/>
            <p:nvPr/>
          </p:nvSpPr>
          <p:spPr>
            <a:xfrm flipH="false" flipV="false" rot="0">
              <a:off x="0" y="0"/>
              <a:ext cx="3572510" cy="1154430"/>
            </a:xfrm>
            <a:custGeom>
              <a:avLst/>
              <a:gdLst/>
              <a:ahLst/>
              <a:cxnLst/>
              <a:rect r="r" b="b" t="t" l="l"/>
              <a:pathLst>
                <a:path h="1154430" w="3572510">
                  <a:moveTo>
                    <a:pt x="0" y="0"/>
                  </a:moveTo>
                  <a:lnTo>
                    <a:pt x="3572510" y="0"/>
                  </a:lnTo>
                  <a:lnTo>
                    <a:pt x="3572510" y="1154430"/>
                  </a:lnTo>
                  <a:lnTo>
                    <a:pt x="0" y="1154430"/>
                  </a:lnTo>
                  <a:lnTo>
                    <a:pt x="0" y="0"/>
                  </a:lnTo>
                  <a:close/>
                </a:path>
              </a:pathLst>
            </a:custGeom>
            <a:blipFill>
              <a:blip r:embed="rId12"/>
              <a:stretch>
                <a:fillRect l="-21110" t="-147255" r="-22761" b="-197973"/>
              </a:stretch>
            </a:blipFill>
          </p:spPr>
          <p:txBody>
            <a:bodyPr/>
            <a:p/>
          </p:txBody>
        </p:sp>
      </p:grpSp>
      <p:grpSp>
        <p:nvGrpSpPr>
          <p:cNvPr name="Group 26" id="26"/>
          <p:cNvGrpSpPr/>
          <p:nvPr/>
        </p:nvGrpSpPr>
        <p:grpSpPr>
          <a:xfrm rot="0">
            <a:off x="14185087" y="685800"/>
            <a:ext cx="3302813" cy="370332"/>
            <a:chOff x="0" y="0"/>
            <a:chExt cx="4403750" cy="493776"/>
          </a:xfrm>
        </p:grpSpPr>
        <p:sp>
          <p:nvSpPr>
            <p:cNvPr name="Freeform 27" id="27"/>
            <p:cNvSpPr/>
            <p:nvPr/>
          </p:nvSpPr>
          <p:spPr>
            <a:xfrm flipH="false" flipV="false" rot="0">
              <a:off x="0" y="0"/>
              <a:ext cx="4403725" cy="493776"/>
            </a:xfrm>
            <a:custGeom>
              <a:avLst/>
              <a:gdLst/>
              <a:ahLst/>
              <a:cxnLst/>
              <a:rect r="r" b="b" t="t" l="l"/>
              <a:pathLst>
                <a:path h="493776" w="4403725">
                  <a:moveTo>
                    <a:pt x="0" y="246888"/>
                  </a:moveTo>
                  <a:cubicBezTo>
                    <a:pt x="0" y="110490"/>
                    <a:pt x="110490" y="0"/>
                    <a:pt x="246888" y="0"/>
                  </a:cubicBezTo>
                  <a:lnTo>
                    <a:pt x="4156837" y="0"/>
                  </a:lnTo>
                  <a:cubicBezTo>
                    <a:pt x="4293235" y="0"/>
                    <a:pt x="4403725" y="110490"/>
                    <a:pt x="4403725" y="246888"/>
                  </a:cubicBezTo>
                  <a:cubicBezTo>
                    <a:pt x="4403725" y="383286"/>
                    <a:pt x="4293235" y="493776"/>
                    <a:pt x="4156837" y="493776"/>
                  </a:cubicBezTo>
                  <a:lnTo>
                    <a:pt x="246888" y="493776"/>
                  </a:lnTo>
                  <a:cubicBezTo>
                    <a:pt x="110490" y="493776"/>
                    <a:pt x="0" y="383286"/>
                    <a:pt x="0" y="246888"/>
                  </a:cubicBezTo>
                  <a:close/>
                </a:path>
              </a:pathLst>
            </a:custGeom>
            <a:solidFill>
              <a:srgbClr val="FEF3C7"/>
            </a:solidFill>
          </p:spPr>
          <p:txBody>
            <a:bodyPr/>
            <a:p/>
          </p:txBody>
        </p:sp>
        <p:sp>
          <p:nvSpPr>
            <p:cNvPr name="TextBox 28" id="28"/>
            <p:cNvSpPr txBox="true"/>
            <p:nvPr/>
          </p:nvSpPr>
          <p:spPr>
            <a:xfrm>
              <a:off x="0" y="0"/>
              <a:ext cx="4403750" cy="493776"/>
            </a:xfrm>
            <a:prstGeom prst="rect">
              <a:avLst/>
            </a:prstGeom>
          </p:spPr>
          <p:txBody>
            <a:bodyPr anchor="ctr" rtlCol="false" tIns="50800" lIns="50800" bIns="50800" rIns="50800"/>
            <a:lstStyle/>
            <a:p>
              <a:pPr algn="ctr">
                <a:lnSpc>
                  <a:spcPts val="1350"/>
                </a:lnSpc>
              </a:pPr>
              <a:r>
                <a:rPr lang="en-US" sz="1125" b="true">
                  <a:solidFill>
                    <a:srgbClr val="B45309"/>
                  </a:solidFill>
                  <a:latin typeface="DM Sans Bold"/>
                  <a:ea typeface="DM Sans Bold"/>
                  <a:cs typeface="DM Sans Bold"/>
                  <a:sym typeface="DM Sans Bold"/>
                </a:rPr>
                <a:t>RISKS ESTIMATED · TESTS PLANNED</a:t>
              </a:r>
            </a:p>
          </p:txBody>
        </p:sp>
      </p:grpSp>
      <p:graphicFrame>
        <p:nvGraphicFramePr>
          <p:cNvPr name="Table 29" id="29"/>
          <p:cNvGraphicFramePr>
            <a:graphicFrameLocks noGrp="true"/>
          </p:cNvGraphicFramePr>
          <p:nvPr/>
        </p:nvGraphicFramePr>
        <p:xfrm>
          <a:off x="1124712" y="2194560"/>
          <a:ext cx="11125200" cy="2743200"/>
        </p:xfrm>
        <a:graphic>
          <a:graphicData uri="http://schemas.openxmlformats.org/drawingml/2006/table">
            <a:tbl>
              <a:tblPr/>
              <a:tblGrid>
                <a:gridCol w="3345113"/>
                <a:gridCol w="2969237"/>
                <a:gridCol w="864334"/>
                <a:gridCol w="3946515"/>
              </a:tblGrid>
              <a:tr h="457200">
                <a:tc>
                  <a:txBody>
                    <a:bodyPr anchor="t" rtlCol="false"/>
                    <a:lstStyle/>
                    <a:p>
                      <a:pPr algn="l">
                        <a:lnSpc>
                          <a:spcPts val="900"/>
                        </a:lnSpc>
                        <a:defRPr/>
                      </a:pPr>
                      <a:r>
                        <a:rPr lang="en-US" sz="1050" b="true">
                          <a:solidFill>
                            <a:srgbClr val="0F172A"/>
                          </a:solidFill>
                          <a:latin typeface="DM Sans Bold"/>
                          <a:ea typeface="DM Sans Bold"/>
                          <a:cs typeface="DM Sans Bold"/>
                          <a:sym typeface="DM Sans Bold"/>
                        </a:rPr>
                        <a:t>Failure mode</a:t>
                      </a:r>
                      <a:endParaRPr lang="en-US" sz="1100"/>
                    </a:p>
                  </a:txBody>
                  <a:tcPr marL="36576" marR="36576" marT="36576" marB="36576" anchor="ctr">
                    <a:lnL cmpd="sng" algn="ctr" cap="flat" w="12700">
                      <a:solidFill>
                        <a:srgbClr val="000000"/>
                      </a:solidFill>
                      <a:prstDash val="solid"/>
                      <a:round/>
                      <a:headEnd type="none" w="med" len="med"/>
                      <a:tailEnd type="none" w="med" len="med"/>
                    </a:lnL>
                    <a:lnR cmpd="sng" algn="ctr" cap="flat" w="12700">
                      <a:solidFill>
                        <a:srgbClr val="000000"/>
                      </a:solidFill>
                      <a:prstDash val="solid"/>
                      <a:round/>
                      <a:headEnd type="none" w="med" len="med"/>
                      <a:tailEnd type="none" w="med" len="med"/>
                    </a:lnR>
                    <a:lnT cmpd="sng" algn="ctr" cap="flat" w="12700">
                      <a:solidFill>
                        <a:srgbClr val="000000"/>
                      </a:solidFill>
                      <a:prstDash val="solid"/>
                      <a:round/>
                      <a:headEnd type="none" w="med" len="med"/>
                      <a:tailEnd type="none" w="med" len="med"/>
                    </a:lnT>
                    <a:lnB cmpd="sng" algn="ctr" cap="flat" w="12700">
                      <a:solidFill>
                        <a:srgbClr val="CBD5E1"/>
                      </a:solidFill>
                      <a:prstDash val="solid"/>
                      <a:round/>
                      <a:headEnd type="none" w="med" len="med"/>
                      <a:tailEnd type="none" w="med" len="med"/>
                    </a:lnB>
                  </a:tcPr>
                </a:tc>
                <a:tc>
                  <a:txBody>
                    <a:bodyPr anchor="t" rtlCol="false"/>
                    <a:lstStyle/>
                    <a:p>
                      <a:pPr algn="l">
                        <a:lnSpc>
                          <a:spcPts val="900"/>
                        </a:lnSpc>
                        <a:defRPr/>
                      </a:pPr>
                      <a:r>
                        <a:rPr lang="en-US" sz="1050" b="true">
                          <a:solidFill>
                            <a:srgbClr val="0F172A"/>
                          </a:solidFill>
                          <a:latin typeface="DM Sans Bold"/>
                          <a:ea typeface="DM Sans Bold"/>
                          <a:cs typeface="DM Sans Bold"/>
                          <a:sym typeface="DM Sans Bold"/>
                        </a:rPr>
                        <a:t>Effect</a:t>
                      </a:r>
                      <a:endParaRPr lang="en-US" sz="1100"/>
                    </a:p>
                  </a:txBody>
                  <a:tcPr marL="36576" marR="36576" marT="36576" marB="36576" anchor="ctr">
                    <a:lnL cmpd="sng" algn="ctr" cap="flat" w="12700">
                      <a:solidFill>
                        <a:srgbClr val="000000"/>
                      </a:solidFill>
                      <a:prstDash val="solid"/>
                      <a:round/>
                      <a:headEnd type="none" w="med" len="med"/>
                      <a:tailEnd type="none" w="med" len="med"/>
                    </a:lnL>
                    <a:lnR cmpd="sng" algn="ctr" cap="flat" w="12700">
                      <a:solidFill>
                        <a:srgbClr val="000000"/>
                      </a:solidFill>
                      <a:prstDash val="solid"/>
                      <a:round/>
                      <a:headEnd type="none" w="med" len="med"/>
                      <a:tailEnd type="none" w="med" len="med"/>
                    </a:lnR>
                    <a:lnT cmpd="sng" algn="ctr" cap="flat" w="12700">
                      <a:solidFill>
                        <a:srgbClr val="000000"/>
                      </a:solidFill>
                      <a:prstDash val="solid"/>
                      <a:round/>
                      <a:headEnd type="none" w="med" len="med"/>
                      <a:tailEnd type="none" w="med" len="med"/>
                    </a:lnT>
                    <a:lnB cmpd="sng" algn="ctr" cap="flat" w="12700">
                      <a:solidFill>
                        <a:srgbClr val="CBD5E1"/>
                      </a:solidFill>
                      <a:prstDash val="solid"/>
                      <a:round/>
                      <a:headEnd type="none" w="med" len="med"/>
                      <a:tailEnd type="none" w="med" len="med"/>
                    </a:lnB>
                  </a:tcPr>
                </a:tc>
                <a:tc>
                  <a:txBody>
                    <a:bodyPr anchor="t" rtlCol="false"/>
                    <a:lstStyle/>
                    <a:p>
                      <a:pPr algn="l">
                        <a:lnSpc>
                          <a:spcPts val="900"/>
                        </a:lnSpc>
                        <a:defRPr/>
                      </a:pPr>
                      <a:r>
                        <a:rPr lang="en-US" sz="1050" b="true">
                          <a:solidFill>
                            <a:srgbClr val="0F172A"/>
                          </a:solidFill>
                          <a:latin typeface="DM Sans Bold"/>
                          <a:ea typeface="DM Sans Bold"/>
                          <a:cs typeface="DM Sans Bold"/>
                          <a:sym typeface="DM Sans Bold"/>
                        </a:rPr>
                        <a:t>RPN</a:t>
                      </a:r>
                      <a:endParaRPr lang="en-US" sz="1100"/>
                    </a:p>
                  </a:txBody>
                  <a:tcPr marL="36576" marR="36576" marT="36576" marB="36576" anchor="ctr">
                    <a:lnL cmpd="sng" algn="ctr" cap="flat" w="12700">
                      <a:solidFill>
                        <a:srgbClr val="000000"/>
                      </a:solidFill>
                      <a:prstDash val="solid"/>
                      <a:round/>
                      <a:headEnd type="none" w="med" len="med"/>
                      <a:tailEnd type="none" w="med" len="med"/>
                    </a:lnL>
                    <a:lnR cmpd="sng" algn="ctr" cap="flat" w="12700">
                      <a:solidFill>
                        <a:srgbClr val="000000"/>
                      </a:solidFill>
                      <a:prstDash val="solid"/>
                      <a:round/>
                      <a:headEnd type="none" w="med" len="med"/>
                      <a:tailEnd type="none" w="med" len="med"/>
                    </a:lnR>
                    <a:lnT cmpd="sng" algn="ctr" cap="flat" w="12700">
                      <a:solidFill>
                        <a:srgbClr val="000000"/>
                      </a:solidFill>
                      <a:prstDash val="solid"/>
                      <a:round/>
                      <a:headEnd type="none" w="med" len="med"/>
                      <a:tailEnd type="none" w="med" len="med"/>
                    </a:lnT>
                    <a:lnB cmpd="sng" algn="ctr" cap="flat" w="12700">
                      <a:solidFill>
                        <a:srgbClr val="CBD5E1"/>
                      </a:solidFill>
                      <a:prstDash val="solid"/>
                      <a:round/>
                      <a:headEnd type="none" w="med" len="med"/>
                      <a:tailEnd type="none" w="med" len="med"/>
                    </a:lnB>
                  </a:tcPr>
                </a:tc>
                <a:tc>
                  <a:txBody>
                    <a:bodyPr anchor="t" rtlCol="false"/>
                    <a:lstStyle/>
                    <a:p>
                      <a:pPr algn="l">
                        <a:lnSpc>
                          <a:spcPts val="900"/>
                        </a:lnSpc>
                        <a:defRPr/>
                      </a:pPr>
                      <a:r>
                        <a:rPr lang="en-US" sz="1050" b="true">
                          <a:solidFill>
                            <a:srgbClr val="0F172A"/>
                          </a:solidFill>
                          <a:latin typeface="DM Sans Bold"/>
                          <a:ea typeface="DM Sans Bold"/>
                          <a:cs typeface="DM Sans Bold"/>
                          <a:sym typeface="DM Sans Bold"/>
                        </a:rPr>
                        <a:t>Fix / test</a:t>
                      </a:r>
                      <a:endParaRPr lang="en-US" sz="1100"/>
                    </a:p>
                  </a:txBody>
                  <a:tcPr marL="36576" marR="36576" marT="36576" marB="36576" anchor="ctr">
                    <a:lnL cmpd="sng" algn="ctr" cap="flat" w="12700">
                      <a:solidFill>
                        <a:srgbClr val="000000"/>
                      </a:solidFill>
                      <a:prstDash val="solid"/>
                      <a:round/>
                      <a:headEnd type="none" w="med" len="med"/>
                      <a:tailEnd type="none" w="med" len="med"/>
                    </a:lnL>
                    <a:lnR cmpd="sng" algn="ctr" cap="flat" w="12700">
                      <a:solidFill>
                        <a:srgbClr val="000000"/>
                      </a:solidFill>
                      <a:prstDash val="solid"/>
                      <a:round/>
                      <a:headEnd type="none" w="med" len="med"/>
                      <a:tailEnd type="none" w="med" len="med"/>
                    </a:lnR>
                    <a:lnT cmpd="sng" algn="ctr" cap="flat" w="12700">
                      <a:solidFill>
                        <a:srgbClr val="000000"/>
                      </a:solidFill>
                      <a:prstDash val="solid"/>
                      <a:round/>
                      <a:headEnd type="none" w="med" len="med"/>
                      <a:tailEnd type="none" w="med" len="med"/>
                    </a:lnT>
                    <a:lnB cmpd="sng" algn="ctr" cap="flat" w="12700">
                      <a:solidFill>
                        <a:srgbClr val="CBD5E1"/>
                      </a:solidFill>
                      <a:prstDash val="solid"/>
                      <a:round/>
                      <a:headEnd type="none" w="med" len="med"/>
                      <a:tailEnd type="none" w="med" len="med"/>
                    </a:lnB>
                  </a:tcPr>
                </a:tc>
              </a:tr>
              <a:tr h="457200">
                <a:tc>
                  <a:txBody>
                    <a:bodyPr anchor="t" rtlCol="false"/>
                    <a:lstStyle/>
                    <a:p>
                      <a:pPr algn="l">
                        <a:lnSpc>
                          <a:spcPts val="900"/>
                        </a:lnSpc>
                        <a:defRPr/>
                      </a:pPr>
                      <a:r>
                        <a:rPr lang="en-US" sz="1050" b="true">
                          <a:solidFill>
                            <a:srgbClr val="0F172A"/>
                          </a:solidFill>
                          <a:latin typeface="DM Sans Bold"/>
                          <a:ea typeface="DM Sans Bold"/>
                          <a:cs typeface="DM Sans Bold"/>
                          <a:sym typeface="DM Sans Bold"/>
                        </a:rPr>
                        <a:t>F04 cracked sense lead</a:t>
                      </a:r>
                      <a:endParaRPr lang="en-US" sz="1100"/>
                    </a:p>
                  </a:txBody>
                  <a:tcPr marL="36576" marR="36576" marT="36576" marB="36576" anchor="ctr">
                    <a:lnL cmpd="sng" algn="ctr" cap="flat" w="7620">
                      <a:solidFill>
                        <a:srgbClr val="000000"/>
                      </a:solidFill>
                      <a:prstDash val="solid"/>
                      <a:round/>
                      <a:headEnd type="none" w="med" len="med"/>
                      <a:tailEnd type="none" w="med" len="med"/>
                    </a:lnL>
                    <a:lnR cmpd="sng" algn="ctr" cap="flat" w="7620">
                      <a:solidFill>
                        <a:srgbClr val="000000"/>
                      </a:solidFill>
                      <a:prstDash val="solid"/>
                      <a:round/>
                      <a:headEnd type="none" w="med" len="med"/>
                      <a:tailEnd type="none" w="med" len="med"/>
                    </a:lnR>
                    <a:lnT cmpd="sng" algn="ctr" cap="flat" w="7620">
                      <a:solidFill>
                        <a:srgbClr val="000000"/>
                      </a:solidFill>
                      <a:prstDash val="solid"/>
                      <a:round/>
                      <a:headEnd type="none" w="med" len="med"/>
                      <a:tailEnd type="none" w="med" len="med"/>
                    </a:lnT>
                    <a:lnB cmpd="sng" algn="ctr" cap="flat" w="7620">
                      <a:solidFill>
                        <a:srgbClr val="E2E8F0"/>
                      </a:solidFill>
                      <a:prstDash val="solid"/>
                      <a:round/>
                      <a:headEnd type="none" w="med" len="med"/>
                      <a:tailEnd type="none" w="med" len="med"/>
                    </a:lnB>
                  </a:tcPr>
                </a:tc>
                <a:tc>
                  <a:txBody>
                    <a:bodyPr anchor="t" rtlCol="false"/>
                    <a:lstStyle/>
                    <a:p>
                      <a:pPr algn="l">
                        <a:lnSpc>
                          <a:spcPts val="900"/>
                        </a:lnSpc>
                        <a:defRPr/>
                      </a:pPr>
                      <a:r>
                        <a:rPr lang="en-US" sz="1050">
                          <a:solidFill>
                            <a:srgbClr val="334155"/>
                          </a:solidFill>
                          <a:latin typeface="DM Sans"/>
                          <a:ea typeface="DM Sans"/>
                          <a:cs typeface="DM Sans"/>
                          <a:sym typeface="DM Sans"/>
                        </a:rPr>
                        <a:t>zone reads 'dry' forever; no alert</a:t>
                      </a:r>
                      <a:endParaRPr lang="en-US" sz="1100"/>
                    </a:p>
                  </a:txBody>
                  <a:tcPr marL="36576" marR="36576" marT="36576" marB="36576" anchor="ctr">
                    <a:lnL cmpd="sng" algn="ctr" cap="flat" w="7620">
                      <a:solidFill>
                        <a:srgbClr val="000000"/>
                      </a:solidFill>
                      <a:prstDash val="solid"/>
                      <a:round/>
                      <a:headEnd type="none" w="med" len="med"/>
                      <a:tailEnd type="none" w="med" len="med"/>
                    </a:lnL>
                    <a:lnR cmpd="sng" algn="ctr" cap="flat" w="7620">
                      <a:solidFill>
                        <a:srgbClr val="000000"/>
                      </a:solidFill>
                      <a:prstDash val="solid"/>
                      <a:round/>
                      <a:headEnd type="none" w="med" len="med"/>
                      <a:tailEnd type="none" w="med" len="med"/>
                    </a:lnR>
                    <a:lnT cmpd="sng" algn="ctr" cap="flat" w="7620">
                      <a:solidFill>
                        <a:srgbClr val="000000"/>
                      </a:solidFill>
                      <a:prstDash val="solid"/>
                      <a:round/>
                      <a:headEnd type="none" w="med" len="med"/>
                      <a:tailEnd type="none" w="med" len="med"/>
                    </a:lnT>
                    <a:lnB cmpd="sng" algn="ctr" cap="flat" w="7620">
                      <a:solidFill>
                        <a:srgbClr val="E2E8F0"/>
                      </a:solidFill>
                      <a:prstDash val="solid"/>
                      <a:round/>
                      <a:headEnd type="none" w="med" len="med"/>
                      <a:tailEnd type="none" w="med" len="med"/>
                    </a:lnB>
                  </a:tcPr>
                </a:tc>
                <a:tc>
                  <a:txBody>
                    <a:bodyPr anchor="t" rtlCol="false"/>
                    <a:lstStyle/>
                    <a:p>
                      <a:pPr algn="l">
                        <a:lnSpc>
                          <a:spcPts val="900"/>
                        </a:lnSpc>
                        <a:defRPr/>
                      </a:pPr>
                      <a:r>
                        <a:rPr lang="en-US" sz="1050" b="true">
                          <a:solidFill>
                            <a:srgbClr val="DC2626"/>
                          </a:solidFill>
                          <a:latin typeface="DM Sans Bold"/>
                          <a:ea typeface="DM Sans Bold"/>
                          <a:cs typeface="DM Sans Bold"/>
                          <a:sym typeface="DM Sans Bold"/>
                        </a:rPr>
                        <a:t>224</a:t>
                      </a:r>
                      <a:endParaRPr lang="en-US" sz="1100"/>
                    </a:p>
                  </a:txBody>
                  <a:tcPr marL="36576" marR="36576" marT="36576" marB="36576" anchor="ctr">
                    <a:lnL cmpd="sng" algn="ctr" cap="flat" w="7620">
                      <a:solidFill>
                        <a:srgbClr val="000000"/>
                      </a:solidFill>
                      <a:prstDash val="solid"/>
                      <a:round/>
                      <a:headEnd type="none" w="med" len="med"/>
                      <a:tailEnd type="none" w="med" len="med"/>
                    </a:lnL>
                    <a:lnR cmpd="sng" algn="ctr" cap="flat" w="7620">
                      <a:solidFill>
                        <a:srgbClr val="000000"/>
                      </a:solidFill>
                      <a:prstDash val="solid"/>
                      <a:round/>
                      <a:headEnd type="none" w="med" len="med"/>
                      <a:tailEnd type="none" w="med" len="med"/>
                    </a:lnR>
                    <a:lnT cmpd="sng" algn="ctr" cap="flat" w="7620">
                      <a:solidFill>
                        <a:srgbClr val="000000"/>
                      </a:solidFill>
                      <a:prstDash val="solid"/>
                      <a:round/>
                      <a:headEnd type="none" w="med" len="med"/>
                      <a:tailEnd type="none" w="med" len="med"/>
                    </a:lnT>
                    <a:lnB cmpd="sng" algn="ctr" cap="flat" w="7620">
                      <a:solidFill>
                        <a:srgbClr val="E2E8F0"/>
                      </a:solidFill>
                      <a:prstDash val="solid"/>
                      <a:round/>
                      <a:headEnd type="none" w="med" len="med"/>
                      <a:tailEnd type="none" w="med" len="med"/>
                    </a:lnB>
                  </a:tcPr>
                </a:tc>
                <a:tc>
                  <a:txBody>
                    <a:bodyPr anchor="t" rtlCol="false"/>
                    <a:lstStyle/>
                    <a:p>
                      <a:pPr algn="l">
                        <a:lnSpc>
                          <a:spcPts val="900"/>
                        </a:lnSpc>
                        <a:defRPr/>
                      </a:pPr>
                      <a:r>
                        <a:rPr lang="en-US" sz="1050">
                          <a:solidFill>
                            <a:srgbClr val="334155"/>
                          </a:solidFill>
                          <a:latin typeface="DM Sans"/>
                          <a:ea typeface="DM Sans"/>
                          <a:cs typeface="DM Sans"/>
                          <a:sym typeface="DM Sans"/>
                        </a:rPr>
                        <a:t>v0.2 loops each lead · T-MECH-01</a:t>
                      </a:r>
                      <a:endParaRPr lang="en-US" sz="1100"/>
                    </a:p>
                  </a:txBody>
                  <a:tcPr marL="36576" marR="36576" marT="36576" marB="36576" anchor="ctr">
                    <a:lnL cmpd="sng" algn="ctr" cap="flat" w="7620">
                      <a:solidFill>
                        <a:srgbClr val="000000"/>
                      </a:solidFill>
                      <a:prstDash val="solid"/>
                      <a:round/>
                      <a:headEnd type="none" w="med" len="med"/>
                      <a:tailEnd type="none" w="med" len="med"/>
                    </a:lnL>
                    <a:lnR cmpd="sng" algn="ctr" cap="flat" w="7620">
                      <a:solidFill>
                        <a:srgbClr val="000000"/>
                      </a:solidFill>
                      <a:prstDash val="solid"/>
                      <a:round/>
                      <a:headEnd type="none" w="med" len="med"/>
                      <a:tailEnd type="none" w="med" len="med"/>
                    </a:lnR>
                    <a:lnT cmpd="sng" algn="ctr" cap="flat" w="7620">
                      <a:solidFill>
                        <a:srgbClr val="000000"/>
                      </a:solidFill>
                      <a:prstDash val="solid"/>
                      <a:round/>
                      <a:headEnd type="none" w="med" len="med"/>
                      <a:tailEnd type="none" w="med" len="med"/>
                    </a:lnT>
                    <a:lnB cmpd="sng" algn="ctr" cap="flat" w="7620">
                      <a:solidFill>
                        <a:srgbClr val="E2E8F0"/>
                      </a:solidFill>
                      <a:prstDash val="solid"/>
                      <a:round/>
                      <a:headEnd type="none" w="med" len="med"/>
                      <a:tailEnd type="none" w="med" len="med"/>
                    </a:lnB>
                  </a:tcPr>
                </a:tc>
              </a:tr>
              <a:tr h="457200">
                <a:tc>
                  <a:txBody>
                    <a:bodyPr anchor="t" rtlCol="false"/>
                    <a:lstStyle/>
                    <a:p>
                      <a:pPr algn="l">
                        <a:lnSpc>
                          <a:spcPts val="900"/>
                        </a:lnSpc>
                        <a:defRPr/>
                      </a:pPr>
                      <a:r>
                        <a:rPr lang="en-US" sz="1050" b="true">
                          <a:solidFill>
                            <a:srgbClr val="0F172A"/>
                          </a:solidFill>
                          <a:latin typeface="DM Sans Bold"/>
                          <a:ea typeface="DM Sans Bold"/>
                          <a:cs typeface="DM Sans Bold"/>
                          <a:sym typeface="DM Sans Bold"/>
                        </a:rPr>
                        <a:t>F07 front path differs</a:t>
                      </a:r>
                      <a:endParaRPr lang="en-US" sz="1100"/>
                    </a:p>
                  </a:txBody>
                  <a:tcPr marL="36576" marR="36576" marT="36576" marB="36576" anchor="ctr">
                    <a:lnL cmpd="sng" algn="ctr" cap="flat" w="7620">
                      <a:solidFill>
                        <a:srgbClr val="000000"/>
                      </a:solidFill>
                      <a:prstDash val="solid"/>
                      <a:round/>
                      <a:headEnd type="none" w="med" len="med"/>
                      <a:tailEnd type="none" w="med" len="med"/>
                    </a:lnL>
                    <a:lnR cmpd="sng" algn="ctr" cap="flat" w="7620">
                      <a:solidFill>
                        <a:srgbClr val="000000"/>
                      </a:solidFill>
                      <a:prstDash val="solid"/>
                      <a:round/>
                      <a:headEnd type="none" w="med" len="med"/>
                      <a:tailEnd type="none" w="med" len="med"/>
                    </a:lnR>
                    <a:lnT cmpd="sng" algn="ctr" cap="flat" w="7620">
                      <a:solidFill>
                        <a:srgbClr val="000000"/>
                      </a:solidFill>
                      <a:prstDash val="solid"/>
                      <a:round/>
                      <a:headEnd type="none" w="med" len="med"/>
                      <a:tailEnd type="none" w="med" len="med"/>
                    </a:lnT>
                    <a:lnB cmpd="sng" algn="ctr" cap="flat" w="7620">
                      <a:solidFill>
                        <a:srgbClr val="E2E8F0"/>
                      </a:solidFill>
                      <a:prstDash val="solid"/>
                      <a:round/>
                      <a:headEnd type="none" w="med" len="med"/>
                      <a:tailEnd type="none" w="med" len="med"/>
                    </a:lnB>
                  </a:tcPr>
                </a:tc>
                <a:tc>
                  <a:txBody>
                    <a:bodyPr anchor="t" rtlCol="false"/>
                    <a:lstStyle/>
                    <a:p>
                      <a:pPr algn="l">
                        <a:lnSpc>
                          <a:spcPts val="900"/>
                        </a:lnSpc>
                        <a:defRPr/>
                      </a:pPr>
                      <a:r>
                        <a:rPr lang="en-US" sz="1050">
                          <a:solidFill>
                            <a:srgbClr val="334155"/>
                          </a:solidFill>
                          <a:latin typeface="DM Sans"/>
                          <a:ea typeface="DM Sans"/>
                          <a:cs typeface="DM Sans"/>
                          <a:sym typeface="DM Sans"/>
                        </a:rPr>
                        <a:t>CHANGE late or missing</a:t>
                      </a:r>
                      <a:endParaRPr lang="en-US" sz="1100"/>
                    </a:p>
                  </a:txBody>
                  <a:tcPr marL="36576" marR="36576" marT="36576" marB="36576" anchor="ctr">
                    <a:lnL cmpd="sng" algn="ctr" cap="flat" w="7620">
                      <a:solidFill>
                        <a:srgbClr val="000000"/>
                      </a:solidFill>
                      <a:prstDash val="solid"/>
                      <a:round/>
                      <a:headEnd type="none" w="med" len="med"/>
                      <a:tailEnd type="none" w="med" len="med"/>
                    </a:lnL>
                    <a:lnR cmpd="sng" algn="ctr" cap="flat" w="7620">
                      <a:solidFill>
                        <a:srgbClr val="000000"/>
                      </a:solidFill>
                      <a:prstDash val="solid"/>
                      <a:round/>
                      <a:headEnd type="none" w="med" len="med"/>
                      <a:tailEnd type="none" w="med" len="med"/>
                    </a:lnR>
                    <a:lnT cmpd="sng" algn="ctr" cap="flat" w="7620">
                      <a:solidFill>
                        <a:srgbClr val="000000"/>
                      </a:solidFill>
                      <a:prstDash val="solid"/>
                      <a:round/>
                      <a:headEnd type="none" w="med" len="med"/>
                      <a:tailEnd type="none" w="med" len="med"/>
                    </a:lnT>
                    <a:lnB cmpd="sng" algn="ctr" cap="flat" w="7620">
                      <a:solidFill>
                        <a:srgbClr val="E2E8F0"/>
                      </a:solidFill>
                      <a:prstDash val="solid"/>
                      <a:round/>
                      <a:headEnd type="none" w="med" len="med"/>
                      <a:tailEnd type="none" w="med" len="med"/>
                    </a:lnB>
                  </a:tcPr>
                </a:tc>
                <a:tc>
                  <a:txBody>
                    <a:bodyPr anchor="t" rtlCol="false"/>
                    <a:lstStyle/>
                    <a:p>
                      <a:pPr algn="l">
                        <a:lnSpc>
                          <a:spcPts val="900"/>
                        </a:lnSpc>
                        <a:defRPr/>
                      </a:pPr>
                      <a:r>
                        <a:rPr lang="en-US" sz="1050" b="true">
                          <a:solidFill>
                            <a:srgbClr val="DC2626"/>
                          </a:solidFill>
                          <a:latin typeface="DM Sans Bold"/>
                          <a:ea typeface="DM Sans Bold"/>
                          <a:cs typeface="DM Sans Bold"/>
                          <a:sym typeface="DM Sans Bold"/>
                        </a:rPr>
                        <a:t>210</a:t>
                      </a:r>
                      <a:endParaRPr lang="en-US" sz="1100"/>
                    </a:p>
                  </a:txBody>
                  <a:tcPr marL="36576" marR="36576" marT="36576" marB="36576" anchor="ctr">
                    <a:lnL cmpd="sng" algn="ctr" cap="flat" w="7620">
                      <a:solidFill>
                        <a:srgbClr val="000000"/>
                      </a:solidFill>
                      <a:prstDash val="solid"/>
                      <a:round/>
                      <a:headEnd type="none" w="med" len="med"/>
                      <a:tailEnd type="none" w="med" len="med"/>
                    </a:lnL>
                    <a:lnR cmpd="sng" algn="ctr" cap="flat" w="7620">
                      <a:solidFill>
                        <a:srgbClr val="000000"/>
                      </a:solidFill>
                      <a:prstDash val="solid"/>
                      <a:round/>
                      <a:headEnd type="none" w="med" len="med"/>
                      <a:tailEnd type="none" w="med" len="med"/>
                    </a:lnR>
                    <a:lnT cmpd="sng" algn="ctr" cap="flat" w="7620">
                      <a:solidFill>
                        <a:srgbClr val="000000"/>
                      </a:solidFill>
                      <a:prstDash val="solid"/>
                      <a:round/>
                      <a:headEnd type="none" w="med" len="med"/>
                      <a:tailEnd type="none" w="med" len="med"/>
                    </a:lnT>
                    <a:lnB cmpd="sng" algn="ctr" cap="flat" w="7620">
                      <a:solidFill>
                        <a:srgbClr val="E2E8F0"/>
                      </a:solidFill>
                      <a:prstDash val="solid"/>
                      <a:round/>
                      <a:headEnd type="none" w="med" len="med"/>
                      <a:tailEnd type="none" w="med" len="med"/>
                    </a:lnB>
                  </a:tcPr>
                </a:tc>
                <a:tc>
                  <a:txBody>
                    <a:bodyPr anchor="t" rtlCol="false"/>
                    <a:lstStyle/>
                    <a:p>
                      <a:pPr algn="l">
                        <a:lnSpc>
                          <a:spcPts val="900"/>
                        </a:lnSpc>
                        <a:defRPr/>
                      </a:pPr>
                      <a:r>
                        <a:rPr lang="en-US" sz="1050">
                          <a:solidFill>
                            <a:srgbClr val="334155"/>
                          </a:solidFill>
                          <a:latin typeface="DM Sans"/>
                          <a:ea typeface="DM Sans"/>
                          <a:cs typeface="DM Sans"/>
                          <a:sym typeface="DM Sans"/>
                        </a:rPr>
                        <a:t>E4 on real foam dressings</a:t>
                      </a:r>
                      <a:endParaRPr lang="en-US" sz="1100"/>
                    </a:p>
                  </a:txBody>
                  <a:tcPr marL="36576" marR="36576" marT="36576" marB="36576" anchor="ctr">
                    <a:lnL cmpd="sng" algn="ctr" cap="flat" w="7620">
                      <a:solidFill>
                        <a:srgbClr val="000000"/>
                      </a:solidFill>
                      <a:prstDash val="solid"/>
                      <a:round/>
                      <a:headEnd type="none" w="med" len="med"/>
                      <a:tailEnd type="none" w="med" len="med"/>
                    </a:lnL>
                    <a:lnR cmpd="sng" algn="ctr" cap="flat" w="7620">
                      <a:solidFill>
                        <a:srgbClr val="000000"/>
                      </a:solidFill>
                      <a:prstDash val="solid"/>
                      <a:round/>
                      <a:headEnd type="none" w="med" len="med"/>
                      <a:tailEnd type="none" w="med" len="med"/>
                    </a:lnR>
                    <a:lnT cmpd="sng" algn="ctr" cap="flat" w="7620">
                      <a:solidFill>
                        <a:srgbClr val="000000"/>
                      </a:solidFill>
                      <a:prstDash val="solid"/>
                      <a:round/>
                      <a:headEnd type="none" w="med" len="med"/>
                      <a:tailEnd type="none" w="med" len="med"/>
                    </a:lnT>
                    <a:lnB cmpd="sng" algn="ctr" cap="flat" w="7620">
                      <a:solidFill>
                        <a:srgbClr val="E2E8F0"/>
                      </a:solidFill>
                      <a:prstDash val="solid"/>
                      <a:round/>
                      <a:headEnd type="none" w="med" len="med"/>
                      <a:tailEnd type="none" w="med" len="med"/>
                    </a:lnB>
                  </a:tcPr>
                </a:tc>
              </a:tr>
              <a:tr h="457200">
                <a:tc>
                  <a:txBody>
                    <a:bodyPr anchor="t" rtlCol="false"/>
                    <a:lstStyle/>
                    <a:p>
                      <a:pPr algn="l">
                        <a:lnSpc>
                          <a:spcPts val="900"/>
                        </a:lnSpc>
                        <a:defRPr/>
                      </a:pPr>
                      <a:r>
                        <a:rPr lang="en-US" sz="1050" b="true">
                          <a:solidFill>
                            <a:srgbClr val="0F172A"/>
                          </a:solidFill>
                          <a:latin typeface="DM Sans Bold"/>
                          <a:ea typeface="DM Sans Bold"/>
                          <a:cs typeface="DM Sans Bold"/>
                          <a:sym typeface="DM Sans Bold"/>
                        </a:rPr>
                        <a:t>F08 humid dry baseline</a:t>
                      </a:r>
                      <a:endParaRPr lang="en-US" sz="1100"/>
                    </a:p>
                  </a:txBody>
                  <a:tcPr marL="36576" marR="36576" marT="36576" marB="36576" anchor="ctr">
                    <a:lnL cmpd="sng" algn="ctr" cap="flat" w="7620">
                      <a:solidFill>
                        <a:srgbClr val="000000"/>
                      </a:solidFill>
                      <a:prstDash val="solid"/>
                      <a:round/>
                      <a:headEnd type="none" w="med" len="med"/>
                      <a:tailEnd type="none" w="med" len="med"/>
                    </a:lnL>
                    <a:lnR cmpd="sng" algn="ctr" cap="flat" w="7620">
                      <a:solidFill>
                        <a:srgbClr val="000000"/>
                      </a:solidFill>
                      <a:prstDash val="solid"/>
                      <a:round/>
                      <a:headEnd type="none" w="med" len="med"/>
                      <a:tailEnd type="none" w="med" len="med"/>
                    </a:lnR>
                    <a:lnT cmpd="sng" algn="ctr" cap="flat" w="7620">
                      <a:solidFill>
                        <a:srgbClr val="000000"/>
                      </a:solidFill>
                      <a:prstDash val="solid"/>
                      <a:round/>
                      <a:headEnd type="none" w="med" len="med"/>
                      <a:tailEnd type="none" w="med" len="med"/>
                    </a:lnT>
                    <a:lnB cmpd="sng" algn="ctr" cap="flat" w="7620">
                      <a:solidFill>
                        <a:srgbClr val="E2E8F0"/>
                      </a:solidFill>
                      <a:prstDash val="solid"/>
                      <a:round/>
                      <a:headEnd type="none" w="med" len="med"/>
                      <a:tailEnd type="none" w="med" len="med"/>
                    </a:lnB>
                  </a:tcPr>
                </a:tc>
                <a:tc>
                  <a:txBody>
                    <a:bodyPr anchor="t" rtlCol="false"/>
                    <a:lstStyle/>
                    <a:p>
                      <a:pPr algn="l">
                        <a:lnSpc>
                          <a:spcPts val="900"/>
                        </a:lnSpc>
                        <a:defRPr/>
                      </a:pPr>
                      <a:r>
                        <a:rPr lang="en-US" sz="1050">
                          <a:solidFill>
                            <a:srgbClr val="334155"/>
                          </a:solidFill>
                          <a:latin typeface="DM Sans"/>
                          <a:ea typeface="DM Sans"/>
                          <a:cs typeface="DM Sans"/>
                          <a:sym typeface="DM Sans"/>
                        </a:rPr>
                        <a:t>humidity reads as 'wet'</a:t>
                      </a:r>
                      <a:endParaRPr lang="en-US" sz="1100"/>
                    </a:p>
                  </a:txBody>
                  <a:tcPr marL="36576" marR="36576" marT="36576" marB="36576" anchor="ctr">
                    <a:lnL cmpd="sng" algn="ctr" cap="flat" w="7620">
                      <a:solidFill>
                        <a:srgbClr val="000000"/>
                      </a:solidFill>
                      <a:prstDash val="solid"/>
                      <a:round/>
                      <a:headEnd type="none" w="med" len="med"/>
                      <a:tailEnd type="none" w="med" len="med"/>
                    </a:lnL>
                    <a:lnR cmpd="sng" algn="ctr" cap="flat" w="7620">
                      <a:solidFill>
                        <a:srgbClr val="000000"/>
                      </a:solidFill>
                      <a:prstDash val="solid"/>
                      <a:round/>
                      <a:headEnd type="none" w="med" len="med"/>
                      <a:tailEnd type="none" w="med" len="med"/>
                    </a:lnR>
                    <a:lnT cmpd="sng" algn="ctr" cap="flat" w="7620">
                      <a:solidFill>
                        <a:srgbClr val="000000"/>
                      </a:solidFill>
                      <a:prstDash val="solid"/>
                      <a:round/>
                      <a:headEnd type="none" w="med" len="med"/>
                      <a:tailEnd type="none" w="med" len="med"/>
                    </a:lnT>
                    <a:lnB cmpd="sng" algn="ctr" cap="flat" w="7620">
                      <a:solidFill>
                        <a:srgbClr val="E2E8F0"/>
                      </a:solidFill>
                      <a:prstDash val="solid"/>
                      <a:round/>
                      <a:headEnd type="none" w="med" len="med"/>
                      <a:tailEnd type="none" w="med" len="med"/>
                    </a:lnB>
                  </a:tcPr>
                </a:tc>
                <a:tc>
                  <a:txBody>
                    <a:bodyPr anchor="t" rtlCol="false"/>
                    <a:lstStyle/>
                    <a:p>
                      <a:pPr algn="l">
                        <a:lnSpc>
                          <a:spcPts val="900"/>
                        </a:lnSpc>
                        <a:defRPr/>
                      </a:pPr>
                      <a:r>
                        <a:rPr lang="en-US" sz="1050" b="true">
                          <a:solidFill>
                            <a:srgbClr val="DC2626"/>
                          </a:solidFill>
                          <a:latin typeface="DM Sans Bold"/>
                          <a:ea typeface="DM Sans Bold"/>
                          <a:cs typeface="DM Sans Bold"/>
                          <a:sym typeface="DM Sans Bold"/>
                        </a:rPr>
                        <a:t>150</a:t>
                      </a:r>
                      <a:endParaRPr lang="en-US" sz="1100"/>
                    </a:p>
                  </a:txBody>
                  <a:tcPr marL="36576" marR="36576" marT="36576" marB="36576" anchor="ctr">
                    <a:lnL cmpd="sng" algn="ctr" cap="flat" w="7620">
                      <a:solidFill>
                        <a:srgbClr val="000000"/>
                      </a:solidFill>
                      <a:prstDash val="solid"/>
                      <a:round/>
                      <a:headEnd type="none" w="med" len="med"/>
                      <a:tailEnd type="none" w="med" len="med"/>
                    </a:lnL>
                    <a:lnR cmpd="sng" algn="ctr" cap="flat" w="7620">
                      <a:solidFill>
                        <a:srgbClr val="000000"/>
                      </a:solidFill>
                      <a:prstDash val="solid"/>
                      <a:round/>
                      <a:headEnd type="none" w="med" len="med"/>
                      <a:tailEnd type="none" w="med" len="med"/>
                    </a:lnR>
                    <a:lnT cmpd="sng" algn="ctr" cap="flat" w="7620">
                      <a:solidFill>
                        <a:srgbClr val="000000"/>
                      </a:solidFill>
                      <a:prstDash val="solid"/>
                      <a:round/>
                      <a:headEnd type="none" w="med" len="med"/>
                      <a:tailEnd type="none" w="med" len="med"/>
                    </a:lnT>
                    <a:lnB cmpd="sng" algn="ctr" cap="flat" w="7620">
                      <a:solidFill>
                        <a:srgbClr val="E2E8F0"/>
                      </a:solidFill>
                      <a:prstDash val="solid"/>
                      <a:round/>
                      <a:headEnd type="none" w="med" len="med"/>
                      <a:tailEnd type="none" w="med" len="med"/>
                    </a:lnB>
                  </a:tcPr>
                </a:tc>
                <a:tc>
                  <a:txBody>
                    <a:bodyPr anchor="t" rtlCol="false"/>
                    <a:lstStyle/>
                    <a:p>
                      <a:pPr algn="l">
                        <a:lnSpc>
                          <a:spcPts val="900"/>
                        </a:lnSpc>
                        <a:defRPr/>
                      </a:pPr>
                      <a:r>
                        <a:rPr lang="en-US" sz="1050">
                          <a:solidFill>
                            <a:srgbClr val="334155"/>
                          </a:solidFill>
                          <a:latin typeface="DM Sans"/>
                          <a:ea typeface="DM Sans"/>
                          <a:cs typeface="DM Sans"/>
                          <a:sym typeface="DM Sans"/>
                        </a:rPr>
                        <a:t>measure baselines (E4)</a:t>
                      </a:r>
                      <a:endParaRPr lang="en-US" sz="1100"/>
                    </a:p>
                  </a:txBody>
                  <a:tcPr marL="36576" marR="36576" marT="36576" marB="36576" anchor="ctr">
                    <a:lnL cmpd="sng" algn="ctr" cap="flat" w="7620">
                      <a:solidFill>
                        <a:srgbClr val="000000"/>
                      </a:solidFill>
                      <a:prstDash val="solid"/>
                      <a:round/>
                      <a:headEnd type="none" w="med" len="med"/>
                      <a:tailEnd type="none" w="med" len="med"/>
                    </a:lnL>
                    <a:lnR cmpd="sng" algn="ctr" cap="flat" w="7620">
                      <a:solidFill>
                        <a:srgbClr val="000000"/>
                      </a:solidFill>
                      <a:prstDash val="solid"/>
                      <a:round/>
                      <a:headEnd type="none" w="med" len="med"/>
                      <a:tailEnd type="none" w="med" len="med"/>
                    </a:lnR>
                    <a:lnT cmpd="sng" algn="ctr" cap="flat" w="7620">
                      <a:solidFill>
                        <a:srgbClr val="000000"/>
                      </a:solidFill>
                      <a:prstDash val="solid"/>
                      <a:round/>
                      <a:headEnd type="none" w="med" len="med"/>
                      <a:tailEnd type="none" w="med" len="med"/>
                    </a:lnT>
                    <a:lnB cmpd="sng" algn="ctr" cap="flat" w="7620">
                      <a:solidFill>
                        <a:srgbClr val="E2E8F0"/>
                      </a:solidFill>
                      <a:prstDash val="solid"/>
                      <a:round/>
                      <a:headEnd type="none" w="med" len="med"/>
                      <a:tailEnd type="none" w="med" len="med"/>
                    </a:lnB>
                  </a:tcPr>
                </a:tc>
              </a:tr>
              <a:tr h="457200">
                <a:tc>
                  <a:txBody>
                    <a:bodyPr anchor="t" rtlCol="false"/>
                    <a:lstStyle/>
                    <a:p>
                      <a:pPr algn="l">
                        <a:lnSpc>
                          <a:spcPts val="900"/>
                        </a:lnSpc>
                        <a:defRPr/>
                      </a:pPr>
                      <a:r>
                        <a:rPr lang="en-US" sz="1050" b="true">
                          <a:solidFill>
                            <a:srgbClr val="0F172A"/>
                          </a:solidFill>
                          <a:latin typeface="DM Sans Bold"/>
                          <a:ea typeface="DM Sans Bold"/>
                          <a:cs typeface="DM Sans Bold"/>
                          <a:sym typeface="DM Sans Bold"/>
                        </a:rPr>
                        <a:t>F01 weak carbon layer</a:t>
                      </a:r>
                      <a:endParaRPr lang="en-US" sz="1100"/>
                    </a:p>
                  </a:txBody>
                  <a:tcPr marL="36576" marR="36576" marT="36576" marB="36576" anchor="ctr">
                    <a:lnL cmpd="sng" algn="ctr" cap="flat" w="7620">
                      <a:solidFill>
                        <a:srgbClr val="000000"/>
                      </a:solidFill>
                      <a:prstDash val="solid"/>
                      <a:round/>
                      <a:headEnd type="none" w="med" len="med"/>
                      <a:tailEnd type="none" w="med" len="med"/>
                    </a:lnL>
                    <a:lnR cmpd="sng" algn="ctr" cap="flat" w="7620">
                      <a:solidFill>
                        <a:srgbClr val="000000"/>
                      </a:solidFill>
                      <a:prstDash val="solid"/>
                      <a:round/>
                      <a:headEnd type="none" w="med" len="med"/>
                      <a:tailEnd type="none" w="med" len="med"/>
                    </a:lnR>
                    <a:lnT cmpd="sng" algn="ctr" cap="flat" w="7620">
                      <a:solidFill>
                        <a:srgbClr val="000000"/>
                      </a:solidFill>
                      <a:prstDash val="solid"/>
                      <a:round/>
                      <a:headEnd type="none" w="med" len="med"/>
                      <a:tailEnd type="none" w="med" len="med"/>
                    </a:lnT>
                    <a:lnB cmpd="sng" algn="ctr" cap="flat" w="7620">
                      <a:solidFill>
                        <a:srgbClr val="E2E8F0"/>
                      </a:solidFill>
                      <a:prstDash val="solid"/>
                      <a:round/>
                      <a:headEnd type="none" w="med" len="med"/>
                      <a:tailEnd type="none" w="med" len="med"/>
                    </a:lnB>
                  </a:tcPr>
                </a:tc>
                <a:tc>
                  <a:txBody>
                    <a:bodyPr anchor="t" rtlCol="false"/>
                    <a:lstStyle/>
                    <a:p>
                      <a:pPr algn="l">
                        <a:lnSpc>
                          <a:spcPts val="900"/>
                        </a:lnSpc>
                        <a:defRPr/>
                      </a:pPr>
                      <a:r>
                        <a:rPr lang="en-US" sz="1050">
                          <a:solidFill>
                            <a:srgbClr val="334155"/>
                          </a:solidFill>
                          <a:latin typeface="DM Sans"/>
                          <a:ea typeface="DM Sans"/>
                          <a:cs typeface="DM Sans"/>
                          <a:sym typeface="DM Sans"/>
                        </a:rPr>
                        <a:t>both zones always read 'dry'</a:t>
                      </a:r>
                      <a:endParaRPr lang="en-US" sz="1100"/>
                    </a:p>
                  </a:txBody>
                  <a:tcPr marL="36576" marR="36576" marT="36576" marB="36576" anchor="ctr">
                    <a:lnL cmpd="sng" algn="ctr" cap="flat" w="7620">
                      <a:solidFill>
                        <a:srgbClr val="000000"/>
                      </a:solidFill>
                      <a:prstDash val="solid"/>
                      <a:round/>
                      <a:headEnd type="none" w="med" len="med"/>
                      <a:tailEnd type="none" w="med" len="med"/>
                    </a:lnL>
                    <a:lnR cmpd="sng" algn="ctr" cap="flat" w="7620">
                      <a:solidFill>
                        <a:srgbClr val="000000"/>
                      </a:solidFill>
                      <a:prstDash val="solid"/>
                      <a:round/>
                      <a:headEnd type="none" w="med" len="med"/>
                      <a:tailEnd type="none" w="med" len="med"/>
                    </a:lnR>
                    <a:lnT cmpd="sng" algn="ctr" cap="flat" w="7620">
                      <a:solidFill>
                        <a:srgbClr val="000000"/>
                      </a:solidFill>
                      <a:prstDash val="solid"/>
                      <a:round/>
                      <a:headEnd type="none" w="med" len="med"/>
                      <a:tailEnd type="none" w="med" len="med"/>
                    </a:lnT>
                    <a:lnB cmpd="sng" algn="ctr" cap="flat" w="7620">
                      <a:solidFill>
                        <a:srgbClr val="E2E8F0"/>
                      </a:solidFill>
                      <a:prstDash val="solid"/>
                      <a:round/>
                      <a:headEnd type="none" w="med" len="med"/>
                      <a:tailEnd type="none" w="med" len="med"/>
                    </a:lnB>
                  </a:tcPr>
                </a:tc>
                <a:tc>
                  <a:txBody>
                    <a:bodyPr anchor="t" rtlCol="false"/>
                    <a:lstStyle/>
                    <a:p>
                      <a:pPr algn="l">
                        <a:lnSpc>
                          <a:spcPts val="900"/>
                        </a:lnSpc>
                        <a:defRPr/>
                      </a:pPr>
                      <a:r>
                        <a:rPr lang="en-US" sz="1050" b="true">
                          <a:solidFill>
                            <a:srgbClr val="DC2626"/>
                          </a:solidFill>
                          <a:latin typeface="DM Sans Bold"/>
                          <a:ea typeface="DM Sans Bold"/>
                          <a:cs typeface="DM Sans Bold"/>
                          <a:sym typeface="DM Sans Bold"/>
                        </a:rPr>
                        <a:t>140</a:t>
                      </a:r>
                      <a:endParaRPr lang="en-US" sz="1100"/>
                    </a:p>
                  </a:txBody>
                  <a:tcPr marL="36576" marR="36576" marT="36576" marB="36576" anchor="ctr">
                    <a:lnL cmpd="sng" algn="ctr" cap="flat" w="7620">
                      <a:solidFill>
                        <a:srgbClr val="000000"/>
                      </a:solidFill>
                      <a:prstDash val="solid"/>
                      <a:round/>
                      <a:headEnd type="none" w="med" len="med"/>
                      <a:tailEnd type="none" w="med" len="med"/>
                    </a:lnL>
                    <a:lnR cmpd="sng" algn="ctr" cap="flat" w="7620">
                      <a:solidFill>
                        <a:srgbClr val="000000"/>
                      </a:solidFill>
                      <a:prstDash val="solid"/>
                      <a:round/>
                      <a:headEnd type="none" w="med" len="med"/>
                      <a:tailEnd type="none" w="med" len="med"/>
                    </a:lnR>
                    <a:lnT cmpd="sng" algn="ctr" cap="flat" w="7620">
                      <a:solidFill>
                        <a:srgbClr val="000000"/>
                      </a:solidFill>
                      <a:prstDash val="solid"/>
                      <a:round/>
                      <a:headEnd type="none" w="med" len="med"/>
                      <a:tailEnd type="none" w="med" len="med"/>
                    </a:lnT>
                    <a:lnB cmpd="sng" algn="ctr" cap="flat" w="7620">
                      <a:solidFill>
                        <a:srgbClr val="E2E8F0"/>
                      </a:solidFill>
                      <a:prstDash val="solid"/>
                      <a:round/>
                      <a:headEnd type="none" w="med" len="med"/>
                      <a:tailEnd type="none" w="med" len="med"/>
                    </a:lnB>
                  </a:tcPr>
                </a:tc>
                <a:tc>
                  <a:txBody>
                    <a:bodyPr anchor="t" rtlCol="false"/>
                    <a:lstStyle/>
                    <a:p>
                      <a:pPr algn="l">
                        <a:lnSpc>
                          <a:spcPts val="900"/>
                        </a:lnSpc>
                        <a:defRPr/>
                      </a:pPr>
                      <a:r>
                        <a:rPr lang="en-US" sz="1050">
                          <a:solidFill>
                            <a:srgbClr val="334155"/>
                          </a:solidFill>
                          <a:latin typeface="DM Sans"/>
                          <a:ea typeface="DM Sans"/>
                          <a:cs typeface="DM Sans"/>
                          <a:sym typeface="DM Sans"/>
                        </a:rPr>
                        <a:t>E2 + per-strip QC record</a:t>
                      </a:r>
                      <a:endParaRPr lang="en-US" sz="1100"/>
                    </a:p>
                  </a:txBody>
                  <a:tcPr marL="36576" marR="36576" marT="36576" marB="36576" anchor="ctr">
                    <a:lnL cmpd="sng" algn="ctr" cap="flat" w="7620">
                      <a:solidFill>
                        <a:srgbClr val="000000"/>
                      </a:solidFill>
                      <a:prstDash val="solid"/>
                      <a:round/>
                      <a:headEnd type="none" w="med" len="med"/>
                      <a:tailEnd type="none" w="med" len="med"/>
                    </a:lnL>
                    <a:lnR cmpd="sng" algn="ctr" cap="flat" w="7620">
                      <a:solidFill>
                        <a:srgbClr val="000000"/>
                      </a:solidFill>
                      <a:prstDash val="solid"/>
                      <a:round/>
                      <a:headEnd type="none" w="med" len="med"/>
                      <a:tailEnd type="none" w="med" len="med"/>
                    </a:lnR>
                    <a:lnT cmpd="sng" algn="ctr" cap="flat" w="7620">
                      <a:solidFill>
                        <a:srgbClr val="000000"/>
                      </a:solidFill>
                      <a:prstDash val="solid"/>
                      <a:round/>
                      <a:headEnd type="none" w="med" len="med"/>
                      <a:tailEnd type="none" w="med" len="med"/>
                    </a:lnT>
                    <a:lnB cmpd="sng" algn="ctr" cap="flat" w="7620">
                      <a:solidFill>
                        <a:srgbClr val="E2E8F0"/>
                      </a:solidFill>
                      <a:prstDash val="solid"/>
                      <a:round/>
                      <a:headEnd type="none" w="med" len="med"/>
                      <a:tailEnd type="none" w="med" len="med"/>
                    </a:lnB>
                  </a:tcPr>
                </a:tc>
              </a:tr>
              <a:tr h="457200">
                <a:tc>
                  <a:txBody>
                    <a:bodyPr anchor="t" rtlCol="false"/>
                    <a:lstStyle/>
                    <a:p>
                      <a:pPr algn="l">
                        <a:lnSpc>
                          <a:spcPts val="900"/>
                        </a:lnSpc>
                        <a:defRPr/>
                      </a:pPr>
                      <a:r>
                        <a:rPr lang="en-US" sz="1050" b="true">
                          <a:solidFill>
                            <a:srgbClr val="0F172A"/>
                          </a:solidFill>
                          <a:latin typeface="DM Sans Bold"/>
                          <a:ea typeface="DM Sans Bold"/>
                          <a:cs typeface="DM Sans Bold"/>
                          <a:sym typeface="DM Sans Bold"/>
                        </a:rPr>
                        <a:t>F05 pin contact on carbon</a:t>
                      </a:r>
                      <a:endParaRPr lang="en-US" sz="1100"/>
                    </a:p>
                  </a:txBody>
                  <a:tcPr marL="36576" marR="36576" marT="36576" marB="36576" anchor="ctr">
                    <a:lnL cmpd="sng" algn="ctr" cap="flat" w="7620">
                      <a:solidFill>
                        <a:srgbClr val="000000"/>
                      </a:solidFill>
                      <a:prstDash val="solid"/>
                      <a:round/>
                      <a:headEnd type="none" w="med" len="med"/>
                      <a:tailEnd type="none" w="med" len="med"/>
                    </a:lnL>
                    <a:lnR cmpd="sng" algn="ctr" cap="flat" w="7620">
                      <a:solidFill>
                        <a:srgbClr val="000000"/>
                      </a:solidFill>
                      <a:prstDash val="solid"/>
                      <a:round/>
                      <a:headEnd type="none" w="med" len="med"/>
                      <a:tailEnd type="none" w="med" len="med"/>
                    </a:lnR>
                    <a:lnT cmpd="sng" algn="ctr" cap="flat" w="7620">
                      <a:solidFill>
                        <a:srgbClr val="000000"/>
                      </a:solidFill>
                      <a:prstDash val="solid"/>
                      <a:round/>
                      <a:headEnd type="none" w="med" len="med"/>
                      <a:tailEnd type="none" w="med" len="med"/>
                    </a:lnT>
                    <a:lnB cmpd="sng" algn="ctr" cap="flat" w="7620">
                      <a:solidFill>
                        <a:srgbClr val="E2E8F0"/>
                      </a:solidFill>
                      <a:prstDash val="solid"/>
                      <a:round/>
                      <a:headEnd type="none" w="med" len="med"/>
                      <a:tailEnd type="none" w="med" len="med"/>
                    </a:lnB>
                  </a:tcPr>
                </a:tc>
                <a:tc>
                  <a:txBody>
                    <a:bodyPr anchor="t" rtlCol="false"/>
                    <a:lstStyle/>
                    <a:p>
                      <a:pPr algn="l">
                        <a:lnSpc>
                          <a:spcPts val="900"/>
                        </a:lnSpc>
                        <a:defRPr/>
                      </a:pPr>
                      <a:r>
                        <a:rPr lang="en-US" sz="1050">
                          <a:solidFill>
                            <a:srgbClr val="334155"/>
                          </a:solidFill>
                          <a:latin typeface="DM Sans"/>
                          <a:ea typeface="DM Sans"/>
                          <a:cs typeface="DM Sans"/>
                          <a:sym typeface="DM Sans"/>
                        </a:rPr>
                        <a:t>readings drift high</a:t>
                      </a:r>
                      <a:endParaRPr lang="en-US" sz="1100"/>
                    </a:p>
                  </a:txBody>
                  <a:tcPr marL="36576" marR="36576" marT="36576" marB="36576" anchor="ctr">
                    <a:lnL cmpd="sng" algn="ctr" cap="flat" w="7620">
                      <a:solidFill>
                        <a:srgbClr val="000000"/>
                      </a:solidFill>
                      <a:prstDash val="solid"/>
                      <a:round/>
                      <a:headEnd type="none" w="med" len="med"/>
                      <a:tailEnd type="none" w="med" len="med"/>
                    </a:lnL>
                    <a:lnR cmpd="sng" algn="ctr" cap="flat" w="7620">
                      <a:solidFill>
                        <a:srgbClr val="000000"/>
                      </a:solidFill>
                      <a:prstDash val="solid"/>
                      <a:round/>
                      <a:headEnd type="none" w="med" len="med"/>
                      <a:tailEnd type="none" w="med" len="med"/>
                    </a:lnR>
                    <a:lnT cmpd="sng" algn="ctr" cap="flat" w="7620">
                      <a:solidFill>
                        <a:srgbClr val="000000"/>
                      </a:solidFill>
                      <a:prstDash val="solid"/>
                      <a:round/>
                      <a:headEnd type="none" w="med" len="med"/>
                      <a:tailEnd type="none" w="med" len="med"/>
                    </a:lnT>
                    <a:lnB cmpd="sng" algn="ctr" cap="flat" w="7620">
                      <a:solidFill>
                        <a:srgbClr val="E2E8F0"/>
                      </a:solidFill>
                      <a:prstDash val="solid"/>
                      <a:round/>
                      <a:headEnd type="none" w="med" len="med"/>
                      <a:tailEnd type="none" w="med" len="med"/>
                    </a:lnB>
                  </a:tcPr>
                </a:tc>
                <a:tc>
                  <a:txBody>
                    <a:bodyPr anchor="t" rtlCol="false"/>
                    <a:lstStyle/>
                    <a:p>
                      <a:pPr algn="l">
                        <a:lnSpc>
                          <a:spcPts val="900"/>
                        </a:lnSpc>
                        <a:defRPr/>
                      </a:pPr>
                      <a:r>
                        <a:rPr lang="en-US" sz="1050" b="true">
                          <a:solidFill>
                            <a:srgbClr val="DC2626"/>
                          </a:solidFill>
                          <a:latin typeface="DM Sans Bold"/>
                          <a:ea typeface="DM Sans Bold"/>
                          <a:cs typeface="DM Sans Bold"/>
                          <a:sym typeface="DM Sans Bold"/>
                        </a:rPr>
                        <a:t>120</a:t>
                      </a:r>
                      <a:endParaRPr lang="en-US" sz="1100"/>
                    </a:p>
                  </a:txBody>
                  <a:tcPr marL="36576" marR="36576" marT="36576" marB="36576" anchor="ctr">
                    <a:lnL cmpd="sng" algn="ctr" cap="flat" w="7620">
                      <a:solidFill>
                        <a:srgbClr val="000000"/>
                      </a:solidFill>
                      <a:prstDash val="solid"/>
                      <a:round/>
                      <a:headEnd type="none" w="med" len="med"/>
                      <a:tailEnd type="none" w="med" len="med"/>
                    </a:lnL>
                    <a:lnR cmpd="sng" algn="ctr" cap="flat" w="7620">
                      <a:solidFill>
                        <a:srgbClr val="000000"/>
                      </a:solidFill>
                      <a:prstDash val="solid"/>
                      <a:round/>
                      <a:headEnd type="none" w="med" len="med"/>
                      <a:tailEnd type="none" w="med" len="med"/>
                    </a:lnR>
                    <a:lnT cmpd="sng" algn="ctr" cap="flat" w="7620">
                      <a:solidFill>
                        <a:srgbClr val="000000"/>
                      </a:solidFill>
                      <a:prstDash val="solid"/>
                      <a:round/>
                      <a:headEnd type="none" w="med" len="med"/>
                      <a:tailEnd type="none" w="med" len="med"/>
                    </a:lnT>
                    <a:lnB cmpd="sng" algn="ctr" cap="flat" w="7620">
                      <a:solidFill>
                        <a:srgbClr val="E2E8F0"/>
                      </a:solidFill>
                      <a:prstDash val="solid"/>
                      <a:round/>
                      <a:headEnd type="none" w="med" len="med"/>
                      <a:tailEnd type="none" w="med" len="med"/>
                    </a:lnB>
                  </a:tcPr>
                </a:tc>
                <a:tc>
                  <a:txBody>
                    <a:bodyPr anchor="t" rtlCol="false"/>
                    <a:lstStyle/>
                    <a:p>
                      <a:pPr algn="l">
                        <a:lnSpc>
                          <a:spcPts val="900"/>
                        </a:lnSpc>
                        <a:defRPr/>
                      </a:pPr>
                      <a:r>
                        <a:rPr lang="en-US" sz="1050">
                          <a:solidFill>
                            <a:srgbClr val="334155"/>
                          </a:solidFill>
                          <a:latin typeface="DM Sans"/>
                          <a:ea typeface="DM Sans"/>
                          <a:cs typeface="DM Sans"/>
                          <a:sym typeface="DM Sans"/>
                        </a:rPr>
                        <a:t>rounded pins · T-CON-01</a:t>
                      </a:r>
                      <a:endParaRPr lang="en-US" sz="1100"/>
                    </a:p>
                  </a:txBody>
                  <a:tcPr marL="36576" marR="36576" marT="36576" marB="36576" anchor="ctr">
                    <a:lnL cmpd="sng" algn="ctr" cap="flat" w="7620">
                      <a:solidFill>
                        <a:srgbClr val="000000"/>
                      </a:solidFill>
                      <a:prstDash val="solid"/>
                      <a:round/>
                      <a:headEnd type="none" w="med" len="med"/>
                      <a:tailEnd type="none" w="med" len="med"/>
                    </a:lnL>
                    <a:lnR cmpd="sng" algn="ctr" cap="flat" w="7620">
                      <a:solidFill>
                        <a:srgbClr val="000000"/>
                      </a:solidFill>
                      <a:prstDash val="solid"/>
                      <a:round/>
                      <a:headEnd type="none" w="med" len="med"/>
                      <a:tailEnd type="none" w="med" len="med"/>
                    </a:lnR>
                    <a:lnT cmpd="sng" algn="ctr" cap="flat" w="7620">
                      <a:solidFill>
                        <a:srgbClr val="000000"/>
                      </a:solidFill>
                      <a:prstDash val="solid"/>
                      <a:round/>
                      <a:headEnd type="none" w="med" len="med"/>
                      <a:tailEnd type="none" w="med" len="med"/>
                    </a:lnT>
                    <a:lnB cmpd="sng" algn="ctr" cap="flat" w="7620">
                      <a:solidFill>
                        <a:srgbClr val="E2E8F0"/>
                      </a:solidFill>
                      <a:prstDash val="solid"/>
                      <a:round/>
                      <a:headEnd type="none" w="med" len="med"/>
                      <a:tailEnd type="none" w="med" len="med"/>
                    </a:lnB>
                  </a:tcPr>
                </a:tc>
              </a:tr>
            </a:tbl>
          </a:graphicData>
        </a:graphic>
      </p:graphicFrame>
      <p:grpSp>
        <p:nvGrpSpPr>
          <p:cNvPr name="Group 30" id="30"/>
          <p:cNvGrpSpPr/>
          <p:nvPr/>
        </p:nvGrpSpPr>
        <p:grpSpPr>
          <a:xfrm rot="0">
            <a:off x="12550616" y="1714500"/>
            <a:ext cx="4731068" cy="2825496"/>
            <a:chOff x="0" y="0"/>
            <a:chExt cx="6308090" cy="3767328"/>
          </a:xfrm>
        </p:grpSpPr>
        <p:sp>
          <p:nvSpPr>
            <p:cNvPr name="Freeform 31" id="31" descr="fig_fmea.png"/>
            <p:cNvSpPr/>
            <p:nvPr/>
          </p:nvSpPr>
          <p:spPr>
            <a:xfrm flipH="false" flipV="false" rot="0">
              <a:off x="0" y="0"/>
              <a:ext cx="6308090" cy="3767328"/>
            </a:xfrm>
            <a:custGeom>
              <a:avLst/>
              <a:gdLst/>
              <a:ahLst/>
              <a:cxnLst/>
              <a:rect r="r" b="b" t="t" l="l"/>
              <a:pathLst>
                <a:path h="3767328" w="6308090">
                  <a:moveTo>
                    <a:pt x="0" y="0"/>
                  </a:moveTo>
                  <a:lnTo>
                    <a:pt x="6308090" y="0"/>
                  </a:lnTo>
                  <a:lnTo>
                    <a:pt x="6308090" y="3767328"/>
                  </a:lnTo>
                  <a:lnTo>
                    <a:pt x="0" y="3767328"/>
                  </a:lnTo>
                  <a:lnTo>
                    <a:pt x="0" y="0"/>
                  </a:lnTo>
                  <a:close/>
                </a:path>
              </a:pathLst>
            </a:custGeom>
            <a:blipFill>
              <a:blip r:embed="rId13"/>
              <a:stretch>
                <a:fillRect l="0" t="0" r="0" b="0"/>
              </a:stretch>
            </a:blipFill>
          </p:spPr>
          <p:txBody>
            <a:bodyPr/>
            <a:p/>
          </p:txBody>
        </p:sp>
      </p:grpSp>
      <p:sp>
        <p:nvSpPr>
          <p:cNvPr name="TextBox 32" id="32"/>
          <p:cNvSpPr txBox="true"/>
          <p:nvPr/>
        </p:nvSpPr>
        <p:spPr>
          <a:xfrm rot="0">
            <a:off x="1170432" y="6597396"/>
            <a:ext cx="7507224" cy="2389708"/>
          </a:xfrm>
          <a:prstGeom prst="rect">
            <a:avLst/>
          </a:prstGeom>
        </p:spPr>
        <p:txBody>
          <a:bodyPr anchor="t" rtlCol="false" tIns="0" lIns="0" bIns="0" rIns="0">
            <a:spAutoFit/>
          </a:bodyPr>
          <a:lstStyle/>
          <a:p>
            <a:pPr algn="l">
              <a:lnSpc>
                <a:spcPts val="2138"/>
              </a:lnSpc>
            </a:pPr>
            <a:r>
              <a:rPr lang="en-US" sz="1650">
                <a:solidFill>
                  <a:srgbClr val="059669"/>
                </a:solidFill>
                <a:latin typeface="DM Sans"/>
                <a:ea typeface="DM Sans"/>
                <a:cs typeface="DM Sans"/>
                <a:sym typeface="DM Sans"/>
              </a:rPr>
              <a:t>▪  </a:t>
            </a:r>
            <a:r>
              <a:rPr lang="en-US" sz="1650" b="true">
                <a:solidFill>
                  <a:srgbClr val="0F172A"/>
                </a:solidFill>
                <a:latin typeface="DM Sans Bold"/>
                <a:ea typeface="DM Sans Bold"/>
                <a:cs typeface="DM Sans Bold"/>
                <a:sym typeface="DM Sans Bold"/>
              </a:rPr>
              <a:t>Bench only:  </a:t>
            </a:r>
            <a:r>
              <a:rPr lang="en-US" sz="1650" b="true">
                <a:solidFill>
                  <a:srgbClr val="334155"/>
                </a:solidFill>
                <a:latin typeface="DM Sans Bold"/>
                <a:ea typeface="DM Sans Bold"/>
                <a:cs typeface="DM Sans Bold"/>
                <a:sym typeface="DM Sans Bold"/>
              </a:rPr>
              <a:t>Use the USB reader on the bench only; do not put it on a person.</a:t>
            </a:r>
          </a:p>
          <a:p>
            <a:pPr algn="l">
              <a:lnSpc>
                <a:spcPts val="2138"/>
              </a:lnSpc>
            </a:pPr>
            <a:r>
              <a:rPr lang="en-US" sz="1650">
                <a:solidFill>
                  <a:srgbClr val="059669"/>
                </a:solidFill>
                <a:latin typeface="DM Sans"/>
                <a:ea typeface="DM Sans"/>
                <a:cs typeface="DM Sans"/>
                <a:sym typeface="DM Sans"/>
              </a:rPr>
              <a:t>▪  </a:t>
            </a:r>
            <a:r>
              <a:rPr lang="en-US" sz="1650" b="true">
                <a:solidFill>
                  <a:srgbClr val="0F172A"/>
                </a:solidFill>
                <a:latin typeface="DM Sans Bold"/>
                <a:ea typeface="DM Sans Bold"/>
                <a:cs typeface="DM Sans Bold"/>
                <a:sym typeface="DM Sans Bold"/>
              </a:rPr>
              <a:t>No net DC:  </a:t>
            </a:r>
            <a:r>
              <a:rPr lang="en-US" sz="1650" b="true">
                <a:solidFill>
                  <a:srgbClr val="334155"/>
                </a:solidFill>
                <a:latin typeface="DM Sans Bold"/>
                <a:ea typeface="DM Sans Bold"/>
                <a:cs typeface="DM Sans Bold"/>
                <a:sym typeface="DM Sans Bold"/>
              </a:rPr>
              <a:t>The drive is bipolar and idle pins are off. Planned bench test T8 checks for less than 5 mV residual.</a:t>
            </a:r>
          </a:p>
          <a:p>
            <a:pPr algn="l">
              <a:lnSpc>
                <a:spcPts val="2138"/>
              </a:lnSpc>
            </a:pPr>
            <a:r>
              <a:rPr lang="en-US" sz="1650">
                <a:solidFill>
                  <a:srgbClr val="059669"/>
                </a:solidFill>
                <a:latin typeface="DM Sans"/>
                <a:ea typeface="DM Sans"/>
                <a:cs typeface="DM Sans"/>
                <a:sym typeface="DM Sans"/>
              </a:rPr>
              <a:t>▪  </a:t>
            </a:r>
            <a:r>
              <a:rPr lang="en-US" sz="1650" b="true">
                <a:solidFill>
                  <a:srgbClr val="0F172A"/>
                </a:solidFill>
                <a:latin typeface="DM Sans Bold"/>
                <a:ea typeface="DM Sans Bold"/>
                <a:cs typeface="DM Sans Bold"/>
                <a:sym typeface="DM Sans Bold"/>
              </a:rPr>
              <a:t>Self-check:  </a:t>
            </a:r>
            <a:r>
              <a:rPr lang="en-US" sz="1650" b="true">
                <a:solidFill>
                  <a:srgbClr val="334155"/>
                </a:solidFill>
                <a:latin typeface="DM Sans Bold"/>
                <a:ea typeface="DM Sans Bold"/>
                <a:cs typeface="DM Sans Bold"/>
                <a:sym typeface="DM Sans Bold"/>
              </a:rPr>
              <a:t>Run a self-check each scan; show FAULT if it fails.</a:t>
            </a:r>
          </a:p>
          <a:p>
            <a:pPr algn="l">
              <a:lnSpc>
                <a:spcPts val="2138"/>
              </a:lnSpc>
            </a:pPr>
            <a:r>
              <a:rPr lang="en-US" sz="1650">
                <a:solidFill>
                  <a:srgbClr val="059669"/>
                </a:solidFill>
                <a:latin typeface="DM Sans"/>
                <a:ea typeface="DM Sans"/>
                <a:cs typeface="DM Sans"/>
                <a:sym typeface="DM Sans"/>
              </a:rPr>
              <a:t>▪  </a:t>
            </a:r>
            <a:r>
              <a:rPr lang="en-US" sz="1650" b="true">
                <a:solidFill>
                  <a:srgbClr val="0F172A"/>
                </a:solidFill>
                <a:latin typeface="DM Sans Bold"/>
                <a:ea typeface="DM Sans Bold"/>
                <a:cs typeface="DM Sans Bold"/>
                <a:sym typeface="DM Sans Bold"/>
              </a:rPr>
              <a:t>No wound contact:  </a:t>
            </a:r>
            <a:r>
              <a:rPr lang="en-US" sz="1650" b="true">
                <a:solidFill>
                  <a:srgbClr val="334155"/>
                </a:solidFill>
                <a:latin typeface="DM Sans Bold"/>
                <a:ea typeface="DM Sans Bold"/>
                <a:cs typeface="DM Sans Bold"/>
                <a:sym typeface="DM Sans Bold"/>
              </a:rPr>
              <a:t>The strip is designed to sit on the pad’s outer face, with sealed leads.</a:t>
            </a:r>
          </a:p>
          <a:p>
            <a:pPr algn="l">
              <a:lnSpc>
                <a:spcPts val="2138"/>
              </a:lnSpc>
            </a:pPr>
            <a:r>
              <a:rPr lang="en-US" sz="1650">
                <a:solidFill>
                  <a:srgbClr val="059669"/>
                </a:solidFill>
                <a:latin typeface="DM Sans"/>
                <a:ea typeface="DM Sans"/>
                <a:cs typeface="DM Sans"/>
                <a:sym typeface="DM Sans"/>
              </a:rPr>
              <a:t>▪  </a:t>
            </a:r>
            <a:r>
              <a:rPr lang="en-US" sz="1650" b="true">
                <a:solidFill>
                  <a:srgbClr val="0F172A"/>
                </a:solidFill>
                <a:latin typeface="DM Sans Bold"/>
                <a:ea typeface="DM Sans Bold"/>
                <a:cs typeface="DM Sans Bold"/>
                <a:sym typeface="DM Sans Bold"/>
              </a:rPr>
              <a:t>Laser work:  </a:t>
            </a:r>
            <a:r>
              <a:rPr lang="en-US" sz="1650" b="true">
                <a:solidFill>
                  <a:srgbClr val="334155"/>
                </a:solidFill>
                <a:latin typeface="DM Sans Bold"/>
                <a:ea typeface="DM Sans Bold"/>
                <a:cs typeface="DM Sans Bold"/>
                <a:sym typeface="DM Sans Bold"/>
              </a:rPr>
              <a:t>Complete and sign the laser-safety checklist before each session.</a:t>
            </a:r>
          </a:p>
        </p:txBody>
      </p:sp>
      <p:sp>
        <p:nvSpPr>
          <p:cNvPr name="TextBox 33" id="33"/>
          <p:cNvSpPr txBox="true"/>
          <p:nvPr/>
        </p:nvSpPr>
        <p:spPr>
          <a:xfrm rot="0">
            <a:off x="9715500" y="6597396"/>
            <a:ext cx="7507224" cy="3008757"/>
          </a:xfrm>
          <a:prstGeom prst="rect">
            <a:avLst/>
          </a:prstGeom>
        </p:spPr>
        <p:txBody>
          <a:bodyPr anchor="t" rtlCol="false" tIns="0" lIns="0" bIns="0" rIns="0">
            <a:spAutoFit/>
          </a:bodyPr>
          <a:lstStyle/>
          <a:p>
            <a:pPr algn="l">
              <a:lnSpc>
                <a:spcPts val="2138"/>
              </a:lnSpc>
            </a:pPr>
            <a:r>
              <a:rPr lang="en-US" sz="1650">
                <a:solidFill>
                  <a:srgbClr val="059669"/>
                </a:solidFill>
                <a:latin typeface="DM Sans"/>
                <a:ea typeface="DM Sans"/>
                <a:cs typeface="DM Sans"/>
                <a:sym typeface="DM Sans"/>
              </a:rPr>
              <a:t>▪  </a:t>
            </a:r>
            <a:r>
              <a:rPr lang="en-US" sz="1650" b="true">
                <a:solidFill>
                  <a:srgbClr val="0F172A"/>
                </a:solidFill>
                <a:latin typeface="DM Sans Bold"/>
                <a:ea typeface="DM Sans Bold"/>
                <a:cs typeface="DM Sans Bold"/>
                <a:sym typeface="DM Sans Bold"/>
              </a:rPr>
              <a:t>ISO 14971  </a:t>
            </a:r>
            <a:r>
              <a:rPr lang="en-US" sz="1650">
                <a:solidFill>
                  <a:srgbClr val="334155"/>
                </a:solidFill>
                <a:latin typeface="DM Sans"/>
                <a:ea typeface="DM Sans"/>
                <a:cs typeface="DM Sans"/>
                <a:sym typeface="DM Sans"/>
              </a:rPr>
              <a:t>risk management</a:t>
            </a:r>
          </a:p>
          <a:p>
            <a:pPr algn="l">
              <a:lnSpc>
                <a:spcPts val="2138"/>
              </a:lnSpc>
            </a:pPr>
            <a:r>
              <a:rPr lang="en-US" sz="1650">
                <a:solidFill>
                  <a:srgbClr val="059669"/>
                </a:solidFill>
                <a:latin typeface="DM Sans"/>
                <a:ea typeface="DM Sans"/>
                <a:cs typeface="DM Sans"/>
                <a:sym typeface="DM Sans"/>
              </a:rPr>
              <a:t>▪  </a:t>
            </a:r>
            <a:r>
              <a:rPr lang="en-US" sz="1650" b="true">
                <a:solidFill>
                  <a:srgbClr val="0F172A"/>
                </a:solidFill>
                <a:latin typeface="DM Sans Bold"/>
                <a:ea typeface="DM Sans Bold"/>
                <a:cs typeface="DM Sans Bold"/>
                <a:sym typeface="DM Sans Bold"/>
              </a:rPr>
              <a:t>IEC 60601-1  </a:t>
            </a:r>
            <a:r>
              <a:rPr lang="en-US" sz="1650">
                <a:solidFill>
                  <a:srgbClr val="334155"/>
                </a:solidFill>
                <a:latin typeface="DM Sans"/>
                <a:ea typeface="DM Sans"/>
                <a:cs typeface="DM Sans"/>
                <a:sym typeface="DM Sans"/>
              </a:rPr>
              <a:t>future on-body reader</a:t>
            </a:r>
          </a:p>
          <a:p>
            <a:pPr algn="l">
              <a:lnSpc>
                <a:spcPts val="2138"/>
              </a:lnSpc>
            </a:pPr>
            <a:r>
              <a:rPr lang="en-US" sz="1650">
                <a:solidFill>
                  <a:srgbClr val="059669"/>
                </a:solidFill>
                <a:latin typeface="DM Sans"/>
                <a:ea typeface="DM Sans"/>
                <a:cs typeface="DM Sans"/>
                <a:sym typeface="DM Sans"/>
              </a:rPr>
              <a:t>▪  </a:t>
            </a:r>
            <a:r>
              <a:rPr lang="en-US" sz="1650" b="true">
                <a:solidFill>
                  <a:srgbClr val="0F172A"/>
                </a:solidFill>
                <a:latin typeface="DM Sans Bold"/>
                <a:ea typeface="DM Sans Bold"/>
                <a:cs typeface="DM Sans Bold"/>
                <a:sym typeface="DM Sans Bold"/>
              </a:rPr>
              <a:t>ISO 10993-1  </a:t>
            </a:r>
            <a:r>
              <a:rPr lang="en-US" sz="1650">
                <a:solidFill>
                  <a:srgbClr val="334155"/>
                </a:solidFill>
                <a:latin typeface="DM Sans"/>
                <a:ea typeface="DM Sans"/>
                <a:cs typeface="DM Sans"/>
                <a:sym typeface="DM Sans"/>
              </a:rPr>
              <a:t>before any skin contact¹¹</a:t>
            </a:r>
          </a:p>
          <a:p>
            <a:pPr algn="l">
              <a:lnSpc>
                <a:spcPts val="2138"/>
              </a:lnSpc>
            </a:pPr>
            <a:r>
              <a:rPr lang="en-US" sz="1650">
                <a:solidFill>
                  <a:srgbClr val="059669"/>
                </a:solidFill>
                <a:latin typeface="DM Sans"/>
                <a:ea typeface="DM Sans"/>
                <a:cs typeface="DM Sans"/>
                <a:sym typeface="DM Sans"/>
              </a:rPr>
              <a:t>▪  </a:t>
            </a:r>
            <a:r>
              <a:rPr lang="en-US" sz="1650" b="true">
                <a:solidFill>
                  <a:srgbClr val="0F172A"/>
                </a:solidFill>
                <a:latin typeface="DM Sans Bold"/>
                <a:ea typeface="DM Sans Bold"/>
                <a:cs typeface="DM Sans Bold"/>
                <a:sym typeface="DM Sans Bold"/>
              </a:rPr>
              <a:t>EN 13726  </a:t>
            </a:r>
            <a:r>
              <a:rPr lang="en-US" sz="1650">
                <a:solidFill>
                  <a:srgbClr val="334155"/>
                </a:solidFill>
                <a:latin typeface="DM Sans"/>
                <a:ea typeface="DM Sans"/>
                <a:cs typeface="DM Sans"/>
                <a:sym typeface="DM Sans"/>
              </a:rPr>
              <a:t>simulated exudate for tests¹⁰</a:t>
            </a:r>
          </a:p>
          <a:p>
            <a:pPr algn="l">
              <a:lnSpc>
                <a:spcPts val="2138"/>
              </a:lnSpc>
            </a:pPr>
            <a:r>
              <a:rPr lang="en-US" sz="1650">
                <a:solidFill>
                  <a:srgbClr val="059669"/>
                </a:solidFill>
                <a:latin typeface="DM Sans"/>
                <a:ea typeface="DM Sans"/>
                <a:cs typeface="DM Sans"/>
                <a:sym typeface="DM Sans"/>
              </a:rPr>
              <a:t>▪  </a:t>
            </a:r>
            <a:r>
              <a:rPr lang="en-US" sz="1650" b="true">
                <a:solidFill>
                  <a:srgbClr val="0F172A"/>
                </a:solidFill>
                <a:latin typeface="DM Sans Bold"/>
                <a:ea typeface="DM Sans Bold"/>
                <a:cs typeface="DM Sans Bold"/>
                <a:sym typeface="DM Sans Bold"/>
              </a:rPr>
              <a:t>IEC 60825-1  </a:t>
            </a:r>
            <a:r>
              <a:rPr lang="en-US" sz="1650">
                <a:solidFill>
                  <a:srgbClr val="334155"/>
                </a:solidFill>
                <a:latin typeface="DM Sans"/>
                <a:ea typeface="DM Sans"/>
                <a:cs typeface="DM Sans"/>
                <a:sym typeface="DM Sans"/>
              </a:rPr>
              <a:t>laser work during fabrication</a:t>
            </a:r>
          </a:p>
        </p:txBody>
      </p:sp>
    </p:spTree>
  </p:cSld>
  <p:clrMapOvr>
    <a:masterClrMapping/>
  </p:clrMapOvr>
</p:sld>
</file>

<file path=ppt/slides/slide15.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0"/>
            <a:ext cx="18288000" cy="10287000"/>
            <a:chOff x="0" y="0"/>
            <a:chExt cx="24384000" cy="13716000"/>
          </a:xfrm>
        </p:grpSpPr>
        <p:sp>
          <p:nvSpPr>
            <p:cNvPr name="Freeform 3" id="3" descr="image.png"/>
            <p:cNvSpPr/>
            <p:nvPr/>
          </p:nvSpPr>
          <p:spPr>
            <a:xfrm flipH="false" flipV="false" rot="0">
              <a:off x="0" y="0"/>
              <a:ext cx="24384000" cy="13716000"/>
            </a:xfrm>
            <a:custGeom>
              <a:avLst/>
              <a:gdLst/>
              <a:ahLst/>
              <a:cxnLst/>
              <a:rect r="r" b="b" t="t" l="l"/>
              <a:pathLst>
                <a:path h="13716000" w="24384000">
                  <a:moveTo>
                    <a:pt x="0" y="0"/>
                  </a:moveTo>
                  <a:lnTo>
                    <a:pt x="24384000" y="0"/>
                  </a:lnTo>
                  <a:lnTo>
                    <a:pt x="24384000" y="13716000"/>
                  </a:lnTo>
                  <a:lnTo>
                    <a:pt x="0" y="13716000"/>
                  </a:lnTo>
                  <a:lnTo>
                    <a:pt x="0" y="0"/>
                  </a:lnTo>
                  <a:close/>
                </a:path>
              </a:pathLst>
            </a:custGeom>
            <a:blipFill>
              <a:blip r:embed="rId3"/>
              <a:stretch>
                <a:fillRect l="0" t="0" r="0" b="0"/>
              </a:stretch>
            </a:blipFill>
          </p:spPr>
          <p:txBody>
            <a:bodyPr/>
            <a:p/>
          </p:txBody>
        </p:sp>
      </p:grpSp>
      <p:grpSp>
        <p:nvGrpSpPr>
          <p:cNvPr name="Group 4" id="4"/>
          <p:cNvGrpSpPr/>
          <p:nvPr/>
        </p:nvGrpSpPr>
        <p:grpSpPr>
          <a:xfrm rot="0">
            <a:off x="800100" y="1434332"/>
            <a:ext cx="16687800" cy="3593592"/>
            <a:chOff x="0" y="0"/>
            <a:chExt cx="22250400" cy="4791456"/>
          </a:xfrm>
        </p:grpSpPr>
        <p:sp>
          <p:nvSpPr>
            <p:cNvPr name="Freeform 5" id="5" descr="image.png"/>
            <p:cNvSpPr/>
            <p:nvPr/>
          </p:nvSpPr>
          <p:spPr>
            <a:xfrm flipH="false" flipV="false" rot="0">
              <a:off x="0" y="0"/>
              <a:ext cx="22250400" cy="4791456"/>
            </a:xfrm>
            <a:custGeom>
              <a:avLst/>
              <a:gdLst/>
              <a:ahLst/>
              <a:cxnLst/>
              <a:rect r="r" b="b" t="t" l="l"/>
              <a:pathLst>
                <a:path h="4791456" w="22250400">
                  <a:moveTo>
                    <a:pt x="0" y="0"/>
                  </a:moveTo>
                  <a:lnTo>
                    <a:pt x="22250400" y="0"/>
                  </a:lnTo>
                  <a:lnTo>
                    <a:pt x="22250400" y="4791456"/>
                  </a:lnTo>
                  <a:lnTo>
                    <a:pt x="0" y="4791456"/>
                  </a:lnTo>
                  <a:lnTo>
                    <a:pt x="0" y="0"/>
                  </a:lnTo>
                  <a:close/>
                </a:path>
              </a:pathLst>
            </a:custGeom>
            <a:blipFill>
              <a:blip r:embed="rId4"/>
              <a:stretch>
                <a:fillRect l="0" t="0" r="-23901" b="0"/>
              </a:stretch>
            </a:blipFill>
          </p:spPr>
          <p:txBody>
            <a:bodyPr/>
            <a:p/>
          </p:txBody>
        </p:sp>
      </p:grpSp>
      <p:grpSp>
        <p:nvGrpSpPr>
          <p:cNvPr name="Group 6" id="6"/>
          <p:cNvGrpSpPr/>
          <p:nvPr/>
        </p:nvGrpSpPr>
        <p:grpSpPr>
          <a:xfrm rot="0">
            <a:off x="800100" y="5239512"/>
            <a:ext cx="8143875" cy="3593592"/>
            <a:chOff x="0" y="0"/>
            <a:chExt cx="10858500" cy="4791456"/>
          </a:xfrm>
        </p:grpSpPr>
        <p:sp>
          <p:nvSpPr>
            <p:cNvPr name="Freeform 7" id="7" descr="image.png"/>
            <p:cNvSpPr/>
            <p:nvPr/>
          </p:nvSpPr>
          <p:spPr>
            <a:xfrm flipH="false" flipV="false" rot="0">
              <a:off x="0" y="0"/>
              <a:ext cx="10858500" cy="4791456"/>
            </a:xfrm>
            <a:custGeom>
              <a:avLst/>
              <a:gdLst/>
              <a:ahLst/>
              <a:cxnLst/>
              <a:rect r="r" b="b" t="t" l="l"/>
              <a:pathLst>
                <a:path h="4791456" w="10858500">
                  <a:moveTo>
                    <a:pt x="0" y="0"/>
                  </a:moveTo>
                  <a:lnTo>
                    <a:pt x="10858500" y="0"/>
                  </a:lnTo>
                  <a:lnTo>
                    <a:pt x="10858500" y="4791456"/>
                  </a:lnTo>
                  <a:lnTo>
                    <a:pt x="0" y="4791456"/>
                  </a:lnTo>
                  <a:lnTo>
                    <a:pt x="0" y="0"/>
                  </a:lnTo>
                  <a:close/>
                </a:path>
              </a:pathLst>
            </a:custGeom>
            <a:blipFill>
              <a:blip r:embed="rId5"/>
              <a:stretch>
                <a:fillRect l="0" t="0" r="0" b="-42334"/>
              </a:stretch>
            </a:blipFill>
          </p:spPr>
          <p:txBody>
            <a:bodyPr/>
            <a:p/>
          </p:txBody>
        </p:sp>
      </p:grpSp>
      <p:grpSp>
        <p:nvGrpSpPr>
          <p:cNvPr name="Group 8" id="8"/>
          <p:cNvGrpSpPr/>
          <p:nvPr/>
        </p:nvGrpSpPr>
        <p:grpSpPr>
          <a:xfrm rot="0">
            <a:off x="9344025" y="5239512"/>
            <a:ext cx="8143875" cy="3593592"/>
            <a:chOff x="0" y="0"/>
            <a:chExt cx="10858500" cy="4791456"/>
          </a:xfrm>
        </p:grpSpPr>
        <p:sp>
          <p:nvSpPr>
            <p:cNvPr name="Freeform 9" id="9" descr="image.png"/>
            <p:cNvSpPr/>
            <p:nvPr/>
          </p:nvSpPr>
          <p:spPr>
            <a:xfrm flipH="false" flipV="false" rot="0">
              <a:off x="0" y="0"/>
              <a:ext cx="10858500" cy="4791456"/>
            </a:xfrm>
            <a:custGeom>
              <a:avLst/>
              <a:gdLst/>
              <a:ahLst/>
              <a:cxnLst/>
              <a:rect r="r" b="b" t="t" l="l"/>
              <a:pathLst>
                <a:path h="4791456" w="10858500">
                  <a:moveTo>
                    <a:pt x="0" y="0"/>
                  </a:moveTo>
                  <a:lnTo>
                    <a:pt x="10858500" y="0"/>
                  </a:lnTo>
                  <a:lnTo>
                    <a:pt x="10858500" y="4791456"/>
                  </a:lnTo>
                  <a:lnTo>
                    <a:pt x="0" y="4791456"/>
                  </a:lnTo>
                  <a:lnTo>
                    <a:pt x="0" y="0"/>
                  </a:lnTo>
                  <a:close/>
                </a:path>
              </a:pathLst>
            </a:custGeom>
            <a:blipFill>
              <a:blip r:embed="rId6"/>
              <a:stretch>
                <a:fillRect l="0" t="0" r="0" b="-42334"/>
              </a:stretch>
            </a:blipFill>
          </p:spPr>
          <p:txBody>
            <a:bodyPr/>
            <a:p/>
          </p:txBody>
        </p:sp>
      </p:grpSp>
      <p:grpSp>
        <p:nvGrpSpPr>
          <p:cNvPr name="Group 10" id="10"/>
          <p:cNvGrpSpPr/>
          <p:nvPr/>
        </p:nvGrpSpPr>
        <p:grpSpPr>
          <a:xfrm rot="0">
            <a:off x="800100" y="657225"/>
            <a:ext cx="12893040" cy="462782"/>
            <a:chOff x="0" y="0"/>
            <a:chExt cx="17190720" cy="617042"/>
          </a:xfrm>
        </p:grpSpPr>
        <p:sp>
          <p:nvSpPr>
            <p:cNvPr name="Freeform 11" id="11"/>
            <p:cNvSpPr/>
            <p:nvPr/>
          </p:nvSpPr>
          <p:spPr>
            <a:xfrm flipH="false" flipV="false" rot="0">
              <a:off x="0" y="0"/>
              <a:ext cx="17190720" cy="617040"/>
            </a:xfrm>
            <a:custGeom>
              <a:avLst/>
              <a:gdLst/>
              <a:ahLst/>
              <a:cxnLst/>
              <a:rect r="r" b="b" t="t" l="l"/>
              <a:pathLst>
                <a:path h="617040" w="17190720">
                  <a:moveTo>
                    <a:pt x="0" y="0"/>
                  </a:moveTo>
                  <a:lnTo>
                    <a:pt x="17190720" y="0"/>
                  </a:lnTo>
                  <a:lnTo>
                    <a:pt x="17190720" y="617040"/>
                  </a:lnTo>
                  <a:lnTo>
                    <a:pt x="0" y="617040"/>
                  </a:lnTo>
                  <a:close/>
                </a:path>
              </a:pathLst>
            </a:custGeom>
            <a:blipFill>
              <a:blip r:embed="rId7">
                <a:alphaModFix amt="0"/>
              </a:blip>
              <a:stretch>
                <a:fillRect l="0" t="-492852" r="0" b="-492852"/>
              </a:stretch>
            </a:blipFill>
          </p:spPr>
          <p:txBody>
            <a:bodyPr/>
            <a:p/>
          </p:txBody>
        </p:sp>
        <p:sp>
          <p:nvSpPr>
            <p:cNvPr name="TextBox 12" id="12"/>
            <p:cNvSpPr txBox="true"/>
            <p:nvPr/>
          </p:nvSpPr>
          <p:spPr>
            <a:xfrm>
              <a:off x="0" y="-104775"/>
              <a:ext cx="17190720" cy="721817"/>
            </a:xfrm>
            <a:prstGeom prst="rect">
              <a:avLst/>
            </a:prstGeom>
          </p:spPr>
          <p:txBody>
            <a:bodyPr anchor="ctr" rtlCol="false" tIns="0" lIns="0" bIns="0" rIns="0"/>
            <a:lstStyle/>
            <a:p>
              <a:pPr algn="l">
                <a:lnSpc>
                  <a:spcPts val="4372"/>
                </a:lnSpc>
              </a:pPr>
              <a:r>
                <a:rPr lang="en-US" sz="3037">
                  <a:solidFill>
                    <a:srgbClr val="0F172A"/>
                  </a:solidFill>
                  <a:latin typeface="Poppins"/>
                  <a:ea typeface="Poppins"/>
                  <a:cs typeface="Poppins"/>
                  <a:sym typeface="Poppins"/>
                </a:rPr>
                <a:t>Roadmap</a:t>
              </a:r>
            </a:p>
          </p:txBody>
        </p:sp>
      </p:grpSp>
      <p:grpSp>
        <p:nvGrpSpPr>
          <p:cNvPr name="Group 13" id="13"/>
          <p:cNvGrpSpPr/>
          <p:nvPr/>
        </p:nvGrpSpPr>
        <p:grpSpPr>
          <a:xfrm rot="0">
            <a:off x="1128712" y="1762944"/>
            <a:ext cx="231505" cy="228600"/>
            <a:chOff x="0" y="0"/>
            <a:chExt cx="308674" cy="304800"/>
          </a:xfrm>
        </p:grpSpPr>
        <p:sp>
          <p:nvSpPr>
            <p:cNvPr name="Freeform 14" id="14" descr="image.png"/>
            <p:cNvSpPr/>
            <p:nvPr/>
          </p:nvSpPr>
          <p:spPr>
            <a:xfrm flipH="false" flipV="false" rot="0">
              <a:off x="0" y="0"/>
              <a:ext cx="308610" cy="304800"/>
            </a:xfrm>
            <a:custGeom>
              <a:avLst/>
              <a:gdLst/>
              <a:ahLst/>
              <a:cxnLst/>
              <a:rect r="r" b="b" t="t" l="l"/>
              <a:pathLst>
                <a:path h="304800" w="308610">
                  <a:moveTo>
                    <a:pt x="0" y="0"/>
                  </a:moveTo>
                  <a:lnTo>
                    <a:pt x="308610" y="0"/>
                  </a:lnTo>
                  <a:lnTo>
                    <a:pt x="308610" y="304800"/>
                  </a:lnTo>
                  <a:lnTo>
                    <a:pt x="0" y="304800"/>
                  </a:lnTo>
                  <a:lnTo>
                    <a:pt x="0" y="0"/>
                  </a:lnTo>
                  <a:close/>
                </a:path>
              </a:pathLst>
            </a:custGeom>
            <a:blipFill>
              <a:blip r:embed="rId8"/>
              <a:stretch>
                <a:fillRect l="0" t="0" r="-20" b="-1270"/>
              </a:stretch>
            </a:blipFill>
          </p:spPr>
          <p:txBody>
            <a:bodyPr/>
            <a:p/>
          </p:txBody>
        </p:sp>
      </p:grpSp>
      <p:sp>
        <p:nvSpPr>
          <p:cNvPr name="TextBox 15" id="15"/>
          <p:cNvSpPr txBox="true"/>
          <p:nvPr/>
        </p:nvSpPr>
        <p:spPr>
          <a:xfrm rot="0">
            <a:off x="1503093" y="1743894"/>
            <a:ext cx="12344400" cy="247650"/>
          </a:xfrm>
          <a:prstGeom prst="rect">
            <a:avLst/>
          </a:prstGeom>
        </p:spPr>
        <p:txBody>
          <a:bodyPr anchor="t" rtlCol="false" tIns="0" lIns="0" bIns="0" rIns="0">
            <a:spAutoFit/>
          </a:bodyPr>
          <a:lstStyle/>
          <a:p>
            <a:pPr algn="l">
              <a:lnSpc>
                <a:spcPts val="2070"/>
              </a:lnSpc>
            </a:pPr>
            <a:r>
              <a:rPr lang="en-US" b="true" sz="1725">
                <a:solidFill>
                  <a:srgbClr val="0F172A"/>
                </a:solidFill>
                <a:latin typeface="DM Sans Bold"/>
                <a:ea typeface="DM Sans Bold"/>
                <a:cs typeface="DM Sans Bold"/>
                <a:sym typeface="DM Sans Bold"/>
              </a:rPr>
              <a:t>Four-month plan aligned with the programme dates. Each step depends on passing the previous gate.</a:t>
            </a:r>
          </a:p>
        </p:txBody>
      </p:sp>
      <p:grpSp>
        <p:nvGrpSpPr>
          <p:cNvPr name="Group 16" id="16"/>
          <p:cNvGrpSpPr/>
          <p:nvPr/>
        </p:nvGrpSpPr>
        <p:grpSpPr>
          <a:xfrm rot="0">
            <a:off x="1128712" y="5568696"/>
            <a:ext cx="231505" cy="228600"/>
            <a:chOff x="0" y="0"/>
            <a:chExt cx="308674" cy="304800"/>
          </a:xfrm>
        </p:grpSpPr>
        <p:sp>
          <p:nvSpPr>
            <p:cNvPr name="Freeform 17" id="17" descr="image.png"/>
            <p:cNvSpPr/>
            <p:nvPr/>
          </p:nvSpPr>
          <p:spPr>
            <a:xfrm flipH="false" flipV="false" rot="0">
              <a:off x="0" y="0"/>
              <a:ext cx="308610" cy="304800"/>
            </a:xfrm>
            <a:custGeom>
              <a:avLst/>
              <a:gdLst/>
              <a:ahLst/>
              <a:cxnLst/>
              <a:rect r="r" b="b" t="t" l="l"/>
              <a:pathLst>
                <a:path h="304800" w="308610">
                  <a:moveTo>
                    <a:pt x="0" y="0"/>
                  </a:moveTo>
                  <a:lnTo>
                    <a:pt x="308610" y="0"/>
                  </a:lnTo>
                  <a:lnTo>
                    <a:pt x="308610" y="304800"/>
                  </a:lnTo>
                  <a:lnTo>
                    <a:pt x="0" y="304800"/>
                  </a:lnTo>
                  <a:lnTo>
                    <a:pt x="0" y="0"/>
                  </a:lnTo>
                  <a:close/>
                </a:path>
              </a:pathLst>
            </a:custGeom>
            <a:blipFill>
              <a:blip r:embed="rId9"/>
              <a:stretch>
                <a:fillRect l="0" t="0" r="-20" b="-1270"/>
              </a:stretch>
            </a:blipFill>
          </p:spPr>
          <p:txBody>
            <a:bodyPr/>
            <a:p/>
          </p:txBody>
        </p:sp>
      </p:grpSp>
      <p:sp>
        <p:nvSpPr>
          <p:cNvPr name="TextBox 18" id="18"/>
          <p:cNvSpPr txBox="true"/>
          <p:nvPr/>
        </p:nvSpPr>
        <p:spPr>
          <a:xfrm rot="0">
            <a:off x="1503093" y="5537073"/>
            <a:ext cx="7269480" cy="276225"/>
          </a:xfrm>
          <a:prstGeom prst="rect">
            <a:avLst/>
          </a:prstGeom>
        </p:spPr>
        <p:txBody>
          <a:bodyPr anchor="t" rtlCol="false" tIns="0" lIns="0" bIns="0" rIns="0">
            <a:spAutoFit/>
          </a:bodyPr>
          <a:lstStyle/>
          <a:p>
            <a:pPr algn="l">
              <a:lnSpc>
                <a:spcPts val="2070"/>
              </a:lnSpc>
            </a:pPr>
            <a:r>
              <a:rPr lang="en-US" b="true" sz="1725">
                <a:solidFill>
                  <a:srgbClr val="0F172A"/>
                </a:solidFill>
                <a:latin typeface="DM Sans Bold"/>
                <a:ea typeface="DM Sans Bold"/>
                <a:cs typeface="DM Sans Bold"/>
                <a:sym typeface="DM Sans Bold"/>
              </a:rPr>
              <a:t>Build &amp; Bench (Months 1–2)</a:t>
            </a:r>
          </a:p>
        </p:txBody>
      </p:sp>
      <p:grpSp>
        <p:nvGrpSpPr>
          <p:cNvPr name="Group 19" id="19"/>
          <p:cNvGrpSpPr/>
          <p:nvPr/>
        </p:nvGrpSpPr>
        <p:grpSpPr>
          <a:xfrm rot="0">
            <a:off x="9672638" y="5568696"/>
            <a:ext cx="202930" cy="228600"/>
            <a:chOff x="0" y="0"/>
            <a:chExt cx="270574" cy="304800"/>
          </a:xfrm>
        </p:grpSpPr>
        <p:sp>
          <p:nvSpPr>
            <p:cNvPr name="Freeform 20" id="20" descr="image.png"/>
            <p:cNvSpPr/>
            <p:nvPr/>
          </p:nvSpPr>
          <p:spPr>
            <a:xfrm flipH="false" flipV="false" rot="0">
              <a:off x="0" y="0"/>
              <a:ext cx="270510" cy="304800"/>
            </a:xfrm>
            <a:custGeom>
              <a:avLst/>
              <a:gdLst/>
              <a:ahLst/>
              <a:cxnLst/>
              <a:rect r="r" b="b" t="t" l="l"/>
              <a:pathLst>
                <a:path h="304800" w="270510">
                  <a:moveTo>
                    <a:pt x="0" y="0"/>
                  </a:moveTo>
                  <a:lnTo>
                    <a:pt x="270510" y="0"/>
                  </a:lnTo>
                  <a:lnTo>
                    <a:pt x="270510" y="304800"/>
                  </a:lnTo>
                  <a:lnTo>
                    <a:pt x="0" y="304800"/>
                  </a:lnTo>
                  <a:lnTo>
                    <a:pt x="0" y="0"/>
                  </a:lnTo>
                  <a:close/>
                </a:path>
              </a:pathLst>
            </a:custGeom>
            <a:blipFill>
              <a:blip r:embed="rId10"/>
              <a:stretch>
                <a:fillRect l="0" t="0" r="-23" b="-604"/>
              </a:stretch>
            </a:blipFill>
          </p:spPr>
          <p:txBody>
            <a:bodyPr/>
            <a:p/>
          </p:txBody>
        </p:sp>
      </p:grpSp>
      <p:sp>
        <p:nvSpPr>
          <p:cNvPr name="TextBox 21" id="21"/>
          <p:cNvSpPr txBox="true"/>
          <p:nvPr/>
        </p:nvSpPr>
        <p:spPr>
          <a:xfrm rot="0">
            <a:off x="10018443" y="5537073"/>
            <a:ext cx="7269480" cy="276225"/>
          </a:xfrm>
          <a:prstGeom prst="rect">
            <a:avLst/>
          </a:prstGeom>
        </p:spPr>
        <p:txBody>
          <a:bodyPr anchor="t" rtlCol="false" tIns="0" lIns="0" bIns="0" rIns="0">
            <a:spAutoFit/>
          </a:bodyPr>
          <a:lstStyle/>
          <a:p>
            <a:pPr algn="l">
              <a:lnSpc>
                <a:spcPts val="2070"/>
              </a:lnSpc>
            </a:pPr>
            <a:r>
              <a:rPr lang="en-US" b="true" sz="1725">
                <a:solidFill>
                  <a:srgbClr val="0F172A"/>
                </a:solidFill>
                <a:latin typeface="DM Sans Bold"/>
                <a:ea typeface="DM Sans Bold"/>
                <a:cs typeface="DM Sans Bold"/>
                <a:sym typeface="DM Sans Bold"/>
              </a:rPr>
              <a:t>Validate &amp; Demo (Months 3–4)</a:t>
            </a:r>
          </a:p>
        </p:txBody>
      </p:sp>
      <p:grpSp>
        <p:nvGrpSpPr>
          <p:cNvPr name="Group 22" id="22"/>
          <p:cNvGrpSpPr/>
          <p:nvPr/>
        </p:nvGrpSpPr>
        <p:grpSpPr>
          <a:xfrm rot="0">
            <a:off x="16642794" y="9421197"/>
            <a:ext cx="1645206" cy="865803"/>
            <a:chOff x="0" y="0"/>
            <a:chExt cx="2193608" cy="1154405"/>
          </a:xfrm>
        </p:grpSpPr>
        <p:sp>
          <p:nvSpPr>
            <p:cNvPr name="Freeform 23" id="23"/>
            <p:cNvSpPr/>
            <p:nvPr/>
          </p:nvSpPr>
          <p:spPr>
            <a:xfrm flipH="false" flipV="false" rot="0">
              <a:off x="0" y="0"/>
              <a:ext cx="2193671" cy="1154430"/>
            </a:xfrm>
            <a:custGeom>
              <a:avLst/>
              <a:gdLst/>
              <a:ahLst/>
              <a:cxnLst/>
              <a:rect r="r" b="b" t="t" l="l"/>
              <a:pathLst>
                <a:path h="1154430" w="2193671">
                  <a:moveTo>
                    <a:pt x="0" y="0"/>
                  </a:moveTo>
                  <a:lnTo>
                    <a:pt x="2193671" y="0"/>
                  </a:lnTo>
                  <a:lnTo>
                    <a:pt x="2193671" y="1154430"/>
                  </a:lnTo>
                  <a:lnTo>
                    <a:pt x="0" y="1154430"/>
                  </a:lnTo>
                  <a:lnTo>
                    <a:pt x="0" y="0"/>
                  </a:lnTo>
                  <a:close/>
                </a:path>
              </a:pathLst>
            </a:custGeom>
            <a:blipFill>
              <a:blip r:embed="rId11"/>
              <a:stretch>
                <a:fillRect l="0" t="0" r="2" b="2"/>
              </a:stretch>
            </a:blipFill>
          </p:spPr>
          <p:txBody>
            <a:bodyPr/>
            <a:p/>
          </p:txBody>
        </p:sp>
      </p:grpSp>
      <p:grpSp>
        <p:nvGrpSpPr>
          <p:cNvPr name="Group 24" id="24"/>
          <p:cNvGrpSpPr/>
          <p:nvPr/>
        </p:nvGrpSpPr>
        <p:grpSpPr>
          <a:xfrm rot="0">
            <a:off x="0" y="9421197"/>
            <a:ext cx="2679421" cy="865803"/>
            <a:chOff x="0" y="0"/>
            <a:chExt cx="3572561" cy="1154405"/>
          </a:xfrm>
        </p:grpSpPr>
        <p:sp>
          <p:nvSpPr>
            <p:cNvPr name="Freeform 25" id="25"/>
            <p:cNvSpPr/>
            <p:nvPr/>
          </p:nvSpPr>
          <p:spPr>
            <a:xfrm flipH="false" flipV="false" rot="0">
              <a:off x="0" y="0"/>
              <a:ext cx="3572510" cy="1154430"/>
            </a:xfrm>
            <a:custGeom>
              <a:avLst/>
              <a:gdLst/>
              <a:ahLst/>
              <a:cxnLst/>
              <a:rect r="r" b="b" t="t" l="l"/>
              <a:pathLst>
                <a:path h="1154430" w="3572510">
                  <a:moveTo>
                    <a:pt x="0" y="0"/>
                  </a:moveTo>
                  <a:lnTo>
                    <a:pt x="3572510" y="0"/>
                  </a:lnTo>
                  <a:lnTo>
                    <a:pt x="3572510" y="1154430"/>
                  </a:lnTo>
                  <a:lnTo>
                    <a:pt x="0" y="1154430"/>
                  </a:lnTo>
                  <a:lnTo>
                    <a:pt x="0" y="0"/>
                  </a:lnTo>
                  <a:close/>
                </a:path>
              </a:pathLst>
            </a:custGeom>
            <a:blipFill>
              <a:blip r:embed="rId12"/>
              <a:stretch>
                <a:fillRect l="-21110" t="-147255" r="-22761" b="-197973"/>
              </a:stretch>
            </a:blipFill>
          </p:spPr>
          <p:txBody>
            <a:bodyPr/>
            <a:p/>
          </p:txBody>
        </p:sp>
      </p:grpSp>
      <p:grpSp>
        <p:nvGrpSpPr>
          <p:cNvPr name="Group 26" id="26"/>
          <p:cNvGrpSpPr/>
          <p:nvPr/>
        </p:nvGrpSpPr>
        <p:grpSpPr>
          <a:xfrm rot="0">
            <a:off x="14744700" y="685800"/>
            <a:ext cx="2743200" cy="370332"/>
            <a:chOff x="0" y="0"/>
            <a:chExt cx="3657600" cy="493776"/>
          </a:xfrm>
        </p:grpSpPr>
        <p:sp>
          <p:nvSpPr>
            <p:cNvPr name="Freeform 27" id="27"/>
            <p:cNvSpPr/>
            <p:nvPr/>
          </p:nvSpPr>
          <p:spPr>
            <a:xfrm flipH="false" flipV="false" rot="0">
              <a:off x="0" y="0"/>
              <a:ext cx="3657600" cy="493776"/>
            </a:xfrm>
            <a:custGeom>
              <a:avLst/>
              <a:gdLst/>
              <a:ahLst/>
              <a:cxnLst/>
              <a:rect r="r" b="b" t="t" l="l"/>
              <a:pathLst>
                <a:path h="493776" w="3657600">
                  <a:moveTo>
                    <a:pt x="0" y="246888"/>
                  </a:moveTo>
                  <a:cubicBezTo>
                    <a:pt x="0" y="110490"/>
                    <a:pt x="110490" y="0"/>
                    <a:pt x="246888" y="0"/>
                  </a:cubicBezTo>
                  <a:lnTo>
                    <a:pt x="3410712" y="0"/>
                  </a:lnTo>
                  <a:cubicBezTo>
                    <a:pt x="3547110" y="0"/>
                    <a:pt x="3657600" y="110490"/>
                    <a:pt x="3657600" y="246888"/>
                  </a:cubicBezTo>
                  <a:cubicBezTo>
                    <a:pt x="3657600" y="383286"/>
                    <a:pt x="3547110" y="493776"/>
                    <a:pt x="3410712" y="493776"/>
                  </a:cubicBezTo>
                  <a:lnTo>
                    <a:pt x="246888" y="493776"/>
                  </a:lnTo>
                  <a:cubicBezTo>
                    <a:pt x="110490" y="493776"/>
                    <a:pt x="0" y="383286"/>
                    <a:pt x="0" y="246888"/>
                  </a:cubicBezTo>
                  <a:close/>
                </a:path>
              </a:pathLst>
            </a:custGeom>
            <a:solidFill>
              <a:srgbClr val="E2E8F0"/>
            </a:solidFill>
          </p:spPr>
          <p:txBody>
            <a:bodyPr/>
            <a:p/>
          </p:txBody>
        </p:sp>
        <p:sp>
          <p:nvSpPr>
            <p:cNvPr name="TextBox 28" id="28"/>
            <p:cNvSpPr txBox="true"/>
            <p:nvPr/>
          </p:nvSpPr>
          <p:spPr>
            <a:xfrm>
              <a:off x="0" y="0"/>
              <a:ext cx="3657600" cy="493776"/>
            </a:xfrm>
            <a:prstGeom prst="rect">
              <a:avLst/>
            </a:prstGeom>
          </p:spPr>
          <p:txBody>
            <a:bodyPr anchor="ctr" rtlCol="false" tIns="50800" lIns="50800" bIns="50800" rIns="50800"/>
            <a:lstStyle/>
            <a:p>
              <a:pPr algn="ctr">
                <a:lnSpc>
                  <a:spcPts val="1350"/>
                </a:lnSpc>
              </a:pPr>
              <a:r>
                <a:rPr lang="en-US" sz="1125" b="true">
                  <a:solidFill>
                    <a:srgbClr val="475569"/>
                  </a:solidFill>
                  <a:latin typeface="DM Sans Bold"/>
                  <a:ea typeface="DM Sans Bold"/>
                  <a:cs typeface="DM Sans Bold"/>
                  <a:sym typeface="DM Sans Bold"/>
                </a:rPr>
                <a:t>PLANNED WORK · GATED MILESTONES</a:t>
              </a:r>
            </a:p>
          </p:txBody>
        </p:sp>
      </p:grpSp>
      <p:grpSp>
        <p:nvGrpSpPr>
          <p:cNvPr name="Group 29" id="29"/>
          <p:cNvGrpSpPr/>
          <p:nvPr/>
        </p:nvGrpSpPr>
        <p:grpSpPr>
          <a:xfrm rot="0">
            <a:off x="1191768" y="2125980"/>
            <a:ext cx="15913608" cy="2811780"/>
            <a:chOff x="0" y="0"/>
            <a:chExt cx="21218144" cy="3749040"/>
          </a:xfrm>
        </p:grpSpPr>
        <p:sp>
          <p:nvSpPr>
            <p:cNvPr name="Freeform 30" id="30" descr="fig_roadmap.png"/>
            <p:cNvSpPr/>
            <p:nvPr/>
          </p:nvSpPr>
          <p:spPr>
            <a:xfrm flipH="false" flipV="false" rot="0">
              <a:off x="0" y="0"/>
              <a:ext cx="21218144" cy="3749040"/>
            </a:xfrm>
            <a:custGeom>
              <a:avLst/>
              <a:gdLst/>
              <a:ahLst/>
              <a:cxnLst/>
              <a:rect r="r" b="b" t="t" l="l"/>
              <a:pathLst>
                <a:path h="3749040" w="21218144">
                  <a:moveTo>
                    <a:pt x="0" y="0"/>
                  </a:moveTo>
                  <a:lnTo>
                    <a:pt x="21218144" y="0"/>
                  </a:lnTo>
                  <a:lnTo>
                    <a:pt x="21218144" y="3749040"/>
                  </a:lnTo>
                  <a:lnTo>
                    <a:pt x="0" y="3749040"/>
                  </a:lnTo>
                  <a:lnTo>
                    <a:pt x="0" y="0"/>
                  </a:lnTo>
                  <a:close/>
                </a:path>
              </a:pathLst>
            </a:custGeom>
            <a:blipFill>
              <a:blip r:embed="rId13"/>
              <a:stretch>
                <a:fillRect l="0" t="0" r="0" b="0"/>
              </a:stretch>
            </a:blipFill>
          </p:spPr>
          <p:txBody>
            <a:bodyPr/>
            <a:p/>
          </p:txBody>
        </p:sp>
      </p:grpSp>
      <p:sp>
        <p:nvSpPr>
          <p:cNvPr name="TextBox 31" id="31"/>
          <p:cNvSpPr txBox="true"/>
          <p:nvPr/>
        </p:nvSpPr>
        <p:spPr>
          <a:xfrm rot="0">
            <a:off x="1170432" y="6062091"/>
            <a:ext cx="7507224" cy="1093394"/>
          </a:xfrm>
          <a:prstGeom prst="rect">
            <a:avLst/>
          </a:prstGeom>
        </p:spPr>
        <p:txBody>
          <a:bodyPr anchor="t" rtlCol="false" tIns="0" lIns="0" bIns="0" rIns="0">
            <a:spAutoFit/>
          </a:bodyPr>
          <a:lstStyle/>
          <a:p>
            <a:pPr algn="l" marL="0" indent="0" lvl="0">
              <a:lnSpc>
                <a:spcPts val="2235"/>
              </a:lnSpc>
              <a:spcBef>
                <a:spcPct val="0"/>
              </a:spcBef>
            </a:pPr>
            <a:r>
              <a:rPr lang="en-US" sz="1725" strike="noStrike" u="none">
                <a:solidFill>
                  <a:srgbClr val="059669"/>
                </a:solidFill>
                <a:latin typeface="DM Sans"/>
                <a:ea typeface="DM Sans"/>
                <a:cs typeface="DM Sans"/>
                <a:sym typeface="DM Sans"/>
              </a:rPr>
              <a:t>▪  Nov:  Run E2 laser tests (G1), then build and bench-test the reader (G2).</a:t>
            </a:r>
          </a:p>
          <a:p>
            <a:pPr algn="l" marL="0" indent="0" lvl="0">
              <a:lnSpc>
                <a:spcPts val="2235"/>
              </a:lnSpc>
              <a:spcBef>
                <a:spcPct val="0"/>
              </a:spcBef>
            </a:pPr>
            <a:r>
              <a:rPr lang="en-US" sz="1725" strike="noStrike" u="none">
                <a:solidFill>
                  <a:srgbClr val="059669"/>
                </a:solidFill>
                <a:latin typeface="DM Sans"/>
                <a:ea typeface="DM Sans"/>
                <a:cs typeface="DM Sans"/>
                <a:sym typeface="DM Sans"/>
              </a:rPr>
              <a:t>▪  By 4 Dec:  If gates pass, complete the first dressing demo, prototype video and revised Stage 3 deck.</a:t>
            </a:r>
          </a:p>
        </p:txBody>
      </p:sp>
      <p:sp>
        <p:nvSpPr>
          <p:cNvPr name="TextBox 32" id="32"/>
          <p:cNvSpPr txBox="true"/>
          <p:nvPr/>
        </p:nvSpPr>
        <p:spPr>
          <a:xfrm rot="0">
            <a:off x="9715500" y="6062091"/>
            <a:ext cx="7507224" cy="1369619"/>
          </a:xfrm>
          <a:prstGeom prst="rect">
            <a:avLst/>
          </a:prstGeom>
        </p:spPr>
        <p:txBody>
          <a:bodyPr anchor="t" rtlCol="false" tIns="0" lIns="0" bIns="0" rIns="0">
            <a:spAutoFit/>
          </a:bodyPr>
          <a:lstStyle/>
          <a:p>
            <a:pPr algn="l" marL="0" indent="0" lvl="0">
              <a:lnSpc>
                <a:spcPts val="2235"/>
              </a:lnSpc>
              <a:spcBef>
                <a:spcPct val="0"/>
              </a:spcBef>
            </a:pPr>
            <a:r>
              <a:rPr lang="en-US" sz="1725" strike="noStrike" u="none">
                <a:solidFill>
                  <a:srgbClr val="059669"/>
                </a:solidFill>
                <a:latin typeface="DM Sans"/>
                <a:ea typeface="DM Sans"/>
                <a:cs typeface="DM Sans"/>
                <a:sym typeface="DM Sans"/>
              </a:rPr>
              <a:t>▪  Dec–Jan:  Build strip version 0.2 and a printed clamp, then run E4 wet tests (G3, mid-Jan) if earlier gates pass.</a:t>
            </a:r>
          </a:p>
          <a:p>
            <a:pPr algn="l" marL="0" indent="0" lvl="0">
              <a:lnSpc>
                <a:spcPts val="2235"/>
              </a:lnSpc>
              <a:spcBef>
                <a:spcPct val="0"/>
              </a:spcBef>
            </a:pPr>
            <a:r>
              <a:rPr lang="en-US" sz="1725" strike="noStrike" u="none">
                <a:solidFill>
                  <a:srgbClr val="059669"/>
                </a:solidFill>
                <a:latin typeface="DM Sans"/>
                <a:ea typeface="DM Sans"/>
                <a:cs typeface="DM Sans"/>
                <a:sym typeface="DM Sans"/>
              </a:rPr>
              <a:t>▪  Jan:  Prepare for virtual jury interviews.</a:t>
            </a:r>
          </a:p>
          <a:p>
            <a:pPr algn="l" marL="0" indent="0" lvl="0">
              <a:lnSpc>
                <a:spcPts val="2235"/>
              </a:lnSpc>
              <a:spcBef>
                <a:spcPct val="0"/>
              </a:spcBef>
            </a:pPr>
            <a:r>
              <a:rPr lang="en-US" sz="1725" strike="noStrike" u="none">
                <a:solidFill>
                  <a:srgbClr val="059669"/>
                </a:solidFill>
                <a:latin typeface="DM Sans"/>
                <a:ea typeface="DM Sans"/>
                <a:cs typeface="DM Sans"/>
                <a:sym typeface="DM Sans"/>
              </a:rPr>
              <a:t>▪  If selected, Grand Finale at IIT Indore (26 Jan–1 Feb 2027):  live jury demo of the strip and reader on a dressing, showing OK → CHANGE.</a:t>
            </a:r>
          </a:p>
        </p:txBody>
      </p:sp>
    </p:spTree>
  </p:cSld>
  <p:clrMapOvr>
    <a:masterClrMapping/>
  </p:clrMapOvr>
</p:sld>
</file>

<file path=ppt/slides/slide16.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0"/>
            <a:ext cx="18288000" cy="10287000"/>
            <a:chOff x="0" y="0"/>
            <a:chExt cx="24384000" cy="13716000"/>
          </a:xfrm>
        </p:grpSpPr>
        <p:sp>
          <p:nvSpPr>
            <p:cNvPr name="Freeform 3" id="3" descr="image.png"/>
            <p:cNvSpPr/>
            <p:nvPr/>
          </p:nvSpPr>
          <p:spPr>
            <a:xfrm flipH="false" flipV="false" rot="0">
              <a:off x="0" y="0"/>
              <a:ext cx="24384000" cy="13716000"/>
            </a:xfrm>
            <a:custGeom>
              <a:avLst/>
              <a:gdLst/>
              <a:ahLst/>
              <a:cxnLst/>
              <a:rect r="r" b="b" t="t" l="l"/>
              <a:pathLst>
                <a:path h="13716000" w="24384000">
                  <a:moveTo>
                    <a:pt x="0" y="0"/>
                  </a:moveTo>
                  <a:lnTo>
                    <a:pt x="24384000" y="0"/>
                  </a:lnTo>
                  <a:lnTo>
                    <a:pt x="24384000" y="13716000"/>
                  </a:lnTo>
                  <a:lnTo>
                    <a:pt x="0" y="13716000"/>
                  </a:lnTo>
                  <a:lnTo>
                    <a:pt x="0" y="0"/>
                  </a:lnTo>
                  <a:close/>
                </a:path>
              </a:pathLst>
            </a:custGeom>
            <a:blipFill>
              <a:blip r:embed="rId3"/>
              <a:stretch>
                <a:fillRect l="0" t="0" r="0" b="0"/>
              </a:stretch>
            </a:blipFill>
          </p:spPr>
          <p:txBody>
            <a:bodyPr/>
            <a:p/>
          </p:txBody>
        </p:sp>
      </p:grpSp>
      <p:grpSp>
        <p:nvGrpSpPr>
          <p:cNvPr name="Group 4" id="4"/>
          <p:cNvGrpSpPr/>
          <p:nvPr/>
        </p:nvGrpSpPr>
        <p:grpSpPr>
          <a:xfrm rot="0">
            <a:off x="800100" y="8498634"/>
            <a:ext cx="16687800" cy="544706"/>
            <a:chOff x="0" y="0"/>
            <a:chExt cx="22250400" cy="726275"/>
          </a:xfrm>
        </p:grpSpPr>
        <p:sp>
          <p:nvSpPr>
            <p:cNvPr name="Freeform 5" id="5" descr="image.png"/>
            <p:cNvSpPr/>
            <p:nvPr/>
          </p:nvSpPr>
          <p:spPr>
            <a:xfrm flipH="false" flipV="false" rot="0">
              <a:off x="0" y="0"/>
              <a:ext cx="22250400" cy="726313"/>
            </a:xfrm>
            <a:custGeom>
              <a:avLst/>
              <a:gdLst/>
              <a:ahLst/>
              <a:cxnLst/>
              <a:rect r="r" b="b" t="t" l="l"/>
              <a:pathLst>
                <a:path h="726313" w="22250400">
                  <a:moveTo>
                    <a:pt x="0" y="0"/>
                  </a:moveTo>
                  <a:lnTo>
                    <a:pt x="22250400" y="0"/>
                  </a:lnTo>
                  <a:lnTo>
                    <a:pt x="22250400" y="726313"/>
                  </a:lnTo>
                  <a:lnTo>
                    <a:pt x="0" y="726313"/>
                  </a:lnTo>
                  <a:lnTo>
                    <a:pt x="0" y="0"/>
                  </a:lnTo>
                  <a:close/>
                </a:path>
              </a:pathLst>
            </a:custGeom>
            <a:blipFill>
              <a:blip r:embed="rId4"/>
              <a:stretch>
                <a:fillRect l="0" t="0" r="0" b="-2290"/>
              </a:stretch>
            </a:blipFill>
          </p:spPr>
          <p:txBody>
            <a:bodyPr/>
            <a:p/>
          </p:txBody>
        </p:sp>
      </p:grpSp>
      <p:grpSp>
        <p:nvGrpSpPr>
          <p:cNvPr name="Group 6" id="6"/>
          <p:cNvGrpSpPr/>
          <p:nvPr/>
        </p:nvGrpSpPr>
        <p:grpSpPr>
          <a:xfrm rot="0">
            <a:off x="800100" y="1434332"/>
            <a:ext cx="5352898" cy="3771900"/>
            <a:chOff x="0" y="0"/>
            <a:chExt cx="7137197" cy="5029200"/>
          </a:xfrm>
        </p:grpSpPr>
        <p:sp>
          <p:nvSpPr>
            <p:cNvPr name="Freeform 7" id="7" descr="image.png"/>
            <p:cNvSpPr/>
            <p:nvPr/>
          </p:nvSpPr>
          <p:spPr>
            <a:xfrm flipH="false" flipV="false" rot="0">
              <a:off x="0" y="0"/>
              <a:ext cx="7137146" cy="5029200"/>
            </a:xfrm>
            <a:custGeom>
              <a:avLst/>
              <a:gdLst/>
              <a:ahLst/>
              <a:cxnLst/>
              <a:rect r="r" b="b" t="t" l="l"/>
              <a:pathLst>
                <a:path h="5029200" w="7137146">
                  <a:moveTo>
                    <a:pt x="0" y="0"/>
                  </a:moveTo>
                  <a:lnTo>
                    <a:pt x="7137146" y="0"/>
                  </a:lnTo>
                  <a:lnTo>
                    <a:pt x="7137146" y="5029200"/>
                  </a:lnTo>
                  <a:lnTo>
                    <a:pt x="0" y="5029200"/>
                  </a:lnTo>
                  <a:lnTo>
                    <a:pt x="0" y="0"/>
                  </a:lnTo>
                  <a:close/>
                </a:path>
              </a:pathLst>
            </a:custGeom>
            <a:blipFill>
              <a:blip r:embed="rId5"/>
              <a:stretch>
                <a:fillRect l="0" t="0" r="0" b="-98302"/>
              </a:stretch>
            </a:blipFill>
          </p:spPr>
          <p:txBody>
            <a:bodyPr/>
            <a:p/>
          </p:txBody>
        </p:sp>
      </p:grpSp>
      <p:grpSp>
        <p:nvGrpSpPr>
          <p:cNvPr name="Group 8" id="8"/>
          <p:cNvGrpSpPr/>
          <p:nvPr/>
        </p:nvGrpSpPr>
        <p:grpSpPr>
          <a:xfrm rot="0">
            <a:off x="6467323" y="1434332"/>
            <a:ext cx="5353126" cy="3771900"/>
            <a:chOff x="0" y="0"/>
            <a:chExt cx="7137502" cy="5029200"/>
          </a:xfrm>
        </p:grpSpPr>
        <p:sp>
          <p:nvSpPr>
            <p:cNvPr name="Freeform 9" id="9" descr="image.png"/>
            <p:cNvSpPr/>
            <p:nvPr/>
          </p:nvSpPr>
          <p:spPr>
            <a:xfrm flipH="false" flipV="false" rot="0">
              <a:off x="0" y="0"/>
              <a:ext cx="7137527" cy="5029200"/>
            </a:xfrm>
            <a:custGeom>
              <a:avLst/>
              <a:gdLst/>
              <a:ahLst/>
              <a:cxnLst/>
              <a:rect r="r" b="b" t="t" l="l"/>
              <a:pathLst>
                <a:path h="5029200" w="7137527">
                  <a:moveTo>
                    <a:pt x="0" y="0"/>
                  </a:moveTo>
                  <a:lnTo>
                    <a:pt x="7137527" y="0"/>
                  </a:lnTo>
                  <a:lnTo>
                    <a:pt x="7137527" y="5029200"/>
                  </a:lnTo>
                  <a:lnTo>
                    <a:pt x="0" y="5029200"/>
                  </a:lnTo>
                  <a:lnTo>
                    <a:pt x="0" y="0"/>
                  </a:lnTo>
                  <a:close/>
                </a:path>
              </a:pathLst>
            </a:custGeom>
            <a:blipFill>
              <a:blip r:embed="rId6"/>
              <a:stretch>
                <a:fillRect l="0" t="0" r="0" b="-97783"/>
              </a:stretch>
            </a:blipFill>
          </p:spPr>
          <p:txBody>
            <a:bodyPr/>
            <a:p/>
          </p:txBody>
        </p:sp>
      </p:grpSp>
      <p:grpSp>
        <p:nvGrpSpPr>
          <p:cNvPr name="Group 10" id="10"/>
          <p:cNvGrpSpPr/>
          <p:nvPr/>
        </p:nvGrpSpPr>
        <p:grpSpPr>
          <a:xfrm rot="0">
            <a:off x="12134774" y="1434332"/>
            <a:ext cx="5352898" cy="3771900"/>
            <a:chOff x="0" y="0"/>
            <a:chExt cx="7137197" cy="5029200"/>
          </a:xfrm>
        </p:grpSpPr>
        <p:sp>
          <p:nvSpPr>
            <p:cNvPr name="Freeform 11" id="11" descr="image.png"/>
            <p:cNvSpPr/>
            <p:nvPr/>
          </p:nvSpPr>
          <p:spPr>
            <a:xfrm flipH="false" flipV="false" rot="0">
              <a:off x="0" y="0"/>
              <a:ext cx="7137146" cy="5029200"/>
            </a:xfrm>
            <a:custGeom>
              <a:avLst/>
              <a:gdLst/>
              <a:ahLst/>
              <a:cxnLst/>
              <a:rect r="r" b="b" t="t" l="l"/>
              <a:pathLst>
                <a:path h="5029200" w="7137146">
                  <a:moveTo>
                    <a:pt x="0" y="0"/>
                  </a:moveTo>
                  <a:lnTo>
                    <a:pt x="7137146" y="0"/>
                  </a:lnTo>
                  <a:lnTo>
                    <a:pt x="7137146" y="5029200"/>
                  </a:lnTo>
                  <a:lnTo>
                    <a:pt x="0" y="5029200"/>
                  </a:lnTo>
                  <a:lnTo>
                    <a:pt x="0" y="0"/>
                  </a:lnTo>
                  <a:close/>
                </a:path>
              </a:pathLst>
            </a:custGeom>
            <a:blipFill>
              <a:blip r:embed="rId7"/>
              <a:stretch>
                <a:fillRect l="0" t="0" r="0" b="-98302"/>
              </a:stretch>
            </a:blipFill>
          </p:spPr>
          <p:txBody>
            <a:bodyPr/>
            <a:p/>
          </p:txBody>
        </p:sp>
      </p:grpSp>
      <p:grpSp>
        <p:nvGrpSpPr>
          <p:cNvPr name="Group 12" id="12"/>
          <p:cNvGrpSpPr/>
          <p:nvPr/>
        </p:nvGrpSpPr>
        <p:grpSpPr>
          <a:xfrm rot="0">
            <a:off x="800100" y="657225"/>
            <a:ext cx="12893040" cy="462782"/>
            <a:chOff x="0" y="0"/>
            <a:chExt cx="17190720" cy="617042"/>
          </a:xfrm>
        </p:grpSpPr>
        <p:sp>
          <p:nvSpPr>
            <p:cNvPr name="Freeform 13" id="13"/>
            <p:cNvSpPr/>
            <p:nvPr/>
          </p:nvSpPr>
          <p:spPr>
            <a:xfrm flipH="false" flipV="false" rot="0">
              <a:off x="0" y="0"/>
              <a:ext cx="17190720" cy="617040"/>
            </a:xfrm>
            <a:custGeom>
              <a:avLst/>
              <a:gdLst/>
              <a:ahLst/>
              <a:cxnLst/>
              <a:rect r="r" b="b" t="t" l="l"/>
              <a:pathLst>
                <a:path h="617040" w="17190720">
                  <a:moveTo>
                    <a:pt x="0" y="0"/>
                  </a:moveTo>
                  <a:lnTo>
                    <a:pt x="17190720" y="0"/>
                  </a:lnTo>
                  <a:lnTo>
                    <a:pt x="17190720" y="617040"/>
                  </a:lnTo>
                  <a:lnTo>
                    <a:pt x="0" y="617040"/>
                  </a:lnTo>
                  <a:close/>
                </a:path>
              </a:pathLst>
            </a:custGeom>
            <a:blipFill>
              <a:blip r:embed="rId8">
                <a:alphaModFix amt="0"/>
              </a:blip>
              <a:stretch>
                <a:fillRect l="0" t="-492852" r="0" b="-492852"/>
              </a:stretch>
            </a:blipFill>
          </p:spPr>
          <p:txBody>
            <a:bodyPr/>
            <a:p/>
          </p:txBody>
        </p:sp>
        <p:sp>
          <p:nvSpPr>
            <p:cNvPr name="TextBox 14" id="14"/>
            <p:cNvSpPr txBox="true"/>
            <p:nvPr/>
          </p:nvSpPr>
          <p:spPr>
            <a:xfrm>
              <a:off x="0" y="-104775"/>
              <a:ext cx="17190720" cy="721817"/>
            </a:xfrm>
            <a:prstGeom prst="rect">
              <a:avLst/>
            </a:prstGeom>
          </p:spPr>
          <p:txBody>
            <a:bodyPr anchor="ctr" rtlCol="false" tIns="0" lIns="0" bIns="0" rIns="0"/>
            <a:lstStyle/>
            <a:p>
              <a:pPr algn="l">
                <a:lnSpc>
                  <a:spcPts val="4372"/>
                </a:lnSpc>
              </a:pPr>
              <a:r>
                <a:rPr lang="en-US" sz="3037">
                  <a:solidFill>
                    <a:srgbClr val="0F172A"/>
                  </a:solidFill>
                  <a:latin typeface="Poppins"/>
                  <a:ea typeface="Poppins"/>
                  <a:cs typeface="Poppins"/>
                  <a:sym typeface="Poppins"/>
                </a:rPr>
                <a:t>Technical Challenges &amp; Risks</a:t>
              </a:r>
            </a:p>
          </p:txBody>
        </p:sp>
      </p:grpSp>
      <p:sp>
        <p:nvSpPr>
          <p:cNvPr name="TextBox 15" id="15"/>
          <p:cNvSpPr txBox="true"/>
          <p:nvPr/>
        </p:nvSpPr>
        <p:spPr>
          <a:xfrm rot="0">
            <a:off x="1085850" y="8565309"/>
            <a:ext cx="16047720" cy="291689"/>
          </a:xfrm>
          <a:prstGeom prst="rect">
            <a:avLst/>
          </a:prstGeom>
        </p:spPr>
        <p:txBody>
          <a:bodyPr anchor="t" rtlCol="false" tIns="0" lIns="0" bIns="0" rIns="0">
            <a:spAutoFit/>
          </a:bodyPr>
          <a:lstStyle/>
          <a:p>
            <a:pPr algn="l">
              <a:lnSpc>
                <a:spcPts val="2506"/>
              </a:lnSpc>
            </a:pPr>
            <a:r>
              <a:rPr lang="en-US" b="true" sz="1439">
                <a:solidFill>
                  <a:srgbClr val="0F172A"/>
                </a:solidFill>
                <a:latin typeface="DM Sans Bold"/>
                <a:ea typeface="DM Sans Bold"/>
                <a:cs typeface="DM Sans Bold"/>
                <a:sym typeface="DM Sans Bold"/>
              </a:rPr>
              <a:t>We also corrected two drawing issues: STEP files now export in millimetres, and a 0.125 mm dimension is shown correctly.</a:t>
            </a:r>
          </a:p>
        </p:txBody>
      </p:sp>
      <p:grpSp>
        <p:nvGrpSpPr>
          <p:cNvPr name="Group 16" id="16"/>
          <p:cNvGrpSpPr/>
          <p:nvPr/>
        </p:nvGrpSpPr>
        <p:grpSpPr>
          <a:xfrm rot="0">
            <a:off x="1128712" y="1762944"/>
            <a:ext cx="288655" cy="228600"/>
            <a:chOff x="0" y="0"/>
            <a:chExt cx="384874" cy="304800"/>
          </a:xfrm>
        </p:grpSpPr>
        <p:sp>
          <p:nvSpPr>
            <p:cNvPr name="Freeform 17" id="17" descr="image.png"/>
            <p:cNvSpPr/>
            <p:nvPr/>
          </p:nvSpPr>
          <p:spPr>
            <a:xfrm flipH="false" flipV="false" rot="0">
              <a:off x="0" y="0"/>
              <a:ext cx="384810" cy="304800"/>
            </a:xfrm>
            <a:custGeom>
              <a:avLst/>
              <a:gdLst/>
              <a:ahLst/>
              <a:cxnLst/>
              <a:rect r="r" b="b" t="t" l="l"/>
              <a:pathLst>
                <a:path h="304800" w="384810">
                  <a:moveTo>
                    <a:pt x="0" y="0"/>
                  </a:moveTo>
                  <a:lnTo>
                    <a:pt x="384810" y="0"/>
                  </a:lnTo>
                  <a:lnTo>
                    <a:pt x="384810" y="304800"/>
                  </a:lnTo>
                  <a:lnTo>
                    <a:pt x="0" y="304800"/>
                  </a:lnTo>
                  <a:lnTo>
                    <a:pt x="0" y="0"/>
                  </a:lnTo>
                  <a:close/>
                </a:path>
              </a:pathLst>
            </a:custGeom>
            <a:blipFill>
              <a:blip r:embed="rId9"/>
              <a:stretch>
                <a:fillRect l="0" t="0" r="-16" b="-2216"/>
              </a:stretch>
            </a:blipFill>
          </p:spPr>
          <p:txBody>
            <a:bodyPr/>
            <a:p/>
          </p:txBody>
        </p:sp>
      </p:grpSp>
      <p:sp>
        <p:nvSpPr>
          <p:cNvPr name="TextBox 18" id="18"/>
          <p:cNvSpPr txBox="true"/>
          <p:nvPr/>
        </p:nvSpPr>
        <p:spPr>
          <a:xfrm rot="0">
            <a:off x="1560243" y="1743894"/>
            <a:ext cx="4594860" cy="238125"/>
          </a:xfrm>
          <a:prstGeom prst="rect">
            <a:avLst/>
          </a:prstGeom>
        </p:spPr>
        <p:txBody>
          <a:bodyPr anchor="t" rtlCol="false" tIns="0" lIns="0" bIns="0" rIns="0">
            <a:spAutoFit/>
          </a:bodyPr>
          <a:lstStyle/>
          <a:p>
            <a:pPr algn="l">
              <a:lnSpc>
                <a:spcPts val="1980"/>
              </a:lnSpc>
            </a:pPr>
            <a:r>
              <a:rPr lang="en-US" b="true" sz="1650">
                <a:solidFill>
                  <a:srgbClr val="0F172A"/>
                </a:solidFill>
                <a:latin typeface="DM Sans Bold"/>
                <a:ea typeface="DM Sans Bold"/>
                <a:cs typeface="DM Sans Bold"/>
                <a:sym typeface="DM Sans Bold"/>
              </a:rPr>
              <a:t>Geometry: seal tape under the clamp</a:t>
            </a:r>
          </a:p>
        </p:txBody>
      </p:sp>
      <p:grpSp>
        <p:nvGrpSpPr>
          <p:cNvPr name="Group 19" id="19"/>
          <p:cNvGrpSpPr/>
          <p:nvPr/>
        </p:nvGrpSpPr>
        <p:grpSpPr>
          <a:xfrm rot="0">
            <a:off x="6795935" y="1762944"/>
            <a:ext cx="260080" cy="228600"/>
            <a:chOff x="0" y="0"/>
            <a:chExt cx="346774" cy="304800"/>
          </a:xfrm>
        </p:grpSpPr>
        <p:sp>
          <p:nvSpPr>
            <p:cNvPr name="Freeform 20" id="20" descr="image.png"/>
            <p:cNvSpPr/>
            <p:nvPr/>
          </p:nvSpPr>
          <p:spPr>
            <a:xfrm flipH="false" flipV="false" rot="0">
              <a:off x="0" y="0"/>
              <a:ext cx="346710" cy="304800"/>
            </a:xfrm>
            <a:custGeom>
              <a:avLst/>
              <a:gdLst/>
              <a:ahLst/>
              <a:cxnLst/>
              <a:rect r="r" b="b" t="t" l="l"/>
              <a:pathLst>
                <a:path h="304800" w="346710">
                  <a:moveTo>
                    <a:pt x="0" y="0"/>
                  </a:moveTo>
                  <a:lnTo>
                    <a:pt x="346710" y="0"/>
                  </a:lnTo>
                  <a:lnTo>
                    <a:pt x="346710" y="304800"/>
                  </a:lnTo>
                  <a:lnTo>
                    <a:pt x="0" y="304800"/>
                  </a:lnTo>
                  <a:lnTo>
                    <a:pt x="0" y="0"/>
                  </a:lnTo>
                  <a:close/>
                </a:path>
              </a:pathLst>
            </a:custGeom>
            <a:blipFill>
              <a:blip r:embed="rId10"/>
              <a:stretch>
                <a:fillRect l="0" t="0" r="-18" b="-1791"/>
              </a:stretch>
            </a:blipFill>
          </p:spPr>
          <p:txBody>
            <a:bodyPr/>
            <a:p/>
          </p:txBody>
        </p:sp>
      </p:grpSp>
      <p:sp>
        <p:nvSpPr>
          <p:cNvPr name="TextBox 21" id="21"/>
          <p:cNvSpPr txBox="true"/>
          <p:nvPr/>
        </p:nvSpPr>
        <p:spPr>
          <a:xfrm rot="0">
            <a:off x="7198890" y="1743894"/>
            <a:ext cx="4594860" cy="238125"/>
          </a:xfrm>
          <a:prstGeom prst="rect">
            <a:avLst/>
          </a:prstGeom>
        </p:spPr>
        <p:txBody>
          <a:bodyPr anchor="t" rtlCol="false" tIns="0" lIns="0" bIns="0" rIns="0">
            <a:spAutoFit/>
          </a:bodyPr>
          <a:lstStyle/>
          <a:p>
            <a:pPr algn="l">
              <a:lnSpc>
                <a:spcPts val="1980"/>
              </a:lnSpc>
            </a:pPr>
            <a:r>
              <a:rPr lang="en-US" b="true" sz="1650">
                <a:solidFill>
                  <a:srgbClr val="0F172A"/>
                </a:solidFill>
                <a:latin typeface="DM Sans Bold"/>
                <a:ea typeface="DM Sans Bold"/>
                <a:cs typeface="DM Sans Bold"/>
                <a:sym typeface="DM Sans Bold"/>
              </a:rPr>
              <a:t>Circuit: a broken lead can look dry</a:t>
            </a:r>
          </a:p>
        </p:txBody>
      </p:sp>
      <p:grpSp>
        <p:nvGrpSpPr>
          <p:cNvPr name="Group 22" id="22"/>
          <p:cNvGrpSpPr/>
          <p:nvPr/>
        </p:nvGrpSpPr>
        <p:grpSpPr>
          <a:xfrm rot="0">
            <a:off x="12463386" y="1762944"/>
            <a:ext cx="231505" cy="228600"/>
            <a:chOff x="0" y="0"/>
            <a:chExt cx="308674" cy="304800"/>
          </a:xfrm>
        </p:grpSpPr>
        <p:sp>
          <p:nvSpPr>
            <p:cNvPr name="Freeform 23" id="23" descr="image.png"/>
            <p:cNvSpPr/>
            <p:nvPr/>
          </p:nvSpPr>
          <p:spPr>
            <a:xfrm flipH="false" flipV="false" rot="0">
              <a:off x="0" y="0"/>
              <a:ext cx="308610" cy="304800"/>
            </a:xfrm>
            <a:custGeom>
              <a:avLst/>
              <a:gdLst/>
              <a:ahLst/>
              <a:cxnLst/>
              <a:rect r="r" b="b" t="t" l="l"/>
              <a:pathLst>
                <a:path h="304800" w="308610">
                  <a:moveTo>
                    <a:pt x="0" y="0"/>
                  </a:moveTo>
                  <a:lnTo>
                    <a:pt x="308610" y="0"/>
                  </a:lnTo>
                  <a:lnTo>
                    <a:pt x="308610" y="304800"/>
                  </a:lnTo>
                  <a:lnTo>
                    <a:pt x="0" y="304800"/>
                  </a:lnTo>
                  <a:lnTo>
                    <a:pt x="0" y="0"/>
                  </a:lnTo>
                  <a:close/>
                </a:path>
              </a:pathLst>
            </a:custGeom>
            <a:blipFill>
              <a:blip r:embed="rId11"/>
              <a:stretch>
                <a:fillRect l="0" t="0" r="-20" b="-1270"/>
              </a:stretch>
            </a:blipFill>
          </p:spPr>
          <p:txBody>
            <a:bodyPr/>
            <a:p/>
          </p:txBody>
        </p:sp>
      </p:grpSp>
      <p:sp>
        <p:nvSpPr>
          <p:cNvPr name="TextBox 24" id="24"/>
          <p:cNvSpPr txBox="true"/>
          <p:nvPr/>
        </p:nvSpPr>
        <p:spPr>
          <a:xfrm rot="0">
            <a:off x="12837766" y="1743894"/>
            <a:ext cx="4594860" cy="238125"/>
          </a:xfrm>
          <a:prstGeom prst="rect">
            <a:avLst/>
          </a:prstGeom>
        </p:spPr>
        <p:txBody>
          <a:bodyPr anchor="t" rtlCol="false" tIns="0" lIns="0" bIns="0" rIns="0">
            <a:spAutoFit/>
          </a:bodyPr>
          <a:lstStyle/>
          <a:p>
            <a:pPr algn="l" marL="0" indent="0" lvl="0">
              <a:lnSpc>
                <a:spcPts val="1980"/>
              </a:lnSpc>
              <a:spcBef>
                <a:spcPct val="0"/>
              </a:spcBef>
            </a:pPr>
            <a:r>
              <a:rPr lang="en-US" b="true" sz="1650" strike="noStrike" u="none">
                <a:solidFill>
                  <a:srgbClr val="0F172A"/>
                </a:solidFill>
                <a:latin typeface="DM Sans Bold"/>
                <a:ea typeface="DM Sans Bold"/>
                <a:cs typeface="DM Sans Bold"/>
                <a:sym typeface="DM Sans Bold"/>
              </a:rPr>
              <a:t>Process: low-PWM tube current stability</a:t>
            </a:r>
          </a:p>
        </p:txBody>
      </p:sp>
      <p:grpSp>
        <p:nvGrpSpPr>
          <p:cNvPr name="Group 25" id="25"/>
          <p:cNvGrpSpPr/>
          <p:nvPr/>
        </p:nvGrpSpPr>
        <p:grpSpPr>
          <a:xfrm rot="0">
            <a:off x="16642794" y="9421197"/>
            <a:ext cx="1645206" cy="865803"/>
            <a:chOff x="0" y="0"/>
            <a:chExt cx="2193608" cy="1154405"/>
          </a:xfrm>
        </p:grpSpPr>
        <p:sp>
          <p:nvSpPr>
            <p:cNvPr name="Freeform 26" id="26"/>
            <p:cNvSpPr/>
            <p:nvPr/>
          </p:nvSpPr>
          <p:spPr>
            <a:xfrm flipH="false" flipV="false" rot="0">
              <a:off x="0" y="0"/>
              <a:ext cx="2193671" cy="1154430"/>
            </a:xfrm>
            <a:custGeom>
              <a:avLst/>
              <a:gdLst/>
              <a:ahLst/>
              <a:cxnLst/>
              <a:rect r="r" b="b" t="t" l="l"/>
              <a:pathLst>
                <a:path h="1154430" w="2193671">
                  <a:moveTo>
                    <a:pt x="0" y="0"/>
                  </a:moveTo>
                  <a:lnTo>
                    <a:pt x="2193671" y="0"/>
                  </a:lnTo>
                  <a:lnTo>
                    <a:pt x="2193671" y="1154430"/>
                  </a:lnTo>
                  <a:lnTo>
                    <a:pt x="0" y="1154430"/>
                  </a:lnTo>
                  <a:lnTo>
                    <a:pt x="0" y="0"/>
                  </a:lnTo>
                  <a:close/>
                </a:path>
              </a:pathLst>
            </a:custGeom>
            <a:blipFill>
              <a:blip r:embed="rId12"/>
              <a:stretch>
                <a:fillRect l="0" t="0" r="2" b="2"/>
              </a:stretch>
            </a:blipFill>
          </p:spPr>
          <p:txBody>
            <a:bodyPr/>
            <a:p/>
          </p:txBody>
        </p:sp>
      </p:grpSp>
      <p:grpSp>
        <p:nvGrpSpPr>
          <p:cNvPr name="Group 27" id="27"/>
          <p:cNvGrpSpPr/>
          <p:nvPr/>
        </p:nvGrpSpPr>
        <p:grpSpPr>
          <a:xfrm rot="0">
            <a:off x="0" y="9421197"/>
            <a:ext cx="2679421" cy="865803"/>
            <a:chOff x="0" y="0"/>
            <a:chExt cx="3572561" cy="1154405"/>
          </a:xfrm>
        </p:grpSpPr>
        <p:sp>
          <p:nvSpPr>
            <p:cNvPr name="Freeform 28" id="28"/>
            <p:cNvSpPr/>
            <p:nvPr/>
          </p:nvSpPr>
          <p:spPr>
            <a:xfrm flipH="false" flipV="false" rot="0">
              <a:off x="0" y="0"/>
              <a:ext cx="3572510" cy="1154430"/>
            </a:xfrm>
            <a:custGeom>
              <a:avLst/>
              <a:gdLst/>
              <a:ahLst/>
              <a:cxnLst/>
              <a:rect r="r" b="b" t="t" l="l"/>
              <a:pathLst>
                <a:path h="1154430" w="3572510">
                  <a:moveTo>
                    <a:pt x="0" y="0"/>
                  </a:moveTo>
                  <a:lnTo>
                    <a:pt x="3572510" y="0"/>
                  </a:lnTo>
                  <a:lnTo>
                    <a:pt x="3572510" y="1154430"/>
                  </a:lnTo>
                  <a:lnTo>
                    <a:pt x="0" y="1154430"/>
                  </a:lnTo>
                  <a:lnTo>
                    <a:pt x="0" y="0"/>
                  </a:lnTo>
                  <a:close/>
                </a:path>
              </a:pathLst>
            </a:custGeom>
            <a:blipFill>
              <a:blip r:embed="rId13"/>
              <a:stretch>
                <a:fillRect l="-21110" t="-147255" r="-22761" b="-197973"/>
              </a:stretch>
            </a:blipFill>
          </p:spPr>
          <p:txBody>
            <a:bodyPr/>
            <a:p/>
          </p:txBody>
        </p:sp>
      </p:grpSp>
      <p:grpSp>
        <p:nvGrpSpPr>
          <p:cNvPr name="Group 29" id="29"/>
          <p:cNvGrpSpPr/>
          <p:nvPr/>
        </p:nvGrpSpPr>
        <p:grpSpPr>
          <a:xfrm rot="0">
            <a:off x="14371625" y="685800"/>
            <a:ext cx="3116275" cy="370332"/>
            <a:chOff x="0" y="0"/>
            <a:chExt cx="4155034" cy="493776"/>
          </a:xfrm>
        </p:grpSpPr>
        <p:sp>
          <p:nvSpPr>
            <p:cNvPr name="Freeform 30" id="30"/>
            <p:cNvSpPr/>
            <p:nvPr/>
          </p:nvSpPr>
          <p:spPr>
            <a:xfrm flipH="false" flipV="false" rot="0">
              <a:off x="0" y="0"/>
              <a:ext cx="4155059" cy="493776"/>
            </a:xfrm>
            <a:custGeom>
              <a:avLst/>
              <a:gdLst/>
              <a:ahLst/>
              <a:cxnLst/>
              <a:rect r="r" b="b" t="t" l="l"/>
              <a:pathLst>
                <a:path h="493776" w="4155059">
                  <a:moveTo>
                    <a:pt x="0" y="246888"/>
                  </a:moveTo>
                  <a:cubicBezTo>
                    <a:pt x="0" y="110490"/>
                    <a:pt x="110490" y="0"/>
                    <a:pt x="246888" y="0"/>
                  </a:cubicBezTo>
                  <a:lnTo>
                    <a:pt x="3908171" y="0"/>
                  </a:lnTo>
                  <a:cubicBezTo>
                    <a:pt x="4044569" y="0"/>
                    <a:pt x="4155059" y="110490"/>
                    <a:pt x="4155059" y="246888"/>
                  </a:cubicBezTo>
                  <a:cubicBezTo>
                    <a:pt x="4155059" y="383286"/>
                    <a:pt x="4044569" y="493776"/>
                    <a:pt x="3908171" y="493776"/>
                  </a:cubicBezTo>
                  <a:lnTo>
                    <a:pt x="246888" y="493776"/>
                  </a:lnTo>
                  <a:cubicBezTo>
                    <a:pt x="110490" y="493776"/>
                    <a:pt x="0" y="383286"/>
                    <a:pt x="0" y="246888"/>
                  </a:cubicBezTo>
                  <a:close/>
                </a:path>
              </a:pathLst>
            </a:custGeom>
            <a:solidFill>
              <a:srgbClr val="E0F2FE"/>
            </a:solidFill>
          </p:spPr>
          <p:txBody>
            <a:bodyPr/>
            <a:p/>
          </p:txBody>
        </p:sp>
        <p:sp>
          <p:nvSpPr>
            <p:cNvPr name="TextBox 31" id="31"/>
            <p:cNvSpPr txBox="true"/>
            <p:nvPr/>
          </p:nvSpPr>
          <p:spPr>
            <a:xfrm>
              <a:off x="0" y="0"/>
              <a:ext cx="4155034" cy="493776"/>
            </a:xfrm>
            <a:prstGeom prst="rect">
              <a:avLst/>
            </a:prstGeom>
          </p:spPr>
          <p:txBody>
            <a:bodyPr anchor="ctr" rtlCol="false" tIns="50800" lIns="50800" bIns="50800" rIns="50800"/>
            <a:lstStyle/>
            <a:p>
              <a:pPr algn="ctr">
                <a:lnSpc>
                  <a:spcPts val="1350"/>
                </a:lnSpc>
              </a:pPr>
              <a:r>
                <a:rPr lang="en-US" sz="1125" b="true">
                  <a:solidFill>
                    <a:srgbClr val="0369A1"/>
                  </a:solidFill>
                  <a:latin typeface="DM Sans Bold"/>
                  <a:ea typeface="DM Sans Bold"/>
                  <a:cs typeface="DM Sans Bold"/>
                  <a:sym typeface="DM Sans Bold"/>
                </a:rPr>
                <a:t>ISSUES FOUND DURING OUR CHECKS</a:t>
              </a:r>
            </a:p>
          </p:txBody>
        </p:sp>
      </p:grpSp>
      <p:sp>
        <p:nvSpPr>
          <p:cNvPr name="TextBox 32" id="32"/>
          <p:cNvSpPr txBox="true"/>
          <p:nvPr/>
        </p:nvSpPr>
        <p:spPr>
          <a:xfrm rot="0">
            <a:off x="1143000" y="2276475"/>
            <a:ext cx="4695444" cy="1589608"/>
          </a:xfrm>
          <a:prstGeom prst="rect">
            <a:avLst/>
          </a:prstGeom>
        </p:spPr>
        <p:txBody>
          <a:bodyPr anchor="t" rtlCol="false" tIns="0" lIns="0" bIns="0" rIns="0">
            <a:spAutoFit/>
          </a:bodyPr>
          <a:lstStyle/>
          <a:p>
            <a:pPr algn="l">
              <a:lnSpc>
                <a:spcPts val="2138"/>
              </a:lnSpc>
            </a:pPr>
            <a:r>
              <a:rPr lang="en-US" sz="1650" b="true">
                <a:solidFill>
                  <a:srgbClr val="0F172A"/>
                </a:solidFill>
                <a:latin typeface="DM Sans Bold"/>
                <a:ea typeface="DM Sans Bold"/>
                <a:cs typeface="DM Sans Bold"/>
                <a:sym typeface="DM Sans Bold"/>
              </a:rPr>
              <a:t>Found: </a:t>
            </a:r>
            <a:r>
              <a:rPr lang="en-US" sz="1650" b="true">
                <a:solidFill>
                  <a:srgbClr val="334155"/>
                </a:solidFill>
                <a:latin typeface="DM Sans Bold"/>
                <a:ea typeface="DM Sans Bold"/>
                <a:cs typeface="DM Sans Bold"/>
                <a:sym typeface="DM Sans Bold"/>
              </a:rPr>
              <a:t>We found the seal tape overlapped the clamp by 9.0 mm³.</a:t>
            </a:r>
          </a:p>
          <a:p>
            <a:pPr algn="l">
              <a:lnSpc>
                <a:spcPts val="2138"/>
              </a:lnSpc>
            </a:pPr>
            <a:r>
              <a:rPr lang="en-US" sz="1650" b="true">
                <a:solidFill>
                  <a:srgbClr val="0F172A"/>
                </a:solidFill>
                <a:latin typeface="DM Sans Bold"/>
                <a:ea typeface="DM Sans Bold"/>
                <a:cs typeface="DM Sans Bold"/>
                <a:sym typeface="DM Sans Bold"/>
              </a:rPr>
              <a:t>Impact: </a:t>
            </a:r>
            <a:r>
              <a:rPr lang="en-US" sz="1650" b="true">
                <a:solidFill>
                  <a:srgbClr val="334155"/>
                </a:solidFill>
                <a:latin typeface="DM Sans Bold"/>
                <a:ea typeface="DM Sans Bold"/>
                <a:cs typeface="DM Sans Bold"/>
                <a:sym typeface="DM Sans Bold"/>
              </a:rPr>
              <a:t>This could lift the strip off the contact pins.</a:t>
            </a:r>
          </a:p>
          <a:p>
            <a:pPr algn="l">
              <a:lnSpc>
                <a:spcPts val="2138"/>
              </a:lnSpc>
            </a:pPr>
            <a:r>
              <a:rPr lang="en-US" sz="1650" b="true">
                <a:solidFill>
                  <a:srgbClr val="0F172A"/>
                </a:solidFill>
                <a:latin typeface="DM Sans Bold"/>
                <a:ea typeface="DM Sans Bold"/>
                <a:cs typeface="DM Sans Bold"/>
                <a:sym typeface="DM Sans Bold"/>
              </a:rPr>
              <a:t>How: </a:t>
            </a:r>
            <a:r>
              <a:rPr lang="en-US" sz="1650" b="true">
                <a:solidFill>
                  <a:srgbClr val="334155"/>
                </a:solidFill>
                <a:latin typeface="DM Sans Bold"/>
                <a:ea typeface="DM Sans Bold"/>
                <a:cs typeface="DM Sans Bold"/>
                <a:sym typeface="DM Sans Bold"/>
              </a:rPr>
              <a:t>We found it with an automated CAD clash check.</a:t>
            </a:r>
          </a:p>
        </p:txBody>
      </p:sp>
      <p:sp>
        <p:nvSpPr>
          <p:cNvPr name="TextBox 33" id="33"/>
          <p:cNvSpPr txBox="true"/>
          <p:nvPr/>
        </p:nvSpPr>
        <p:spPr>
          <a:xfrm rot="0">
            <a:off x="6807708" y="2276475"/>
            <a:ext cx="4695444" cy="1322908"/>
          </a:xfrm>
          <a:prstGeom prst="rect">
            <a:avLst/>
          </a:prstGeom>
        </p:spPr>
        <p:txBody>
          <a:bodyPr anchor="t" rtlCol="false" tIns="0" lIns="0" bIns="0" rIns="0">
            <a:spAutoFit/>
          </a:bodyPr>
          <a:lstStyle/>
          <a:p>
            <a:pPr algn="l">
              <a:lnSpc>
                <a:spcPts val="2138"/>
              </a:lnSpc>
            </a:pPr>
            <a:r>
              <a:rPr lang="en-US" sz="1650" b="true">
                <a:solidFill>
                  <a:srgbClr val="0F172A"/>
                </a:solidFill>
                <a:latin typeface="DM Sans Bold"/>
                <a:ea typeface="DM Sans Bold"/>
                <a:cs typeface="DM Sans Bold"/>
                <a:sym typeface="DM Sans Bold"/>
              </a:rPr>
              <a:t>Found: </a:t>
            </a:r>
            <a:r>
              <a:rPr lang="en-US" sz="1650" b="true">
                <a:solidFill>
                  <a:srgbClr val="334155"/>
                </a:solidFill>
                <a:latin typeface="DM Sans Bold"/>
                <a:ea typeface="DM Sans Bold"/>
                <a:cs typeface="DM Sans Bold"/>
                <a:sym typeface="DM Sans Bold"/>
              </a:rPr>
              <a:t>A cracked sensing lead could make the reader report “dry”.</a:t>
            </a:r>
          </a:p>
          <a:p>
            <a:pPr algn="l">
              <a:lnSpc>
                <a:spcPts val="2138"/>
              </a:lnSpc>
            </a:pPr>
            <a:r>
              <a:rPr lang="en-US" sz="1650" b="true">
                <a:solidFill>
                  <a:srgbClr val="0F172A"/>
                </a:solidFill>
                <a:latin typeface="DM Sans Bold"/>
                <a:ea typeface="DM Sans Bold"/>
                <a:cs typeface="DM Sans Bold"/>
                <a:sym typeface="DM Sans Bold"/>
              </a:rPr>
              <a:t>Impact: </a:t>
            </a:r>
            <a:r>
              <a:rPr lang="en-US" sz="1650" b="true">
                <a:solidFill>
                  <a:srgbClr val="334155"/>
                </a:solidFill>
                <a:latin typeface="DM Sans Bold"/>
                <a:ea typeface="DM Sans Bold"/>
                <a:cs typeface="DM Sans Bold"/>
                <a:sym typeface="DM Sans Bold"/>
              </a:rPr>
              <a:t>The CHANGE status might never appear, so there would be no alert.</a:t>
            </a:r>
          </a:p>
          <a:p>
            <a:pPr algn="l">
              <a:lnSpc>
                <a:spcPts val="2138"/>
              </a:lnSpc>
            </a:pPr>
            <a:r>
              <a:rPr lang="en-US" sz="1650" b="true">
                <a:solidFill>
                  <a:srgbClr val="0F172A"/>
                </a:solidFill>
                <a:latin typeface="DM Sans Bold"/>
                <a:ea typeface="DM Sans Bold"/>
                <a:cs typeface="DM Sans Bold"/>
                <a:sym typeface="DM Sans Bold"/>
              </a:rPr>
              <a:t>How: </a:t>
            </a:r>
            <a:r>
              <a:rPr lang="en-US" sz="1650" b="true">
                <a:solidFill>
                  <a:srgbClr val="334155"/>
                </a:solidFill>
                <a:latin typeface="DM Sans Bold"/>
                <a:ea typeface="DM Sans Bold"/>
                <a:cs typeface="DM Sans Bold"/>
                <a:sym typeface="DM Sans Bold"/>
              </a:rPr>
              <a:t>The FMEA ranked this risk at 224.</a:t>
            </a:r>
          </a:p>
        </p:txBody>
      </p:sp>
      <p:sp>
        <p:nvSpPr>
          <p:cNvPr name="TextBox 34" id="34"/>
          <p:cNvSpPr txBox="true"/>
          <p:nvPr/>
        </p:nvSpPr>
        <p:spPr>
          <a:xfrm rot="0">
            <a:off x="12486132" y="2276475"/>
            <a:ext cx="4695444" cy="2389708"/>
          </a:xfrm>
          <a:prstGeom prst="rect">
            <a:avLst/>
          </a:prstGeom>
        </p:spPr>
        <p:txBody>
          <a:bodyPr anchor="t" rtlCol="false" tIns="0" lIns="0" bIns="0" rIns="0">
            <a:spAutoFit/>
          </a:bodyPr>
          <a:lstStyle/>
          <a:p>
            <a:pPr algn="l" marL="0" indent="0" lvl="0">
              <a:lnSpc>
                <a:spcPts val="2138"/>
              </a:lnSpc>
              <a:spcBef>
                <a:spcPct val="0"/>
              </a:spcBef>
            </a:pPr>
            <a:r>
              <a:rPr lang="en-US" b="true" sz="1650" strike="noStrike" u="none">
                <a:solidFill>
                  <a:srgbClr val="0F172A"/>
                </a:solidFill>
                <a:latin typeface="DM Sans Bold"/>
                <a:ea typeface="DM Sans Bold"/>
                <a:cs typeface="DM Sans Bold"/>
                <a:sym typeface="DM Sans Bold"/>
              </a:rPr>
              <a:t>Found: The machine’s “12” setting is likely a PWM percentage, not a current measurement. Laser output can be unstable at low power [8].</a:t>
            </a:r>
          </a:p>
          <a:p>
            <a:pPr algn="l" marL="0" indent="0" lvl="0">
              <a:lnSpc>
                <a:spcPts val="2138"/>
              </a:lnSpc>
              <a:spcBef>
                <a:spcPct val="0"/>
              </a:spcBef>
            </a:pPr>
            <a:r>
              <a:rPr lang="en-US" b="true" sz="1650" strike="noStrike" u="none">
                <a:solidFill>
                  <a:srgbClr val="0F172A"/>
                </a:solidFill>
                <a:latin typeface="DM Sans Bold"/>
                <a:ea typeface="DM Sans Bold"/>
                <a:cs typeface="DM Sans Bold"/>
                <a:sym typeface="DM Sans Bold"/>
              </a:rPr>
              <a:t>Impact: trace widths are held at a conservative 1.0 mm until E2 calibrates the laser setting (and the tube current, if a meter is available).</a:t>
            </a:r>
          </a:p>
          <a:p>
            <a:pPr algn="l" marL="0" indent="0" lvl="0">
              <a:lnSpc>
                <a:spcPts val="2138"/>
              </a:lnSpc>
              <a:spcBef>
                <a:spcPct val="0"/>
              </a:spcBef>
            </a:pPr>
            <a:r>
              <a:rPr lang="en-US" b="true" sz="1650" strike="noStrike" u="none">
                <a:solidFill>
                  <a:srgbClr val="0F172A"/>
                </a:solidFill>
                <a:latin typeface="DM Sans Bold"/>
                <a:ea typeface="DM Sans Bold"/>
                <a:cs typeface="DM Sans Bold"/>
                <a:sym typeface="DM Sans Bold"/>
              </a:rPr>
              <a:t>How: We found the uncertainty while checking the LaserCAD configuration.</a:t>
            </a:r>
          </a:p>
        </p:txBody>
      </p:sp>
      <p:grpSp>
        <p:nvGrpSpPr>
          <p:cNvPr name="Group 35" id="35"/>
          <p:cNvGrpSpPr/>
          <p:nvPr/>
        </p:nvGrpSpPr>
        <p:grpSpPr>
          <a:xfrm rot="0">
            <a:off x="850392" y="5801354"/>
            <a:ext cx="16596360" cy="2250462"/>
            <a:chOff x="0" y="0"/>
            <a:chExt cx="22128480" cy="3000616"/>
          </a:xfrm>
        </p:grpSpPr>
        <p:sp>
          <p:nvSpPr>
            <p:cNvPr name="Freeform 36" id="36" descr="fig_challenges.png"/>
            <p:cNvSpPr/>
            <p:nvPr/>
          </p:nvSpPr>
          <p:spPr>
            <a:xfrm flipH="false" flipV="false" rot="0">
              <a:off x="0" y="0"/>
              <a:ext cx="22128480" cy="3000629"/>
            </a:xfrm>
            <a:custGeom>
              <a:avLst/>
              <a:gdLst/>
              <a:ahLst/>
              <a:cxnLst/>
              <a:rect r="r" b="b" t="t" l="l"/>
              <a:pathLst>
                <a:path h="3000629" w="22128480">
                  <a:moveTo>
                    <a:pt x="0" y="0"/>
                  </a:moveTo>
                  <a:lnTo>
                    <a:pt x="22128480" y="0"/>
                  </a:lnTo>
                  <a:lnTo>
                    <a:pt x="22128480" y="3000629"/>
                  </a:lnTo>
                  <a:lnTo>
                    <a:pt x="0" y="3000629"/>
                  </a:lnTo>
                  <a:lnTo>
                    <a:pt x="0" y="0"/>
                  </a:lnTo>
                  <a:close/>
                </a:path>
              </a:pathLst>
            </a:custGeom>
            <a:blipFill>
              <a:blip r:embed="rId14"/>
              <a:stretch>
                <a:fillRect l="0" t="0" r="0" b="0"/>
              </a:stretch>
            </a:blipFill>
          </p:spPr>
          <p:txBody>
            <a:bodyPr/>
            <a:p/>
          </p:txBody>
        </p:sp>
      </p:grpSp>
    </p:spTree>
  </p:cSld>
  <p:clrMapOvr>
    <a:masterClrMapping/>
  </p:clrMapOvr>
</p:sld>
</file>

<file path=ppt/slides/slide17.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0"/>
            <a:ext cx="18288000" cy="10287000"/>
            <a:chOff x="0" y="0"/>
            <a:chExt cx="24384000" cy="13716000"/>
          </a:xfrm>
        </p:grpSpPr>
        <p:sp>
          <p:nvSpPr>
            <p:cNvPr name="Freeform 3" id="3" descr="image.png"/>
            <p:cNvSpPr/>
            <p:nvPr/>
          </p:nvSpPr>
          <p:spPr>
            <a:xfrm flipH="false" flipV="false" rot="0">
              <a:off x="0" y="0"/>
              <a:ext cx="24384000" cy="13716000"/>
            </a:xfrm>
            <a:custGeom>
              <a:avLst/>
              <a:gdLst/>
              <a:ahLst/>
              <a:cxnLst/>
              <a:rect r="r" b="b" t="t" l="l"/>
              <a:pathLst>
                <a:path h="13716000" w="24384000">
                  <a:moveTo>
                    <a:pt x="0" y="0"/>
                  </a:moveTo>
                  <a:lnTo>
                    <a:pt x="24384000" y="0"/>
                  </a:lnTo>
                  <a:lnTo>
                    <a:pt x="24384000" y="13716000"/>
                  </a:lnTo>
                  <a:lnTo>
                    <a:pt x="0" y="13716000"/>
                  </a:lnTo>
                  <a:lnTo>
                    <a:pt x="0" y="0"/>
                  </a:lnTo>
                  <a:close/>
                </a:path>
              </a:pathLst>
            </a:custGeom>
            <a:blipFill>
              <a:blip r:embed="rId3"/>
              <a:stretch>
                <a:fillRect l="0" t="0" r="0" b="0"/>
              </a:stretch>
            </a:blipFill>
          </p:spPr>
          <p:txBody>
            <a:bodyPr/>
            <a:p/>
          </p:txBody>
        </p:sp>
      </p:grpSp>
      <p:grpSp>
        <p:nvGrpSpPr>
          <p:cNvPr name="Group 4" id="4"/>
          <p:cNvGrpSpPr/>
          <p:nvPr/>
        </p:nvGrpSpPr>
        <p:grpSpPr>
          <a:xfrm rot="0">
            <a:off x="800100" y="8498634"/>
            <a:ext cx="16687800" cy="544706"/>
            <a:chOff x="0" y="0"/>
            <a:chExt cx="22250400" cy="726275"/>
          </a:xfrm>
        </p:grpSpPr>
        <p:sp>
          <p:nvSpPr>
            <p:cNvPr name="Freeform 5" id="5" descr="image.png"/>
            <p:cNvSpPr/>
            <p:nvPr/>
          </p:nvSpPr>
          <p:spPr>
            <a:xfrm flipH="false" flipV="false" rot="0">
              <a:off x="0" y="0"/>
              <a:ext cx="22250400" cy="726313"/>
            </a:xfrm>
            <a:custGeom>
              <a:avLst/>
              <a:gdLst/>
              <a:ahLst/>
              <a:cxnLst/>
              <a:rect r="r" b="b" t="t" l="l"/>
              <a:pathLst>
                <a:path h="726313" w="22250400">
                  <a:moveTo>
                    <a:pt x="0" y="0"/>
                  </a:moveTo>
                  <a:lnTo>
                    <a:pt x="22250400" y="0"/>
                  </a:lnTo>
                  <a:lnTo>
                    <a:pt x="22250400" y="726313"/>
                  </a:lnTo>
                  <a:lnTo>
                    <a:pt x="0" y="726313"/>
                  </a:lnTo>
                  <a:lnTo>
                    <a:pt x="0" y="0"/>
                  </a:lnTo>
                  <a:close/>
                </a:path>
              </a:pathLst>
            </a:custGeom>
            <a:blipFill>
              <a:blip r:embed="rId4"/>
              <a:stretch>
                <a:fillRect l="0" t="0" r="0" b="-2290"/>
              </a:stretch>
            </a:blipFill>
          </p:spPr>
          <p:txBody>
            <a:bodyPr/>
            <a:p/>
          </p:txBody>
        </p:sp>
      </p:grpSp>
      <p:grpSp>
        <p:nvGrpSpPr>
          <p:cNvPr name="Group 6" id="6"/>
          <p:cNvGrpSpPr/>
          <p:nvPr/>
        </p:nvGrpSpPr>
        <p:grpSpPr>
          <a:xfrm rot="0">
            <a:off x="800100" y="1434332"/>
            <a:ext cx="5352898" cy="3360420"/>
            <a:chOff x="0" y="0"/>
            <a:chExt cx="7137197" cy="4480560"/>
          </a:xfrm>
        </p:grpSpPr>
        <p:sp>
          <p:nvSpPr>
            <p:cNvPr name="Freeform 7" id="7" descr="image.png"/>
            <p:cNvSpPr/>
            <p:nvPr/>
          </p:nvSpPr>
          <p:spPr>
            <a:xfrm flipH="false" flipV="false" rot="0">
              <a:off x="0" y="0"/>
              <a:ext cx="7137146" cy="4480560"/>
            </a:xfrm>
            <a:custGeom>
              <a:avLst/>
              <a:gdLst/>
              <a:ahLst/>
              <a:cxnLst/>
              <a:rect r="r" b="b" t="t" l="l"/>
              <a:pathLst>
                <a:path h="4480560" w="7137146">
                  <a:moveTo>
                    <a:pt x="0" y="0"/>
                  </a:moveTo>
                  <a:lnTo>
                    <a:pt x="7137146" y="0"/>
                  </a:lnTo>
                  <a:lnTo>
                    <a:pt x="7137146" y="4480560"/>
                  </a:lnTo>
                  <a:lnTo>
                    <a:pt x="0" y="4480560"/>
                  </a:lnTo>
                  <a:lnTo>
                    <a:pt x="0" y="0"/>
                  </a:lnTo>
                  <a:close/>
                </a:path>
              </a:pathLst>
            </a:custGeom>
            <a:blipFill>
              <a:blip r:embed="rId5"/>
              <a:stretch>
                <a:fillRect l="0" t="0" r="0" b="-122584"/>
              </a:stretch>
            </a:blipFill>
          </p:spPr>
          <p:txBody>
            <a:bodyPr/>
            <a:p/>
          </p:txBody>
        </p:sp>
      </p:grpSp>
      <p:grpSp>
        <p:nvGrpSpPr>
          <p:cNvPr name="Group 8" id="8"/>
          <p:cNvGrpSpPr/>
          <p:nvPr/>
        </p:nvGrpSpPr>
        <p:grpSpPr>
          <a:xfrm rot="0">
            <a:off x="6467323" y="1434332"/>
            <a:ext cx="5353126" cy="3360420"/>
            <a:chOff x="0" y="0"/>
            <a:chExt cx="7137502" cy="4480560"/>
          </a:xfrm>
        </p:grpSpPr>
        <p:sp>
          <p:nvSpPr>
            <p:cNvPr name="Freeform 9" id="9" descr="image.png"/>
            <p:cNvSpPr/>
            <p:nvPr/>
          </p:nvSpPr>
          <p:spPr>
            <a:xfrm flipH="false" flipV="false" rot="0">
              <a:off x="0" y="0"/>
              <a:ext cx="7137527" cy="4480560"/>
            </a:xfrm>
            <a:custGeom>
              <a:avLst/>
              <a:gdLst/>
              <a:ahLst/>
              <a:cxnLst/>
              <a:rect r="r" b="b" t="t" l="l"/>
              <a:pathLst>
                <a:path h="4480560" w="7137527">
                  <a:moveTo>
                    <a:pt x="0" y="0"/>
                  </a:moveTo>
                  <a:lnTo>
                    <a:pt x="7137527" y="0"/>
                  </a:lnTo>
                  <a:lnTo>
                    <a:pt x="7137527" y="4480560"/>
                  </a:lnTo>
                  <a:lnTo>
                    <a:pt x="0" y="4480560"/>
                  </a:lnTo>
                  <a:lnTo>
                    <a:pt x="0" y="0"/>
                  </a:lnTo>
                  <a:close/>
                </a:path>
              </a:pathLst>
            </a:custGeom>
            <a:blipFill>
              <a:blip r:embed="rId6"/>
              <a:stretch>
                <a:fillRect l="0" t="0" r="0" b="-122002"/>
              </a:stretch>
            </a:blipFill>
          </p:spPr>
          <p:txBody>
            <a:bodyPr/>
            <a:p/>
          </p:txBody>
        </p:sp>
      </p:grpSp>
      <p:grpSp>
        <p:nvGrpSpPr>
          <p:cNvPr name="Group 10" id="10"/>
          <p:cNvGrpSpPr/>
          <p:nvPr/>
        </p:nvGrpSpPr>
        <p:grpSpPr>
          <a:xfrm rot="0">
            <a:off x="12134774" y="1434332"/>
            <a:ext cx="5352898" cy="3360420"/>
            <a:chOff x="0" y="0"/>
            <a:chExt cx="7137197" cy="4480560"/>
          </a:xfrm>
        </p:grpSpPr>
        <p:sp>
          <p:nvSpPr>
            <p:cNvPr name="Freeform 11" id="11" descr="image.png"/>
            <p:cNvSpPr/>
            <p:nvPr/>
          </p:nvSpPr>
          <p:spPr>
            <a:xfrm flipH="false" flipV="false" rot="0">
              <a:off x="0" y="0"/>
              <a:ext cx="7137146" cy="4480560"/>
            </a:xfrm>
            <a:custGeom>
              <a:avLst/>
              <a:gdLst/>
              <a:ahLst/>
              <a:cxnLst/>
              <a:rect r="r" b="b" t="t" l="l"/>
              <a:pathLst>
                <a:path h="4480560" w="7137146">
                  <a:moveTo>
                    <a:pt x="0" y="0"/>
                  </a:moveTo>
                  <a:lnTo>
                    <a:pt x="7137146" y="0"/>
                  </a:lnTo>
                  <a:lnTo>
                    <a:pt x="7137146" y="4480560"/>
                  </a:lnTo>
                  <a:lnTo>
                    <a:pt x="0" y="4480560"/>
                  </a:lnTo>
                  <a:lnTo>
                    <a:pt x="0" y="0"/>
                  </a:lnTo>
                  <a:close/>
                </a:path>
              </a:pathLst>
            </a:custGeom>
            <a:blipFill>
              <a:blip r:embed="rId7"/>
              <a:stretch>
                <a:fillRect l="0" t="0" r="0" b="-122584"/>
              </a:stretch>
            </a:blipFill>
          </p:spPr>
          <p:txBody>
            <a:bodyPr/>
            <a:p/>
          </p:txBody>
        </p:sp>
      </p:grpSp>
      <p:grpSp>
        <p:nvGrpSpPr>
          <p:cNvPr name="Group 12" id="12"/>
          <p:cNvGrpSpPr/>
          <p:nvPr/>
        </p:nvGrpSpPr>
        <p:grpSpPr>
          <a:xfrm rot="0">
            <a:off x="800100" y="657225"/>
            <a:ext cx="12893040" cy="462782"/>
            <a:chOff x="0" y="0"/>
            <a:chExt cx="17190720" cy="617042"/>
          </a:xfrm>
        </p:grpSpPr>
        <p:sp>
          <p:nvSpPr>
            <p:cNvPr name="Freeform 13" id="13"/>
            <p:cNvSpPr/>
            <p:nvPr/>
          </p:nvSpPr>
          <p:spPr>
            <a:xfrm flipH="false" flipV="false" rot="0">
              <a:off x="0" y="0"/>
              <a:ext cx="17190720" cy="617040"/>
            </a:xfrm>
            <a:custGeom>
              <a:avLst/>
              <a:gdLst/>
              <a:ahLst/>
              <a:cxnLst/>
              <a:rect r="r" b="b" t="t" l="l"/>
              <a:pathLst>
                <a:path h="617040" w="17190720">
                  <a:moveTo>
                    <a:pt x="0" y="0"/>
                  </a:moveTo>
                  <a:lnTo>
                    <a:pt x="17190720" y="0"/>
                  </a:lnTo>
                  <a:lnTo>
                    <a:pt x="17190720" y="617040"/>
                  </a:lnTo>
                  <a:lnTo>
                    <a:pt x="0" y="617040"/>
                  </a:lnTo>
                  <a:close/>
                </a:path>
              </a:pathLst>
            </a:custGeom>
            <a:blipFill>
              <a:blip r:embed="rId8">
                <a:alphaModFix amt="0"/>
              </a:blip>
              <a:stretch>
                <a:fillRect l="0" t="-492852" r="0" b="-492852"/>
              </a:stretch>
            </a:blipFill>
          </p:spPr>
          <p:txBody>
            <a:bodyPr/>
            <a:p/>
          </p:txBody>
        </p:sp>
        <p:sp>
          <p:nvSpPr>
            <p:cNvPr name="TextBox 14" id="14"/>
            <p:cNvSpPr txBox="true"/>
            <p:nvPr/>
          </p:nvSpPr>
          <p:spPr>
            <a:xfrm>
              <a:off x="0" y="-104775"/>
              <a:ext cx="17190720" cy="721817"/>
            </a:xfrm>
            <a:prstGeom prst="rect">
              <a:avLst/>
            </a:prstGeom>
          </p:spPr>
          <p:txBody>
            <a:bodyPr anchor="ctr" rtlCol="false" tIns="0" lIns="0" bIns="0" rIns="0"/>
            <a:lstStyle/>
            <a:p>
              <a:pPr algn="l">
                <a:lnSpc>
                  <a:spcPts val="4372"/>
                </a:lnSpc>
              </a:pPr>
              <a:r>
                <a:rPr lang="en-US" sz="3037">
                  <a:solidFill>
                    <a:srgbClr val="0F172A"/>
                  </a:solidFill>
                  <a:latin typeface="Poppins"/>
                  <a:ea typeface="Poppins"/>
                  <a:cs typeface="Poppins"/>
                  <a:sym typeface="Poppins"/>
                </a:rPr>
                <a:t>Potential Solutions &amp; Risk Mitigation</a:t>
              </a:r>
            </a:p>
          </p:txBody>
        </p:sp>
      </p:grpSp>
      <p:sp>
        <p:nvSpPr>
          <p:cNvPr name="TextBox 15" id="15"/>
          <p:cNvSpPr txBox="true"/>
          <p:nvPr/>
        </p:nvSpPr>
        <p:spPr>
          <a:xfrm rot="0">
            <a:off x="1085850" y="8565309"/>
            <a:ext cx="16047720" cy="291689"/>
          </a:xfrm>
          <a:prstGeom prst="rect">
            <a:avLst/>
          </a:prstGeom>
        </p:spPr>
        <p:txBody>
          <a:bodyPr anchor="t" rtlCol="false" tIns="0" lIns="0" bIns="0" rIns="0">
            <a:spAutoFit/>
          </a:bodyPr>
          <a:lstStyle/>
          <a:p>
            <a:pPr algn="l">
              <a:lnSpc>
                <a:spcPts val="2506"/>
              </a:lnSpc>
            </a:pPr>
            <a:r>
              <a:rPr lang="en-US" b="true" sz="1439">
                <a:solidFill>
                  <a:srgbClr val="0F172A"/>
                </a:solidFill>
                <a:latin typeface="DM Sans Bold"/>
                <a:ea typeface="DM Sans Bold"/>
                <a:cs typeface="DM Sans Bold"/>
                <a:sym typeface="DM Sans Bold"/>
              </a:rPr>
              <a:t>Our rule: </a:t>
            </a:r>
            <a:r>
              <a:rPr lang="en-US" b="true" sz="1439">
                <a:solidFill>
                  <a:srgbClr val="334155"/>
                </a:solidFill>
                <a:latin typeface="DM Sans Bold"/>
                <a:ea typeface="DM Sans Bold"/>
                <a:cs typeface="DM Sans Bold"/>
                <a:sym typeface="DM Sans Bold"/>
              </a:rPr>
              <a:t>we will not claim sensor performance, graphene identity or clinical benefit until tests support those claims.</a:t>
            </a:r>
          </a:p>
        </p:txBody>
      </p:sp>
      <p:grpSp>
        <p:nvGrpSpPr>
          <p:cNvPr name="Group 16" id="16"/>
          <p:cNvGrpSpPr/>
          <p:nvPr/>
        </p:nvGrpSpPr>
        <p:grpSpPr>
          <a:xfrm rot="0">
            <a:off x="1128712" y="1762944"/>
            <a:ext cx="288655" cy="228600"/>
            <a:chOff x="0" y="0"/>
            <a:chExt cx="384874" cy="304800"/>
          </a:xfrm>
        </p:grpSpPr>
        <p:sp>
          <p:nvSpPr>
            <p:cNvPr name="Freeform 17" id="17" descr="image.png"/>
            <p:cNvSpPr/>
            <p:nvPr/>
          </p:nvSpPr>
          <p:spPr>
            <a:xfrm flipH="false" flipV="false" rot="0">
              <a:off x="0" y="0"/>
              <a:ext cx="384810" cy="304800"/>
            </a:xfrm>
            <a:custGeom>
              <a:avLst/>
              <a:gdLst/>
              <a:ahLst/>
              <a:cxnLst/>
              <a:rect r="r" b="b" t="t" l="l"/>
              <a:pathLst>
                <a:path h="304800" w="384810">
                  <a:moveTo>
                    <a:pt x="0" y="0"/>
                  </a:moveTo>
                  <a:lnTo>
                    <a:pt x="384810" y="0"/>
                  </a:lnTo>
                  <a:lnTo>
                    <a:pt x="384810" y="304800"/>
                  </a:lnTo>
                  <a:lnTo>
                    <a:pt x="0" y="304800"/>
                  </a:lnTo>
                  <a:lnTo>
                    <a:pt x="0" y="0"/>
                  </a:lnTo>
                  <a:close/>
                </a:path>
              </a:pathLst>
            </a:custGeom>
            <a:blipFill>
              <a:blip r:embed="rId9"/>
              <a:stretch>
                <a:fillRect l="0" t="0" r="-16" b="-2216"/>
              </a:stretch>
            </a:blipFill>
          </p:spPr>
          <p:txBody>
            <a:bodyPr/>
            <a:p/>
          </p:txBody>
        </p:sp>
      </p:grpSp>
      <p:sp>
        <p:nvSpPr>
          <p:cNvPr name="TextBox 18" id="18"/>
          <p:cNvSpPr txBox="true"/>
          <p:nvPr/>
        </p:nvSpPr>
        <p:spPr>
          <a:xfrm rot="0">
            <a:off x="1560243" y="1743894"/>
            <a:ext cx="4594860" cy="238125"/>
          </a:xfrm>
          <a:prstGeom prst="rect">
            <a:avLst/>
          </a:prstGeom>
        </p:spPr>
        <p:txBody>
          <a:bodyPr anchor="t" rtlCol="false" tIns="0" lIns="0" bIns="0" rIns="0">
            <a:spAutoFit/>
          </a:bodyPr>
          <a:lstStyle/>
          <a:p>
            <a:pPr algn="l">
              <a:lnSpc>
                <a:spcPts val="1980"/>
              </a:lnSpc>
            </a:pPr>
            <a:r>
              <a:rPr lang="en-US" b="true" sz="1650">
                <a:solidFill>
                  <a:srgbClr val="0F172A"/>
                </a:solidFill>
                <a:latin typeface="DM Sans Bold"/>
                <a:ea typeface="DM Sans Bold"/>
                <a:cs typeface="DM Sans Bold"/>
                <a:sym typeface="DM Sans Bold"/>
              </a:rPr>
              <a:t>Checked in CAD or software</a:t>
            </a:r>
          </a:p>
        </p:txBody>
      </p:sp>
      <p:grpSp>
        <p:nvGrpSpPr>
          <p:cNvPr name="Group 19" id="19"/>
          <p:cNvGrpSpPr/>
          <p:nvPr/>
        </p:nvGrpSpPr>
        <p:grpSpPr>
          <a:xfrm rot="0">
            <a:off x="6795935" y="1762944"/>
            <a:ext cx="260080" cy="228600"/>
            <a:chOff x="0" y="0"/>
            <a:chExt cx="346774" cy="304800"/>
          </a:xfrm>
        </p:grpSpPr>
        <p:sp>
          <p:nvSpPr>
            <p:cNvPr name="Freeform 20" id="20" descr="image.png"/>
            <p:cNvSpPr/>
            <p:nvPr/>
          </p:nvSpPr>
          <p:spPr>
            <a:xfrm flipH="false" flipV="false" rot="0">
              <a:off x="0" y="0"/>
              <a:ext cx="346710" cy="304800"/>
            </a:xfrm>
            <a:custGeom>
              <a:avLst/>
              <a:gdLst/>
              <a:ahLst/>
              <a:cxnLst/>
              <a:rect r="r" b="b" t="t" l="l"/>
              <a:pathLst>
                <a:path h="304800" w="346710">
                  <a:moveTo>
                    <a:pt x="0" y="0"/>
                  </a:moveTo>
                  <a:lnTo>
                    <a:pt x="346710" y="0"/>
                  </a:lnTo>
                  <a:lnTo>
                    <a:pt x="346710" y="304800"/>
                  </a:lnTo>
                  <a:lnTo>
                    <a:pt x="0" y="304800"/>
                  </a:lnTo>
                  <a:lnTo>
                    <a:pt x="0" y="0"/>
                  </a:lnTo>
                  <a:close/>
                </a:path>
              </a:pathLst>
            </a:custGeom>
            <a:blipFill>
              <a:blip r:embed="rId10"/>
              <a:stretch>
                <a:fillRect l="0" t="0" r="-18" b="-1791"/>
              </a:stretch>
            </a:blipFill>
          </p:spPr>
          <p:txBody>
            <a:bodyPr/>
            <a:p/>
          </p:txBody>
        </p:sp>
      </p:grpSp>
      <p:sp>
        <p:nvSpPr>
          <p:cNvPr name="TextBox 21" id="21"/>
          <p:cNvSpPr txBox="true"/>
          <p:nvPr/>
        </p:nvSpPr>
        <p:spPr>
          <a:xfrm rot="0">
            <a:off x="7198890" y="1743894"/>
            <a:ext cx="4594860" cy="238125"/>
          </a:xfrm>
          <a:prstGeom prst="rect">
            <a:avLst/>
          </a:prstGeom>
        </p:spPr>
        <p:txBody>
          <a:bodyPr anchor="t" rtlCol="false" tIns="0" lIns="0" bIns="0" rIns="0">
            <a:spAutoFit/>
          </a:bodyPr>
          <a:lstStyle/>
          <a:p>
            <a:pPr algn="l">
              <a:lnSpc>
                <a:spcPts val="1980"/>
              </a:lnSpc>
            </a:pPr>
            <a:r>
              <a:rPr lang="en-US" b="true" sz="1650">
                <a:solidFill>
                  <a:srgbClr val="0F172A"/>
                </a:solidFill>
                <a:latin typeface="DM Sans Bold"/>
                <a:ea typeface="DM Sans Bold"/>
                <a:cs typeface="DM Sans Bold"/>
                <a:sym typeface="DM Sans Bold"/>
              </a:rPr>
              <a:t>Designed, not yet tested</a:t>
            </a:r>
          </a:p>
        </p:txBody>
      </p:sp>
      <p:grpSp>
        <p:nvGrpSpPr>
          <p:cNvPr name="Group 22" id="22"/>
          <p:cNvGrpSpPr/>
          <p:nvPr/>
        </p:nvGrpSpPr>
        <p:grpSpPr>
          <a:xfrm rot="0">
            <a:off x="12463386" y="1762944"/>
            <a:ext cx="231505" cy="228600"/>
            <a:chOff x="0" y="0"/>
            <a:chExt cx="308674" cy="304800"/>
          </a:xfrm>
        </p:grpSpPr>
        <p:sp>
          <p:nvSpPr>
            <p:cNvPr name="Freeform 23" id="23" descr="image.png"/>
            <p:cNvSpPr/>
            <p:nvPr/>
          </p:nvSpPr>
          <p:spPr>
            <a:xfrm flipH="false" flipV="false" rot="0">
              <a:off x="0" y="0"/>
              <a:ext cx="308610" cy="304800"/>
            </a:xfrm>
            <a:custGeom>
              <a:avLst/>
              <a:gdLst/>
              <a:ahLst/>
              <a:cxnLst/>
              <a:rect r="r" b="b" t="t" l="l"/>
              <a:pathLst>
                <a:path h="304800" w="308610">
                  <a:moveTo>
                    <a:pt x="0" y="0"/>
                  </a:moveTo>
                  <a:lnTo>
                    <a:pt x="308610" y="0"/>
                  </a:lnTo>
                  <a:lnTo>
                    <a:pt x="308610" y="304800"/>
                  </a:lnTo>
                  <a:lnTo>
                    <a:pt x="0" y="304800"/>
                  </a:lnTo>
                  <a:lnTo>
                    <a:pt x="0" y="0"/>
                  </a:lnTo>
                  <a:close/>
                </a:path>
              </a:pathLst>
            </a:custGeom>
            <a:blipFill>
              <a:blip r:embed="rId11"/>
              <a:stretch>
                <a:fillRect l="0" t="0" r="-20" b="-1270"/>
              </a:stretch>
            </a:blipFill>
          </p:spPr>
          <p:txBody>
            <a:bodyPr/>
            <a:p/>
          </p:txBody>
        </p:sp>
      </p:grpSp>
      <p:sp>
        <p:nvSpPr>
          <p:cNvPr name="TextBox 24" id="24"/>
          <p:cNvSpPr txBox="true"/>
          <p:nvPr/>
        </p:nvSpPr>
        <p:spPr>
          <a:xfrm rot="0">
            <a:off x="12837766" y="1743894"/>
            <a:ext cx="4594860" cy="276225"/>
          </a:xfrm>
          <a:prstGeom prst="rect">
            <a:avLst/>
          </a:prstGeom>
        </p:spPr>
        <p:txBody>
          <a:bodyPr anchor="t" rtlCol="false" tIns="0" lIns="0" bIns="0" rIns="0">
            <a:spAutoFit/>
          </a:bodyPr>
          <a:lstStyle/>
          <a:p>
            <a:pPr algn="l">
              <a:lnSpc>
                <a:spcPts val="1980"/>
              </a:lnSpc>
            </a:pPr>
            <a:r>
              <a:rPr lang="en-US" b="true" sz="1650">
                <a:solidFill>
                  <a:srgbClr val="0F172A"/>
                </a:solidFill>
                <a:latin typeface="DM Sans Bold"/>
                <a:ea typeface="DM Sans Bold"/>
                <a:cs typeface="DM Sans Bold"/>
                <a:sym typeface="DM Sans Bold"/>
              </a:rPr>
              <a:t>Fallbacks</a:t>
            </a:r>
          </a:p>
        </p:txBody>
      </p:sp>
      <p:grpSp>
        <p:nvGrpSpPr>
          <p:cNvPr name="Group 25" id="25"/>
          <p:cNvGrpSpPr/>
          <p:nvPr/>
        </p:nvGrpSpPr>
        <p:grpSpPr>
          <a:xfrm rot="0">
            <a:off x="16642794" y="9421197"/>
            <a:ext cx="1645206" cy="865803"/>
            <a:chOff x="0" y="0"/>
            <a:chExt cx="2193608" cy="1154405"/>
          </a:xfrm>
        </p:grpSpPr>
        <p:sp>
          <p:nvSpPr>
            <p:cNvPr name="Freeform 26" id="26"/>
            <p:cNvSpPr/>
            <p:nvPr/>
          </p:nvSpPr>
          <p:spPr>
            <a:xfrm flipH="false" flipV="false" rot="0">
              <a:off x="0" y="0"/>
              <a:ext cx="2193671" cy="1154430"/>
            </a:xfrm>
            <a:custGeom>
              <a:avLst/>
              <a:gdLst/>
              <a:ahLst/>
              <a:cxnLst/>
              <a:rect r="r" b="b" t="t" l="l"/>
              <a:pathLst>
                <a:path h="1154430" w="2193671">
                  <a:moveTo>
                    <a:pt x="0" y="0"/>
                  </a:moveTo>
                  <a:lnTo>
                    <a:pt x="2193671" y="0"/>
                  </a:lnTo>
                  <a:lnTo>
                    <a:pt x="2193671" y="1154430"/>
                  </a:lnTo>
                  <a:lnTo>
                    <a:pt x="0" y="1154430"/>
                  </a:lnTo>
                  <a:lnTo>
                    <a:pt x="0" y="0"/>
                  </a:lnTo>
                  <a:close/>
                </a:path>
              </a:pathLst>
            </a:custGeom>
            <a:blipFill>
              <a:blip r:embed="rId12"/>
              <a:stretch>
                <a:fillRect l="0" t="0" r="2" b="2"/>
              </a:stretch>
            </a:blipFill>
          </p:spPr>
          <p:txBody>
            <a:bodyPr/>
            <a:p/>
          </p:txBody>
        </p:sp>
      </p:grpSp>
      <p:grpSp>
        <p:nvGrpSpPr>
          <p:cNvPr name="Group 27" id="27"/>
          <p:cNvGrpSpPr/>
          <p:nvPr/>
        </p:nvGrpSpPr>
        <p:grpSpPr>
          <a:xfrm rot="0">
            <a:off x="0" y="9421197"/>
            <a:ext cx="2679421" cy="865803"/>
            <a:chOff x="0" y="0"/>
            <a:chExt cx="3572561" cy="1154405"/>
          </a:xfrm>
        </p:grpSpPr>
        <p:sp>
          <p:nvSpPr>
            <p:cNvPr name="Freeform 28" id="28"/>
            <p:cNvSpPr/>
            <p:nvPr/>
          </p:nvSpPr>
          <p:spPr>
            <a:xfrm flipH="false" flipV="false" rot="0">
              <a:off x="0" y="0"/>
              <a:ext cx="3572510" cy="1154430"/>
            </a:xfrm>
            <a:custGeom>
              <a:avLst/>
              <a:gdLst/>
              <a:ahLst/>
              <a:cxnLst/>
              <a:rect r="r" b="b" t="t" l="l"/>
              <a:pathLst>
                <a:path h="1154430" w="3572510">
                  <a:moveTo>
                    <a:pt x="0" y="0"/>
                  </a:moveTo>
                  <a:lnTo>
                    <a:pt x="3572510" y="0"/>
                  </a:lnTo>
                  <a:lnTo>
                    <a:pt x="3572510" y="1154430"/>
                  </a:lnTo>
                  <a:lnTo>
                    <a:pt x="0" y="1154430"/>
                  </a:lnTo>
                  <a:lnTo>
                    <a:pt x="0" y="0"/>
                  </a:lnTo>
                  <a:close/>
                </a:path>
              </a:pathLst>
            </a:custGeom>
            <a:blipFill>
              <a:blip r:embed="rId13"/>
              <a:stretch>
                <a:fillRect l="-21110" t="-147255" r="-22761" b="-197973"/>
              </a:stretch>
            </a:blipFill>
          </p:spPr>
          <p:txBody>
            <a:bodyPr/>
            <a:p/>
          </p:txBody>
        </p:sp>
      </p:grpSp>
      <p:grpSp>
        <p:nvGrpSpPr>
          <p:cNvPr name="Group 29" id="29"/>
          <p:cNvGrpSpPr/>
          <p:nvPr/>
        </p:nvGrpSpPr>
        <p:grpSpPr>
          <a:xfrm rot="0">
            <a:off x="14744700" y="685800"/>
            <a:ext cx="2743200" cy="370332"/>
            <a:chOff x="0" y="0"/>
            <a:chExt cx="3657600" cy="493776"/>
          </a:xfrm>
        </p:grpSpPr>
        <p:sp>
          <p:nvSpPr>
            <p:cNvPr name="Freeform 30" id="30"/>
            <p:cNvSpPr/>
            <p:nvPr/>
          </p:nvSpPr>
          <p:spPr>
            <a:xfrm flipH="false" flipV="false" rot="0">
              <a:off x="0" y="0"/>
              <a:ext cx="3657600" cy="493776"/>
            </a:xfrm>
            <a:custGeom>
              <a:avLst/>
              <a:gdLst/>
              <a:ahLst/>
              <a:cxnLst/>
              <a:rect r="r" b="b" t="t" l="l"/>
              <a:pathLst>
                <a:path h="493776" w="3657600">
                  <a:moveTo>
                    <a:pt x="0" y="246888"/>
                  </a:moveTo>
                  <a:cubicBezTo>
                    <a:pt x="0" y="110490"/>
                    <a:pt x="110490" y="0"/>
                    <a:pt x="246888" y="0"/>
                  </a:cubicBezTo>
                  <a:lnTo>
                    <a:pt x="3410712" y="0"/>
                  </a:lnTo>
                  <a:cubicBezTo>
                    <a:pt x="3547110" y="0"/>
                    <a:pt x="3657600" y="110490"/>
                    <a:pt x="3657600" y="246888"/>
                  </a:cubicBezTo>
                  <a:cubicBezTo>
                    <a:pt x="3657600" y="383286"/>
                    <a:pt x="3547110" y="493776"/>
                    <a:pt x="3410712" y="493776"/>
                  </a:cubicBezTo>
                  <a:lnTo>
                    <a:pt x="246888" y="493776"/>
                  </a:lnTo>
                  <a:cubicBezTo>
                    <a:pt x="110490" y="493776"/>
                    <a:pt x="0" y="383286"/>
                    <a:pt x="0" y="246888"/>
                  </a:cubicBezTo>
                  <a:close/>
                </a:path>
              </a:pathLst>
            </a:custGeom>
            <a:solidFill>
              <a:srgbClr val="E2E8F0"/>
            </a:solidFill>
          </p:spPr>
          <p:txBody>
            <a:bodyPr/>
            <a:p/>
          </p:txBody>
        </p:sp>
        <p:sp>
          <p:nvSpPr>
            <p:cNvPr name="TextBox 31" id="31"/>
            <p:cNvSpPr txBox="true"/>
            <p:nvPr/>
          </p:nvSpPr>
          <p:spPr>
            <a:xfrm>
              <a:off x="0" y="0"/>
              <a:ext cx="3657600" cy="493776"/>
            </a:xfrm>
            <a:prstGeom prst="rect">
              <a:avLst/>
            </a:prstGeom>
          </p:spPr>
          <p:txBody>
            <a:bodyPr anchor="ctr" rtlCol="false" tIns="50800" lIns="50800" bIns="50800" rIns="50800"/>
            <a:lstStyle/>
            <a:p>
              <a:pPr algn="ctr">
                <a:lnSpc>
                  <a:spcPts val="1350"/>
                </a:lnSpc>
              </a:pPr>
              <a:r>
                <a:rPr lang="en-US" sz="1125" b="true">
                  <a:solidFill>
                    <a:srgbClr val="475569"/>
                  </a:solidFill>
                  <a:latin typeface="DM Sans Bold"/>
                  <a:ea typeface="DM Sans Bold"/>
                  <a:cs typeface="DM Sans Bold"/>
                  <a:sym typeface="DM Sans Bold"/>
                </a:rPr>
                <a:t>CHECKED · DESIGNED · TO TEST</a:t>
              </a:r>
            </a:p>
          </p:txBody>
        </p:sp>
      </p:grpSp>
      <p:sp>
        <p:nvSpPr>
          <p:cNvPr name="TextBox 32" id="32"/>
          <p:cNvSpPr txBox="true"/>
          <p:nvPr/>
        </p:nvSpPr>
        <p:spPr>
          <a:xfrm rot="0">
            <a:off x="1143000" y="2276475"/>
            <a:ext cx="4695444" cy="1056208"/>
          </a:xfrm>
          <a:prstGeom prst="rect">
            <a:avLst/>
          </a:prstGeom>
        </p:spPr>
        <p:txBody>
          <a:bodyPr anchor="t" rtlCol="false" tIns="0" lIns="0" bIns="0" rIns="0">
            <a:spAutoFit/>
          </a:bodyPr>
          <a:lstStyle/>
          <a:p>
            <a:pPr algn="l">
              <a:lnSpc>
                <a:spcPts val="2138"/>
              </a:lnSpc>
            </a:pPr>
            <a:r>
              <a:rPr lang="en-US" sz="1650" b="true">
                <a:solidFill>
                  <a:srgbClr val="0F172A"/>
                </a:solidFill>
                <a:latin typeface="DM Sans Bold"/>
                <a:ea typeface="DM Sans Bold"/>
                <a:cs typeface="DM Sans Bold"/>
                <a:sym typeface="DM Sans Bold"/>
              </a:rPr>
              <a:t>Seal: </a:t>
            </a:r>
            <a:r>
              <a:rPr lang="en-US" sz="1650">
                <a:solidFill>
                  <a:srgbClr val="334155"/>
                </a:solidFill>
                <a:latin typeface="DM Sans"/>
                <a:ea typeface="DM Sans"/>
                <a:cs typeface="DM Sans"/>
                <a:sym typeface="DM Sans"/>
              </a:rPr>
              <a:t>starts at x = 23 mm; 0 clash.</a:t>
            </a:r>
          </a:p>
          <a:p>
            <a:pPr algn="l">
              <a:lnSpc>
                <a:spcPts val="2138"/>
              </a:lnSpc>
            </a:pPr>
            <a:r>
              <a:rPr lang="en-US" sz="1650" b="true">
                <a:solidFill>
                  <a:srgbClr val="0F172A"/>
                </a:solidFill>
                <a:latin typeface="DM Sans Bold"/>
                <a:ea typeface="DM Sans Bold"/>
                <a:cs typeface="DM Sans Bold"/>
                <a:sym typeface="DM Sans Bold"/>
              </a:rPr>
              <a:t>Units: </a:t>
            </a:r>
            <a:r>
              <a:rPr lang="en-US" sz="1650">
                <a:solidFill>
                  <a:srgbClr val="334155"/>
                </a:solidFill>
                <a:latin typeface="DM Sans"/>
                <a:ea typeface="DM Sans"/>
                <a:cs typeface="DM Sans"/>
                <a:sym typeface="DM Sans"/>
              </a:rPr>
              <a:t>all STEP files in mm.</a:t>
            </a:r>
          </a:p>
          <a:p>
            <a:pPr algn="l">
              <a:lnSpc>
                <a:spcPts val="2138"/>
              </a:lnSpc>
            </a:pPr>
            <a:r>
              <a:rPr lang="en-US" sz="1650" b="true">
                <a:solidFill>
                  <a:srgbClr val="0F172A"/>
                </a:solidFill>
                <a:latin typeface="DM Sans Bold"/>
                <a:ea typeface="DM Sans Bold"/>
                <a:cs typeface="DM Sans Bold"/>
                <a:sym typeface="DM Sans Bold"/>
              </a:rPr>
              <a:t>Checks: </a:t>
            </a:r>
            <a:r>
              <a:rPr lang="en-US" sz="1650" b="true">
                <a:solidFill>
                  <a:srgbClr val="334155"/>
                </a:solidFill>
                <a:latin typeface="DM Sans Bold"/>
                <a:ea typeface="DM Sans Bold"/>
                <a:cs typeface="DM Sans Bold"/>
                <a:sym typeface="DM Sans Bold"/>
              </a:rPr>
              <a:t>99 checks passed, 0 failed; 5 await E2 measurements.</a:t>
            </a:r>
          </a:p>
        </p:txBody>
      </p:sp>
      <p:sp>
        <p:nvSpPr>
          <p:cNvPr name="TextBox 33" id="33"/>
          <p:cNvSpPr txBox="true"/>
          <p:nvPr/>
        </p:nvSpPr>
        <p:spPr>
          <a:xfrm rot="0">
            <a:off x="6807708" y="2276475"/>
            <a:ext cx="4695444" cy="2446401"/>
          </a:xfrm>
          <a:prstGeom prst="rect">
            <a:avLst/>
          </a:prstGeom>
        </p:spPr>
        <p:txBody>
          <a:bodyPr anchor="t" rtlCol="false" tIns="0" lIns="0" bIns="0" rIns="0">
            <a:spAutoFit/>
          </a:bodyPr>
          <a:lstStyle/>
          <a:p>
            <a:pPr algn="l">
              <a:lnSpc>
                <a:spcPts val="2138"/>
              </a:lnSpc>
            </a:pPr>
            <a:r>
              <a:rPr lang="en-US" sz="1650" b="true">
                <a:solidFill>
                  <a:srgbClr val="0F172A"/>
                </a:solidFill>
                <a:latin typeface="DM Sans Bold"/>
                <a:ea typeface="DM Sans Bold"/>
                <a:cs typeface="DM Sans Bold"/>
                <a:sym typeface="DM Sans Bold"/>
              </a:rPr>
              <a:t>v0.2 strip: </a:t>
            </a:r>
            <a:r>
              <a:rPr lang="en-US" sz="1650">
                <a:solidFill>
                  <a:srgbClr val="334155"/>
                </a:solidFill>
                <a:latin typeface="DM Sans"/>
                <a:ea typeface="DM Sans"/>
                <a:cs typeface="DM Sans"/>
                <a:sym typeface="DM Sans"/>
              </a:rPr>
              <a:t>every sense lead looped.</a:t>
            </a:r>
          </a:p>
          <a:p>
            <a:pPr algn="l">
              <a:lnSpc>
                <a:spcPts val="2138"/>
              </a:lnSpc>
            </a:pPr>
            <a:r>
              <a:rPr lang="en-US" sz="1650" b="true">
                <a:solidFill>
                  <a:srgbClr val="0F172A"/>
                </a:solidFill>
                <a:latin typeface="DM Sans Bold"/>
                <a:ea typeface="DM Sans Bold"/>
                <a:cs typeface="DM Sans Bold"/>
                <a:sym typeface="DM Sans Bold"/>
              </a:rPr>
              <a:t>Contact: </a:t>
            </a:r>
            <a:r>
              <a:rPr lang="en-US" sz="1650">
                <a:solidFill>
                  <a:srgbClr val="334155"/>
                </a:solidFill>
                <a:latin typeface="DM Sans"/>
                <a:ea typeface="DM Sans"/>
                <a:cs typeface="DM Sans"/>
                <a:sym typeface="DM Sans"/>
              </a:rPr>
              <a:t>silver pads, rounded pins.</a:t>
            </a:r>
          </a:p>
          <a:p>
            <a:pPr algn="l">
              <a:lnSpc>
                <a:spcPts val="2138"/>
              </a:lnSpc>
            </a:pPr>
            <a:r>
              <a:rPr lang="en-US" sz="1650" b="true">
                <a:solidFill>
                  <a:srgbClr val="0F172A"/>
                </a:solidFill>
                <a:latin typeface="DM Sans Bold"/>
                <a:ea typeface="DM Sans Bold"/>
                <a:cs typeface="DM Sans Bold"/>
                <a:sym typeface="DM Sans Bold"/>
              </a:rPr>
              <a:t>Self-test: </a:t>
            </a:r>
            <a:r>
              <a:rPr lang="en-US" sz="1650">
                <a:solidFill>
                  <a:srgbClr val="334155"/>
                </a:solidFill>
                <a:latin typeface="DM Sans"/>
                <a:ea typeface="DM Sans"/>
                <a:cs typeface="DM Sans"/>
                <a:sym typeface="DM Sans"/>
              </a:rPr>
              <a:t>check resistor → FAULT.</a:t>
            </a:r>
          </a:p>
        </p:txBody>
      </p:sp>
      <p:sp>
        <p:nvSpPr>
          <p:cNvPr name="TextBox 34" id="34"/>
          <p:cNvSpPr txBox="true"/>
          <p:nvPr/>
        </p:nvSpPr>
        <p:spPr>
          <a:xfrm rot="0">
            <a:off x="12486132" y="2276475"/>
            <a:ext cx="4695444" cy="2446401"/>
          </a:xfrm>
          <a:prstGeom prst="rect">
            <a:avLst/>
          </a:prstGeom>
        </p:spPr>
        <p:txBody>
          <a:bodyPr anchor="t" rtlCol="false" tIns="0" lIns="0" bIns="0" rIns="0">
            <a:spAutoFit/>
          </a:bodyPr>
          <a:lstStyle/>
          <a:p>
            <a:pPr algn="l">
              <a:lnSpc>
                <a:spcPts val="2138"/>
              </a:lnSpc>
            </a:pPr>
            <a:r>
              <a:rPr lang="en-US" sz="1650" b="true">
                <a:solidFill>
                  <a:srgbClr val="0F172A"/>
                </a:solidFill>
                <a:latin typeface="DM Sans Bold"/>
                <a:ea typeface="DM Sans Bold"/>
                <a:cs typeface="DM Sans Bold"/>
                <a:sym typeface="DM Sans Bold"/>
              </a:rPr>
              <a:t>Wider lines: </a:t>
            </a:r>
            <a:r>
              <a:rPr lang="en-US" sz="1650">
                <a:solidFill>
                  <a:srgbClr val="334155"/>
                </a:solidFill>
                <a:latin typeface="DM Sans"/>
                <a:ea typeface="DM Sans"/>
                <a:cs typeface="DM Sans"/>
                <a:sym typeface="DM Sans"/>
              </a:rPr>
              <a:t>if E2 says so.</a:t>
            </a:r>
          </a:p>
          <a:p>
            <a:pPr algn="l">
              <a:lnSpc>
                <a:spcPts val="2138"/>
              </a:lnSpc>
            </a:pPr>
            <a:r>
              <a:rPr lang="en-US" sz="1650" b="true">
                <a:solidFill>
                  <a:srgbClr val="0F172A"/>
                </a:solidFill>
                <a:latin typeface="DM Sans Bold"/>
                <a:ea typeface="DM Sans Bold"/>
                <a:cs typeface="DM Sans Bold"/>
                <a:sym typeface="DM Sans Bold"/>
              </a:rPr>
              <a:t>Process: </a:t>
            </a:r>
            <a:r>
              <a:rPr lang="en-US" sz="1650">
                <a:solidFill>
                  <a:srgbClr val="334155"/>
                </a:solidFill>
                <a:latin typeface="DM Sans"/>
                <a:ea typeface="DM Sans"/>
                <a:cs typeface="DM Sans"/>
                <a:sym typeface="DM Sans"/>
              </a:rPr>
              <a:t>slower passes, log current.</a:t>
            </a:r>
          </a:p>
          <a:p>
            <a:pPr algn="l">
              <a:lnSpc>
                <a:spcPts val="2138"/>
              </a:lnSpc>
            </a:pPr>
            <a:r>
              <a:rPr lang="en-US" sz="1650" b="true">
                <a:solidFill>
                  <a:srgbClr val="0F172A"/>
                </a:solidFill>
                <a:latin typeface="DM Sans Bold"/>
                <a:ea typeface="DM Sans Bold"/>
                <a:cs typeface="DM Sans Bold"/>
                <a:sym typeface="DM Sans Bold"/>
              </a:rPr>
              <a:t>Concept: </a:t>
            </a:r>
            <a:r>
              <a:rPr lang="en-US" sz="1650">
                <a:solidFill>
                  <a:srgbClr val="334155"/>
                </a:solidFill>
                <a:latin typeface="DM Sans"/>
                <a:ea typeface="DM Sans"/>
                <a:cs typeface="DM Sans"/>
                <a:sym typeface="DM Sans"/>
              </a:rPr>
              <a:t>one-zone strip (score 4.29).</a:t>
            </a:r>
          </a:p>
        </p:txBody>
      </p:sp>
      <p:grpSp>
        <p:nvGrpSpPr>
          <p:cNvPr name="Group 35" id="35"/>
          <p:cNvGrpSpPr/>
          <p:nvPr/>
        </p:nvGrpSpPr>
        <p:grpSpPr>
          <a:xfrm rot="0">
            <a:off x="788384" y="5040344"/>
            <a:ext cx="16706660" cy="3278696"/>
            <a:chOff x="0" y="0"/>
            <a:chExt cx="22275546" cy="4371594"/>
          </a:xfrm>
        </p:grpSpPr>
        <p:sp>
          <p:nvSpPr>
            <p:cNvPr name="Freeform 36" id="36"/>
            <p:cNvSpPr/>
            <p:nvPr/>
          </p:nvSpPr>
          <p:spPr>
            <a:xfrm flipH="false" flipV="false" rot="0">
              <a:off x="0" y="0"/>
              <a:ext cx="22275546" cy="4371594"/>
            </a:xfrm>
            <a:custGeom>
              <a:avLst/>
              <a:gdLst/>
              <a:ahLst/>
              <a:cxnLst/>
              <a:rect r="r" b="b" t="t" l="l"/>
              <a:pathLst>
                <a:path h="4371594" w="22275546">
                  <a:moveTo>
                    <a:pt x="0" y="262255"/>
                  </a:moveTo>
                  <a:cubicBezTo>
                    <a:pt x="0" y="117475"/>
                    <a:pt x="117475" y="0"/>
                    <a:pt x="262255" y="0"/>
                  </a:cubicBezTo>
                  <a:lnTo>
                    <a:pt x="22013290" y="0"/>
                  </a:lnTo>
                  <a:cubicBezTo>
                    <a:pt x="22158198" y="0"/>
                    <a:pt x="22275546" y="117475"/>
                    <a:pt x="22275546" y="262255"/>
                  </a:cubicBezTo>
                  <a:lnTo>
                    <a:pt x="22275546" y="4109339"/>
                  </a:lnTo>
                  <a:cubicBezTo>
                    <a:pt x="22275546" y="4254246"/>
                    <a:pt x="22158071" y="4371594"/>
                    <a:pt x="22013290" y="4371594"/>
                  </a:cubicBezTo>
                  <a:lnTo>
                    <a:pt x="262255" y="4371594"/>
                  </a:lnTo>
                  <a:cubicBezTo>
                    <a:pt x="117475" y="4371594"/>
                    <a:pt x="0" y="4254119"/>
                    <a:pt x="0" y="4109339"/>
                  </a:cubicBezTo>
                  <a:close/>
                </a:path>
              </a:pathLst>
            </a:custGeom>
            <a:solidFill>
              <a:srgbClr val="F8FAFC"/>
            </a:solidFill>
            <a:ln w="14288" cap="sq">
              <a:solidFill>
                <a:srgbClr val="E2E8F0"/>
              </a:solidFill>
              <a:prstDash val="solid"/>
              <a:miter/>
            </a:ln>
          </p:spPr>
          <p:txBody>
            <a:bodyPr/>
            <a:p/>
          </p:txBody>
        </p:sp>
      </p:grpSp>
      <p:sp>
        <p:nvSpPr>
          <p:cNvPr name="TextBox 37" id="37"/>
          <p:cNvSpPr txBox="true"/>
          <p:nvPr/>
        </p:nvSpPr>
        <p:spPr>
          <a:xfrm rot="0">
            <a:off x="1143000" y="5211699"/>
            <a:ext cx="16011144" cy="264719"/>
          </a:xfrm>
          <a:prstGeom prst="rect">
            <a:avLst/>
          </a:prstGeom>
        </p:spPr>
        <p:txBody>
          <a:bodyPr anchor="t" rtlCol="false" tIns="0" lIns="0" bIns="0" rIns="0">
            <a:spAutoFit/>
          </a:bodyPr>
          <a:lstStyle/>
          <a:p>
            <a:pPr algn="l">
              <a:lnSpc>
                <a:spcPts val="2235"/>
              </a:lnSpc>
            </a:pPr>
            <a:r>
              <a:rPr lang="en-US" sz="1725" b="true">
                <a:solidFill>
                  <a:srgbClr val="0F172A"/>
                </a:solidFill>
                <a:latin typeface="DM Sans Bold"/>
                <a:ea typeface="DM Sans Bold"/>
                <a:cs typeface="DM Sans Bold"/>
                <a:sym typeface="DM Sans Bold"/>
              </a:rPr>
              <a:t>What we still need to test</a:t>
            </a:r>
          </a:p>
        </p:txBody>
      </p:sp>
      <p:sp>
        <p:nvSpPr>
          <p:cNvPr name="TextBox 38" id="38"/>
          <p:cNvSpPr txBox="true"/>
          <p:nvPr/>
        </p:nvSpPr>
        <p:spPr>
          <a:xfrm rot="0">
            <a:off x="1143000" y="5828919"/>
            <a:ext cx="7850124" cy="1056208"/>
          </a:xfrm>
          <a:prstGeom prst="rect">
            <a:avLst/>
          </a:prstGeom>
        </p:spPr>
        <p:txBody>
          <a:bodyPr anchor="t" rtlCol="false" tIns="0" lIns="0" bIns="0" rIns="0">
            <a:spAutoFit/>
          </a:bodyPr>
          <a:lstStyle/>
          <a:p>
            <a:pPr algn="l">
              <a:lnSpc>
                <a:spcPts val="2138"/>
              </a:lnSpc>
            </a:pPr>
            <a:r>
              <a:rPr lang="en-US" sz="1650">
                <a:solidFill>
                  <a:srgbClr val="059669"/>
                </a:solidFill>
                <a:latin typeface="DM Sans"/>
                <a:ea typeface="DM Sans"/>
                <a:cs typeface="DM Sans"/>
                <a:sym typeface="DM Sans"/>
              </a:rPr>
              <a:t>▪  </a:t>
            </a:r>
            <a:r>
              <a:rPr lang="en-US" sz="1650" b="true">
                <a:solidFill>
                  <a:srgbClr val="0F172A"/>
                </a:solidFill>
                <a:latin typeface="DM Sans Bold"/>
                <a:ea typeface="DM Sans Bold"/>
                <a:cs typeface="DM Sans Bold"/>
                <a:sym typeface="DM Sans Bold"/>
              </a:rPr>
              <a:t>Experiments:  </a:t>
            </a:r>
            <a:r>
              <a:rPr lang="en-US" sz="1650" b="true">
                <a:solidFill>
                  <a:srgbClr val="334155"/>
                </a:solidFill>
                <a:latin typeface="DM Sans Bold"/>
                <a:ea typeface="DM Sans Bold"/>
                <a:cs typeface="DM Sans Bold"/>
                <a:sym typeface="DM Sans Bold"/>
              </a:rPr>
              <a:t>Run E2 laser tests, bench-test the reader, then run E4 wet tests.</a:t>
            </a:r>
          </a:p>
          <a:p>
            <a:pPr algn="l">
              <a:lnSpc>
                <a:spcPts val="2138"/>
              </a:lnSpc>
            </a:pPr>
            <a:r>
              <a:rPr lang="en-US" sz="1650">
                <a:solidFill>
                  <a:srgbClr val="059669"/>
                </a:solidFill>
                <a:latin typeface="DM Sans"/>
                <a:ea typeface="DM Sans"/>
                <a:cs typeface="DM Sans"/>
                <a:sym typeface="DM Sans"/>
              </a:rPr>
              <a:t>▪  </a:t>
            </a:r>
            <a:r>
              <a:rPr lang="en-US" sz="1650" b="true">
                <a:solidFill>
                  <a:srgbClr val="0F172A"/>
                </a:solidFill>
                <a:latin typeface="DM Sans Bold"/>
                <a:ea typeface="DM Sans Bold"/>
                <a:cs typeface="DM Sans Bold"/>
                <a:sym typeface="DM Sans Bold"/>
              </a:rPr>
              <a:t>Material:  </a:t>
            </a:r>
            <a:r>
              <a:rPr lang="en-US" sz="1650" b="true">
                <a:solidFill>
                  <a:srgbClr val="334155"/>
                </a:solidFill>
                <a:latin typeface="DM Sans Bold"/>
                <a:ea typeface="DM Sans Bold"/>
                <a:cs typeface="DM Sans Bold"/>
                <a:sym typeface="DM Sans Bold"/>
              </a:rPr>
              <a:t>Use Raman and SEM before describing the material as graphene.</a:t>
            </a:r>
          </a:p>
          <a:p>
            <a:pPr algn="l">
              <a:lnSpc>
                <a:spcPts val="2138"/>
              </a:lnSpc>
            </a:pPr>
            <a:r>
              <a:rPr lang="en-US" sz="1650">
                <a:solidFill>
                  <a:srgbClr val="059669"/>
                </a:solidFill>
                <a:latin typeface="DM Sans"/>
                <a:ea typeface="DM Sans"/>
                <a:cs typeface="DM Sans"/>
                <a:sym typeface="DM Sans"/>
              </a:rPr>
              <a:t>▪  </a:t>
            </a:r>
            <a:r>
              <a:rPr lang="en-US" sz="1650" b="true">
                <a:solidFill>
                  <a:srgbClr val="0F172A"/>
                </a:solidFill>
                <a:latin typeface="DM Sans Bold"/>
                <a:ea typeface="DM Sans Bold"/>
                <a:cs typeface="DM Sans Bold"/>
                <a:sym typeface="DM Sans Bold"/>
              </a:rPr>
              <a:t>Reliability:  </a:t>
            </a:r>
            <a:r>
              <a:rPr lang="en-US" sz="1650" b="true">
                <a:solidFill>
                  <a:srgbClr val="334155"/>
                </a:solidFill>
                <a:latin typeface="DM Sans Bold"/>
                <a:ea typeface="DM Sans Bold"/>
                <a:cs typeface="DM Sans Bold"/>
                <a:sym typeface="DM Sans Bold"/>
              </a:rPr>
              <a:t>Test bending, contact wear and humidity-related drift.</a:t>
            </a:r>
          </a:p>
        </p:txBody>
      </p:sp>
      <p:sp>
        <p:nvSpPr>
          <p:cNvPr name="TextBox 39" id="39"/>
          <p:cNvSpPr txBox="true"/>
          <p:nvPr/>
        </p:nvSpPr>
        <p:spPr>
          <a:xfrm rot="0">
            <a:off x="9413748" y="5828919"/>
            <a:ext cx="7850124" cy="1589608"/>
          </a:xfrm>
          <a:prstGeom prst="rect">
            <a:avLst/>
          </a:prstGeom>
        </p:spPr>
        <p:txBody>
          <a:bodyPr anchor="t" rtlCol="false" tIns="0" lIns="0" bIns="0" rIns="0">
            <a:spAutoFit/>
          </a:bodyPr>
          <a:lstStyle/>
          <a:p>
            <a:pPr algn="l">
              <a:lnSpc>
                <a:spcPts val="2138"/>
              </a:lnSpc>
            </a:pPr>
            <a:r>
              <a:rPr lang="en-US" sz="1650">
                <a:solidFill>
                  <a:srgbClr val="059669"/>
                </a:solidFill>
                <a:latin typeface="DM Sans"/>
                <a:ea typeface="DM Sans"/>
                <a:cs typeface="DM Sans"/>
                <a:sym typeface="DM Sans"/>
              </a:rPr>
              <a:t>▪  </a:t>
            </a:r>
            <a:r>
              <a:rPr lang="en-US" sz="1650" b="true">
                <a:solidFill>
                  <a:srgbClr val="0F172A"/>
                </a:solidFill>
                <a:latin typeface="DM Sans Bold"/>
                <a:ea typeface="DM Sans Bold"/>
                <a:cs typeface="DM Sans Bold"/>
                <a:sym typeface="DM Sans Bold"/>
              </a:rPr>
              <a:t>Product:  </a:t>
            </a:r>
            <a:r>
              <a:rPr lang="en-US" sz="1650" b="true">
                <a:solidFill>
                  <a:srgbClr val="334155"/>
                </a:solidFill>
                <a:latin typeface="DM Sans Bold"/>
                <a:ea typeface="DM Sans Bold"/>
                <a:cs typeface="DM Sans Bold"/>
                <a:sym typeface="DM Sans Bold"/>
              </a:rPr>
              <a:t>Explore a battery-powered reader and a secure local phone connection. Neither is built yet; one strip is intended per dressing.</a:t>
            </a:r>
          </a:p>
          <a:p>
            <a:pPr algn="l">
              <a:lnSpc>
                <a:spcPts val="2138"/>
              </a:lnSpc>
            </a:pPr>
            <a:r>
              <a:rPr lang="en-US" sz="1650">
                <a:solidFill>
                  <a:srgbClr val="059669"/>
                </a:solidFill>
                <a:latin typeface="DM Sans"/>
                <a:ea typeface="DM Sans"/>
                <a:cs typeface="DM Sans"/>
                <a:sym typeface="DM Sans"/>
              </a:rPr>
              <a:t>▪  </a:t>
            </a:r>
            <a:r>
              <a:rPr lang="en-US" sz="1650" b="true">
                <a:solidFill>
                  <a:srgbClr val="0F172A"/>
                </a:solidFill>
                <a:latin typeface="DM Sans Bold"/>
                <a:ea typeface="DM Sans Bold"/>
                <a:cs typeface="DM Sans Bold"/>
                <a:sym typeface="DM Sans Bold"/>
              </a:rPr>
              <a:t>Before any study with people: address relevant biocompatibility and electrical-safety requirements and obtain ethics approval.</a:t>
            </a:r>
          </a:p>
          <a:p>
            <a:pPr algn="l">
              <a:lnSpc>
                <a:spcPts val="2138"/>
              </a:lnSpc>
            </a:pPr>
            <a:r>
              <a:rPr lang="en-US" sz="1650">
                <a:solidFill>
                  <a:srgbClr val="059669"/>
                </a:solidFill>
                <a:latin typeface="DM Sans"/>
                <a:ea typeface="DM Sans"/>
                <a:cs typeface="DM Sans"/>
                <a:sym typeface="DM Sans"/>
              </a:rPr>
              <a:t>▪  </a:t>
            </a:r>
            <a:r>
              <a:rPr lang="en-US" sz="1650" b="true">
                <a:solidFill>
                  <a:srgbClr val="0F172A"/>
                </a:solidFill>
                <a:latin typeface="DM Sans Bold"/>
                <a:ea typeface="DM Sans Bold"/>
                <a:cs typeface="DM Sans Bold"/>
                <a:sym typeface="DM Sans Bold"/>
              </a:rPr>
              <a:t>Not claimed:  </a:t>
            </a:r>
            <a:r>
              <a:rPr lang="en-US" sz="1650" b="true">
                <a:solidFill>
                  <a:srgbClr val="334155"/>
                </a:solidFill>
                <a:latin typeface="DM Sans Bold"/>
                <a:ea typeface="DM Sans Bold"/>
                <a:cs typeface="DM Sans Bold"/>
                <a:sym typeface="DM Sans Bold"/>
              </a:rPr>
              <a:t>We have not established sensor performance, graphene identity or clinical benefit.</a:t>
            </a:r>
          </a:p>
        </p:txBody>
      </p:sp>
    </p:spTree>
  </p:cSld>
  <p:clrMapOvr>
    <a:masterClrMapping/>
  </p:clrMapOvr>
</p:sld>
</file>

<file path=ppt/slides/slide18.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TextBox 2" id="2"/>
          <p:cNvSpPr txBox="true"/>
          <p:nvPr/>
        </p:nvSpPr>
        <p:spPr>
          <a:xfrm rot="0">
            <a:off x="857250" y="676275"/>
            <a:ext cx="17402404" cy="1042502"/>
          </a:xfrm>
          <a:prstGeom prst="rect">
            <a:avLst/>
          </a:prstGeom>
        </p:spPr>
        <p:txBody>
          <a:bodyPr anchor="t" rtlCol="false" tIns="0" lIns="0" bIns="0" rIns="0">
            <a:spAutoFit/>
          </a:bodyPr>
          <a:lstStyle/>
          <a:p>
            <a:pPr algn="l">
              <a:lnSpc>
                <a:spcPts val="3644"/>
              </a:lnSpc>
            </a:pPr>
            <a:r>
              <a:rPr lang="en-US" sz="3037">
                <a:solidFill>
                  <a:srgbClr val="0F172A"/>
                </a:solidFill>
                <a:latin typeface="Poppins"/>
                <a:ea typeface="Poppins"/>
                <a:cs typeface="Poppins"/>
                <a:sym typeface="Poppins"/>
              </a:rPr>
              <a:t>References &amp; Sources</a:t>
            </a:r>
          </a:p>
        </p:txBody>
      </p:sp>
      <p:grpSp>
        <p:nvGrpSpPr>
          <p:cNvPr name="Group 3" id="3"/>
          <p:cNvGrpSpPr/>
          <p:nvPr/>
        </p:nvGrpSpPr>
        <p:grpSpPr>
          <a:xfrm rot="0">
            <a:off x="16642794" y="9421197"/>
            <a:ext cx="1645206" cy="865803"/>
            <a:chOff x="0" y="0"/>
            <a:chExt cx="2193608" cy="1154405"/>
          </a:xfrm>
        </p:grpSpPr>
        <p:sp>
          <p:nvSpPr>
            <p:cNvPr name="Freeform 4" id="4"/>
            <p:cNvSpPr/>
            <p:nvPr/>
          </p:nvSpPr>
          <p:spPr>
            <a:xfrm flipH="false" flipV="false" rot="0">
              <a:off x="0" y="0"/>
              <a:ext cx="2193671" cy="1154430"/>
            </a:xfrm>
            <a:custGeom>
              <a:avLst/>
              <a:gdLst/>
              <a:ahLst/>
              <a:cxnLst/>
              <a:rect r="r" b="b" t="t" l="l"/>
              <a:pathLst>
                <a:path h="1154430" w="2193671">
                  <a:moveTo>
                    <a:pt x="0" y="0"/>
                  </a:moveTo>
                  <a:lnTo>
                    <a:pt x="2193671" y="0"/>
                  </a:lnTo>
                  <a:lnTo>
                    <a:pt x="2193671" y="1154430"/>
                  </a:lnTo>
                  <a:lnTo>
                    <a:pt x="0" y="1154430"/>
                  </a:lnTo>
                  <a:lnTo>
                    <a:pt x="0" y="0"/>
                  </a:lnTo>
                  <a:close/>
                </a:path>
              </a:pathLst>
            </a:custGeom>
            <a:blipFill>
              <a:blip r:embed="rId3"/>
              <a:stretch>
                <a:fillRect l="0" t="0" r="2" b="2"/>
              </a:stretch>
            </a:blipFill>
          </p:spPr>
          <p:txBody>
            <a:bodyPr/>
            <a:p/>
          </p:txBody>
        </p:sp>
      </p:grpSp>
      <p:grpSp>
        <p:nvGrpSpPr>
          <p:cNvPr name="Group 5" id="5"/>
          <p:cNvGrpSpPr/>
          <p:nvPr/>
        </p:nvGrpSpPr>
        <p:grpSpPr>
          <a:xfrm rot="0">
            <a:off x="0" y="9421197"/>
            <a:ext cx="2679421" cy="865803"/>
            <a:chOff x="0" y="0"/>
            <a:chExt cx="3572561" cy="1154405"/>
          </a:xfrm>
        </p:grpSpPr>
        <p:sp>
          <p:nvSpPr>
            <p:cNvPr name="Freeform 6" id="6"/>
            <p:cNvSpPr/>
            <p:nvPr/>
          </p:nvSpPr>
          <p:spPr>
            <a:xfrm flipH="false" flipV="false" rot="0">
              <a:off x="0" y="0"/>
              <a:ext cx="3572510" cy="1154430"/>
            </a:xfrm>
            <a:custGeom>
              <a:avLst/>
              <a:gdLst/>
              <a:ahLst/>
              <a:cxnLst/>
              <a:rect r="r" b="b" t="t" l="l"/>
              <a:pathLst>
                <a:path h="1154430" w="3572510">
                  <a:moveTo>
                    <a:pt x="0" y="0"/>
                  </a:moveTo>
                  <a:lnTo>
                    <a:pt x="3572510" y="0"/>
                  </a:lnTo>
                  <a:lnTo>
                    <a:pt x="3572510" y="1154430"/>
                  </a:lnTo>
                  <a:lnTo>
                    <a:pt x="0" y="1154430"/>
                  </a:lnTo>
                  <a:lnTo>
                    <a:pt x="0" y="0"/>
                  </a:lnTo>
                  <a:close/>
                </a:path>
              </a:pathLst>
            </a:custGeom>
            <a:blipFill>
              <a:blip r:embed="rId4"/>
              <a:stretch>
                <a:fillRect l="-21110" t="-147255" r="-22761" b="-197973"/>
              </a:stretch>
            </a:blipFill>
          </p:spPr>
          <p:txBody>
            <a:bodyPr/>
            <a:p/>
          </p:txBody>
        </p:sp>
      </p:grpSp>
      <p:grpSp>
        <p:nvGrpSpPr>
          <p:cNvPr name="Group 7" id="7"/>
          <p:cNvGrpSpPr/>
          <p:nvPr/>
        </p:nvGrpSpPr>
        <p:grpSpPr>
          <a:xfrm rot="0">
            <a:off x="14651431" y="685800"/>
            <a:ext cx="2836469" cy="370332"/>
            <a:chOff x="0" y="0"/>
            <a:chExt cx="3781958" cy="493776"/>
          </a:xfrm>
        </p:grpSpPr>
        <p:sp>
          <p:nvSpPr>
            <p:cNvPr name="Freeform 8" id="8"/>
            <p:cNvSpPr/>
            <p:nvPr/>
          </p:nvSpPr>
          <p:spPr>
            <a:xfrm flipH="false" flipV="false" rot="0">
              <a:off x="0" y="0"/>
              <a:ext cx="3781933" cy="493776"/>
            </a:xfrm>
            <a:custGeom>
              <a:avLst/>
              <a:gdLst/>
              <a:ahLst/>
              <a:cxnLst/>
              <a:rect r="r" b="b" t="t" l="l"/>
              <a:pathLst>
                <a:path h="493776" w="3781933">
                  <a:moveTo>
                    <a:pt x="0" y="246888"/>
                  </a:moveTo>
                  <a:cubicBezTo>
                    <a:pt x="0" y="110490"/>
                    <a:pt x="110490" y="0"/>
                    <a:pt x="246888" y="0"/>
                  </a:cubicBezTo>
                  <a:lnTo>
                    <a:pt x="3535045" y="0"/>
                  </a:lnTo>
                  <a:cubicBezTo>
                    <a:pt x="3671443" y="0"/>
                    <a:pt x="3781933" y="110490"/>
                    <a:pt x="3781933" y="246888"/>
                  </a:cubicBezTo>
                  <a:cubicBezTo>
                    <a:pt x="3781933" y="383286"/>
                    <a:pt x="3671443" y="493776"/>
                    <a:pt x="3535045" y="493776"/>
                  </a:cubicBezTo>
                  <a:lnTo>
                    <a:pt x="246888" y="493776"/>
                  </a:lnTo>
                  <a:cubicBezTo>
                    <a:pt x="110490" y="493776"/>
                    <a:pt x="0" y="383286"/>
                    <a:pt x="0" y="246888"/>
                  </a:cubicBezTo>
                  <a:close/>
                </a:path>
              </a:pathLst>
            </a:custGeom>
            <a:solidFill>
              <a:srgbClr val="E0F2FE"/>
            </a:solidFill>
          </p:spPr>
          <p:txBody>
            <a:bodyPr/>
            <a:p/>
          </p:txBody>
        </p:sp>
        <p:sp>
          <p:nvSpPr>
            <p:cNvPr name="TextBox 9" id="9"/>
            <p:cNvSpPr txBox="true"/>
            <p:nvPr/>
          </p:nvSpPr>
          <p:spPr>
            <a:xfrm>
              <a:off x="0" y="0"/>
              <a:ext cx="3781958" cy="493776"/>
            </a:xfrm>
            <a:prstGeom prst="rect">
              <a:avLst/>
            </a:prstGeom>
          </p:spPr>
          <p:txBody>
            <a:bodyPr anchor="ctr" rtlCol="false" tIns="50800" lIns="50800" bIns="50800" rIns="50800"/>
            <a:lstStyle/>
            <a:p>
              <a:pPr algn="ctr">
                <a:lnSpc>
                  <a:spcPts val="1350"/>
                </a:lnSpc>
              </a:pPr>
              <a:r>
                <a:rPr lang="en-US" sz="1125" b="true">
                  <a:solidFill>
                    <a:srgbClr val="0369A1"/>
                  </a:solidFill>
                  <a:latin typeface="DM Sans Bold"/>
                  <a:ea typeface="DM Sans Bold"/>
                  <a:cs typeface="DM Sans Bold"/>
                  <a:sym typeface="DM Sans Bold"/>
                </a:rPr>
                <a:t>SOURCES AND WHAT WE READ</a:t>
              </a:r>
            </a:p>
          </p:txBody>
        </p:sp>
      </p:grpSp>
      <p:sp>
        <p:nvSpPr>
          <p:cNvPr name="TextBox 10" id="10"/>
          <p:cNvSpPr txBox="true"/>
          <p:nvPr/>
        </p:nvSpPr>
        <p:spPr>
          <a:xfrm rot="0">
            <a:off x="868680" y="1508379"/>
            <a:ext cx="16559784" cy="202982"/>
          </a:xfrm>
          <a:prstGeom prst="rect">
            <a:avLst/>
          </a:prstGeom>
        </p:spPr>
        <p:txBody>
          <a:bodyPr anchor="t" rtlCol="false" tIns="0" lIns="0" bIns="0" rIns="0">
            <a:spAutoFit/>
          </a:bodyPr>
          <a:lstStyle/>
          <a:p>
            <a:pPr algn="l" marL="0" indent="0" lvl="0">
              <a:lnSpc>
                <a:spcPts val="1710"/>
              </a:lnSpc>
              <a:spcBef>
                <a:spcPct val="0"/>
              </a:spcBef>
            </a:pPr>
            <a:r>
              <a:rPr lang="en-US" sz="1320" strike="noStrike" u="none">
                <a:solidFill>
                  <a:srgbClr val="64748B"/>
                </a:solidFill>
                <a:latin typeface="DM Sans"/>
                <a:ea typeface="DM Sans"/>
                <a:cs typeface="DM Sans"/>
                <a:sym typeface="DM Sans"/>
              </a:rPr>
              <a:t>Sources are numbered below. Reading depth is noted; a citation does not mean a claim was independently verified.</a:t>
            </a:r>
          </a:p>
        </p:txBody>
      </p:sp>
      <p:sp>
        <p:nvSpPr>
          <p:cNvPr name="TextBox 11" id="11"/>
          <p:cNvSpPr txBox="true"/>
          <p:nvPr/>
        </p:nvSpPr>
        <p:spPr>
          <a:xfrm rot="0">
            <a:off x="868680" y="1937766"/>
            <a:ext cx="16559784" cy="4613422"/>
          </a:xfrm>
          <a:prstGeom prst="rect">
            <a:avLst/>
          </a:prstGeom>
        </p:spPr>
        <p:txBody>
          <a:bodyPr anchor="t" rtlCol="false" tIns="0" lIns="0" bIns="0" rIns="0">
            <a:spAutoFit/>
          </a:bodyPr>
          <a:lstStyle/>
          <a:p>
            <a:pPr algn="l" marL="0" indent="0" lvl="0">
              <a:lnSpc>
                <a:spcPts val="1671"/>
              </a:lnSpc>
              <a:spcBef>
                <a:spcPct val="0"/>
              </a:spcBef>
            </a:pPr>
            <a:r>
              <a:rPr lang="en-US" b="true" sz="1289" strike="noStrike" u="none">
                <a:solidFill>
                  <a:srgbClr val="0F172A"/>
                </a:solidFill>
                <a:latin typeface="DM Sans Bold"/>
                <a:ea typeface="DM Sans Bold"/>
                <a:cs typeface="DM Sans Bold"/>
                <a:sym typeface="DM Sans Bold"/>
              </a:rPr>
              <a:t>1. Milne S.D. et al., A wearable wound moisture sensor as an indicator for wound dressing change, Int. Wound J. 13(6):1309–1314 (2016). doi:10.1111/iwj.12521 · full text read</a:t>
            </a:r>
          </a:p>
          <a:p>
            <a:pPr algn="l" marL="0" indent="0" lvl="0">
              <a:lnSpc>
                <a:spcPts val="1671"/>
              </a:lnSpc>
              <a:spcBef>
                <a:spcPct val="0"/>
              </a:spcBef>
            </a:pPr>
            <a:r>
              <a:rPr lang="en-US" b="true" sz="1289" strike="noStrike" u="none">
                <a:solidFill>
                  <a:srgbClr val="0F172A"/>
                </a:solidFill>
                <a:latin typeface="DM Sans Bold"/>
                <a:ea typeface="DM Sans Bold"/>
                <a:cs typeface="DM Sans Bold"/>
                <a:sym typeface="DM Sans Bold"/>
              </a:rPr>
              <a:t>2. Dressing instructions for use: some foam dressings say 'change when exudate approaches ~2 cm from the pad edge'; Mölnlycke Mepilex Border Flex brochure uses strike-through reaching 3 edges · manufacturer documents, read as excerpts</a:t>
            </a:r>
          </a:p>
          <a:p>
            <a:pPr algn="l" marL="0" indent="0" lvl="0">
              <a:lnSpc>
                <a:spcPts val="1671"/>
              </a:lnSpc>
              <a:spcBef>
                <a:spcPct val="0"/>
              </a:spcBef>
            </a:pPr>
            <a:r>
              <a:rPr lang="en-US" b="true" sz="1289" strike="noStrike" u="none">
                <a:solidFill>
                  <a:srgbClr val="0F172A"/>
                </a:solidFill>
                <a:latin typeface="DM Sans Bold"/>
                <a:ea typeface="DM Sans Bold"/>
                <a:cs typeface="DM Sans Bold"/>
                <a:sym typeface="DM Sans Bold"/>
              </a:rPr>
              <a:t>3. McColl D., Cartlidge B., Connolly P., Real-time monitoring of moisture levels in wound dressings in vitro, Int. J. Surg. 5(5):316–322 (2007). doi:10.1016/j.ijsu.2007.02.008 · abstract</a:t>
            </a:r>
          </a:p>
          <a:p>
            <a:pPr algn="l" marL="0" indent="0" lvl="0">
              <a:lnSpc>
                <a:spcPts val="1671"/>
              </a:lnSpc>
              <a:spcBef>
                <a:spcPct val="0"/>
              </a:spcBef>
            </a:pPr>
            <a:r>
              <a:rPr lang="en-US" b="true" sz="1289" strike="noStrike" u="none">
                <a:solidFill>
                  <a:srgbClr val="0F172A"/>
                </a:solidFill>
                <a:latin typeface="DM Sans Bold"/>
                <a:ea typeface="DM Sans Bold"/>
                <a:cs typeface="DM Sans Bold"/>
                <a:sym typeface="DM Sans Bold"/>
              </a:rPr>
              <a:t>4. US 5,469,145 and US 5,838,240 (wet diaper detector: detachable strip + clip-on detector); US 9,291,589; US 10,928,344 · patent summaries, claims not read</a:t>
            </a:r>
          </a:p>
          <a:p>
            <a:pPr algn="l" marL="0" indent="0" lvl="0">
              <a:lnSpc>
                <a:spcPts val="1671"/>
              </a:lnSpc>
              <a:spcBef>
                <a:spcPct val="0"/>
              </a:spcBef>
            </a:pPr>
            <a:r>
              <a:rPr lang="en-US" b="true" sz="1289" strike="noStrike" u="none">
                <a:solidFill>
                  <a:srgbClr val="0F172A"/>
                </a:solidFill>
                <a:latin typeface="DM Sans Bold"/>
                <a:ea typeface="DM Sans Bold"/>
                <a:cs typeface="DM Sans Bold"/>
                <a:sym typeface="DM Sans Bold"/>
              </a:rPr>
              <a:t>5. Jiang Y. et al., Wireless, closed-loop, smart bandage with integrated sensors and stimulators, Nat. Biotechnol. (2022). doi:10.1038/s41587-022-01528-3 · listing + coverage</a:t>
            </a:r>
          </a:p>
          <a:p>
            <a:pPr algn="l" marL="0" indent="0" lvl="0">
              <a:lnSpc>
                <a:spcPts val="1671"/>
              </a:lnSpc>
              <a:spcBef>
                <a:spcPct val="0"/>
              </a:spcBef>
            </a:pPr>
            <a:r>
              <a:rPr lang="en-US" b="true" sz="1289" strike="noStrike" u="none">
                <a:solidFill>
                  <a:srgbClr val="0F172A"/>
                </a:solidFill>
                <a:latin typeface="DM Sans Bold"/>
                <a:ea typeface="DM Sans Bold"/>
                <a:cs typeface="DM Sans Bold"/>
                <a:sym typeface="DM Sans Bold"/>
              </a:rPr>
              <a:t>6. Dealey C., Cameron J., Arrowsmith M., A study comparing two objective methods of quantifying the production of wound exudate, J. Wound Care 15(4):149–153 (2006) · abstract (methods disagree)</a:t>
            </a:r>
          </a:p>
          <a:p>
            <a:pPr algn="l" marL="0" indent="0" lvl="0">
              <a:lnSpc>
                <a:spcPts val="1671"/>
              </a:lnSpc>
              <a:spcBef>
                <a:spcPct val="0"/>
              </a:spcBef>
            </a:pPr>
            <a:r>
              <a:rPr lang="en-US" b="true" sz="1289" strike="noStrike" u="none">
                <a:solidFill>
                  <a:srgbClr val="0F172A"/>
                </a:solidFill>
                <a:latin typeface="DM Sans Bold"/>
                <a:ea typeface="DM Sans Bold"/>
                <a:cs typeface="DM Sans Bold"/>
                <a:sym typeface="DM Sans Bold"/>
              </a:rPr>
              <a:t>7. Lin J. et al., Laser-induced porous graphene films from commercial polymers, Nat. Commun. 5:5714 (2014). doi:10.1038/ncomms6714 · full text read</a:t>
            </a:r>
          </a:p>
          <a:p>
            <a:pPr algn="l" marL="0" indent="0" lvl="0">
              <a:lnSpc>
                <a:spcPts val="1671"/>
              </a:lnSpc>
              <a:spcBef>
                <a:spcPct val="0"/>
              </a:spcBef>
            </a:pPr>
            <a:r>
              <a:rPr lang="en-US" b="true" sz="1289" strike="noStrike" u="none">
                <a:solidFill>
                  <a:srgbClr val="0F172A"/>
                </a:solidFill>
                <a:latin typeface="DM Sans Bold"/>
                <a:ea typeface="DM Sans Bold"/>
                <a:cs typeface="DM Sans Bold"/>
                <a:sym typeface="DM Sans Bold"/>
              </a:rPr>
              <a:t>8. CO₂ laser tube current vs PWM setting, engineering measurements, softsolder.com (2022) · not peer-reviewed</a:t>
            </a:r>
          </a:p>
          <a:p>
            <a:pPr algn="l" marL="0" indent="0" lvl="0">
              <a:lnSpc>
                <a:spcPts val="1671"/>
              </a:lnSpc>
              <a:spcBef>
                <a:spcPct val="0"/>
              </a:spcBef>
            </a:pPr>
            <a:r>
              <a:rPr lang="en-US" b="true" sz="1289" strike="noStrike" u="none">
                <a:solidFill>
                  <a:srgbClr val="0F172A"/>
                </a:solidFill>
                <a:latin typeface="DM Sans Bold"/>
                <a:ea typeface="DM Sans Bold"/>
                <a:cs typeface="DM Sans Bold"/>
                <a:sym typeface="DM Sans Bold"/>
              </a:rPr>
              <a:t>9. Li Y. et al., Laser-induced graphene in controlled atmospheres: from superhydrophilic to superhydrophobic surfaces, Adv. Mater. 29:1700496 (2017). doi:10.1002/adma.201700496 · abstract</a:t>
            </a:r>
          </a:p>
          <a:p>
            <a:pPr algn="l" marL="0" indent="0" lvl="0">
              <a:lnSpc>
                <a:spcPts val="1671"/>
              </a:lnSpc>
              <a:spcBef>
                <a:spcPct val="0"/>
              </a:spcBef>
            </a:pPr>
            <a:r>
              <a:rPr lang="en-US" b="true" sz="1289" strike="noStrike" u="none">
                <a:solidFill>
                  <a:srgbClr val="0F172A"/>
                </a:solidFill>
                <a:latin typeface="DM Sans Bold"/>
                <a:ea typeface="DM Sans Bold"/>
                <a:cs typeface="DM Sans Bold"/>
                <a:sym typeface="DM Sans Bold"/>
              </a:rPr>
              <a:t>10. EN 13726-1:2002 / EN 13726:2023, Test methods for wound dressings (absorbency; 'Solution A') · catalogue entry; online link not reachable from our network</a:t>
            </a:r>
          </a:p>
          <a:p>
            <a:pPr algn="l" marL="0" indent="0" lvl="0">
              <a:lnSpc>
                <a:spcPts val="1671"/>
              </a:lnSpc>
              <a:spcBef>
                <a:spcPct val="0"/>
              </a:spcBef>
            </a:pPr>
            <a:r>
              <a:rPr lang="en-US" b="true" sz="1289" strike="noStrike" u="none">
                <a:solidFill>
                  <a:srgbClr val="0F172A"/>
                </a:solidFill>
                <a:latin typeface="DM Sans Bold"/>
                <a:ea typeface="DM Sans Bold"/>
                <a:cs typeface="DM Sans Bold"/>
                <a:sym typeface="DM Sans Bold"/>
              </a:rPr>
              <a:t>11. DuPont position statement on the use of DuPont materials in medical applications (Kapton caution) · web page</a:t>
            </a:r>
          </a:p>
          <a:p>
            <a:pPr algn="l" marL="0" indent="0" lvl="0">
              <a:lnSpc>
                <a:spcPts val="1671"/>
              </a:lnSpc>
              <a:spcBef>
                <a:spcPct val="0"/>
              </a:spcBef>
            </a:pPr>
            <a:r>
              <a:rPr lang="en-US" b="true" sz="1289" strike="noStrike" u="none">
                <a:solidFill>
                  <a:srgbClr val="0F172A"/>
                </a:solidFill>
                <a:latin typeface="DM Sans Bold"/>
                <a:ea typeface="DM Sans Bold"/>
                <a:cs typeface="DM Sans Bold"/>
                <a:sym typeface="DM Sans Bold"/>
              </a:rPr>
              <a:t>12. Texas Instruments ADS1115 datasheet (SBAS444); Espressif ESP32-C3 datasheet · vendor documents</a:t>
            </a:r>
          </a:p>
          <a:p>
            <a:pPr algn="l" marL="0" indent="0" lvl="0">
              <a:lnSpc>
                <a:spcPts val="1671"/>
              </a:lnSpc>
              <a:spcBef>
                <a:spcPct val="0"/>
              </a:spcBef>
            </a:pPr>
            <a:r>
              <a:rPr lang="en-US" b="true" sz="1289" strike="noStrike" u="none">
                <a:solidFill>
                  <a:srgbClr val="0F172A"/>
                </a:solidFill>
                <a:latin typeface="DM Sans Bold"/>
                <a:ea typeface="DM Sans Bold"/>
                <a:cs typeface="DM Sans Bold"/>
                <a:sym typeface="DM Sans Bold"/>
              </a:rPr>
              <a:t>13. Wounds UK news (22 Aug 2018) on a Mölnlycke-commissioned survey of &gt;200 UK patients with chronic wounds: average dressing time 18 min · patient-reported, industry-sponsored; web page read</a:t>
            </a:r>
          </a:p>
          <a:p>
            <a:pPr algn="l" marL="0" indent="0" lvl="0">
              <a:lnSpc>
                <a:spcPts val="1671"/>
              </a:lnSpc>
              <a:spcBef>
                <a:spcPct val="0"/>
              </a:spcBef>
            </a:pPr>
            <a:r>
              <a:rPr lang="en-US" b="true" sz="1289" strike="noStrike" u="none">
                <a:solidFill>
                  <a:srgbClr val="0F172A"/>
                </a:solidFill>
                <a:latin typeface="DM Sans Bold"/>
                <a:ea typeface="DM Sans Bold"/>
                <a:cs typeface="DM Sans Bold"/>
                <a:sym typeface="DM Sans Bold"/>
              </a:rPr>
              <a:t>14. Smith+Nephew, ALLEVYN LIFE product page: visual change indicator ('At 75%, it's time to change your dressing') · manufacturer web page, read 19 Oct 2026</a:t>
            </a:r>
          </a:p>
          <a:p>
            <a:pPr algn="l" marL="0" indent="0" lvl="0">
              <a:lnSpc>
                <a:spcPts val="1671"/>
              </a:lnSpc>
              <a:spcBef>
                <a:spcPct val="0"/>
              </a:spcBef>
            </a:pPr>
            <a:r>
              <a:rPr lang="en-US" b="true" sz="1289" strike="noStrike" u="none">
                <a:solidFill>
                  <a:srgbClr val="0F172A"/>
                </a:solidFill>
                <a:latin typeface="DM Sans Bold"/>
                <a:ea typeface="DM Sans Bold"/>
                <a:cs typeface="DM Sans Bold"/>
                <a:sym typeface="DM Sans Bold"/>
              </a:rPr>
              <a:t>15. Truemeds.in retail listings: Mepilex Lite 10 × 10 cm ₹242; Mepilex Border 10 × 10 cm ₹514 (pack size unclear) · retail pages, read 19 Oct 2026</a:t>
            </a:r>
          </a:p>
          <a:p>
            <a:pPr algn="l" marL="0" indent="0" lvl="0">
              <a:lnSpc>
                <a:spcPts val="1671"/>
              </a:lnSpc>
              <a:spcBef>
                <a:spcPct val="0"/>
              </a:spcBef>
            </a:pPr>
            <a:r>
              <a:rPr lang="en-US" b="true" sz="1289" strike="noStrike" u="none">
                <a:solidFill>
                  <a:srgbClr val="0F172A"/>
                </a:solidFill>
                <a:latin typeface="DM Sans Bold"/>
                <a:ea typeface="DM Sans Bold"/>
                <a:cs typeface="DM Sans Bold"/>
                <a:sym typeface="DM Sans Bold"/>
              </a:rPr>
              <a:t>16. Gupta N., Gupta S.K., Shukla V.K., Singh S.P., An Indian community-based epidemiological study of wounds, J. Wound Care 13(8):323–325 (2004). doi:10.12968/jowc.2004.13.8.26657 · abstract</a:t>
            </a:r>
          </a:p>
          <a:p>
            <a:pPr algn="l" marL="0" indent="0" lvl="0">
              <a:lnSpc>
                <a:spcPts val="1671"/>
              </a:lnSpc>
              <a:spcBef>
                <a:spcPct val="0"/>
              </a:spcBef>
            </a:pPr>
            <a:r>
              <a:rPr lang="en-US" b="true" sz="1289" strike="noStrike" u="none">
                <a:solidFill>
                  <a:srgbClr val="0F172A"/>
                </a:solidFill>
                <a:latin typeface="DM Sans Bold"/>
                <a:ea typeface="DM Sans Bold"/>
                <a:cs typeface="DM Sans Bold"/>
                <a:sym typeface="DM Sans Bold"/>
              </a:rPr>
              <a:t>17. Sharma A. et al., Epidemiological profile of chronic wounds in an Indian population, Cureus 16(9):e68684 (2024). doi:10.7759/cureus.68684 · full text</a:t>
            </a:r>
          </a:p>
          <a:p>
            <a:pPr algn="l" marL="0" indent="0" lvl="0">
              <a:lnSpc>
                <a:spcPts val="1671"/>
              </a:lnSpc>
              <a:spcBef>
                <a:spcPct val="0"/>
              </a:spcBef>
            </a:pPr>
            <a:r>
              <a:rPr lang="en-US" b="true" sz="1289" strike="noStrike" u="none">
                <a:solidFill>
                  <a:srgbClr val="0F172A"/>
                </a:solidFill>
                <a:latin typeface="DM Sans Bold"/>
                <a:ea typeface="DM Sans Bold"/>
                <a:cs typeface="DM Sans Bold"/>
                <a:sym typeface="DM Sans Bold"/>
              </a:rPr>
              <a:t>18. Anjana R.M. et al., ICMR-INDIAB national cross-sectional study (ICMR-INDIAB-17), Lancet Diabetes Endocrinol. 11(7):474–489 (2023) · abstract and summaries</a:t>
            </a:r>
          </a:p>
          <a:p>
            <a:pPr algn="l" marL="0" indent="0" lvl="0">
              <a:lnSpc>
                <a:spcPts val="1671"/>
              </a:lnSpc>
              <a:spcBef>
                <a:spcPct val="0"/>
              </a:spcBef>
            </a:pPr>
            <a:r>
              <a:rPr lang="en-US" b="true" sz="1289" strike="noStrike" u="none">
                <a:solidFill>
                  <a:srgbClr val="0F172A"/>
                </a:solidFill>
                <a:latin typeface="DM Sans Bold"/>
                <a:ea typeface="DM Sans Bold"/>
                <a:cs typeface="DM Sans Bold"/>
                <a:sym typeface="DM Sans Bold"/>
              </a:rPr>
              <a:t>19. Armstrong D.G., Boulton A.J.M., Bus S.A., Diabetic foot ulcers and their recurrence, N. Engl. J. Med. 376:2367–2375 (2017). doi:10.1056/NEJMra1615439 · summaries; range is an estimate and contested</a:t>
            </a:r>
          </a:p>
          <a:p>
            <a:pPr algn="l" marL="0" indent="0" lvl="0">
              <a:lnSpc>
                <a:spcPts val="1671"/>
              </a:lnSpc>
              <a:spcBef>
                <a:spcPct val="0"/>
              </a:spcBef>
            </a:pPr>
            <a:r>
              <a:rPr lang="en-US" b="true" sz="1289" strike="noStrike" u="none">
                <a:solidFill>
                  <a:srgbClr val="0F172A"/>
                </a:solidFill>
                <a:latin typeface="DM Sans Bold"/>
                <a:ea typeface="DM Sans Bold"/>
                <a:cs typeface="DM Sans Bold"/>
                <a:sym typeface="DM Sans Bold"/>
              </a:rPr>
              <a:t>20. Price P.E. et al., Dressing-related pain in patients with chronic wounds: an international patient perspective, Int. Wound J. 5(2):159–171 (2008). doi:10.1111/j.1742-481X.2008.00471.x · abstract</a:t>
            </a:r>
          </a:p>
          <a:p>
            <a:pPr algn="l" marL="0" indent="0" lvl="0">
              <a:lnSpc>
                <a:spcPts val="1671"/>
              </a:lnSpc>
              <a:spcBef>
                <a:spcPct val="0"/>
              </a:spcBef>
            </a:pPr>
            <a:r>
              <a:rPr lang="en-US" b="true" sz="1289" strike="noStrike" u="none">
                <a:solidFill>
                  <a:srgbClr val="0F172A"/>
                </a:solidFill>
                <a:latin typeface="DM Sans Bold"/>
                <a:ea typeface="DM Sans Bold"/>
                <a:cs typeface="DM Sans Bold"/>
                <a:sym typeface="DM Sans Bold"/>
              </a:rPr>
              <a:t>21. Lavery L.A. et al., WHS guidelines update: diabetic foot ulcer treatment guidelines, Wound Repair Regen. (2024). doi:10.1111/wrr.13133 · full text</a:t>
            </a:r>
          </a:p>
        </p:txBody>
      </p:sp>
    </p:spTree>
  </p:cSld>
  <p:clrMapOvr>
    <a:masterClrMapping/>
  </p:clrMapOvr>
</p:sld>
</file>

<file path=ppt/slides/slide19.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0"/>
            <a:ext cx="18288000" cy="10287000"/>
            <a:chOff x="0" y="0"/>
            <a:chExt cx="24384000" cy="13716000"/>
          </a:xfrm>
        </p:grpSpPr>
        <p:sp>
          <p:nvSpPr>
            <p:cNvPr name="Freeform 3" id="3" descr="image.png"/>
            <p:cNvSpPr/>
            <p:nvPr/>
          </p:nvSpPr>
          <p:spPr>
            <a:xfrm flipH="false" flipV="false" rot="0">
              <a:off x="0" y="0"/>
              <a:ext cx="24384000" cy="13716000"/>
            </a:xfrm>
            <a:custGeom>
              <a:avLst/>
              <a:gdLst/>
              <a:ahLst/>
              <a:cxnLst/>
              <a:rect r="r" b="b" t="t" l="l"/>
              <a:pathLst>
                <a:path h="13716000" w="24384000">
                  <a:moveTo>
                    <a:pt x="0" y="0"/>
                  </a:moveTo>
                  <a:lnTo>
                    <a:pt x="24384000" y="0"/>
                  </a:lnTo>
                  <a:lnTo>
                    <a:pt x="24384000" y="13716000"/>
                  </a:lnTo>
                  <a:lnTo>
                    <a:pt x="0" y="13716000"/>
                  </a:lnTo>
                  <a:lnTo>
                    <a:pt x="0" y="0"/>
                  </a:lnTo>
                  <a:close/>
                </a:path>
              </a:pathLst>
            </a:custGeom>
            <a:blipFill>
              <a:blip r:embed="rId3"/>
              <a:stretch>
                <a:fillRect l="0" t="0" r="0" b="0"/>
              </a:stretch>
            </a:blipFill>
          </p:spPr>
          <p:txBody>
            <a:bodyPr/>
            <a:p/>
          </p:txBody>
        </p:sp>
      </p:grpSp>
      <p:grpSp>
        <p:nvGrpSpPr>
          <p:cNvPr name="Group 4" id="4"/>
          <p:cNvGrpSpPr/>
          <p:nvPr/>
        </p:nvGrpSpPr>
        <p:grpSpPr>
          <a:xfrm rot="0">
            <a:off x="800100" y="657225"/>
            <a:ext cx="17487900" cy="754049"/>
            <a:chOff x="0" y="0"/>
            <a:chExt cx="23317200" cy="1005399"/>
          </a:xfrm>
        </p:grpSpPr>
        <p:sp>
          <p:nvSpPr>
            <p:cNvPr name="Freeform 5" id="5"/>
            <p:cNvSpPr/>
            <p:nvPr/>
          </p:nvSpPr>
          <p:spPr>
            <a:xfrm flipH="false" flipV="false" rot="0">
              <a:off x="0" y="0"/>
              <a:ext cx="23317200" cy="1005396"/>
            </a:xfrm>
            <a:custGeom>
              <a:avLst/>
              <a:gdLst/>
              <a:ahLst/>
              <a:cxnLst/>
              <a:rect r="r" b="b" t="t" l="l"/>
              <a:pathLst>
                <a:path h="1005396" w="23317200">
                  <a:moveTo>
                    <a:pt x="0" y="0"/>
                  </a:moveTo>
                  <a:lnTo>
                    <a:pt x="23317200" y="0"/>
                  </a:lnTo>
                  <a:lnTo>
                    <a:pt x="23317200" y="1005396"/>
                  </a:lnTo>
                  <a:lnTo>
                    <a:pt x="0" y="1005396"/>
                  </a:lnTo>
                  <a:close/>
                </a:path>
              </a:pathLst>
            </a:custGeom>
            <a:blipFill>
              <a:blip r:embed="rId4">
                <a:alphaModFix amt="0"/>
              </a:blip>
              <a:stretch>
                <a:fillRect l="0" t="-421211" r="0" b="-382584"/>
              </a:stretch>
            </a:blipFill>
          </p:spPr>
          <p:txBody>
            <a:bodyPr/>
            <a:p/>
          </p:txBody>
        </p:sp>
        <p:sp>
          <p:nvSpPr>
            <p:cNvPr name="TextBox 6" id="6"/>
            <p:cNvSpPr txBox="true"/>
            <p:nvPr/>
          </p:nvSpPr>
          <p:spPr>
            <a:xfrm>
              <a:off x="0" y="-104775"/>
              <a:ext cx="23317200" cy="1110174"/>
            </a:xfrm>
            <a:prstGeom prst="rect">
              <a:avLst/>
            </a:prstGeom>
          </p:spPr>
          <p:txBody>
            <a:bodyPr anchor="ctr" rtlCol="false" tIns="0" lIns="0" bIns="0" rIns="0"/>
            <a:lstStyle/>
            <a:p>
              <a:pPr algn="l">
                <a:lnSpc>
                  <a:spcPts val="4372"/>
                </a:lnSpc>
              </a:pPr>
              <a:r>
                <a:rPr lang="en-US" b="true" sz="3037">
                  <a:solidFill>
                    <a:srgbClr val="0F172A"/>
                  </a:solidFill>
                  <a:latin typeface="Poppins Bold"/>
                  <a:ea typeface="Poppins Bold"/>
                  <a:cs typeface="Poppins Bold"/>
                  <a:sym typeface="Poppins Bold"/>
                </a:rPr>
                <a:t>Where the figures came from</a:t>
              </a:r>
            </a:p>
          </p:txBody>
        </p:sp>
      </p:grpSp>
      <p:grpSp>
        <p:nvGrpSpPr>
          <p:cNvPr name="Group 7" id="7"/>
          <p:cNvGrpSpPr/>
          <p:nvPr/>
        </p:nvGrpSpPr>
        <p:grpSpPr>
          <a:xfrm rot="0">
            <a:off x="16642794" y="9421197"/>
            <a:ext cx="1645206" cy="865803"/>
            <a:chOff x="0" y="0"/>
            <a:chExt cx="2193608" cy="1154405"/>
          </a:xfrm>
        </p:grpSpPr>
        <p:sp>
          <p:nvSpPr>
            <p:cNvPr name="Freeform 8" id="8"/>
            <p:cNvSpPr/>
            <p:nvPr/>
          </p:nvSpPr>
          <p:spPr>
            <a:xfrm flipH="false" flipV="false" rot="0">
              <a:off x="0" y="0"/>
              <a:ext cx="2193671" cy="1154430"/>
            </a:xfrm>
            <a:custGeom>
              <a:avLst/>
              <a:gdLst/>
              <a:ahLst/>
              <a:cxnLst/>
              <a:rect r="r" b="b" t="t" l="l"/>
              <a:pathLst>
                <a:path h="1154430" w="2193671">
                  <a:moveTo>
                    <a:pt x="0" y="0"/>
                  </a:moveTo>
                  <a:lnTo>
                    <a:pt x="2193671" y="0"/>
                  </a:lnTo>
                  <a:lnTo>
                    <a:pt x="2193671" y="1154430"/>
                  </a:lnTo>
                  <a:lnTo>
                    <a:pt x="0" y="1154430"/>
                  </a:lnTo>
                  <a:lnTo>
                    <a:pt x="0" y="0"/>
                  </a:lnTo>
                  <a:close/>
                </a:path>
              </a:pathLst>
            </a:custGeom>
            <a:blipFill>
              <a:blip r:embed="rId5"/>
              <a:stretch>
                <a:fillRect l="0" t="0" r="2" b="2"/>
              </a:stretch>
            </a:blipFill>
          </p:spPr>
          <p:txBody>
            <a:bodyPr/>
            <a:p/>
          </p:txBody>
        </p:sp>
      </p:grpSp>
      <p:grpSp>
        <p:nvGrpSpPr>
          <p:cNvPr name="Group 9" id="9"/>
          <p:cNvGrpSpPr/>
          <p:nvPr/>
        </p:nvGrpSpPr>
        <p:grpSpPr>
          <a:xfrm rot="0">
            <a:off x="0" y="9421197"/>
            <a:ext cx="2679421" cy="865803"/>
            <a:chOff x="0" y="0"/>
            <a:chExt cx="3572561" cy="1154405"/>
          </a:xfrm>
        </p:grpSpPr>
        <p:sp>
          <p:nvSpPr>
            <p:cNvPr name="Freeform 10" id="10"/>
            <p:cNvSpPr/>
            <p:nvPr/>
          </p:nvSpPr>
          <p:spPr>
            <a:xfrm flipH="false" flipV="false" rot="0">
              <a:off x="0" y="0"/>
              <a:ext cx="3572510" cy="1154430"/>
            </a:xfrm>
            <a:custGeom>
              <a:avLst/>
              <a:gdLst/>
              <a:ahLst/>
              <a:cxnLst/>
              <a:rect r="r" b="b" t="t" l="l"/>
              <a:pathLst>
                <a:path h="1154430" w="3572510">
                  <a:moveTo>
                    <a:pt x="0" y="0"/>
                  </a:moveTo>
                  <a:lnTo>
                    <a:pt x="3572510" y="0"/>
                  </a:lnTo>
                  <a:lnTo>
                    <a:pt x="3572510" y="1154430"/>
                  </a:lnTo>
                  <a:lnTo>
                    <a:pt x="0" y="1154430"/>
                  </a:lnTo>
                  <a:lnTo>
                    <a:pt x="0" y="0"/>
                  </a:lnTo>
                  <a:close/>
                </a:path>
              </a:pathLst>
            </a:custGeom>
            <a:blipFill>
              <a:blip r:embed="rId6"/>
              <a:stretch>
                <a:fillRect l="-21110" t="-147255" r="-22761" b="-197973"/>
              </a:stretch>
            </a:blipFill>
          </p:spPr>
          <p:txBody>
            <a:bodyPr/>
            <a:p/>
          </p:txBody>
        </p:sp>
      </p:grpSp>
      <p:grpSp>
        <p:nvGrpSpPr>
          <p:cNvPr name="Group 11" id="11"/>
          <p:cNvGrpSpPr/>
          <p:nvPr/>
        </p:nvGrpSpPr>
        <p:grpSpPr>
          <a:xfrm rot="0">
            <a:off x="14744700" y="685800"/>
            <a:ext cx="2743200" cy="462248"/>
            <a:chOff x="0" y="0"/>
            <a:chExt cx="3657600" cy="616331"/>
          </a:xfrm>
        </p:grpSpPr>
        <p:sp>
          <p:nvSpPr>
            <p:cNvPr name="Freeform 12" id="12"/>
            <p:cNvSpPr/>
            <p:nvPr/>
          </p:nvSpPr>
          <p:spPr>
            <a:xfrm flipH="false" flipV="false" rot="0">
              <a:off x="0" y="0"/>
              <a:ext cx="3657600" cy="616331"/>
            </a:xfrm>
            <a:custGeom>
              <a:avLst/>
              <a:gdLst/>
              <a:ahLst/>
              <a:cxnLst/>
              <a:rect r="r" b="b" t="t" l="l"/>
              <a:pathLst>
                <a:path h="616331" w="3657600">
                  <a:moveTo>
                    <a:pt x="0" y="308166"/>
                  </a:moveTo>
                  <a:cubicBezTo>
                    <a:pt x="0" y="137914"/>
                    <a:pt x="110490" y="0"/>
                    <a:pt x="246888" y="0"/>
                  </a:cubicBezTo>
                  <a:lnTo>
                    <a:pt x="3410712" y="0"/>
                  </a:lnTo>
                  <a:cubicBezTo>
                    <a:pt x="3547110" y="0"/>
                    <a:pt x="3657600" y="137914"/>
                    <a:pt x="3657600" y="308166"/>
                  </a:cubicBezTo>
                  <a:cubicBezTo>
                    <a:pt x="3657600" y="478417"/>
                    <a:pt x="3547110" y="616331"/>
                    <a:pt x="3410712" y="616331"/>
                  </a:cubicBezTo>
                  <a:lnTo>
                    <a:pt x="246888" y="616331"/>
                  </a:lnTo>
                  <a:cubicBezTo>
                    <a:pt x="110490" y="616331"/>
                    <a:pt x="0" y="478417"/>
                    <a:pt x="0" y="308166"/>
                  </a:cubicBezTo>
                  <a:close/>
                </a:path>
              </a:pathLst>
            </a:custGeom>
            <a:solidFill>
              <a:srgbClr val="D1FAE5"/>
            </a:solidFill>
          </p:spPr>
          <p:txBody>
            <a:bodyPr/>
            <a:p/>
          </p:txBody>
        </p:sp>
        <p:sp>
          <p:nvSpPr>
            <p:cNvPr name="TextBox 13" id="13"/>
            <p:cNvSpPr txBox="true"/>
            <p:nvPr/>
          </p:nvSpPr>
          <p:spPr>
            <a:xfrm>
              <a:off x="0" y="0"/>
              <a:ext cx="3657600" cy="616331"/>
            </a:xfrm>
            <a:prstGeom prst="rect">
              <a:avLst/>
            </a:prstGeom>
          </p:spPr>
          <p:txBody>
            <a:bodyPr anchor="ctr" rtlCol="false" tIns="50800" lIns="50800" bIns="50800" rIns="50800"/>
            <a:lstStyle/>
            <a:p>
              <a:pPr algn="ctr">
                <a:lnSpc>
                  <a:spcPts val="1350"/>
                </a:lnSpc>
              </a:pPr>
              <a:r>
                <a:rPr lang="en-US" sz="1125" b="true">
                  <a:solidFill>
                    <a:srgbClr val="047857"/>
                  </a:solidFill>
                  <a:latin typeface="DM Sans Bold"/>
                  <a:ea typeface="DM Sans Bold"/>
                  <a:cs typeface="DM Sans Bold"/>
                  <a:sym typeface="DM Sans Bold"/>
                </a:rPr>
                <a:t>FIGURES MADE FROM OUR PROJECT FILES</a:t>
              </a:r>
            </a:p>
          </p:txBody>
        </p:sp>
      </p:grpSp>
      <p:sp>
        <p:nvSpPr>
          <p:cNvPr name="TextBox 14" id="14"/>
          <p:cNvSpPr txBox="true"/>
          <p:nvPr/>
        </p:nvSpPr>
        <p:spPr>
          <a:xfrm rot="0">
            <a:off x="813816" y="1398651"/>
            <a:ext cx="16655796" cy="220751"/>
          </a:xfrm>
          <a:prstGeom prst="rect">
            <a:avLst/>
          </a:prstGeom>
        </p:spPr>
        <p:txBody>
          <a:bodyPr anchor="t" rtlCol="false" tIns="0" lIns="0" bIns="0" rIns="0">
            <a:spAutoFit/>
          </a:bodyPr>
          <a:lstStyle/>
          <a:p>
            <a:pPr algn="l" marL="0" indent="0" lvl="0">
              <a:lnSpc>
                <a:spcPts val="1846"/>
              </a:lnSpc>
              <a:spcBef>
                <a:spcPct val="0"/>
              </a:spcBef>
            </a:pPr>
            <a:r>
              <a:rPr lang="en-US" sz="1425" strike="noStrike" u="none">
                <a:solidFill>
                  <a:srgbClr val="334155"/>
                </a:solidFill>
                <a:latin typeface="DM Sans"/>
                <a:ea typeface="DM Sans"/>
                <a:cs typeface="DM Sans"/>
                <a:sym typeface="DM Sans"/>
              </a:rPr>
              <a:t>The illustrations come from our CAD, schematic exports and plots made from project files. We did not use stock images or AI image generators. Team photos on slide 12 are the team's own.</a:t>
            </a:r>
          </a:p>
        </p:txBody>
      </p:sp>
      <p:grpSp>
        <p:nvGrpSpPr>
          <p:cNvPr name="Group 15" id="15"/>
          <p:cNvGrpSpPr/>
          <p:nvPr/>
        </p:nvGrpSpPr>
        <p:grpSpPr>
          <a:xfrm rot="0">
            <a:off x="808015" y="2276856"/>
            <a:ext cx="1278036" cy="850392"/>
            <a:chOff x="0" y="0"/>
            <a:chExt cx="1704048" cy="1133856"/>
          </a:xfrm>
        </p:grpSpPr>
        <p:sp>
          <p:nvSpPr>
            <p:cNvPr name="Freeform 16" id="16" descr="fig_problem.png"/>
            <p:cNvSpPr/>
            <p:nvPr/>
          </p:nvSpPr>
          <p:spPr>
            <a:xfrm flipH="false" flipV="false" rot="0">
              <a:off x="0" y="0"/>
              <a:ext cx="1704086" cy="1133856"/>
            </a:xfrm>
            <a:custGeom>
              <a:avLst/>
              <a:gdLst/>
              <a:ahLst/>
              <a:cxnLst/>
              <a:rect r="r" b="b" t="t" l="l"/>
              <a:pathLst>
                <a:path h="1133856" w="1704086">
                  <a:moveTo>
                    <a:pt x="0" y="0"/>
                  </a:moveTo>
                  <a:lnTo>
                    <a:pt x="1704086" y="0"/>
                  </a:lnTo>
                  <a:lnTo>
                    <a:pt x="1704086" y="1133856"/>
                  </a:lnTo>
                  <a:lnTo>
                    <a:pt x="0" y="1133856"/>
                  </a:lnTo>
                  <a:lnTo>
                    <a:pt x="0" y="0"/>
                  </a:lnTo>
                  <a:close/>
                </a:path>
              </a:pathLst>
            </a:custGeom>
            <a:blipFill>
              <a:blip r:embed="rId7"/>
              <a:stretch>
                <a:fillRect l="0" t="0" r="2" b="0"/>
              </a:stretch>
            </a:blipFill>
          </p:spPr>
          <p:txBody>
            <a:bodyPr/>
            <a:p/>
          </p:txBody>
        </p:sp>
      </p:grpSp>
      <p:sp>
        <p:nvSpPr>
          <p:cNvPr name="TextBox 17" id="17"/>
          <p:cNvSpPr txBox="true"/>
          <p:nvPr/>
        </p:nvSpPr>
        <p:spPr>
          <a:xfrm rot="0">
            <a:off x="2226564" y="2276475"/>
            <a:ext cx="4078224" cy="1088517"/>
          </a:xfrm>
          <a:prstGeom prst="rect">
            <a:avLst/>
          </a:prstGeom>
        </p:spPr>
        <p:txBody>
          <a:bodyPr anchor="t" rtlCol="false" tIns="0" lIns="0" bIns="0" rIns="0">
            <a:spAutoFit/>
          </a:bodyPr>
          <a:lstStyle/>
          <a:p>
            <a:pPr algn="l">
              <a:lnSpc>
                <a:spcPts val="1438"/>
              </a:lnSpc>
            </a:pPr>
            <a:r>
              <a:rPr lang="en-US" sz="1110" b="true">
                <a:solidFill>
                  <a:srgbClr val="0F172A"/>
                </a:solidFill>
                <a:latin typeface="DM Sans Bold"/>
                <a:ea typeface="DM Sans Bold"/>
                <a:cs typeface="DM Sans Bold"/>
                <a:sym typeface="DM Sans Bold"/>
              </a:rPr>
              <a:t>Problem illustration, drawn to scale</a:t>
            </a:r>
          </a:p>
          <a:p>
            <a:pPr algn="l">
              <a:lnSpc>
                <a:spcPts val="1438"/>
              </a:lnSpc>
            </a:pPr>
            <a:r>
              <a:rPr lang="en-US" sz="1110">
                <a:solidFill>
                  <a:srgbClr val="64748B"/>
                </a:solidFill>
                <a:latin typeface="DM Sans"/>
                <a:ea typeface="DM Sans"/>
                <a:cs typeface="DM Sans"/>
                <a:sym typeface="DM Sans"/>
              </a:rPr>
              <a:t>Source: </a:t>
            </a:r>
            <a:r>
              <a:rPr lang="en-US" sz="1110">
                <a:solidFill>
                  <a:srgbClr val="0369A1"/>
                </a:solidFill>
                <a:latin typeface="DM Sans"/>
                <a:ea typeface="DM Sans"/>
                <a:cs typeface="DM Sans"/>
                <a:sym typeface="DM Sans"/>
              </a:rPr>
              <a:t>make_figures.py · strip_v0_1_geometry.json</a:t>
            </a:r>
          </a:p>
          <a:p>
            <a:pPr algn="l">
              <a:lnSpc>
                <a:spcPts val="1438"/>
              </a:lnSpc>
            </a:pPr>
            <a:r>
              <a:rPr lang="en-US" sz="1110">
                <a:solidFill>
                  <a:srgbClr val="64748B"/>
                </a:solidFill>
                <a:latin typeface="DM Sans"/>
                <a:ea typeface="DM Sans"/>
                <a:cs typeface="DM Sans"/>
                <a:sym typeface="DM Sans"/>
              </a:rPr>
              <a:t>1_presentation/figures/fig_problem.png</a:t>
            </a:r>
          </a:p>
        </p:txBody>
      </p:sp>
      <p:grpSp>
        <p:nvGrpSpPr>
          <p:cNvPr name="Group 18" id="18"/>
          <p:cNvGrpSpPr/>
          <p:nvPr/>
        </p:nvGrpSpPr>
        <p:grpSpPr>
          <a:xfrm rot="0">
            <a:off x="6476686" y="2276856"/>
            <a:ext cx="1187825" cy="850392"/>
            <a:chOff x="0" y="0"/>
            <a:chExt cx="1583766" cy="1133856"/>
          </a:xfrm>
        </p:grpSpPr>
        <p:sp>
          <p:nvSpPr>
            <p:cNvPr name="Freeform 19" id="19" descr="fig_howitworks.png"/>
            <p:cNvSpPr/>
            <p:nvPr/>
          </p:nvSpPr>
          <p:spPr>
            <a:xfrm flipH="false" flipV="false" rot="0">
              <a:off x="0" y="0"/>
              <a:ext cx="1583817" cy="1133856"/>
            </a:xfrm>
            <a:custGeom>
              <a:avLst/>
              <a:gdLst/>
              <a:ahLst/>
              <a:cxnLst/>
              <a:rect r="r" b="b" t="t" l="l"/>
              <a:pathLst>
                <a:path h="1133856" w="1583817">
                  <a:moveTo>
                    <a:pt x="0" y="0"/>
                  </a:moveTo>
                  <a:lnTo>
                    <a:pt x="1583817" y="0"/>
                  </a:lnTo>
                  <a:lnTo>
                    <a:pt x="1583817" y="1133856"/>
                  </a:lnTo>
                  <a:lnTo>
                    <a:pt x="0" y="1133856"/>
                  </a:lnTo>
                  <a:lnTo>
                    <a:pt x="0" y="0"/>
                  </a:lnTo>
                  <a:close/>
                </a:path>
              </a:pathLst>
            </a:custGeom>
            <a:blipFill>
              <a:blip r:embed="rId8"/>
              <a:stretch>
                <a:fillRect l="0" t="0" r="3" b="0"/>
              </a:stretch>
            </a:blipFill>
          </p:spPr>
          <p:txBody>
            <a:bodyPr/>
            <a:p/>
          </p:txBody>
        </p:sp>
      </p:grpSp>
      <p:sp>
        <p:nvSpPr>
          <p:cNvPr name="TextBox 20" id="20"/>
          <p:cNvSpPr txBox="true"/>
          <p:nvPr/>
        </p:nvSpPr>
        <p:spPr>
          <a:xfrm rot="0">
            <a:off x="7850124" y="2276475"/>
            <a:ext cx="4078224" cy="1088517"/>
          </a:xfrm>
          <a:prstGeom prst="rect">
            <a:avLst/>
          </a:prstGeom>
        </p:spPr>
        <p:txBody>
          <a:bodyPr anchor="t" rtlCol="false" tIns="0" lIns="0" bIns="0" rIns="0">
            <a:spAutoFit/>
          </a:bodyPr>
          <a:lstStyle/>
          <a:p>
            <a:pPr algn="l">
              <a:lnSpc>
                <a:spcPts val="1438"/>
              </a:lnSpc>
            </a:pPr>
            <a:r>
              <a:rPr lang="en-US" sz="1110" b="true">
                <a:solidFill>
                  <a:srgbClr val="0F172A"/>
                </a:solidFill>
                <a:latin typeface="DM Sans Bold"/>
                <a:ea typeface="DM Sans Bold"/>
                <a:cs typeface="DM Sans Bold"/>
                <a:sym typeface="DM Sans Bold"/>
              </a:rPr>
              <a:t>How it senses (concept)</a:t>
            </a:r>
          </a:p>
          <a:p>
            <a:pPr algn="l">
              <a:lnSpc>
                <a:spcPts val="1438"/>
              </a:lnSpc>
            </a:pPr>
            <a:r>
              <a:rPr lang="en-US" sz="1110">
                <a:solidFill>
                  <a:srgbClr val="64748B"/>
                </a:solidFill>
                <a:latin typeface="DM Sans"/>
                <a:ea typeface="DM Sans"/>
                <a:cs typeface="DM Sans"/>
                <a:sym typeface="DM Sans"/>
              </a:rPr>
              <a:t>Source: </a:t>
            </a:r>
            <a:r>
              <a:rPr lang="en-US" sz="1110">
                <a:solidFill>
                  <a:srgbClr val="0369A1"/>
                </a:solidFill>
                <a:latin typeface="DM Sans"/>
                <a:ea typeface="DM Sans"/>
                <a:cs typeface="DM Sans"/>
                <a:sym typeface="DM Sans"/>
              </a:rPr>
              <a:t>make_figures.py · sensor_selection.md, calc_readout.py</a:t>
            </a:r>
          </a:p>
          <a:p>
            <a:pPr algn="l">
              <a:lnSpc>
                <a:spcPts val="1438"/>
              </a:lnSpc>
            </a:pPr>
            <a:r>
              <a:rPr lang="en-US" sz="1110">
                <a:solidFill>
                  <a:srgbClr val="64748B"/>
                </a:solidFill>
                <a:latin typeface="DM Sans"/>
                <a:ea typeface="DM Sans"/>
                <a:cs typeface="DM Sans"/>
                <a:sym typeface="DM Sans"/>
              </a:rPr>
              <a:t>1_presentation/figures/fig_howitworks.png</a:t>
            </a:r>
          </a:p>
        </p:txBody>
      </p:sp>
      <p:grpSp>
        <p:nvGrpSpPr>
          <p:cNvPr name="Group 21" id="21"/>
          <p:cNvGrpSpPr/>
          <p:nvPr/>
        </p:nvGrpSpPr>
        <p:grpSpPr>
          <a:xfrm rot="0">
            <a:off x="12100246" y="2276856"/>
            <a:ext cx="1187825" cy="850392"/>
            <a:chOff x="0" y="0"/>
            <a:chExt cx="1583766" cy="1133856"/>
          </a:xfrm>
        </p:grpSpPr>
        <p:sp>
          <p:nvSpPr>
            <p:cNvPr name="Freeform 22" id="22" descr="fig_dataflow.png"/>
            <p:cNvSpPr/>
            <p:nvPr/>
          </p:nvSpPr>
          <p:spPr>
            <a:xfrm flipH="false" flipV="false" rot="0">
              <a:off x="0" y="0"/>
              <a:ext cx="1583817" cy="1133856"/>
            </a:xfrm>
            <a:custGeom>
              <a:avLst/>
              <a:gdLst/>
              <a:ahLst/>
              <a:cxnLst/>
              <a:rect r="r" b="b" t="t" l="l"/>
              <a:pathLst>
                <a:path h="1133856" w="1583817">
                  <a:moveTo>
                    <a:pt x="0" y="0"/>
                  </a:moveTo>
                  <a:lnTo>
                    <a:pt x="1583817" y="0"/>
                  </a:lnTo>
                  <a:lnTo>
                    <a:pt x="1583817" y="1133856"/>
                  </a:lnTo>
                  <a:lnTo>
                    <a:pt x="0" y="1133856"/>
                  </a:lnTo>
                  <a:lnTo>
                    <a:pt x="0" y="0"/>
                  </a:lnTo>
                  <a:close/>
                </a:path>
              </a:pathLst>
            </a:custGeom>
            <a:blipFill>
              <a:blip r:embed="rId9"/>
              <a:stretch>
                <a:fillRect l="0" t="0" r="3" b="0"/>
              </a:stretch>
            </a:blipFill>
          </p:spPr>
          <p:txBody>
            <a:bodyPr/>
            <a:p/>
          </p:txBody>
        </p:sp>
      </p:grpSp>
      <p:sp>
        <p:nvSpPr>
          <p:cNvPr name="TextBox 23" id="23"/>
          <p:cNvSpPr txBox="true"/>
          <p:nvPr/>
        </p:nvSpPr>
        <p:spPr>
          <a:xfrm rot="0">
            <a:off x="13473684" y="2276475"/>
            <a:ext cx="4078224" cy="1088517"/>
          </a:xfrm>
          <a:prstGeom prst="rect">
            <a:avLst/>
          </a:prstGeom>
        </p:spPr>
        <p:txBody>
          <a:bodyPr anchor="t" rtlCol="false" tIns="0" lIns="0" bIns="0" rIns="0">
            <a:spAutoFit/>
          </a:bodyPr>
          <a:lstStyle/>
          <a:p>
            <a:pPr algn="l">
              <a:lnSpc>
                <a:spcPts val="1438"/>
              </a:lnSpc>
            </a:pPr>
            <a:r>
              <a:rPr lang="en-US" sz="1110" b="true">
                <a:solidFill>
                  <a:srgbClr val="0F172A"/>
                </a:solidFill>
                <a:latin typeface="DM Sans Bold"/>
                <a:ea typeface="DM Sans Bold"/>
                <a:cs typeface="DM Sans Bold"/>
                <a:sym typeface="DM Sans Bold"/>
              </a:rPr>
              <a:t>Firmware scan and state logic</a:t>
            </a:r>
          </a:p>
          <a:p>
            <a:pPr algn="l">
              <a:lnSpc>
                <a:spcPts val="1438"/>
              </a:lnSpc>
            </a:pPr>
            <a:r>
              <a:rPr lang="en-US" sz="1110">
                <a:solidFill>
                  <a:srgbClr val="64748B"/>
                </a:solidFill>
                <a:latin typeface="DM Sans"/>
                <a:ea typeface="DM Sans"/>
                <a:cs typeface="DM Sans"/>
                <a:sym typeface="DM Sans"/>
              </a:rPr>
              <a:t>Source: </a:t>
            </a:r>
            <a:r>
              <a:rPr lang="en-US" sz="1110">
                <a:solidFill>
                  <a:srgbClr val="0369A1"/>
                </a:solidFill>
                <a:latin typeface="DM Sans"/>
                <a:ea typeface="DM Sans"/>
                <a:cs typeface="DM Sans"/>
                <a:sym typeface="DM Sans"/>
              </a:rPr>
              <a:t>make_figures.py · reader_v0_1 source</a:t>
            </a:r>
          </a:p>
          <a:p>
            <a:pPr algn="l">
              <a:lnSpc>
                <a:spcPts val="1438"/>
              </a:lnSpc>
            </a:pPr>
            <a:r>
              <a:rPr lang="en-US" sz="1110">
                <a:solidFill>
                  <a:srgbClr val="64748B"/>
                </a:solidFill>
                <a:latin typeface="DM Sans"/>
                <a:ea typeface="DM Sans"/>
                <a:cs typeface="DM Sans"/>
                <a:sym typeface="DM Sans"/>
              </a:rPr>
              <a:t>1_presentation/figures/fig_dataflow.png</a:t>
            </a:r>
          </a:p>
        </p:txBody>
      </p:sp>
      <p:grpSp>
        <p:nvGrpSpPr>
          <p:cNvPr name="Group 24" id="24"/>
          <p:cNvGrpSpPr/>
          <p:nvPr/>
        </p:nvGrpSpPr>
        <p:grpSpPr>
          <a:xfrm rot="0">
            <a:off x="853126" y="3579876"/>
            <a:ext cx="1187825" cy="850392"/>
            <a:chOff x="0" y="0"/>
            <a:chExt cx="1583766" cy="1133856"/>
          </a:xfrm>
        </p:grpSpPr>
        <p:sp>
          <p:nvSpPr>
            <p:cNvPr name="Freeform 25" id="25" descr="fig_cad.png"/>
            <p:cNvSpPr/>
            <p:nvPr/>
          </p:nvSpPr>
          <p:spPr>
            <a:xfrm flipH="false" flipV="false" rot="0">
              <a:off x="0" y="0"/>
              <a:ext cx="1583817" cy="1133856"/>
            </a:xfrm>
            <a:custGeom>
              <a:avLst/>
              <a:gdLst/>
              <a:ahLst/>
              <a:cxnLst/>
              <a:rect r="r" b="b" t="t" l="l"/>
              <a:pathLst>
                <a:path h="1133856" w="1583817">
                  <a:moveTo>
                    <a:pt x="0" y="0"/>
                  </a:moveTo>
                  <a:lnTo>
                    <a:pt x="1583817" y="0"/>
                  </a:lnTo>
                  <a:lnTo>
                    <a:pt x="1583817" y="1133856"/>
                  </a:lnTo>
                  <a:lnTo>
                    <a:pt x="0" y="1133856"/>
                  </a:lnTo>
                  <a:lnTo>
                    <a:pt x="0" y="0"/>
                  </a:lnTo>
                  <a:close/>
                </a:path>
              </a:pathLst>
            </a:custGeom>
            <a:blipFill>
              <a:blip r:embed="rId10"/>
              <a:stretch>
                <a:fillRect l="0" t="0" r="3" b="0"/>
              </a:stretch>
            </a:blipFill>
          </p:spPr>
          <p:txBody>
            <a:bodyPr/>
            <a:p/>
          </p:txBody>
        </p:sp>
      </p:grpSp>
      <p:sp>
        <p:nvSpPr>
          <p:cNvPr name="TextBox 26" id="26"/>
          <p:cNvSpPr txBox="true"/>
          <p:nvPr/>
        </p:nvSpPr>
        <p:spPr>
          <a:xfrm rot="0">
            <a:off x="2226564" y="3579495"/>
            <a:ext cx="4078224" cy="1088517"/>
          </a:xfrm>
          <a:prstGeom prst="rect">
            <a:avLst/>
          </a:prstGeom>
        </p:spPr>
        <p:txBody>
          <a:bodyPr anchor="t" rtlCol="false" tIns="0" lIns="0" bIns="0" rIns="0">
            <a:spAutoFit/>
          </a:bodyPr>
          <a:lstStyle/>
          <a:p>
            <a:pPr algn="l">
              <a:lnSpc>
                <a:spcPts val="1438"/>
              </a:lnSpc>
            </a:pPr>
            <a:r>
              <a:rPr lang="en-US" sz="1110" b="true">
                <a:solidFill>
                  <a:srgbClr val="0F172A"/>
                </a:solidFill>
                <a:latin typeface="DM Sans Bold"/>
                <a:ea typeface="DM Sans Bold"/>
                <a:cs typeface="DM Sans Bold"/>
                <a:sym typeface="DM Sans Bold"/>
              </a:rPr>
              <a:t>Annotated SolidWorks views</a:t>
            </a:r>
          </a:p>
          <a:p>
            <a:pPr algn="l">
              <a:lnSpc>
                <a:spcPts val="1438"/>
              </a:lnSpc>
            </a:pPr>
            <a:r>
              <a:rPr lang="en-US" sz="1110">
                <a:solidFill>
                  <a:srgbClr val="64748B"/>
                </a:solidFill>
                <a:latin typeface="DM Sans"/>
                <a:ea typeface="DM Sans"/>
                <a:cs typeface="DM Sans"/>
                <a:sym typeface="DM Sans"/>
              </a:rPr>
              <a:t>Source: </a:t>
            </a:r>
            <a:r>
              <a:rPr lang="en-US" sz="1110">
                <a:solidFill>
                  <a:srgbClr val="0369A1"/>
                </a:solidFill>
                <a:latin typeface="DM Sans"/>
                <a:ea typeface="DM Sans"/>
                <a:cs typeface="DM Sans"/>
                <a:sym typeface="DM Sans"/>
              </a:rPr>
              <a:t>render_cad.py + make_figures.py · 5_cad/solidworks</a:t>
            </a:r>
          </a:p>
          <a:p>
            <a:pPr algn="l">
              <a:lnSpc>
                <a:spcPts val="1438"/>
              </a:lnSpc>
            </a:pPr>
            <a:r>
              <a:rPr lang="en-US" sz="1110">
                <a:solidFill>
                  <a:srgbClr val="64748B"/>
                </a:solidFill>
                <a:latin typeface="DM Sans"/>
                <a:ea typeface="DM Sans"/>
                <a:cs typeface="DM Sans"/>
                <a:sym typeface="DM Sans"/>
              </a:rPr>
              <a:t>1_presentation/figures/fig_cad.png</a:t>
            </a:r>
          </a:p>
        </p:txBody>
      </p:sp>
      <p:grpSp>
        <p:nvGrpSpPr>
          <p:cNvPr name="Group 27" id="27"/>
          <p:cNvGrpSpPr/>
          <p:nvPr/>
        </p:nvGrpSpPr>
        <p:grpSpPr>
          <a:xfrm rot="0">
            <a:off x="6476686" y="3579876"/>
            <a:ext cx="1187825" cy="850392"/>
            <a:chOff x="0" y="0"/>
            <a:chExt cx="1583766" cy="1133856"/>
          </a:xfrm>
        </p:grpSpPr>
        <p:sp>
          <p:nvSpPr>
            <p:cNvPr name="Freeform 28" id="28" descr="fig_strip.png"/>
            <p:cNvSpPr/>
            <p:nvPr/>
          </p:nvSpPr>
          <p:spPr>
            <a:xfrm flipH="false" flipV="false" rot="0">
              <a:off x="0" y="0"/>
              <a:ext cx="1583817" cy="1133856"/>
            </a:xfrm>
            <a:custGeom>
              <a:avLst/>
              <a:gdLst/>
              <a:ahLst/>
              <a:cxnLst/>
              <a:rect r="r" b="b" t="t" l="l"/>
              <a:pathLst>
                <a:path h="1133856" w="1583817">
                  <a:moveTo>
                    <a:pt x="0" y="0"/>
                  </a:moveTo>
                  <a:lnTo>
                    <a:pt x="1583817" y="0"/>
                  </a:lnTo>
                  <a:lnTo>
                    <a:pt x="1583817" y="1133856"/>
                  </a:lnTo>
                  <a:lnTo>
                    <a:pt x="0" y="1133856"/>
                  </a:lnTo>
                  <a:lnTo>
                    <a:pt x="0" y="0"/>
                  </a:lnTo>
                  <a:close/>
                </a:path>
              </a:pathLst>
            </a:custGeom>
            <a:blipFill>
              <a:blip r:embed="rId11"/>
              <a:stretch>
                <a:fillRect l="0" t="0" r="3" b="0"/>
              </a:stretch>
            </a:blipFill>
          </p:spPr>
          <p:txBody>
            <a:bodyPr/>
            <a:p/>
          </p:txBody>
        </p:sp>
      </p:grpSp>
      <p:sp>
        <p:nvSpPr>
          <p:cNvPr name="TextBox 29" id="29"/>
          <p:cNvSpPr txBox="true"/>
          <p:nvPr/>
        </p:nvSpPr>
        <p:spPr>
          <a:xfrm rot="0">
            <a:off x="7850124" y="3579495"/>
            <a:ext cx="4078224" cy="1088517"/>
          </a:xfrm>
          <a:prstGeom prst="rect">
            <a:avLst/>
          </a:prstGeom>
        </p:spPr>
        <p:txBody>
          <a:bodyPr anchor="t" rtlCol="false" tIns="0" lIns="0" bIns="0" rIns="0">
            <a:spAutoFit/>
          </a:bodyPr>
          <a:lstStyle/>
          <a:p>
            <a:pPr algn="l">
              <a:lnSpc>
                <a:spcPts val="1438"/>
              </a:lnSpc>
            </a:pPr>
            <a:r>
              <a:rPr lang="en-US" sz="1110" b="true">
                <a:solidFill>
                  <a:srgbClr val="0F172A"/>
                </a:solidFill>
                <a:latin typeface="DM Sans Bold"/>
                <a:ea typeface="DM Sans Bold"/>
                <a:cs typeface="DM Sans Bold"/>
                <a:sym typeface="DM Sans Bold"/>
              </a:rPr>
              <a:t>Strip and E2 coupon layers</a:t>
            </a:r>
          </a:p>
          <a:p>
            <a:pPr algn="l">
              <a:lnSpc>
                <a:spcPts val="1438"/>
              </a:lnSpc>
            </a:pPr>
            <a:r>
              <a:rPr lang="en-US" sz="1110">
                <a:solidFill>
                  <a:srgbClr val="64748B"/>
                </a:solidFill>
                <a:latin typeface="DM Sans"/>
                <a:ea typeface="DM Sans"/>
                <a:cs typeface="DM Sans"/>
                <a:sym typeface="DM Sans"/>
              </a:rPr>
              <a:t>Source: </a:t>
            </a:r>
            <a:r>
              <a:rPr lang="en-US" sz="1110">
                <a:solidFill>
                  <a:srgbClr val="0369A1"/>
                </a:solidFill>
                <a:latin typeface="DM Sans"/>
                <a:ea typeface="DM Sans"/>
                <a:cs typeface="DM Sans"/>
                <a:sym typeface="DM Sans"/>
              </a:rPr>
              <a:t>make_figures.py · our DXF files</a:t>
            </a:r>
          </a:p>
          <a:p>
            <a:pPr algn="l">
              <a:lnSpc>
                <a:spcPts val="1438"/>
              </a:lnSpc>
            </a:pPr>
            <a:r>
              <a:rPr lang="en-US" sz="1110">
                <a:solidFill>
                  <a:srgbClr val="64748B"/>
                </a:solidFill>
                <a:latin typeface="DM Sans"/>
                <a:ea typeface="DM Sans"/>
                <a:cs typeface="DM Sans"/>
                <a:sym typeface="DM Sans"/>
              </a:rPr>
              <a:t>1_presentation/figures/fig_strip.png</a:t>
            </a:r>
          </a:p>
        </p:txBody>
      </p:sp>
      <p:grpSp>
        <p:nvGrpSpPr>
          <p:cNvPr name="Group 30" id="30"/>
          <p:cNvGrpSpPr/>
          <p:nvPr/>
        </p:nvGrpSpPr>
        <p:grpSpPr>
          <a:xfrm rot="0">
            <a:off x="12100246" y="3579876"/>
            <a:ext cx="1187825" cy="850392"/>
            <a:chOff x="0" y="0"/>
            <a:chExt cx="1583766" cy="1133856"/>
          </a:xfrm>
        </p:grpSpPr>
        <p:sp>
          <p:nvSpPr>
            <p:cNvPr name="Freeform 31" id="31" descr="fig_schematic.png"/>
            <p:cNvSpPr/>
            <p:nvPr/>
          </p:nvSpPr>
          <p:spPr>
            <a:xfrm flipH="false" flipV="false" rot="0">
              <a:off x="0" y="0"/>
              <a:ext cx="1583817" cy="1133856"/>
            </a:xfrm>
            <a:custGeom>
              <a:avLst/>
              <a:gdLst/>
              <a:ahLst/>
              <a:cxnLst/>
              <a:rect r="r" b="b" t="t" l="l"/>
              <a:pathLst>
                <a:path h="1133856" w="1583817">
                  <a:moveTo>
                    <a:pt x="0" y="0"/>
                  </a:moveTo>
                  <a:lnTo>
                    <a:pt x="1583817" y="0"/>
                  </a:lnTo>
                  <a:lnTo>
                    <a:pt x="1583817" y="1133856"/>
                  </a:lnTo>
                  <a:lnTo>
                    <a:pt x="0" y="1133856"/>
                  </a:lnTo>
                  <a:lnTo>
                    <a:pt x="0" y="0"/>
                  </a:lnTo>
                  <a:close/>
                </a:path>
              </a:pathLst>
            </a:custGeom>
            <a:blipFill>
              <a:blip r:embed="rId12"/>
              <a:stretch>
                <a:fillRect l="0" t="0" r="3" b="0"/>
              </a:stretch>
            </a:blipFill>
          </p:spPr>
          <p:txBody>
            <a:bodyPr/>
            <a:p/>
          </p:txBody>
        </p:sp>
      </p:grpSp>
      <p:sp>
        <p:nvSpPr>
          <p:cNvPr name="TextBox 32" id="32"/>
          <p:cNvSpPr txBox="true"/>
          <p:nvPr/>
        </p:nvSpPr>
        <p:spPr>
          <a:xfrm rot="0">
            <a:off x="13473684" y="3579495"/>
            <a:ext cx="4078224" cy="1088517"/>
          </a:xfrm>
          <a:prstGeom prst="rect">
            <a:avLst/>
          </a:prstGeom>
        </p:spPr>
        <p:txBody>
          <a:bodyPr anchor="t" rtlCol="false" tIns="0" lIns="0" bIns="0" rIns="0">
            <a:spAutoFit/>
          </a:bodyPr>
          <a:lstStyle/>
          <a:p>
            <a:pPr algn="l">
              <a:lnSpc>
                <a:spcPts val="1438"/>
              </a:lnSpc>
            </a:pPr>
            <a:r>
              <a:rPr lang="en-US" sz="1110" b="true">
                <a:solidFill>
                  <a:srgbClr val="0F172A"/>
                </a:solidFill>
                <a:latin typeface="DM Sans Bold"/>
                <a:ea typeface="DM Sans Bold"/>
                <a:cs typeface="DM Sans Bold"/>
                <a:sym typeface="DM Sans Bold"/>
              </a:rPr>
              <a:t>Measurement path + KiCad sheet</a:t>
            </a:r>
          </a:p>
          <a:p>
            <a:pPr algn="l">
              <a:lnSpc>
                <a:spcPts val="1438"/>
              </a:lnSpc>
            </a:pPr>
            <a:r>
              <a:rPr lang="en-US" sz="1110">
                <a:solidFill>
                  <a:srgbClr val="64748B"/>
                </a:solidFill>
                <a:latin typeface="DM Sans"/>
                <a:ea typeface="DM Sans"/>
                <a:cs typeface="DM Sans"/>
                <a:sym typeface="DM Sans"/>
              </a:rPr>
              <a:t>Source: </a:t>
            </a:r>
            <a:r>
              <a:rPr lang="en-US" sz="1110">
                <a:solidFill>
                  <a:srgbClr val="0369A1"/>
                </a:solidFill>
                <a:latin typeface="DM Sans"/>
                <a:ea typeface="DM Sans"/>
                <a:cs typeface="DM Sans"/>
                <a:sym typeface="DM Sans"/>
              </a:rPr>
              <a:t>make_figures.py · reader_v0_1 netlist + KiCad PDF</a:t>
            </a:r>
          </a:p>
          <a:p>
            <a:pPr algn="l">
              <a:lnSpc>
                <a:spcPts val="1438"/>
              </a:lnSpc>
            </a:pPr>
            <a:r>
              <a:rPr lang="en-US" sz="1110">
                <a:solidFill>
                  <a:srgbClr val="64748B"/>
                </a:solidFill>
                <a:latin typeface="DM Sans"/>
                <a:ea typeface="DM Sans"/>
                <a:cs typeface="DM Sans"/>
                <a:sym typeface="DM Sans"/>
              </a:rPr>
              <a:t>1_presentation/figures/fig_schematic.png</a:t>
            </a:r>
          </a:p>
        </p:txBody>
      </p:sp>
      <p:grpSp>
        <p:nvGrpSpPr>
          <p:cNvPr name="Group 33" id="33"/>
          <p:cNvGrpSpPr/>
          <p:nvPr/>
        </p:nvGrpSpPr>
        <p:grpSpPr>
          <a:xfrm rot="0">
            <a:off x="853126" y="4882896"/>
            <a:ext cx="1187825" cy="850392"/>
            <a:chOff x="0" y="0"/>
            <a:chExt cx="1583766" cy="1133856"/>
          </a:xfrm>
        </p:grpSpPr>
        <p:sp>
          <p:nvSpPr>
            <p:cNvPr name="Freeform 34" id="34" descr="fig_window.png"/>
            <p:cNvSpPr/>
            <p:nvPr/>
          </p:nvSpPr>
          <p:spPr>
            <a:xfrm flipH="false" flipV="false" rot="0">
              <a:off x="0" y="0"/>
              <a:ext cx="1583817" cy="1133856"/>
            </a:xfrm>
            <a:custGeom>
              <a:avLst/>
              <a:gdLst/>
              <a:ahLst/>
              <a:cxnLst/>
              <a:rect r="r" b="b" t="t" l="l"/>
              <a:pathLst>
                <a:path h="1133856" w="1583817">
                  <a:moveTo>
                    <a:pt x="0" y="0"/>
                  </a:moveTo>
                  <a:lnTo>
                    <a:pt x="1583817" y="0"/>
                  </a:lnTo>
                  <a:lnTo>
                    <a:pt x="1583817" y="1133856"/>
                  </a:lnTo>
                  <a:lnTo>
                    <a:pt x="0" y="1133856"/>
                  </a:lnTo>
                  <a:lnTo>
                    <a:pt x="0" y="0"/>
                  </a:lnTo>
                  <a:close/>
                </a:path>
              </a:pathLst>
            </a:custGeom>
            <a:blipFill>
              <a:blip r:embed="rId13"/>
              <a:stretch>
                <a:fillRect l="0" t="0" r="3" b="0"/>
              </a:stretch>
            </a:blipFill>
          </p:spPr>
          <p:txBody>
            <a:bodyPr/>
            <a:p/>
          </p:txBody>
        </p:sp>
      </p:grpSp>
      <p:sp>
        <p:nvSpPr>
          <p:cNvPr name="TextBox 35" id="35"/>
          <p:cNvSpPr txBox="true"/>
          <p:nvPr/>
        </p:nvSpPr>
        <p:spPr>
          <a:xfrm rot="0">
            <a:off x="2226564" y="4882515"/>
            <a:ext cx="4078224" cy="1088517"/>
          </a:xfrm>
          <a:prstGeom prst="rect">
            <a:avLst/>
          </a:prstGeom>
        </p:spPr>
        <p:txBody>
          <a:bodyPr anchor="t" rtlCol="false" tIns="0" lIns="0" bIns="0" rIns="0">
            <a:spAutoFit/>
          </a:bodyPr>
          <a:lstStyle/>
          <a:p>
            <a:pPr algn="l">
              <a:lnSpc>
                <a:spcPts val="1438"/>
              </a:lnSpc>
            </a:pPr>
            <a:r>
              <a:rPr lang="en-US" sz="1110" b="true">
                <a:solidFill>
                  <a:srgbClr val="0F172A"/>
                </a:solidFill>
                <a:latin typeface="DM Sans Bold"/>
                <a:ea typeface="DM Sans Bold"/>
                <a:cs typeface="DM Sans Bold"/>
                <a:sym typeface="DM Sans Bold"/>
              </a:rPr>
              <a:t>Measurement window</a:t>
            </a:r>
          </a:p>
          <a:p>
            <a:pPr algn="l">
              <a:lnSpc>
                <a:spcPts val="1438"/>
              </a:lnSpc>
            </a:pPr>
            <a:r>
              <a:rPr lang="en-US" sz="1110">
                <a:solidFill>
                  <a:srgbClr val="64748B"/>
                </a:solidFill>
                <a:latin typeface="DM Sans"/>
                <a:ea typeface="DM Sans"/>
                <a:cs typeface="DM Sans"/>
                <a:sym typeface="DM Sans"/>
              </a:rPr>
              <a:t>Source: </a:t>
            </a:r>
            <a:r>
              <a:rPr lang="en-US" sz="1110">
                <a:solidFill>
                  <a:srgbClr val="0369A1"/>
                </a:solidFill>
                <a:latin typeface="DM Sans"/>
                <a:ea typeface="DM Sans"/>
                <a:cs typeface="DM Sans"/>
                <a:sym typeface="DM Sans"/>
              </a:rPr>
              <a:t>make_figures.py · calc_readout.py</a:t>
            </a:r>
          </a:p>
          <a:p>
            <a:pPr algn="l">
              <a:lnSpc>
                <a:spcPts val="1438"/>
              </a:lnSpc>
            </a:pPr>
            <a:r>
              <a:rPr lang="en-US" sz="1110">
                <a:solidFill>
                  <a:srgbClr val="64748B"/>
                </a:solidFill>
                <a:latin typeface="DM Sans"/>
                <a:ea typeface="DM Sans"/>
                <a:cs typeface="DM Sans"/>
                <a:sym typeface="DM Sans"/>
              </a:rPr>
              <a:t>1_presentation/figures/fig_window.png</a:t>
            </a:r>
          </a:p>
        </p:txBody>
      </p:sp>
      <p:grpSp>
        <p:nvGrpSpPr>
          <p:cNvPr name="Group 36" id="36"/>
          <p:cNvGrpSpPr/>
          <p:nvPr/>
        </p:nvGrpSpPr>
        <p:grpSpPr>
          <a:xfrm rot="0">
            <a:off x="6476686" y="4882896"/>
            <a:ext cx="1187825" cy="850392"/>
            <a:chOff x="0" y="0"/>
            <a:chExt cx="1583766" cy="1133856"/>
          </a:xfrm>
        </p:grpSpPr>
        <p:sp>
          <p:nvSpPr>
            <p:cNvPr name="Freeform 37" id="37" descr="fig_maker.png"/>
            <p:cNvSpPr/>
            <p:nvPr/>
          </p:nvSpPr>
          <p:spPr>
            <a:xfrm flipH="false" flipV="false" rot="0">
              <a:off x="0" y="0"/>
              <a:ext cx="1583817" cy="1133856"/>
            </a:xfrm>
            <a:custGeom>
              <a:avLst/>
              <a:gdLst/>
              <a:ahLst/>
              <a:cxnLst/>
              <a:rect r="r" b="b" t="t" l="l"/>
              <a:pathLst>
                <a:path h="1133856" w="1583817">
                  <a:moveTo>
                    <a:pt x="0" y="0"/>
                  </a:moveTo>
                  <a:lnTo>
                    <a:pt x="1583817" y="0"/>
                  </a:lnTo>
                  <a:lnTo>
                    <a:pt x="1583817" y="1133856"/>
                  </a:lnTo>
                  <a:lnTo>
                    <a:pt x="0" y="1133856"/>
                  </a:lnTo>
                  <a:lnTo>
                    <a:pt x="0" y="0"/>
                  </a:lnTo>
                  <a:close/>
                </a:path>
              </a:pathLst>
            </a:custGeom>
            <a:blipFill>
              <a:blip r:embed="rId14"/>
              <a:stretch>
                <a:fillRect l="0" t="0" r="3" b="0"/>
              </a:stretch>
            </a:blipFill>
          </p:spPr>
          <p:txBody>
            <a:bodyPr/>
            <a:p/>
          </p:txBody>
        </p:sp>
      </p:grpSp>
      <p:sp>
        <p:nvSpPr>
          <p:cNvPr name="TextBox 38" id="38"/>
          <p:cNvSpPr txBox="true"/>
          <p:nvPr/>
        </p:nvSpPr>
        <p:spPr>
          <a:xfrm rot="0">
            <a:off x="7850124" y="4882515"/>
            <a:ext cx="4078224" cy="1088517"/>
          </a:xfrm>
          <a:prstGeom prst="rect">
            <a:avLst/>
          </a:prstGeom>
        </p:spPr>
        <p:txBody>
          <a:bodyPr anchor="t" rtlCol="false" tIns="0" lIns="0" bIns="0" rIns="0">
            <a:spAutoFit/>
          </a:bodyPr>
          <a:lstStyle/>
          <a:p>
            <a:pPr algn="l">
              <a:lnSpc>
                <a:spcPts val="1438"/>
              </a:lnSpc>
            </a:pPr>
            <a:r>
              <a:rPr lang="en-US" sz="1110" b="true">
                <a:solidFill>
                  <a:srgbClr val="0F172A"/>
                </a:solidFill>
                <a:latin typeface="DM Sans Bold"/>
                <a:ea typeface="DM Sans Bold"/>
                <a:cs typeface="DM Sans Bold"/>
                <a:sym typeface="DM Sans Bold"/>
              </a:rPr>
              <a:t>Evidence gallery + tool output</a:t>
            </a:r>
          </a:p>
          <a:p>
            <a:pPr algn="l">
              <a:lnSpc>
                <a:spcPts val="1438"/>
              </a:lnSpc>
            </a:pPr>
            <a:r>
              <a:rPr lang="en-US" sz="1110">
                <a:solidFill>
                  <a:srgbClr val="64748B"/>
                </a:solidFill>
                <a:latin typeface="DM Sans"/>
                <a:ea typeface="DM Sans"/>
                <a:cs typeface="DM Sans"/>
                <a:sym typeface="DM Sans"/>
              </a:rPr>
              <a:t>Source: </a:t>
            </a:r>
            <a:r>
              <a:rPr lang="en-US" sz="1110">
                <a:solidFill>
                  <a:srgbClr val="0369A1"/>
                </a:solidFill>
                <a:latin typeface="DM Sans"/>
                <a:ea typeface="DM Sans"/>
                <a:cs typeface="DM Sans"/>
                <a:sym typeface="DM Sans"/>
              </a:rPr>
              <a:t>our files, screen capture, 19 Oct tool runs</a:t>
            </a:r>
          </a:p>
          <a:p>
            <a:pPr algn="l">
              <a:lnSpc>
                <a:spcPts val="1438"/>
              </a:lnSpc>
            </a:pPr>
            <a:r>
              <a:rPr lang="en-US" sz="1110">
                <a:solidFill>
                  <a:srgbClr val="64748B"/>
                </a:solidFill>
                <a:latin typeface="DM Sans"/>
                <a:ea typeface="DM Sans"/>
                <a:cs typeface="DM Sans"/>
                <a:sym typeface="DM Sans"/>
              </a:rPr>
              <a:t>1_presentation/figures/fig_maker.png</a:t>
            </a:r>
          </a:p>
        </p:txBody>
      </p:sp>
      <p:grpSp>
        <p:nvGrpSpPr>
          <p:cNvPr name="Group 39" id="39"/>
          <p:cNvGrpSpPr/>
          <p:nvPr/>
        </p:nvGrpSpPr>
        <p:grpSpPr>
          <a:xfrm rot="0">
            <a:off x="12100246" y="4882896"/>
            <a:ext cx="1187825" cy="850392"/>
            <a:chOff x="0" y="0"/>
            <a:chExt cx="1583766" cy="1133856"/>
          </a:xfrm>
        </p:grpSpPr>
        <p:sp>
          <p:nvSpPr>
            <p:cNvPr name="Freeform 40" id="40" descr="fig_decision.png"/>
            <p:cNvSpPr/>
            <p:nvPr/>
          </p:nvSpPr>
          <p:spPr>
            <a:xfrm flipH="false" flipV="false" rot="0">
              <a:off x="0" y="0"/>
              <a:ext cx="1583817" cy="1133856"/>
            </a:xfrm>
            <a:custGeom>
              <a:avLst/>
              <a:gdLst/>
              <a:ahLst/>
              <a:cxnLst/>
              <a:rect r="r" b="b" t="t" l="l"/>
              <a:pathLst>
                <a:path h="1133856" w="1583817">
                  <a:moveTo>
                    <a:pt x="0" y="0"/>
                  </a:moveTo>
                  <a:lnTo>
                    <a:pt x="1583817" y="0"/>
                  </a:lnTo>
                  <a:lnTo>
                    <a:pt x="1583817" y="1133856"/>
                  </a:lnTo>
                  <a:lnTo>
                    <a:pt x="0" y="1133856"/>
                  </a:lnTo>
                  <a:lnTo>
                    <a:pt x="0" y="0"/>
                  </a:lnTo>
                  <a:close/>
                </a:path>
              </a:pathLst>
            </a:custGeom>
            <a:blipFill>
              <a:blip r:embed="rId15"/>
              <a:stretch>
                <a:fillRect l="0" t="0" r="3" b="0"/>
              </a:stretch>
            </a:blipFill>
          </p:spPr>
          <p:txBody>
            <a:bodyPr/>
            <a:p/>
          </p:txBody>
        </p:sp>
      </p:grpSp>
      <p:sp>
        <p:nvSpPr>
          <p:cNvPr name="TextBox 41" id="41"/>
          <p:cNvSpPr txBox="true"/>
          <p:nvPr/>
        </p:nvSpPr>
        <p:spPr>
          <a:xfrm rot="0">
            <a:off x="13473684" y="4882515"/>
            <a:ext cx="4078224" cy="1088517"/>
          </a:xfrm>
          <a:prstGeom prst="rect">
            <a:avLst/>
          </a:prstGeom>
        </p:spPr>
        <p:txBody>
          <a:bodyPr anchor="t" rtlCol="false" tIns="0" lIns="0" bIns="0" rIns="0">
            <a:spAutoFit/>
          </a:bodyPr>
          <a:lstStyle/>
          <a:p>
            <a:pPr algn="l">
              <a:lnSpc>
                <a:spcPts val="1438"/>
              </a:lnSpc>
            </a:pPr>
            <a:r>
              <a:rPr lang="en-US" sz="1110" b="true">
                <a:solidFill>
                  <a:srgbClr val="0F172A"/>
                </a:solidFill>
                <a:latin typeface="DM Sans Bold"/>
                <a:ea typeface="DM Sans Bold"/>
                <a:cs typeface="DM Sans Bold"/>
                <a:sym typeface="DM Sans Bold"/>
              </a:rPr>
              <a:t>Decision matrix + iterations</a:t>
            </a:r>
          </a:p>
          <a:p>
            <a:pPr algn="l">
              <a:lnSpc>
                <a:spcPts val="1438"/>
              </a:lnSpc>
            </a:pPr>
            <a:r>
              <a:rPr lang="en-US" sz="1110">
                <a:solidFill>
                  <a:srgbClr val="64748B"/>
                </a:solidFill>
                <a:latin typeface="DM Sans"/>
                <a:ea typeface="DM Sans"/>
                <a:cs typeface="DM Sans"/>
                <a:sym typeface="DM Sans"/>
              </a:rPr>
              <a:t>Source: </a:t>
            </a:r>
            <a:r>
              <a:rPr lang="en-US" sz="1110">
                <a:solidFill>
                  <a:srgbClr val="0369A1"/>
                </a:solidFill>
                <a:latin typeface="DM Sans"/>
                <a:ea typeface="DM Sans"/>
                <a:cs typeface="DM Sans"/>
                <a:sym typeface="DM Sans"/>
              </a:rPr>
              <a:t>make_figures.py · decision_matrix.md</a:t>
            </a:r>
          </a:p>
          <a:p>
            <a:pPr algn="l">
              <a:lnSpc>
                <a:spcPts val="1438"/>
              </a:lnSpc>
            </a:pPr>
            <a:r>
              <a:rPr lang="en-US" sz="1110">
                <a:solidFill>
                  <a:srgbClr val="64748B"/>
                </a:solidFill>
                <a:latin typeface="DM Sans"/>
                <a:ea typeface="DM Sans"/>
                <a:cs typeface="DM Sans"/>
                <a:sym typeface="DM Sans"/>
              </a:rPr>
              <a:t>1_presentation/figures/fig_decision.png</a:t>
            </a:r>
          </a:p>
        </p:txBody>
      </p:sp>
      <p:grpSp>
        <p:nvGrpSpPr>
          <p:cNvPr name="Group 42" id="42"/>
          <p:cNvGrpSpPr/>
          <p:nvPr/>
        </p:nvGrpSpPr>
        <p:grpSpPr>
          <a:xfrm rot="0">
            <a:off x="795528" y="6222016"/>
            <a:ext cx="1303020" cy="778193"/>
            <a:chOff x="0" y="0"/>
            <a:chExt cx="1737360" cy="1037590"/>
          </a:xfrm>
        </p:grpSpPr>
        <p:sp>
          <p:nvSpPr>
            <p:cNvPr name="Freeform 43" id="43" descr="fig_fmea.png"/>
            <p:cNvSpPr/>
            <p:nvPr/>
          </p:nvSpPr>
          <p:spPr>
            <a:xfrm flipH="false" flipV="false" rot="0">
              <a:off x="0" y="0"/>
              <a:ext cx="1737360" cy="1037590"/>
            </a:xfrm>
            <a:custGeom>
              <a:avLst/>
              <a:gdLst/>
              <a:ahLst/>
              <a:cxnLst/>
              <a:rect r="r" b="b" t="t" l="l"/>
              <a:pathLst>
                <a:path h="1037590" w="1737360">
                  <a:moveTo>
                    <a:pt x="0" y="0"/>
                  </a:moveTo>
                  <a:lnTo>
                    <a:pt x="1737360" y="0"/>
                  </a:lnTo>
                  <a:lnTo>
                    <a:pt x="1737360" y="1037590"/>
                  </a:lnTo>
                  <a:lnTo>
                    <a:pt x="0" y="1037590"/>
                  </a:lnTo>
                  <a:lnTo>
                    <a:pt x="0" y="0"/>
                  </a:lnTo>
                  <a:close/>
                </a:path>
              </a:pathLst>
            </a:custGeom>
            <a:blipFill>
              <a:blip r:embed="rId16"/>
              <a:stretch>
                <a:fillRect l="0" t="0" r="0" b="0"/>
              </a:stretch>
            </a:blipFill>
          </p:spPr>
          <p:txBody>
            <a:bodyPr/>
            <a:p/>
          </p:txBody>
        </p:sp>
      </p:grpSp>
      <p:sp>
        <p:nvSpPr>
          <p:cNvPr name="TextBox 44" id="44"/>
          <p:cNvSpPr txBox="true"/>
          <p:nvPr/>
        </p:nvSpPr>
        <p:spPr>
          <a:xfrm rot="0">
            <a:off x="2226564" y="6185535"/>
            <a:ext cx="4078224" cy="1088517"/>
          </a:xfrm>
          <a:prstGeom prst="rect">
            <a:avLst/>
          </a:prstGeom>
        </p:spPr>
        <p:txBody>
          <a:bodyPr anchor="t" rtlCol="false" tIns="0" lIns="0" bIns="0" rIns="0">
            <a:spAutoFit/>
          </a:bodyPr>
          <a:lstStyle/>
          <a:p>
            <a:pPr algn="l">
              <a:lnSpc>
                <a:spcPts val="1438"/>
              </a:lnSpc>
            </a:pPr>
            <a:r>
              <a:rPr lang="en-US" sz="1110" b="true">
                <a:solidFill>
                  <a:srgbClr val="0F172A"/>
                </a:solidFill>
                <a:latin typeface="DM Sans Bold"/>
                <a:ea typeface="DM Sans Bold"/>
                <a:cs typeface="DM Sans Bold"/>
                <a:sym typeface="DM Sans Bold"/>
              </a:rPr>
              <a:t>FMEA risk ranking</a:t>
            </a:r>
          </a:p>
          <a:p>
            <a:pPr algn="l">
              <a:lnSpc>
                <a:spcPts val="1438"/>
              </a:lnSpc>
            </a:pPr>
            <a:r>
              <a:rPr lang="en-US" sz="1110">
                <a:solidFill>
                  <a:srgbClr val="64748B"/>
                </a:solidFill>
                <a:latin typeface="DM Sans"/>
                <a:ea typeface="DM Sans"/>
                <a:cs typeface="DM Sans"/>
                <a:sym typeface="DM Sans"/>
              </a:rPr>
              <a:t>Source: </a:t>
            </a:r>
            <a:r>
              <a:rPr lang="en-US" sz="1110">
                <a:solidFill>
                  <a:srgbClr val="0369A1"/>
                </a:solidFill>
                <a:latin typeface="DM Sans"/>
                <a:ea typeface="DM Sans"/>
                <a:cs typeface="DM Sans"/>
                <a:sym typeface="DM Sans"/>
              </a:rPr>
              <a:t>make_figures.py · fmea_v0_1.csv</a:t>
            </a:r>
          </a:p>
          <a:p>
            <a:pPr algn="l">
              <a:lnSpc>
                <a:spcPts val="1438"/>
              </a:lnSpc>
            </a:pPr>
            <a:r>
              <a:rPr lang="en-US" sz="1110">
                <a:solidFill>
                  <a:srgbClr val="64748B"/>
                </a:solidFill>
                <a:latin typeface="DM Sans"/>
                <a:ea typeface="DM Sans"/>
                <a:cs typeface="DM Sans"/>
                <a:sym typeface="DM Sans"/>
              </a:rPr>
              <a:t>1_presentation/figures/fig_fmea.png</a:t>
            </a:r>
          </a:p>
        </p:txBody>
      </p:sp>
      <p:grpSp>
        <p:nvGrpSpPr>
          <p:cNvPr name="Group 45" id="45"/>
          <p:cNvGrpSpPr/>
          <p:nvPr/>
        </p:nvGrpSpPr>
        <p:grpSpPr>
          <a:xfrm rot="0">
            <a:off x="6419088" y="6495993"/>
            <a:ext cx="1303020" cy="230229"/>
            <a:chOff x="0" y="0"/>
            <a:chExt cx="1737360" cy="306972"/>
          </a:xfrm>
        </p:grpSpPr>
        <p:sp>
          <p:nvSpPr>
            <p:cNvPr name="Freeform 46" id="46" descr="fig_roadmap.png"/>
            <p:cNvSpPr/>
            <p:nvPr/>
          </p:nvSpPr>
          <p:spPr>
            <a:xfrm flipH="false" flipV="false" rot="0">
              <a:off x="0" y="0"/>
              <a:ext cx="1737360" cy="306959"/>
            </a:xfrm>
            <a:custGeom>
              <a:avLst/>
              <a:gdLst/>
              <a:ahLst/>
              <a:cxnLst/>
              <a:rect r="r" b="b" t="t" l="l"/>
              <a:pathLst>
                <a:path h="306959" w="1737360">
                  <a:moveTo>
                    <a:pt x="0" y="0"/>
                  </a:moveTo>
                  <a:lnTo>
                    <a:pt x="1737360" y="0"/>
                  </a:lnTo>
                  <a:lnTo>
                    <a:pt x="1737360" y="306959"/>
                  </a:lnTo>
                  <a:lnTo>
                    <a:pt x="0" y="306959"/>
                  </a:lnTo>
                  <a:lnTo>
                    <a:pt x="0" y="0"/>
                  </a:lnTo>
                  <a:close/>
                </a:path>
              </a:pathLst>
            </a:custGeom>
            <a:blipFill>
              <a:blip r:embed="rId17"/>
              <a:stretch>
                <a:fillRect l="0" t="0" r="0" b="-4"/>
              </a:stretch>
            </a:blipFill>
          </p:spPr>
          <p:txBody>
            <a:bodyPr/>
            <a:p/>
          </p:txBody>
        </p:sp>
      </p:grpSp>
      <p:sp>
        <p:nvSpPr>
          <p:cNvPr name="TextBox 47" id="47"/>
          <p:cNvSpPr txBox="true"/>
          <p:nvPr/>
        </p:nvSpPr>
        <p:spPr>
          <a:xfrm rot="0">
            <a:off x="7850124" y="6185535"/>
            <a:ext cx="4078224" cy="1088517"/>
          </a:xfrm>
          <a:prstGeom prst="rect">
            <a:avLst/>
          </a:prstGeom>
        </p:spPr>
        <p:txBody>
          <a:bodyPr anchor="t" rtlCol="false" tIns="0" lIns="0" bIns="0" rIns="0">
            <a:spAutoFit/>
          </a:bodyPr>
          <a:lstStyle/>
          <a:p>
            <a:pPr algn="l">
              <a:lnSpc>
                <a:spcPts val="1438"/>
              </a:lnSpc>
            </a:pPr>
            <a:r>
              <a:rPr lang="en-US" sz="1110" b="true">
                <a:solidFill>
                  <a:srgbClr val="0F172A"/>
                </a:solidFill>
                <a:latin typeface="DM Sans Bold"/>
                <a:ea typeface="DM Sans Bold"/>
                <a:cs typeface="DM Sans Bold"/>
                <a:sym typeface="DM Sans Bold"/>
              </a:rPr>
              <a:t>4-month roadmap</a:t>
            </a:r>
          </a:p>
          <a:p>
            <a:pPr algn="l">
              <a:lnSpc>
                <a:spcPts val="1438"/>
              </a:lnSpc>
            </a:pPr>
            <a:r>
              <a:rPr lang="en-US" sz="1110">
                <a:solidFill>
                  <a:srgbClr val="64748B"/>
                </a:solidFill>
                <a:latin typeface="DM Sans"/>
                <a:ea typeface="DM Sans"/>
                <a:cs typeface="DM Sans"/>
                <a:sym typeface="DM Sans"/>
              </a:rPr>
              <a:t>Source: </a:t>
            </a:r>
            <a:r>
              <a:rPr lang="en-US" sz="1110">
                <a:solidFill>
                  <a:srgbClr val="0369A1"/>
                </a:solidFill>
                <a:latin typeface="DM Sans"/>
                <a:ea typeface="DM Sans"/>
                <a:cs typeface="DM Sans"/>
                <a:sym typeface="DM Sans"/>
              </a:rPr>
              <a:t>make_figures.py · E2/bench/E4 plans</a:t>
            </a:r>
          </a:p>
          <a:p>
            <a:pPr algn="l">
              <a:lnSpc>
                <a:spcPts val="1438"/>
              </a:lnSpc>
            </a:pPr>
            <a:r>
              <a:rPr lang="en-US" sz="1110">
                <a:solidFill>
                  <a:srgbClr val="64748B"/>
                </a:solidFill>
                <a:latin typeface="DM Sans"/>
                <a:ea typeface="DM Sans"/>
                <a:cs typeface="DM Sans"/>
                <a:sym typeface="DM Sans"/>
              </a:rPr>
              <a:t>1_presentation/figures/fig_roadmap.png</a:t>
            </a:r>
          </a:p>
        </p:txBody>
      </p:sp>
      <p:grpSp>
        <p:nvGrpSpPr>
          <p:cNvPr name="Group 48" id="48"/>
          <p:cNvGrpSpPr/>
          <p:nvPr/>
        </p:nvGrpSpPr>
        <p:grpSpPr>
          <a:xfrm rot="0">
            <a:off x="12042648" y="6522768"/>
            <a:ext cx="1303020" cy="176689"/>
            <a:chOff x="0" y="0"/>
            <a:chExt cx="1737360" cy="235585"/>
          </a:xfrm>
        </p:grpSpPr>
        <p:sp>
          <p:nvSpPr>
            <p:cNvPr name="Freeform 49" id="49" descr="fig_challenges.png"/>
            <p:cNvSpPr/>
            <p:nvPr/>
          </p:nvSpPr>
          <p:spPr>
            <a:xfrm flipH="false" flipV="false" rot="0">
              <a:off x="0" y="0"/>
              <a:ext cx="1737360" cy="235585"/>
            </a:xfrm>
            <a:custGeom>
              <a:avLst/>
              <a:gdLst/>
              <a:ahLst/>
              <a:cxnLst/>
              <a:rect r="r" b="b" t="t" l="l"/>
              <a:pathLst>
                <a:path h="235585" w="1737360">
                  <a:moveTo>
                    <a:pt x="0" y="0"/>
                  </a:moveTo>
                  <a:lnTo>
                    <a:pt x="1737360" y="0"/>
                  </a:lnTo>
                  <a:lnTo>
                    <a:pt x="1737360" y="235585"/>
                  </a:lnTo>
                  <a:lnTo>
                    <a:pt x="0" y="235585"/>
                  </a:lnTo>
                  <a:lnTo>
                    <a:pt x="0" y="0"/>
                  </a:lnTo>
                  <a:close/>
                </a:path>
              </a:pathLst>
            </a:custGeom>
            <a:blipFill>
              <a:blip r:embed="rId18"/>
              <a:stretch>
                <a:fillRect l="0" t="0" r="0" b="0"/>
              </a:stretch>
            </a:blipFill>
          </p:spPr>
          <p:txBody>
            <a:bodyPr/>
            <a:p/>
          </p:txBody>
        </p:sp>
      </p:grpSp>
      <p:sp>
        <p:nvSpPr>
          <p:cNvPr name="TextBox 50" id="50"/>
          <p:cNvSpPr txBox="true"/>
          <p:nvPr/>
        </p:nvSpPr>
        <p:spPr>
          <a:xfrm rot="0">
            <a:off x="13473684" y="6185535"/>
            <a:ext cx="4078224" cy="1088517"/>
          </a:xfrm>
          <a:prstGeom prst="rect">
            <a:avLst/>
          </a:prstGeom>
        </p:spPr>
        <p:txBody>
          <a:bodyPr anchor="t" rtlCol="false" tIns="0" lIns="0" bIns="0" rIns="0">
            <a:spAutoFit/>
          </a:bodyPr>
          <a:lstStyle/>
          <a:p>
            <a:pPr algn="l">
              <a:lnSpc>
                <a:spcPts val="1438"/>
              </a:lnSpc>
            </a:pPr>
            <a:r>
              <a:rPr lang="en-US" sz="1110" b="true">
                <a:solidFill>
                  <a:srgbClr val="0F172A"/>
                </a:solidFill>
                <a:latin typeface="DM Sans Bold"/>
                <a:ea typeface="DM Sans Bold"/>
                <a:cs typeface="DM Sans Bold"/>
                <a:sym typeface="DM Sans Bold"/>
              </a:rPr>
              <a:t>Seal clash + lead-break diagrams</a:t>
            </a:r>
          </a:p>
          <a:p>
            <a:pPr algn="l">
              <a:lnSpc>
                <a:spcPts val="1438"/>
              </a:lnSpc>
            </a:pPr>
            <a:r>
              <a:rPr lang="en-US" sz="1110">
                <a:solidFill>
                  <a:srgbClr val="64748B"/>
                </a:solidFill>
                <a:latin typeface="DM Sans"/>
                <a:ea typeface="DM Sans"/>
                <a:cs typeface="DM Sans"/>
                <a:sym typeface="DM Sans"/>
              </a:rPr>
              <a:t>Source: </a:t>
            </a:r>
            <a:r>
              <a:rPr lang="en-US" sz="1110">
                <a:solidFill>
                  <a:srgbClr val="0369A1"/>
                </a:solidFill>
                <a:latin typeface="DM Sans"/>
                <a:ea typeface="DM Sans"/>
                <a:cs typeface="DM Sans"/>
                <a:sym typeface="DM Sans"/>
              </a:rPr>
              <a:t>make_figures.py · geometry + FMEA</a:t>
            </a:r>
          </a:p>
          <a:p>
            <a:pPr algn="l">
              <a:lnSpc>
                <a:spcPts val="1438"/>
              </a:lnSpc>
            </a:pPr>
            <a:r>
              <a:rPr lang="en-US" sz="1110">
                <a:solidFill>
                  <a:srgbClr val="64748B"/>
                </a:solidFill>
                <a:latin typeface="DM Sans"/>
                <a:ea typeface="DM Sans"/>
                <a:cs typeface="DM Sans"/>
                <a:sym typeface="DM Sans"/>
              </a:rPr>
              <a:t>1_presentation/figures/fig_challenges.png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DAHYfnt5Ke0</dc:identifier>
  <dcterms:modified xsi:type="dcterms:W3CDTF">2011-08-01T06:04:30Z</dcterms:modified>
  <cp:revision>1</cp:revision>
  <dc:title>Vishwakarma Awards 2026–27 Stage 2 — Human-Centred Edit</dc:title>
</cp:coreProperties>
</file>