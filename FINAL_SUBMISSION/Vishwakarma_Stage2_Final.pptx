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76" r:id="rId47"/>
    <p:sldId id="259" r:id="rId10"/>
    <p:sldId id="277" r:id="rId48"/>
    <p:sldId id="278" r:id="rId49"/>
    <p:sldId id="261" r:id="rId12"/>
    <p:sldId id="279" r:id="rId50"/>
    <p:sldId id="263" r:id="rId14"/>
    <p:sldId id="280" r:id="rId51"/>
    <p:sldId id="265" r:id="rId16"/>
    <p:sldId id="281" r:id="rId52"/>
    <p:sldId id="267" r:id="rId18"/>
    <p:sldId id="282" r:id="rId53"/>
    <p:sldId id="270" r:id="rId21"/>
    <p:sldId id="283" r:id="rId54"/>
    <p:sldId id="273" r:id="rId24"/>
    <p:sldId id="284" r:id="rId55"/>
    <p:sldId id="274" r:id="rId25"/>
    <p:sldId id="275" r:id="rId26"/>
  </p:sldIdLst>
  <p:sldSz cy="6858000" cx="12192000"/>
  <p:notesSz cx="6858000" cy="9144000"/>
  <p:embeddedFontLst>
    <p:embeddedFont>
      <p:font typeface="DM Sans Medium"/>
      <p:regular r:id="rId27"/>
      <p:bold r:id="rId28"/>
      <p:italic r:id="rId29"/>
      <p:boldItalic r:id="rId30"/>
    </p:embeddedFont>
    <p:embeddedFont>
      <p:font typeface="Poppins"/>
      <p:regular r:id="rId31"/>
      <p:bold r:id="rId32"/>
      <p:italic r:id="rId33"/>
      <p:boldItalic r:id="rId34"/>
    </p:embeddedFont>
    <p:embeddedFont>
      <p:font typeface="Inter"/>
      <p:regular r:id="rId35"/>
      <p:bold r:id="rId36"/>
      <p:italic r:id="rId37"/>
      <p:boldItalic r:id="rId38"/>
    </p:embeddedFont>
    <p:embeddedFont>
      <p:font typeface="Poppins SemiBold"/>
      <p:regular r:id="rId39"/>
      <p:bold r:id="rId40"/>
      <p:italic r:id="rId41"/>
      <p:boldItalic r:id="rId42"/>
    </p:embeddedFont>
    <p:embeddedFont>
      <p:font typeface="DM Sans"/>
      <p:regular r:id="rId43"/>
      <p:bold r:id="rId44"/>
      <p:italic r:id="rId45"/>
      <p:boldItalic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BAD28DD-9E69-47B7-B3C4-3EE7697E9F47}">
  <a:tblStyle styleId="{BBAD28DD-9E69-47B7-B3C4-3EE7697E9F4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6" Type="http://schemas.openxmlformats.org/officeDocument/2006/relationships/slide" Target="slides/slide10.xml"/><Relationship Id="rId18" Type="http://schemas.openxmlformats.org/officeDocument/2006/relationships/slide" Target="slides/slide12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font" Target="fonts/DMSansMedium-regular.fntdata"/><Relationship Id="rId28" Type="http://schemas.openxmlformats.org/officeDocument/2006/relationships/font" Target="fonts/DMSansMedium-bold.fntdata"/><Relationship Id="rId29" Type="http://schemas.openxmlformats.org/officeDocument/2006/relationships/font" Target="fonts/DMSansMedium-italic.fntdata"/><Relationship Id="rId30" Type="http://schemas.openxmlformats.org/officeDocument/2006/relationships/font" Target="fonts/DMSansMedium-boldItalic.fntdata"/><Relationship Id="rId31" Type="http://schemas.openxmlformats.org/officeDocument/2006/relationships/font" Target="fonts/Poppins-regular.fntdata"/><Relationship Id="rId32" Type="http://schemas.openxmlformats.org/officeDocument/2006/relationships/font" Target="fonts/Poppins-bold.fntdata"/><Relationship Id="rId33" Type="http://schemas.openxmlformats.org/officeDocument/2006/relationships/font" Target="fonts/Poppins-italic.fntdata"/><Relationship Id="rId34" Type="http://schemas.openxmlformats.org/officeDocument/2006/relationships/font" Target="fonts/Poppins-boldItalic.fntdata"/><Relationship Id="rId35" Type="http://schemas.openxmlformats.org/officeDocument/2006/relationships/font" Target="fonts/Inter-regular.fntdata"/><Relationship Id="rId36" Type="http://schemas.openxmlformats.org/officeDocument/2006/relationships/font" Target="fonts/Inter-bold.fntdata"/><Relationship Id="rId37" Type="http://schemas.openxmlformats.org/officeDocument/2006/relationships/font" Target="fonts/Inter-italic.fntdata"/><Relationship Id="rId38" Type="http://schemas.openxmlformats.org/officeDocument/2006/relationships/font" Target="fonts/Inter-boldItalic.fntdata"/><Relationship Id="rId39" Type="http://schemas.openxmlformats.org/officeDocument/2006/relationships/font" Target="fonts/PoppinsSemiBold-regular.fntdata"/><Relationship Id="rId40" Type="http://schemas.openxmlformats.org/officeDocument/2006/relationships/font" Target="fonts/PoppinsSemiBold-bold.fntdata"/><Relationship Id="rId41" Type="http://schemas.openxmlformats.org/officeDocument/2006/relationships/font" Target="fonts/PoppinsSemiBold-italic.fntdata"/><Relationship Id="rId42" Type="http://schemas.openxmlformats.org/officeDocument/2006/relationships/font" Target="fonts/PoppinsSemiBold-boldItalic.fntdata"/><Relationship Id="rId43" Type="http://schemas.openxmlformats.org/officeDocument/2006/relationships/font" Target="fonts/DMSans-regular.fntdata"/><Relationship Id="rId44" Type="http://schemas.openxmlformats.org/officeDocument/2006/relationships/font" Target="fonts/DMSans-bold.fntdata"/><Relationship Id="rId45" Type="http://schemas.openxmlformats.org/officeDocument/2006/relationships/font" Target="fonts/DMSans-italic.fntdata"/><Relationship Id="rId46" Type="http://schemas.openxmlformats.org/officeDocument/2006/relationships/font" Target="fonts/DMSans-boldItalic.fntdata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Relationship Id="rId5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Core innovation: two laser-carbonised electrode zones, at the pad centre and on the dressing maker's change line, let a clip-on reader say OK, CHANGE or CHECK without lifting the dressing.</a:t>
            </a:r>
          </a:p>
        </p:txBody>
      </p:sp>
      <p:sp>
        <p:nvSpPr>
          <p:cNvPr id="82" name="Google Shape;82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fb70659208_2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Target user: nurses and carers (diabetic foot, venous leg, pressure ulcers). Public search: WoundSense reads one point [1]; a lab study mapped 8 points [3]; diaper wetness strips with clip-on readers exist [4]; smart bandages use custom electronics [5]. Visual change indicators exist (ALLEVYN LIFE: 'At 75%, it's time to change' [14]) but need the dressing face to be visible. Why now: some makers define 'full' as a distance from the pad edge [2] and conductive carbon can be laser-written on polyimide in one pass [7]. Project: Dermasense, VK26-IITI-HT-0050, Health Tech.</a:t>
            </a:r>
          </a:p>
        </p:txBody>
      </p:sp>
      <p:sp>
        <p:nvSpPr>
          <p:cNvPr id="123" name="Google Shape;123;g3fb70659208_26_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fb70659208_26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Electrode lines/gaps 1.0 mm (provisional until E2). Windows 6 x 3.9 mm. Expected wet 4.2-14.8 kOhm, dry &gt;= 1 MOhm (calc_readout.py). Self-check: 100 kOhm 0.1 % resistor (+/-5 %) and COM loop -&gt; FAULT. BLE: one 13-byte advertisement per scan (ble_beacon.h), compiled, not run on hardware. Sources: config.h, strip_v0_1_geometry.json.</a:t>
            </a:r>
          </a:p>
        </p:txBody>
      </p:sp>
      <p:sp>
        <p:nvSpPr>
          <p:cNvPr id="180" name="Google Shape;180;g3fb70659208_26_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b70659208_26_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Hand calculations: 5_cad/calc_mechanical_report.md (pin rate 0.49 N/mm from the P75-B1 listing; 1.48 mm compression; lid 4.0 mm PETG, span 35.7 mm, simply supported; tolerance stack worst case 0.49 mm, RSS 0.25 mm; t/2R strain; 10 N tug at the dowels). No FEA: loads are under 3 N, so stresses are far below PETG limits; SolidWorks Simulation is available if the judges want plots. CAD checks: 5_cad/verify_cad_report.md.</a:t>
            </a:r>
          </a:p>
        </p:txBody>
      </p:sp>
      <p:sp>
        <p:nvSpPr>
          <p:cNvPr id="232" name="Google Shape;232;g3fb70659208_26_6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fb70659208_26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Full pin map: 7_firmware/WIRING.md (generated from the netlist). I2C on GPIO6/7 (ADS1115 0x48); A1 = 3V3 rail; LEDs on GPIO0/1/21; strapping pins GPIO2/8/9 unused.</a:t>
            </a:r>
          </a:p>
        </p:txBody>
      </p:sp>
      <p:sp>
        <p:nvSpPr>
          <p:cNvPr id="275" name="Google Shape;275;g3fb70659208_26_9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fb70659208_26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Native files in the repository: .SLDPRT, .SLDASM, .SLDDRW, .STEP, .kicad_sch, .ino, .dxf. Every commit since 14 Oct carries a Co-Authored-By: Claude line; the lab notebook says which entries were AI-drafted. TEAM TO DO: replace the two lab-photo placeholders (ID badges visible) and the link. Faculty sign-off only if a mentor is attached.</a:t>
            </a:r>
          </a:p>
        </p:txBody>
      </p:sp>
      <p:sp>
        <p:nvSpPr>
          <p:cNvPr id="360" name="Google Shape;360;g3fb70659208_26_1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fb70659208_26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Full FMEA: 3_decisions/fmea_v0_1.md (15 modes). Laser safety: signed checklist each session (4_sensor_strip/e2_experiment/E2_safety_checklist.md). Bench test T8 checks average DC &lt; 5 mV.</a:t>
            </a:r>
          </a:p>
        </p:txBody>
      </p:sp>
      <p:sp>
        <p:nvSpPr>
          <p:cNvPr id="415" name="Google Shape;415;g3fb70659208_26_16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fb70659208_26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Evidence: 5_cad/verify_cad_report.md (interference), 3_decisions/fmea_v0_1.md, 4_sensor_strip/machine_record.md.</a:t>
            </a:r>
          </a:p>
        </p:txBody>
      </p:sp>
      <p:sp>
        <p:nvSpPr>
          <p:cNvPr id="475" name="Google Shape;475;g3fb70659208_26_19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Full list with verification notes: 2_research/literature.csv and research_matrix.csv (41 + 16 entries).</a:t>
            </a:r>
          </a:p>
        </p:txBody>
      </p:sp>
      <p:sp>
        <p:nvSpPr>
          <p:cNvPr id="502" name="Google Shape;50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fb70659208_26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Generators: 1_presentation/render_cad.py and make_figures.py. Photos: 1_presentation/team_photos/.</a:t>
            </a:r>
          </a:p>
        </p:txBody>
      </p:sp>
      <p:sp>
        <p:nvSpPr>
          <p:cNvPr id="519" name="Google Shape;519;g3fb70659208_26_2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TEAM TO DO: replace the two photo placeholders (right-click &gt; Change Picture, or put member1/member2 photos in 1_presentation/team_photos/ and rebuild) and the [team to add] role fields. Counts: PROJECT_AUDIT.md (re-run 19 Oct). Template T2: Project Overview = title, Team ID, track, 1-line core innovation.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Sources: Milne 2016 [1]; Dealey 2006 [6] (0.10 and 0.21 g/cm²/24 h by one method, mean 1.3 by the other); UK survey of &gt;200 patients commissioned by Mölnlycke, 2018 [13]: average dressing time 18 min, about 5 changes a week (patient-reported, industry-sponsored); Truemeds listings [15]: Mepilex Lite 10x10 cm Rs 242, Mepilex Border 10x10 cm Rs 514 (pack size unclear). Not yet measured: nurse minutes per check in Indian clinics.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Targets and projections, not results. Payback: strip &lt;= Rs 100 (estimate) / dressing Rs 242-514 [15] = 0.19-0.41, i.e. one avoided change in every 2.4-5.1 dressings. 'Up to 44.9 %' assumes every change waits for CHANGE; some changes are made for other clinical reasons, so the real figure is lower and must be measured. Bluetooth: compiled, not yet tested on hardware (bench test T11). FAULT covers a broken strip or reader error.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ADS1115 single-shot 128 SPS, auto-range; A1 reads the 3V3 rail. Rx from both phases, averaged, scaled by the check resistor (+/-5 % else FAULT), minus 2 kOhm protection. Idle pins high-Z; zones frozen during FAULT. Compiles for ESP32-C3 with 0 warnings (650,349 bytes, 49 % of flash, with Bluetooth). BLE payload: state, wet flags, scan number, both zone resistances; unencrypted, test company ID 0xFFFF, bench only. Decoder: 7_firmware/tools/decode_beacon.py.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Graphene not confirmed until Raman. Machine (LaserCAD config): 1200 x 900 mm bed, 20 kHz PWM, 98 % cap. Logged per layer: min/max power, speed, 0.1 mm interval, passes, scan direction, focus, tube current. E2 = 4 bracket coupons (power 10/12/14, speed x0.67/1/1.5) + 3 resolution coupons.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Line items: 6_electronics/bom_v0_1.csv (23 lines, each traced to the file that needs it). First order: silver paint, 1 % resistor set, 0.1 % 100 kOhm resistors, ADS1115, ESP32-C3. Quoted 19 Oct 2026 incl. GST: Probots PRO4607 ESP32-C3 SuperMini Rs 242; Probots PRO789 ADS1115 Rs 125; Hubtronics 05880 P75-B1 pack of 100 Rs 354. Total leaves out the borrowed meter, USB cable and E4 dressings. Ranges = sum of min/max estimates.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concepts scored on 13 weighted criteria (3_decisions/decision_matrix.md). Verification fixes: seal moved off the clamp; STEP was in cm, now mm; drawings rebuilt first-angle. FMEA F04 (cracked sense lead reads dry, RPN 224). 4 zones were cut to 2 until E2 proves finer lines. Stage 1 also estimated '60 % fewer changes'; we dropped that number (no source). IP: concept and files are the team's own; no patent filed yet.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Gates: G1 E2 Rs CV &lt;= 20 %; G2 reader bench test T0-T11; G3 E4 alert within +/-10 %; G4 live demo with logged raw data. Programme dates (vishwakarma-awards.org and the Internshala listing, read 19 Oct 2026): prototype video + updated PPT in December (listing: 4 Dec 2026); Health Tech semi-final interviews in January; IIT Indore bootcamp and finale 26 Jan - 1 Feb 2027. No patient use. Raman/SEM via a partner lab if access is granted.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Future scope details: 4_sensor_strip/e2_experiment/E2_measurements_and_unknowns.md.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8.png"/><Relationship Id="rId4" Type="http://schemas.openxmlformats.org/officeDocument/2006/relationships/image" Target="../media/image25.png"/><Relationship Id="rId5" Type="http://schemas.openxmlformats.org/officeDocument/2006/relationships/image" Target="../media/image22.png"/><Relationship Id="rId6" Type="http://schemas.openxmlformats.org/officeDocument/2006/relationships/image" Target="../media/image7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5.png"/><Relationship Id="rId6" Type="http://schemas.openxmlformats.org/officeDocument/2006/relationships/image" Target="../media/image9.png"/><Relationship Id="rId7" Type="http://schemas.openxmlformats.org/officeDocument/2006/relationships/image" Target="../media/image21.png"/><Relationship Id="rId8" Type="http://schemas.openxmlformats.org/officeDocument/2006/relationships/image" Target="../media/image14.png"/><Relationship Id="rId9" Type="http://schemas.openxmlformats.org/officeDocument/2006/relationships/image" Target="../media/image11.png"/><Relationship Id="rId10" Type="http://schemas.openxmlformats.org/officeDocument/2006/relationships/image" Target="../media/image15.png"/><Relationship Id="rId11" Type="http://schemas.openxmlformats.org/officeDocument/2006/relationships/image" Target="../media/image18.png"/><Relationship Id="rId12" Type="http://schemas.openxmlformats.org/officeDocument/2006/relationships/image" Target="../media/image10.png"/><Relationship Id="rId13" Type="http://schemas.openxmlformats.org/officeDocument/2006/relationships/image" Target="../media/image22.png"/><Relationship Id="rId14" Type="http://schemas.openxmlformats.org/officeDocument/2006/relationships/image" Target="../media/image70.png"/><Relationship Id="rId15" Type="http://schemas.openxmlformats.org/officeDocument/2006/relationships/image" Target="../media/image8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15.png"/><Relationship Id="rId8" Type="http://schemas.openxmlformats.org/officeDocument/2006/relationships/image" Target="../media/image23.png"/><Relationship Id="rId9" Type="http://schemas.openxmlformats.org/officeDocument/2006/relationships/image" Target="../media/image36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8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15.png"/><Relationship Id="rId8" Type="http://schemas.openxmlformats.org/officeDocument/2006/relationships/image" Target="../media/image26.png"/><Relationship Id="rId9" Type="http://schemas.openxmlformats.org/officeDocument/2006/relationships/image" Target="../media/image29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8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15.png"/><Relationship Id="rId8" Type="http://schemas.openxmlformats.org/officeDocument/2006/relationships/image" Target="../media/image38.png"/><Relationship Id="rId9" Type="http://schemas.openxmlformats.org/officeDocument/2006/relationships/image" Target="../media/image35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8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31.png"/><Relationship Id="rId6" Type="http://schemas.openxmlformats.org/officeDocument/2006/relationships/image" Target="../media/image28.png"/><Relationship Id="rId7" Type="http://schemas.openxmlformats.org/officeDocument/2006/relationships/image" Target="../media/image15.png"/><Relationship Id="rId8" Type="http://schemas.openxmlformats.org/officeDocument/2006/relationships/image" Target="../media/image50.png"/><Relationship Id="rId9" Type="http://schemas.openxmlformats.org/officeDocument/2006/relationships/image" Target="../media/image53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89.png"/><Relationship Id="rId13" Type="http://schemas.openxmlformats.org/officeDocument/2006/relationships/image" Target="../media/image9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49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15.png"/><Relationship Id="rId8" Type="http://schemas.openxmlformats.org/officeDocument/2006/relationships/image" Target="../media/image54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22.png"/><Relationship Id="rId12" Type="http://schemas.openxmlformats.org/officeDocument/2006/relationships/image" Target="../media/image70.png"/><Relationship Id="rId13" Type="http://schemas.openxmlformats.org/officeDocument/2006/relationships/image" Target="../media/image9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Relationship Id="rId4" Type="http://schemas.openxmlformats.org/officeDocument/2006/relationships/image" Target="../media/image7.png"/><Relationship Id="rId5" Type="http://schemas.openxmlformats.org/officeDocument/2006/relationships/image" Target="../media/image66.png"/><Relationship Id="rId6" Type="http://schemas.openxmlformats.org/officeDocument/2006/relationships/image" Target="../media/image61.png"/><Relationship Id="rId7" Type="http://schemas.openxmlformats.org/officeDocument/2006/relationships/image" Target="../media/image63.png"/><Relationship Id="rId8" Type="http://schemas.openxmlformats.org/officeDocument/2006/relationships/image" Target="../media/image15.png"/><Relationship Id="rId9" Type="http://schemas.openxmlformats.org/officeDocument/2006/relationships/image" Target="../media/image64.png"/><Relationship Id="rId10" Type="http://schemas.openxmlformats.org/officeDocument/2006/relationships/image" Target="../media/image65.png"/><Relationship Id="rId11" Type="http://schemas.openxmlformats.org/officeDocument/2006/relationships/image" Target="../media/image67.png"/><Relationship Id="rId12" Type="http://schemas.openxmlformats.org/officeDocument/2006/relationships/image" Target="../media/image22.png"/><Relationship Id="rId13" Type="http://schemas.openxmlformats.org/officeDocument/2006/relationships/image" Target="../media/image70.png"/><Relationship Id="rId14" Type="http://schemas.openxmlformats.org/officeDocument/2006/relationships/image" Target="../media/image9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22.png"/><Relationship Id="rId6" Type="http://schemas.openxmlformats.org/officeDocument/2006/relationships/image" Target="../media/image70.png"/><Relationship Id="rId7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6.png"/><Relationship Id="rId4" Type="http://schemas.openxmlformats.org/officeDocument/2006/relationships/image" Target="../media/image74.png"/><Relationship Id="rId5" Type="http://schemas.openxmlformats.org/officeDocument/2006/relationships/image" Target="../media/image71.png"/><Relationship Id="rId6" Type="http://schemas.openxmlformats.org/officeDocument/2006/relationships/image" Target="../media/image73.png"/><Relationship Id="rId7" Type="http://schemas.openxmlformats.org/officeDocument/2006/relationships/image" Target="../media/image72.png"/><Relationship Id="rId8" Type="http://schemas.openxmlformats.org/officeDocument/2006/relationships/image" Target="../media/image75.png"/><Relationship Id="rId9" Type="http://schemas.openxmlformats.org/officeDocument/2006/relationships/image" Target="../media/image15.png"/><Relationship Id="rId10" Type="http://schemas.openxmlformats.org/officeDocument/2006/relationships/image" Target="../media/image22.png"/><Relationship Id="rId11" Type="http://schemas.openxmlformats.org/officeDocument/2006/relationships/image" Target="../media/image70.png"/><Relationship Id="rId12" Type="http://schemas.openxmlformats.org/officeDocument/2006/relationships/image" Target="../media/image81.png"/><Relationship Id="rId13" Type="http://schemas.openxmlformats.org/officeDocument/2006/relationships/image" Target="../media/image82.png"/><Relationship Id="rId14" Type="http://schemas.openxmlformats.org/officeDocument/2006/relationships/image" Target="../media/image83.png"/><Relationship Id="rId15" Type="http://schemas.openxmlformats.org/officeDocument/2006/relationships/image" Target="../media/image84.png"/><Relationship Id="rId16" Type="http://schemas.openxmlformats.org/officeDocument/2006/relationships/image" Target="../media/image85.png"/><Relationship Id="rId17" Type="http://schemas.openxmlformats.org/officeDocument/2006/relationships/image" Target="../media/image86.png"/><Relationship Id="rId18" Type="http://schemas.openxmlformats.org/officeDocument/2006/relationships/image" Target="../media/image87.png"/><Relationship Id="rId19" Type="http://schemas.openxmlformats.org/officeDocument/2006/relationships/image" Target="../media/image80.png"/><Relationship Id="rId20" Type="http://schemas.openxmlformats.org/officeDocument/2006/relationships/image" Target="../media/image88.png"/><Relationship Id="rId21" Type="http://schemas.openxmlformats.org/officeDocument/2006/relationships/image" Target="../media/image89.png"/><Relationship Id="rId22" Type="http://schemas.openxmlformats.org/officeDocument/2006/relationships/image" Target="../media/image91.png"/><Relationship Id="rId23" Type="http://schemas.openxmlformats.org/officeDocument/2006/relationships/image" Target="../media/image92.png"/><Relationship Id="rId24" Type="http://schemas.openxmlformats.org/officeDocument/2006/relationships/image" Target="../media/image93.png"/><Relationship Id="rId25" Type="http://schemas.openxmlformats.org/officeDocument/2006/relationships/image" Target="../media/image9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22.png"/><Relationship Id="rId5" Type="http://schemas.openxmlformats.org/officeDocument/2006/relationships/image" Target="../media/image10.png"/><Relationship Id="rId6" Type="http://schemas.openxmlformats.org/officeDocument/2006/relationships/image" Target="../media/image3.png"/><Relationship Id="rId7" Type="http://schemas.openxmlformats.org/officeDocument/2006/relationships/image" Target="../media/image7.png"/><Relationship Id="rId8" Type="http://schemas.openxmlformats.org/officeDocument/2006/relationships/image" Target="../media/image11.png"/><Relationship Id="rId9" Type="http://schemas.openxmlformats.org/officeDocument/2006/relationships/image" Target="../media/image70.png"/><Relationship Id="rId10" Type="http://schemas.openxmlformats.org/officeDocument/2006/relationships/image" Target="../media/image5.png"/><Relationship Id="rId11" Type="http://schemas.openxmlformats.org/officeDocument/2006/relationships/image" Target="../media/image9.png"/><Relationship Id="rId12" Type="http://schemas.openxmlformats.org/officeDocument/2006/relationships/image" Target="../media/image21.png"/><Relationship Id="rId13" Type="http://schemas.openxmlformats.org/officeDocument/2006/relationships/image" Target="../media/image14.png"/><Relationship Id="rId14" Type="http://schemas.openxmlformats.org/officeDocument/2006/relationships/image" Target="../media/image77.png"/><Relationship Id="rId15" Type="http://schemas.openxmlformats.org/officeDocument/2006/relationships/image" Target="../media/image78.png"/><Relationship Id="rId16" Type="http://schemas.openxmlformats.org/officeDocument/2006/relationships/image" Target="../media/image79.png"/><Relationship Id="rId17" Type="http://schemas.openxmlformats.org/officeDocument/2006/relationships/image" Target="../media/image80.png"/><Relationship Id="rId18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22.png"/><Relationship Id="rId5" Type="http://schemas.openxmlformats.org/officeDocument/2006/relationships/image" Target="../media/image10.png"/><Relationship Id="rId6" Type="http://schemas.openxmlformats.org/officeDocument/2006/relationships/image" Target="../media/image3.png"/><Relationship Id="rId7" Type="http://schemas.openxmlformats.org/officeDocument/2006/relationships/image" Target="../media/image7.png"/><Relationship Id="rId8" Type="http://schemas.openxmlformats.org/officeDocument/2006/relationships/image" Target="../media/image11.png"/><Relationship Id="rId9" Type="http://schemas.openxmlformats.org/officeDocument/2006/relationships/image" Target="../media/image70.png"/><Relationship Id="rId10" Type="http://schemas.openxmlformats.org/officeDocument/2006/relationships/image" Target="../media/image5.png"/><Relationship Id="rId11" Type="http://schemas.openxmlformats.org/officeDocument/2006/relationships/image" Target="../media/image9.png"/><Relationship Id="rId12" Type="http://schemas.openxmlformats.org/officeDocument/2006/relationships/image" Target="../media/image21.png"/><Relationship Id="rId13" Type="http://schemas.openxmlformats.org/officeDocument/2006/relationships/image" Target="../media/image14.png"/><Relationship Id="rId14" Type="http://schemas.openxmlformats.org/officeDocument/2006/relationships/image" Target="../media/image82.png"/><Relationship Id="rId1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22.png"/><Relationship Id="rId5" Type="http://schemas.openxmlformats.org/officeDocument/2006/relationships/image" Target="../media/image10.png"/><Relationship Id="rId6" Type="http://schemas.openxmlformats.org/officeDocument/2006/relationships/image" Target="../media/image3.png"/><Relationship Id="rId7" Type="http://schemas.openxmlformats.org/officeDocument/2006/relationships/image" Target="../media/image7.png"/><Relationship Id="rId8" Type="http://schemas.openxmlformats.org/officeDocument/2006/relationships/image" Target="../media/image11.png"/><Relationship Id="rId9" Type="http://schemas.openxmlformats.org/officeDocument/2006/relationships/image" Target="../media/image70.png"/><Relationship Id="rId10" Type="http://schemas.openxmlformats.org/officeDocument/2006/relationships/image" Target="../media/image5.png"/><Relationship Id="rId11" Type="http://schemas.openxmlformats.org/officeDocument/2006/relationships/image" Target="../media/image9.png"/><Relationship Id="rId12" Type="http://schemas.openxmlformats.org/officeDocument/2006/relationships/image" Target="../media/image21.png"/><Relationship Id="rId13" Type="http://schemas.openxmlformats.org/officeDocument/2006/relationships/image" Target="../media/image14.png"/><Relationship Id="rId14" Type="http://schemas.openxmlformats.org/officeDocument/2006/relationships/image" Target="../media/image83.png"/><Relationship Id="rId15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0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29.png"/><Relationship Id="rId7" Type="http://schemas.openxmlformats.org/officeDocument/2006/relationships/image" Target="../media/image31.png"/><Relationship Id="rId8" Type="http://schemas.openxmlformats.org/officeDocument/2006/relationships/image" Target="../media/image28.png"/><Relationship Id="rId9" Type="http://schemas.openxmlformats.org/officeDocument/2006/relationships/image" Target="../media/image15.png"/><Relationship Id="rId10" Type="http://schemas.openxmlformats.org/officeDocument/2006/relationships/image" Target="../media/image26.png"/><Relationship Id="rId11" Type="http://schemas.openxmlformats.org/officeDocument/2006/relationships/image" Target="../media/image85.png"/><Relationship Id="rId1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0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29.png"/><Relationship Id="rId7" Type="http://schemas.openxmlformats.org/officeDocument/2006/relationships/image" Target="../media/image31.png"/><Relationship Id="rId8" Type="http://schemas.openxmlformats.org/officeDocument/2006/relationships/image" Target="../media/image28.png"/><Relationship Id="rId9" Type="http://schemas.openxmlformats.org/officeDocument/2006/relationships/image" Target="../media/image15.png"/><Relationship Id="rId10" Type="http://schemas.openxmlformats.org/officeDocument/2006/relationships/image" Target="../media/image26.png"/><Relationship Id="rId11" Type="http://schemas.openxmlformats.org/officeDocument/2006/relationships/image" Target="../media/image87.png"/><Relationship Id="rId1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0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35.png"/><Relationship Id="rId7" Type="http://schemas.openxmlformats.org/officeDocument/2006/relationships/image" Target="../media/image31.png"/><Relationship Id="rId8" Type="http://schemas.openxmlformats.org/officeDocument/2006/relationships/image" Target="../media/image28.png"/><Relationship Id="rId9" Type="http://schemas.openxmlformats.org/officeDocument/2006/relationships/image" Target="../media/image15.png"/><Relationship Id="rId10" Type="http://schemas.openxmlformats.org/officeDocument/2006/relationships/image" Target="../media/image38.png"/><Relationship Id="rId11" Type="http://schemas.openxmlformats.org/officeDocument/2006/relationships/image" Target="../media/image88.png"/><Relationship Id="rId1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0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53.png"/><Relationship Id="rId7" Type="http://schemas.openxmlformats.org/officeDocument/2006/relationships/image" Target="../media/image31.png"/><Relationship Id="rId8" Type="http://schemas.openxmlformats.org/officeDocument/2006/relationships/image" Target="../media/image28.png"/><Relationship Id="rId9" Type="http://schemas.openxmlformats.org/officeDocument/2006/relationships/image" Target="../media/image15.png"/><Relationship Id="rId10" Type="http://schemas.openxmlformats.org/officeDocument/2006/relationships/image" Target="../media/image50.png"/><Relationship Id="rId11" Type="http://schemas.openxmlformats.org/officeDocument/2006/relationships/image" Target="../media/image91.png"/><Relationship Id="rId1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57.png"/><Relationship Id="rId4" Type="http://schemas.openxmlformats.org/officeDocument/2006/relationships/image" Target="../media/image70.png"/><Relationship Id="rId5" Type="http://schemas.openxmlformats.org/officeDocument/2006/relationships/image" Target="../media/image3.png"/><Relationship Id="rId6" Type="http://schemas.openxmlformats.org/officeDocument/2006/relationships/image" Target="../media/image49.png"/><Relationship Id="rId7" Type="http://schemas.openxmlformats.org/officeDocument/2006/relationships/image" Target="../media/image56.png"/><Relationship Id="rId8" Type="http://schemas.openxmlformats.org/officeDocument/2006/relationships/image" Target="../media/image51.png"/><Relationship Id="rId9" Type="http://schemas.openxmlformats.org/officeDocument/2006/relationships/image" Target="../media/image52.png"/><Relationship Id="rId10" Type="http://schemas.openxmlformats.org/officeDocument/2006/relationships/image" Target="../media/image15.png"/><Relationship Id="rId11" Type="http://schemas.openxmlformats.org/officeDocument/2006/relationships/image" Target="../media/image54.png"/><Relationship Id="rId12" Type="http://schemas.openxmlformats.org/officeDocument/2006/relationships/image" Target="../media/image93.png"/><Relationship Id="rId1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7.png"/><Relationship Id="rId3" Type="http://schemas.openxmlformats.org/officeDocument/2006/relationships/image" Target="../media/image65.png"/><Relationship Id="rId4" Type="http://schemas.openxmlformats.org/officeDocument/2006/relationships/image" Target="../media/image70.png"/><Relationship Id="rId5" Type="http://schemas.openxmlformats.org/officeDocument/2006/relationships/image" Target="../media/image22.png"/><Relationship Id="rId6" Type="http://schemas.openxmlformats.org/officeDocument/2006/relationships/image" Target="../media/image3.png"/><Relationship Id="rId7" Type="http://schemas.openxmlformats.org/officeDocument/2006/relationships/image" Target="../media/image7.png"/><Relationship Id="rId8" Type="http://schemas.openxmlformats.org/officeDocument/2006/relationships/image" Target="../media/image64.png"/><Relationship Id="rId9" Type="http://schemas.openxmlformats.org/officeDocument/2006/relationships/image" Target="../media/image66.png"/><Relationship Id="rId10" Type="http://schemas.openxmlformats.org/officeDocument/2006/relationships/image" Target="../media/image61.png"/><Relationship Id="rId11" Type="http://schemas.openxmlformats.org/officeDocument/2006/relationships/image" Target="../media/image63.png"/><Relationship Id="rId12" Type="http://schemas.openxmlformats.org/officeDocument/2006/relationships/image" Target="../media/image15.png"/><Relationship Id="rId1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-2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320528" y="3182619"/>
            <a:ext cx="7551000" cy="5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750">
                <a:solidFill>
                  <a:srgbClr val="0F172A"/>
                </a:solidFill>
                <a:latin typeface="Poppins"/>
                <a:ea typeface="Poppins"/>
                <a:cs typeface="Poppins"/>
                <a:sym typeface="Poppins"/>
              </a:rPr>
              <a:t>Vishwakarma Application ID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011680" y="3931920"/>
            <a:ext cx="8165592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0">
                <a:solidFill>
                  <a:srgbClr val="0369A1"/>
                </a:solidFill>
                <a:latin typeface="Poppins SemiBold"/>
              </a:rPr>
              <a:t>VK26-IITI-HT-0050</a:t>
            </a:r>
            <a:endParaRPr/>
          </a:p>
        </p:txBody>
      </p:sp>
      <p:pic>
        <p:nvPicPr>
          <p:cNvPr descr="image.png" id="87" name="Google Shape;87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70213" y="2268205"/>
            <a:ext cx="5851614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3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0700669" y="80825"/>
            <a:ext cx="1491330" cy="78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p13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80825"/>
            <a:ext cx="2428825" cy="784825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TextBox 89"/>
          <p:cNvSpPr txBox="1"/>
          <p:nvPr/>
        </p:nvSpPr>
        <p:spPr>
          <a:xfrm>
            <a:off x="1280160" y="4590288"/>
            <a:ext cx="9628632" cy="4572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200"/>
              </a:spcAft>
            </a:pPr>
            <a:r>
              <a:rPr sz="1600" b="0">
                <a:solidFill>
                  <a:srgbClr val="0F172A"/>
                </a:solidFill>
                <a:latin typeface="Poppins SemiBold"/>
              </a:rPr>
              <a:t>Dermasense: a laser-written strip designed to read a dressing's own 'change line'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280160" y="5138928"/>
            <a:ext cx="9628632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334155"/>
                </a:solidFill>
                <a:latin typeface="DM Sans"/>
              </a:rPr>
              <a:t>Soham Prabhakar Kadu · Bhakti Ajay Kadam · Sanjivani University</a:t>
            </a:r>
          </a:p>
          <a:p>
            <a:pPr algn="ctr">
              <a:lnSpc>
                <a:spcPct val="108000"/>
              </a:lnSpc>
              <a:spcAft>
                <a:spcPts val="300"/>
              </a:spcAft>
            </a:pPr>
            <a:r>
              <a:rPr sz="1100" b="0">
                <a:solidFill>
                  <a:srgbClr val="334155"/>
                </a:solidFill>
                <a:latin typeface="DM Sans"/>
              </a:rPr>
              <a:t>Health Tech: Emergency Response &amp; Remote Monitoring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280160" y="5897880"/>
            <a:ext cx="9628632" cy="2743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850" b="1">
                <a:solidFill>
                  <a:srgbClr val="64748B"/>
                </a:solidFill>
                <a:latin typeface="DM Sans"/>
              </a:rPr>
              <a:t>Evidence key:  </a:t>
            </a:r>
            <a:r>
              <a:rPr sz="850" b="1">
                <a:solidFill>
                  <a:srgbClr val="059669"/>
                </a:solidFill>
                <a:latin typeface="DM Sans"/>
              </a:rPr>
              <a:t>● verified</a:t>
            </a:r>
            <a:r>
              <a:rPr sz="850" b="1">
                <a:solidFill>
                  <a:srgbClr val="B45309"/>
                </a:solidFill>
                <a:latin typeface="DM Sans"/>
              </a:rPr>
              <a:t>   ● designed, lab test pending</a:t>
            </a:r>
            <a:r>
              <a:rPr sz="850" b="1">
                <a:solidFill>
                  <a:srgbClr val="475569"/>
                </a:solidFill>
                <a:latin typeface="DM Sans"/>
              </a:rPr>
              <a:t>   ● future scope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5" name="Google Shape;12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714641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528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722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9916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29350" y="1737360"/>
            <a:ext cx="542925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30352" y="1737360"/>
            <a:ext cx="5431536" cy="36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Problem Context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95325" y="5838653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Problem: </a:t>
            </a:r>
            <a:r>
              <a:rPr sz="960" b="0">
                <a:solidFill>
                  <a:srgbClr val="334155"/>
                </a:solidFill>
                <a:latin typeface="DM Sans"/>
              </a:rPr>
              <a:t>carers cannot see when a covered dressing is really full.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953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44.9 %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953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OF 588 CHANGES MADE AT OPTIMAL MOISTURE¹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35147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≈ 2 cm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35147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MAKER'S 'CHANGE NOW' LINE FROM PAD EDGE²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3341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1 point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3341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WHERE TODAY'S MOISTURE SENSOR READS¹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1535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Uneven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91535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IN-VITRO MOISTURE MAP, 8 POINTS³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533400" y="5394960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the change line is invisible under a cover (to scale, our design).</a:t>
            </a:r>
            <a:endParaRPr/>
          </a:p>
        </p:txBody>
      </p:sp>
      <p:pic>
        <p:nvPicPr>
          <p:cNvPr descr="image.png" id="146" name="Google Shape;146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48425" y="1958131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6698009" y="1939081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Target Beneficiary &amp; Problem Statement</a:t>
            </a:r>
            <a:endParaRPr/>
          </a:p>
        </p:txBody>
      </p:sp>
      <p:pic>
        <p:nvPicPr>
          <p:cNvPr id="156" name="Google Shape;156;p16" title="MBF_Logo_2020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6" title="VK colored transparent logo.png"/>
          <p:cNvPicPr preferRelativeResize="0"/>
          <p:nvPr/>
        </p:nvPicPr>
        <p:blipFill rotWithShape="1">
          <a:blip r:embed="rId14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Rounded Rectangle 157"/>
          <p:cNvSpPr/>
          <p:nvPr/>
        </p:nvSpPr>
        <p:spPr>
          <a:xfrm>
            <a:off x="9767620" y="457200"/>
            <a:ext cx="1890979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PUBLISHED EVIDENCE · CITED</a:t>
            </a:r>
          </a:p>
        </p:txBody>
      </p:sp>
      <p:pic>
        <p:nvPicPr>
          <p:cNvPr id="159" name="Picture 158" descr="fig_problem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45756" y="1746504"/>
            <a:ext cx="5400726" cy="3593591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6464808" y="2395728"/>
            <a:ext cx="5029200" cy="31089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Who:  </a:t>
            </a:r>
            <a:r>
              <a:rPr sz="1200" b="0">
                <a:solidFill>
                  <a:srgbClr val="334155"/>
                </a:solidFill>
                <a:latin typeface="DM Sans"/>
              </a:rPr>
              <a:t>nurses and home carers of chronic wounds under foam dressings.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Pain:  </a:t>
            </a:r>
            <a:r>
              <a:rPr sz="1200" b="0">
                <a:solidFill>
                  <a:srgbClr val="334155"/>
                </a:solidFill>
                <a:latin typeface="DM Sans"/>
              </a:rPr>
              <a:t>the maker's 'change now' sign is visual¹⁴, and the dressing is covered.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Today:  </a:t>
            </a:r>
            <a:r>
              <a:rPr sz="1200" b="0">
                <a:solidFill>
                  <a:srgbClr val="334155"/>
                </a:solidFill>
                <a:latin typeface="DM Sans"/>
              </a:rPr>
              <a:t>change by the clock, by lifting the cover, or after a leak.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Gap:  </a:t>
            </a:r>
            <a:r>
              <a:rPr sz="1200" b="0">
                <a:solidFill>
                  <a:srgbClr val="334155"/>
                </a:solidFill>
                <a:latin typeface="DM Sans"/>
              </a:rPr>
              <a:t>in our search, no low-cost sensor reads that change line⁴⁵.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2" name="Google Shape;18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3" name="Google Shape;18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31095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4" name="Google Shape;184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4"/>
            <a:ext cx="5429250" cy="4076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5" name="Google Shape;185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8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System Architecture &amp; Specs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723900" y="5406206"/>
            <a:ext cx="1069848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Architecture Rationale: </a:t>
            </a:r>
            <a:r>
              <a:rPr sz="960" b="0">
                <a:solidFill>
                  <a:srgbClr val="334155"/>
                </a:solidFill>
                <a:latin typeface="DM Sans"/>
              </a:rPr>
              <a:t>only film and carbon are disposable; every electronic part is reused.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533400" y="4882896"/>
            <a:ext cx="54292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how a wet pad becomes a state (concept drawing; values calculated, to be measured).</a:t>
            </a:r>
            <a:endParaRPr/>
          </a:p>
        </p:txBody>
      </p:sp>
      <p:pic>
        <p:nvPicPr>
          <p:cNvPr descr="image.png" id="192" name="Google Shape;192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18"/>
          <p:cNvSpPr txBox="1"/>
          <p:nvPr/>
        </p:nvSpPr>
        <p:spPr>
          <a:xfrm>
            <a:off x="6698009" y="1156245"/>
            <a:ext cx="3507134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Target Specifications &amp; Hardware</a:t>
            </a:r>
            <a:endParaRPr/>
          </a:p>
        </p:txBody>
      </p:sp>
      <p:pic>
        <p:nvPicPr>
          <p:cNvPr id="212" name="Google Shape;212;p18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Google Shape;213;p18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Rounded Rectangle 213"/>
          <p:cNvSpPr/>
          <p:nvPr/>
        </p:nvSpPr>
        <p:spPr>
          <a:xfrm>
            <a:off x="9705441" y="457200"/>
            <a:ext cx="1953158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DESIGNED · LAB TEST PENDING</a:t>
            </a:r>
          </a:p>
        </p:txBody>
      </p:sp>
      <p:pic>
        <p:nvPicPr>
          <p:cNvPr id="215" name="Picture 214" descr="fig_howitwork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graphicFrame>
        <p:nvGraphicFramePr>
          <p:cNvPr id="216" name="Table 215"/>
          <p:cNvGraphicFramePr>
            <a:graphicFrameLocks noGrp="1"/>
          </p:cNvGraphicFramePr>
          <p:nvPr/>
        </p:nvGraphicFramePr>
        <p:xfrm>
          <a:off x="6446520" y="1481328"/>
          <a:ext cx="5010911" cy="3374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79038"/>
                <a:gridCol w="2407202"/>
                <a:gridCol w="1424671"/>
              </a:tblGrid>
              <a:tr h="37490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Parameter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Design value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Basis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60" b="1">
                          <a:solidFill>
                            <a:srgbClr val="0F172A"/>
                          </a:solidFill>
                          <a:latin typeface="DM Sans"/>
                        </a:rPr>
                        <a:t>Sensing zones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2: centre C, change line A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decision D-012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60" b="1">
                          <a:solidFill>
                            <a:srgbClr val="0F172A"/>
                          </a:solidFill>
                          <a:latin typeface="DM Sans"/>
                        </a:rPr>
                        <a:t>Electrodes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1.0 mm lines and gaps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E2 confirms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60" b="1">
                          <a:solidFill>
                            <a:srgbClr val="0F172A"/>
                          </a:solidFill>
                          <a:latin typeface="DM Sans"/>
                        </a:rPr>
                        <a:t>Wet / dry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&lt; 100 kΩ / &gt; 300 kΩ, 3 scans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calc: wet 4–15 kΩ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60" b="1">
                          <a:solidFill>
                            <a:srgbClr val="0F172A"/>
                          </a:solidFill>
                          <a:latin typeface="DM Sans"/>
                        </a:rPr>
                        <a:t>Drive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bipolar, ≤ 33 µA, no net DC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calc · bench T8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60" b="1">
                          <a:solidFill>
                            <a:srgbClr val="0F172A"/>
                          </a:solidFill>
                          <a:latin typeface="DM Sans"/>
                        </a:rPr>
                        <a:t>ADC / MCU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ADS1115 16-bit (I²C) · ESP32-C3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datasheets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60" b="1">
                          <a:solidFill>
                            <a:srgbClr val="0F172A"/>
                          </a:solidFill>
                          <a:latin typeface="DM Sans"/>
                        </a:rPr>
                        <a:t>Self-test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100 kΩ check ±5 % + strip loop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else FAULT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60" b="1">
                          <a:solidFill>
                            <a:srgbClr val="0F172A"/>
                          </a:solidFill>
                          <a:latin typeface="DM Sans"/>
                        </a:rPr>
                        <a:t>Contacts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4 pogo pins + 2 dowels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CAD checked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60" b="1">
                          <a:solidFill>
                            <a:srgbClr val="0F172A"/>
                          </a:solidFill>
                          <a:latin typeface="DM Sans"/>
                        </a:rPr>
                        <a:t>Output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LEDs · USB log · BLE broadcast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60" b="0">
                          <a:solidFill>
                            <a:srgbClr val="334155"/>
                          </a:solidFill>
                          <a:latin typeface="DM Sans"/>
                        </a:rPr>
                        <a:t>BLE compiled only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34" name="Google Shape;234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55172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4"/>
            <a:ext cx="5429250" cy="4434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CAD Design &amp; Mechanical Specs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723900" y="5646976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Design Iteration: </a:t>
            </a:r>
            <a:r>
              <a:rPr sz="960" b="0">
                <a:solidFill>
                  <a:srgbClr val="334155"/>
                </a:solidFill>
                <a:latin typeface="DM Sans"/>
              </a:rPr>
              <a:t>a clash check found the seal tape trapped under the clamp (9.0 mm³); moved to x = 23 mm, now 0 clash (decision D-013).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our SolidWorks 2019 models (9 parts, 1 assembly, 7 A3 drawings, STEP); not yet built.</a:t>
            </a:r>
            <a:endParaRPr/>
          </a:p>
        </p:txBody>
      </p:sp>
      <p:pic>
        <p:nvPicPr>
          <p:cNvPr descr="image.png" id="243" name="Google Shape;243;p2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0"/>
          <p:cNvSpPr txBox="1"/>
          <p:nvPr/>
        </p:nvSpPr>
        <p:spPr>
          <a:xfrm>
            <a:off x="669800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A clip-on clamp: 4 spring pins, 2 dowels</a:t>
            </a:r>
            <a:endParaRPr/>
          </a:p>
        </p:txBody>
      </p:sp>
      <p:pic>
        <p:nvPicPr>
          <p:cNvPr id="255" name="Google Shape;255;p20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0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Rounded Rectangle 256"/>
          <p:cNvSpPr/>
          <p:nvPr/>
        </p:nvSpPr>
        <p:spPr>
          <a:xfrm>
            <a:off x="8959291" y="457200"/>
            <a:ext cx="2699308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DESIGNED · CAD VERIFIED · NOT YET BUILT</a:t>
            </a:r>
          </a:p>
        </p:txBody>
      </p:sp>
      <p:pic>
        <p:nvPicPr>
          <p:cNvPr id="258" name="Picture 257" descr="fig_ca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graphicFrame>
        <p:nvGraphicFramePr>
          <p:cNvPr id="259" name="Table 258"/>
          <p:cNvGraphicFramePr>
            <a:graphicFrameLocks noGrp="1"/>
          </p:cNvGraphicFramePr>
          <p:nvPr/>
        </p:nvGraphicFramePr>
        <p:xfrm>
          <a:off x="6446520" y="1517904"/>
          <a:ext cx="5010910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29911"/>
                <a:gridCol w="2554582"/>
                <a:gridCol w="1326417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Check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Result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Basis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Materials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polyimide strip · PETG clamp · acrylic rig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printable, laser-cut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Pin force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0.72 N each · 2.9 N total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calc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Lid bending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11 µm vs 1.48 mm pin travel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calc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Alignment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0.49 mm used of ±1.35 mm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calc · 2.8× margin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Strip bending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0.62 % strain at 10 mm radius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calc · yield ≈ 3 %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CAD checks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99 pass · 0 fail · 5 wait for E2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verify_cad.py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FEA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not run: loads are under 3 N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hand calcs above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7" name="Google Shape;277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8" name="Google Shape;278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74963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6"/>
            <a:ext cx="5429250" cy="4468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2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Electronics Schematics &amp; BOM</a:t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723900" y="5844884"/>
            <a:ext cx="1069848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Verification: </a:t>
            </a:r>
            <a:r>
              <a:rPr sz="960" b="0">
                <a:solidFill>
                  <a:srgbClr val="334155"/>
                </a:solidFill>
                <a:latin typeface="DM Sans"/>
              </a:rPr>
              <a:t>ERC 0 violations; netlist matches firmware and strip pads (0 mismatches).</a:t>
            </a:r>
            <a:endParaRPr/>
          </a:p>
        </p:txBody>
      </p:sp>
      <p:sp>
        <p:nvSpPr>
          <p:cNvPr id="284" name="Google Shape;284;p22"/>
          <p:cNvSpPr txBox="1"/>
          <p:nvPr/>
        </p:nvSpPr>
        <p:spPr>
          <a:xfrm>
            <a:off x="533400" y="4901184"/>
            <a:ext cx="54292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zone-C path drawn from our netlist, above our real KiCad 10 sheet.</a:t>
            </a:r>
            <a:endParaRPr/>
          </a:p>
        </p:txBody>
      </p:sp>
      <p:pic>
        <p:nvPicPr>
          <p:cNvPr descr="image.png" id="287" name="Google Shape;287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162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2"/>
          <p:cNvSpPr txBox="1"/>
          <p:nvPr/>
        </p:nvSpPr>
        <p:spPr>
          <a:xfrm>
            <a:off x="6659909" y="1156245"/>
            <a:ext cx="305186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Pin &amp; Net Map (from the KiCad netlist)</a:t>
            </a:r>
            <a:endParaRPr/>
          </a:p>
        </p:txBody>
      </p:sp>
      <p:pic>
        <p:nvPicPr>
          <p:cNvPr id="324" name="Google Shape;324;p22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22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Rounded Rectangle 325"/>
          <p:cNvSpPr/>
          <p:nvPr/>
        </p:nvSpPr>
        <p:spPr>
          <a:xfrm>
            <a:off x="9643262" y="457200"/>
            <a:ext cx="2015337" cy="24688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47857"/>
                </a:solidFill>
                <a:latin typeface="DM Sans"/>
              </a:rPr>
              <a:t>ERC VERIFIED · NOT YET WIRED</a:t>
            </a:r>
          </a:p>
        </p:txBody>
      </p:sp>
      <p:pic>
        <p:nvPicPr>
          <p:cNvPr id="327" name="Picture 326" descr="fig_schematic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graphicFrame>
        <p:nvGraphicFramePr>
          <p:cNvPr id="328" name="Table 327"/>
          <p:cNvGraphicFramePr>
            <a:graphicFrameLocks noGrp="1"/>
          </p:cNvGraphicFramePr>
          <p:nvPr/>
        </p:nvGraphicFramePr>
        <p:xfrm>
          <a:off x="6446520" y="1481328"/>
          <a:ext cx="5010910" cy="35204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6417"/>
                <a:gridCol w="1572050"/>
                <a:gridCol w="2112443"/>
              </a:tblGrid>
              <a:tr h="352044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Net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Pin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Function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DRV_C · DRV_A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GPIO3 · GPIO4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drive zone C · A via 1 kΩ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DRV_LOOP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GPIO5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strip loop (broken strip)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DRV_REF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GPIO10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100 kΩ 0.1 % reference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DRV_CHK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GPIO20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100 kΩ self-check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SDA · SCL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GPIO6 · GPIO7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I²C to ADS1115 (0x48)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N · 3V3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ADS1115 A0 · A1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node · rail (ratiometric)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LED G · Y · R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GPIO0 · 1 · 21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OK · CHANGE · CHECK/FAULT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Strip pads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J4.1 – J4.4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S_C · S_A · COM1 · COM2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52044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Power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USB-C → 3V3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LDO on the SuperMini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62" name="Google Shape;36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4" name="Google Shape;364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29350" y="956223"/>
            <a:ext cx="5429250" cy="45262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5" name="Google Shape;365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4"/>
          <p:cNvSpPr txBox="1"/>
          <p:nvPr/>
        </p:nvSpPr>
        <p:spPr>
          <a:xfrm>
            <a:off x="533400" y="438150"/>
            <a:ext cx="8595360" cy="31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Maker Journey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723900" y="5761004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Raw Repository Linkage: </a:t>
            </a:r>
            <a:r>
              <a:rPr sz="960" b="0">
                <a:solidFill>
                  <a:srgbClr val="334155"/>
                </a:solidFill>
                <a:latin typeface="DM Sans"/>
              </a:rPr>
              <a:t>[team to insert the Drive link before upload]: all native files and a dated work history.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our own files and tool output (checks re-run 19 Oct 2026).</a:t>
            </a:r>
            <a:endParaRPr/>
          </a:p>
        </p:txBody>
      </p:sp>
      <p:pic>
        <p:nvPicPr>
          <p:cNvPr descr="image.png" id="371" name="Google Shape;371;p2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484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4"/>
          <p:cNvSpPr txBox="1"/>
          <p:nvPr/>
        </p:nvSpPr>
        <p:spPr>
          <a:xfrm>
            <a:off x="671705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Authenticity: real, dated, re-checkable work</a:t>
            </a:r>
            <a:endParaRPr/>
          </a:p>
        </p:txBody>
      </p:sp>
      <p:pic>
        <p:nvPicPr>
          <p:cNvPr id="381" name="Google Shape;381;p24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24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Rounded Rectangle 382"/>
          <p:cNvSpPr/>
          <p:nvPr/>
        </p:nvSpPr>
        <p:spPr>
          <a:xfrm>
            <a:off x="8648395" y="457200"/>
            <a:ext cx="3010204" cy="24688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47857"/>
                </a:solidFill>
                <a:latin typeface="DM Sans"/>
              </a:rPr>
              <a:t>REAL FILES · RE-CHECKABLE · NO STAGED PHOTOS</a:t>
            </a:r>
          </a:p>
        </p:txBody>
      </p:sp>
      <p:pic>
        <p:nvPicPr>
          <p:cNvPr id="384" name="Picture 383" descr="fig_make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pic>
        <p:nvPicPr>
          <p:cNvPr id="385" name="PHOTO lab1 - PLACEHOLDER (right-click &gt; Change Picture)" descr="placeholder_lab.png"/>
          <p:cNvPicPr>
            <a:picLocks noChangeAspect="1"/>
          </p:cNvPicPr>
          <p:nvPr/>
        </p:nvPicPr>
        <p:blipFill>
          <a:blip r:embed="rId13"/>
          <a:srcRect t="763" b="763"/>
          <a:stretch>
            <a:fillRect/>
          </a:stretch>
        </p:blipFill>
        <p:spPr>
          <a:xfrm>
            <a:off x="6464808" y="1481328"/>
            <a:ext cx="2395728" cy="1572768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pic>
        <p:nvPicPr>
          <p:cNvPr id="386" name="PHOTO lab2 - PLACEHOLDER (right-click &gt; Change Picture)" descr="placeholder_lab.png"/>
          <p:cNvPicPr>
            <a:picLocks noChangeAspect="1"/>
          </p:cNvPicPr>
          <p:nvPr/>
        </p:nvPicPr>
        <p:blipFill>
          <a:blip r:embed="rId13"/>
          <a:srcRect t="763" b="763"/>
          <a:stretch>
            <a:fillRect/>
          </a:stretch>
        </p:blipFill>
        <p:spPr>
          <a:xfrm>
            <a:off x="9006840" y="1481328"/>
            <a:ext cx="2395728" cy="1572768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387" name="TextBox 386"/>
          <p:cNvSpPr txBox="1"/>
          <p:nvPr/>
        </p:nvSpPr>
        <p:spPr>
          <a:xfrm>
            <a:off x="6464808" y="3090672"/>
            <a:ext cx="5029200" cy="2286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760" b="0">
                <a:solidFill>
                  <a:srgbClr val="64748B"/>
                </a:solidFill>
                <a:latin typeface="DM Sans"/>
              </a:rPr>
              <a:t>Team at work, institutional ID badges visible (photos by the team).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6464808" y="3419856"/>
            <a:ext cx="5029200" cy="22860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0">
                <a:solidFill>
                  <a:srgbClr val="059669"/>
                </a:solidFill>
                <a:latin typeface="DM Sans"/>
              </a:rPr>
              <a:t>▪  </a:t>
            </a:r>
            <a:r>
              <a:rPr sz="1050" b="1">
                <a:solidFill>
                  <a:srgbClr val="0F172A"/>
                </a:solidFill>
                <a:latin typeface="DM Sans"/>
              </a:rPr>
              <a:t>Real files:  </a:t>
            </a:r>
            <a:r>
              <a:rPr sz="1050" b="0">
                <a:solidFill>
                  <a:srgbClr val="334155"/>
                </a:solidFill>
                <a:latin typeface="DM Sans"/>
              </a:rPr>
              <a:t>.SLDPRT .SLDASM .SLDDRW .STEP .kicad_sch .ino .dxf, dated in 15 git commits since 14 Oct.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0">
                <a:solidFill>
                  <a:srgbClr val="059669"/>
                </a:solidFill>
                <a:latin typeface="DM Sans"/>
              </a:rPr>
              <a:t>▪  </a:t>
            </a:r>
            <a:r>
              <a:rPr sz="1050" b="1">
                <a:solidFill>
                  <a:srgbClr val="0F172A"/>
                </a:solidFill>
                <a:latin typeface="DM Sans"/>
              </a:rPr>
              <a:t>Re-checkable:  </a:t>
            </a:r>
            <a:r>
              <a:rPr sz="1050" b="0">
                <a:solidFill>
                  <a:srgbClr val="334155"/>
                </a:solidFill>
                <a:latin typeface="DM Sans"/>
              </a:rPr>
              <a:t>one command re-runs each check shown on the left.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0">
                <a:solidFill>
                  <a:srgbClr val="059669"/>
                </a:solidFill>
                <a:latin typeface="DM Sans"/>
              </a:rPr>
              <a:t>▪  </a:t>
            </a:r>
            <a:r>
              <a:rPr sz="1050" b="1">
                <a:solidFill>
                  <a:srgbClr val="0F172A"/>
                </a:solidFill>
                <a:latin typeface="DM Sans"/>
              </a:rPr>
              <a:t>How we work:  </a:t>
            </a:r>
            <a:r>
              <a:rPr sz="1050" b="0">
                <a:solidFill>
                  <a:srgbClr val="334155"/>
                </a:solidFill>
                <a:latin typeface="DM Sans"/>
              </a:rPr>
              <a:t>scripts written with AI assistance (Claude), directed by us, build the CAD, schematic and firmware; the physical build and tests are done by us, starting with E2.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50" b="0">
                <a:solidFill>
                  <a:srgbClr val="059669"/>
                </a:solidFill>
                <a:latin typeface="DM Sans"/>
              </a:rPr>
              <a:t>▪  </a:t>
            </a:r>
            <a:r>
              <a:rPr sz="1050" b="1">
                <a:solidFill>
                  <a:srgbClr val="0F172A"/>
                </a:solidFill>
                <a:latin typeface="DM Sans"/>
              </a:rPr>
              <a:t>Photos:  </a:t>
            </a:r>
            <a:r>
              <a:rPr sz="1050" b="0">
                <a:solidFill>
                  <a:srgbClr val="334155"/>
                </a:solidFill>
                <a:latin typeface="DM Sans"/>
              </a:rPr>
              <a:t>never staged or generated.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7" name="Google Shape;417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8" name="Google Shape;41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956220"/>
            <a:ext cx="11125200" cy="221284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9" name="Google Shape;419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3310128"/>
            <a:ext cx="5429250" cy="25877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0" name="Google Shape;420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29350" y="3310128"/>
            <a:ext cx="5429250" cy="2587752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7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Safety &amp; Hazard Mitigation</a:t>
            </a:r>
            <a:endParaRPr/>
          </a:p>
        </p:txBody>
      </p:sp>
      <p:pic>
        <p:nvPicPr>
          <p:cNvPr descr="image.png" id="424" name="Google Shape;424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5247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27"/>
          <p:cNvSpPr txBox="1"/>
          <p:nvPr/>
        </p:nvSpPr>
        <p:spPr>
          <a:xfrm>
            <a:off x="1002059" y="1156245"/>
            <a:ext cx="69494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Design FMEA: top 5 of 15 failure modes (ratings estimated before tests)</a:t>
            </a:r>
            <a:endParaRPr/>
          </a:p>
        </p:txBody>
      </p:sp>
      <p:pic>
        <p:nvPicPr>
          <p:cNvPr descr="image.png" id="435" name="Google Shape;435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52475" y="3529584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27"/>
          <p:cNvSpPr txBox="1"/>
          <p:nvPr/>
        </p:nvSpPr>
        <p:spPr>
          <a:xfrm>
            <a:off x="1002059" y="3502152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Fail-safes</a:t>
            </a:r>
            <a:endParaRPr/>
          </a:p>
        </p:txBody>
      </p:sp>
      <p:pic>
        <p:nvPicPr>
          <p:cNvPr descr="image.png" id="439" name="Google Shape;439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48425" y="3529584"/>
            <a:ext cx="1352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27"/>
          <p:cNvSpPr txBox="1"/>
          <p:nvPr/>
        </p:nvSpPr>
        <p:spPr>
          <a:xfrm>
            <a:off x="6678959" y="3502152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Standards (considered, not claimed)</a:t>
            </a:r>
            <a:endParaRPr/>
          </a:p>
        </p:txBody>
      </p:sp>
      <p:pic>
        <p:nvPicPr>
          <p:cNvPr id="447" name="Google Shape;447;p27" title="MBF_Logo_2020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27" title="VK colored transparent logo.png"/>
          <p:cNvPicPr preferRelativeResize="0"/>
          <p:nvPr/>
        </p:nvPicPr>
        <p:blipFill rotWithShape="1">
          <a:blip r:embed="rId1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Rounded Rectangle 448"/>
          <p:cNvSpPr/>
          <p:nvPr/>
        </p:nvSpPr>
        <p:spPr>
          <a:xfrm>
            <a:off x="9456724" y="457200"/>
            <a:ext cx="2201875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RISKS ESTIMATED · TESTS PLANNED</a:t>
            </a:r>
          </a:p>
        </p:txBody>
      </p:sp>
      <p:graphicFrame>
        <p:nvGraphicFramePr>
          <p:cNvPr id="450" name="Table 449"/>
          <p:cNvGraphicFramePr>
            <a:graphicFrameLocks noGrp="1"/>
          </p:cNvGraphicFramePr>
          <p:nvPr/>
        </p:nvGraphicFramePr>
        <p:xfrm>
          <a:off x="749808" y="1463040"/>
          <a:ext cx="7452358" cy="16459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45916"/>
                <a:gridCol w="1990698"/>
                <a:gridCol w="561479"/>
                <a:gridCol w="2654265"/>
              </a:tblGrid>
              <a:tr h="274320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Failure mode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Effect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RPN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0F172A"/>
                          </a:solidFill>
                          <a:latin typeface="DM Sans"/>
                        </a:rPr>
                        <a:t>Fix / test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F04 cracked sense lead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zone reads 'dry' for ever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DC2626"/>
                          </a:solidFill>
                          <a:latin typeface="DM Sans"/>
                        </a:rPr>
                        <a:t>224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v0.2 loops each lead · T-MECH-01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F07 front path differs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CHANGE late or never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DC2626"/>
                          </a:solidFill>
                          <a:latin typeface="DM Sans"/>
                        </a:rPr>
                        <a:t>210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E4 on real foam dressings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F08 humid dry baseline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false 'wet'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DC2626"/>
                          </a:solidFill>
                          <a:latin typeface="DM Sans"/>
                        </a:rPr>
                        <a:t>150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measure baselines (E4)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F01 weak carbon layer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zones always 'dry'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DC2626"/>
                          </a:solidFill>
                          <a:latin typeface="DM Sans"/>
                        </a:rPr>
                        <a:t>140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E2 + per-strip QC record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0F172A"/>
                          </a:solidFill>
                          <a:latin typeface="DM Sans"/>
                        </a:rPr>
                        <a:t>F05 pin contact on carbon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readings drift high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1">
                          <a:solidFill>
                            <a:srgbClr val="DC2626"/>
                          </a:solidFill>
                          <a:latin typeface="DM Sans"/>
                        </a:rPr>
                        <a:t>120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40" b="0">
                          <a:solidFill>
                            <a:srgbClr val="334155"/>
                          </a:solidFill>
                          <a:latin typeface="DM Sans"/>
                        </a:rPr>
                        <a:t>rounded pins · T-CON-01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451" name="Picture 450" descr="fig_fme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67078" y="1143000"/>
            <a:ext cx="3154042" cy="1883664"/>
          </a:xfrm>
          <a:prstGeom prst="rect">
            <a:avLst/>
          </a:prstGeom>
        </p:spPr>
      </p:pic>
      <p:sp>
        <p:nvSpPr>
          <p:cNvPr id="452" name="TextBox 451"/>
          <p:cNvSpPr txBox="1"/>
          <p:nvPr/>
        </p:nvSpPr>
        <p:spPr>
          <a:xfrm>
            <a:off x="768096" y="3858768"/>
            <a:ext cx="5029200" cy="20116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Bench only:  </a:t>
            </a:r>
            <a:r>
              <a:rPr sz="1100" b="0">
                <a:solidFill>
                  <a:srgbClr val="334155"/>
                </a:solidFill>
                <a:latin typeface="DM Sans"/>
              </a:rPr>
              <a:t>USB reader, never on a person.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No net DC:  </a:t>
            </a:r>
            <a:r>
              <a:rPr sz="1100" b="0">
                <a:solidFill>
                  <a:srgbClr val="334155"/>
                </a:solidFill>
                <a:latin typeface="DM Sans"/>
              </a:rPr>
              <a:t>bipolar drive, idle pins off; bench test T8 checks &lt; 5 mV.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Self-check:  </a:t>
            </a:r>
            <a:r>
              <a:rPr sz="1100" b="0">
                <a:solidFill>
                  <a:srgbClr val="334155"/>
                </a:solidFill>
                <a:latin typeface="DM Sans"/>
              </a:rPr>
              <a:t>every scan, else FAULT.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No wound contact:  </a:t>
            </a:r>
            <a:r>
              <a:rPr sz="1100" b="0">
                <a:solidFill>
                  <a:srgbClr val="334155"/>
                </a:solidFill>
                <a:latin typeface="DM Sans"/>
              </a:rPr>
              <a:t>strip on the pad's outer face, leads sealed.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Laser work:  </a:t>
            </a:r>
            <a:r>
              <a:rPr sz="1100" b="0">
                <a:solidFill>
                  <a:srgbClr val="334155"/>
                </a:solidFill>
                <a:latin typeface="DM Sans"/>
              </a:rPr>
              <a:t>signed safety checklist every session.</a:t>
            </a:r>
          </a:p>
        </p:txBody>
      </p:sp>
      <p:sp>
        <p:nvSpPr>
          <p:cNvPr id="453" name="TextBox 452"/>
          <p:cNvSpPr txBox="1"/>
          <p:nvPr/>
        </p:nvSpPr>
        <p:spPr>
          <a:xfrm>
            <a:off x="6464808" y="3858768"/>
            <a:ext cx="5029200" cy="20116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ISO 14971  </a:t>
            </a:r>
            <a:r>
              <a:rPr sz="1100" b="0">
                <a:solidFill>
                  <a:srgbClr val="334155"/>
                </a:solidFill>
                <a:latin typeface="DM Sans"/>
              </a:rPr>
              <a:t>risk management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IEC 60601-1  </a:t>
            </a:r>
            <a:r>
              <a:rPr sz="1100" b="0">
                <a:solidFill>
                  <a:srgbClr val="334155"/>
                </a:solidFill>
                <a:latin typeface="DM Sans"/>
              </a:rPr>
              <a:t>future on-body reader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ISO 10993-1  </a:t>
            </a:r>
            <a:r>
              <a:rPr sz="1100" b="0">
                <a:solidFill>
                  <a:srgbClr val="334155"/>
                </a:solidFill>
                <a:latin typeface="DM Sans"/>
              </a:rPr>
              <a:t>before any skin contact¹¹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EN 13726  </a:t>
            </a:r>
            <a:r>
              <a:rPr sz="1100" b="0">
                <a:solidFill>
                  <a:srgbClr val="334155"/>
                </a:solidFill>
                <a:latin typeface="DM Sans"/>
              </a:rPr>
              <a:t>simulated exudate for tests¹⁰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IEC 60825-1  </a:t>
            </a:r>
            <a:r>
              <a:rPr sz="1100" b="0">
                <a:solidFill>
                  <a:srgbClr val="334155"/>
                </a:solidFill>
                <a:latin typeface="DM Sans"/>
              </a:rPr>
              <a:t>laser work during fabrication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77" name="Google Shape;47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8" name="Google Shape;478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9" name="Google Shape;479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956223"/>
            <a:ext cx="3568600" cy="2514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0" name="Google Shape;480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311550" y="956223"/>
            <a:ext cx="3568749" cy="2514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1" name="Google Shape;481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89850" y="956223"/>
            <a:ext cx="3568600" cy="251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Technical Challenges &amp; Risks</a:t>
            </a:r>
            <a:endParaRPr/>
          </a:p>
        </p:txBody>
      </p:sp>
      <p:sp>
        <p:nvSpPr>
          <p:cNvPr id="484" name="Google Shape;484;p30"/>
          <p:cNvSpPr txBox="1"/>
          <p:nvPr/>
        </p:nvSpPr>
        <p:spPr>
          <a:xfrm>
            <a:off x="723900" y="5761004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Also Caught: </a:t>
            </a:r>
            <a:r>
              <a:rPr sz="960" b="0">
                <a:solidFill>
                  <a:srgbClr val="334155"/>
                </a:solidFill>
                <a:latin typeface="DM Sans"/>
              </a:rPr>
              <a:t>STEP exported in cm (now mm); a drawing showed 0.13 for 0.125 mm (fixed).</a:t>
            </a:r>
            <a:endParaRPr/>
          </a:p>
        </p:txBody>
      </p:sp>
      <p:pic>
        <p:nvPicPr>
          <p:cNvPr descr="image.png" id="492" name="Google Shape;492;p3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52475" y="1175295"/>
            <a:ext cx="1924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0"/>
          <p:cNvSpPr txBox="1"/>
          <p:nvPr/>
        </p:nvSpPr>
        <p:spPr>
          <a:xfrm>
            <a:off x="1040159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Geometry: Seal Under Clamp</a:t>
            </a:r>
            <a:endParaRPr/>
          </a:p>
        </p:txBody>
      </p:sp>
      <p:pic>
        <p:nvPicPr>
          <p:cNvPr descr="image.png" id="494" name="Google Shape;494;p3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5306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30"/>
          <p:cNvSpPr txBox="1"/>
          <p:nvPr/>
        </p:nvSpPr>
        <p:spPr>
          <a:xfrm>
            <a:off x="4799260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Circuit: Hidden Lead Break</a:t>
            </a:r>
            <a:endParaRPr/>
          </a:p>
        </p:txBody>
      </p:sp>
      <p:pic>
        <p:nvPicPr>
          <p:cNvPr descr="image.png" id="496" name="Google Shape;496;p3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3089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30"/>
          <p:cNvSpPr txBox="1"/>
          <p:nvPr/>
        </p:nvSpPr>
        <p:spPr>
          <a:xfrm>
            <a:off x="8558510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Process: Unknown Laser Recipe</a:t>
            </a:r>
            <a:endParaRPr/>
          </a:p>
        </p:txBody>
      </p:sp>
      <p:pic>
        <p:nvPicPr>
          <p:cNvPr id="498" name="Google Shape;498;p30" title="MBF_Logo_2020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30" title="VK colored transparent logo.png"/>
          <p:cNvPicPr preferRelativeResize="0"/>
          <p:nvPr/>
        </p:nvPicPr>
        <p:blipFill rotWithShape="1">
          <a:blip r:embed="rId13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Rounded Rectangle 499"/>
          <p:cNvSpPr/>
          <p:nvPr/>
        </p:nvSpPr>
        <p:spPr>
          <a:xfrm>
            <a:off x="9581083" y="457200"/>
            <a:ext cx="2077516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FOUND IN OUR OWN VERIFICATION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749808" y="1517904"/>
            <a:ext cx="3154680" cy="1911095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Found: </a:t>
            </a:r>
            <a:r>
              <a:rPr sz="1100" b="0">
                <a:solidFill>
                  <a:srgbClr val="334155"/>
                </a:solidFill>
                <a:latin typeface="DM Sans"/>
              </a:rPr>
              <a:t>seal tape overlapped the clamp (9.0 mm³).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Impact: </a:t>
            </a:r>
            <a:r>
              <a:rPr sz="1100" b="0">
                <a:solidFill>
                  <a:srgbClr val="334155"/>
                </a:solidFill>
                <a:latin typeface="DM Sans"/>
              </a:rPr>
              <a:t>would lift the strip off the pins.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How: </a:t>
            </a:r>
            <a:r>
              <a:rPr sz="1100" b="0">
                <a:solidFill>
                  <a:srgbClr val="334155"/>
                </a:solidFill>
                <a:latin typeface="DM Sans"/>
              </a:rPr>
              <a:t>automated clash check.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4526280" y="1517904"/>
            <a:ext cx="3154680" cy="1911095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Found: </a:t>
            </a:r>
            <a:r>
              <a:rPr sz="1100" b="0">
                <a:solidFill>
                  <a:srgbClr val="334155"/>
                </a:solidFill>
                <a:latin typeface="DM Sans"/>
              </a:rPr>
              <a:t>a cracked sense lead reads 'dry'.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Impact: </a:t>
            </a:r>
            <a:r>
              <a:rPr sz="1100" b="0">
                <a:solidFill>
                  <a:srgbClr val="334155"/>
                </a:solidFill>
                <a:latin typeface="DM Sans"/>
              </a:rPr>
              <a:t>CHANGE never shown, no alarm.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How: </a:t>
            </a:r>
            <a:r>
              <a:rPr sz="1100" b="0">
                <a:solidFill>
                  <a:srgbClr val="334155"/>
                </a:solidFill>
                <a:latin typeface="DM Sans"/>
              </a:rPr>
              <a:t>design FMEA (RPN 224).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8311896" y="1517904"/>
            <a:ext cx="3154680" cy="1911095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Found: </a:t>
            </a:r>
            <a:r>
              <a:rPr sz="1100" b="0">
                <a:solidFill>
                  <a:srgbClr val="334155"/>
                </a:solidFill>
                <a:latin typeface="DM Sans"/>
              </a:rPr>
              <a:t>'12' is likely a % command; tubes are unsteady at low power⁸.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Impact: </a:t>
            </a:r>
            <a:r>
              <a:rPr sz="1100" b="0">
                <a:solidFill>
                  <a:srgbClr val="334155"/>
                </a:solidFill>
                <a:latin typeface="DM Sans"/>
              </a:rPr>
              <a:t>every strip size is provisional.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How: </a:t>
            </a:r>
            <a:r>
              <a:rPr sz="1100" b="0">
                <a:solidFill>
                  <a:srgbClr val="334155"/>
                </a:solidFill>
                <a:latin typeface="DM Sans"/>
              </a:rPr>
              <a:t>LaserCAD config audit.</a:t>
            </a:r>
          </a:p>
        </p:txBody>
      </p:sp>
      <p:pic>
        <p:nvPicPr>
          <p:cNvPr id="504" name="Picture 503" descr="fig_challenge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6928" y="3867567"/>
            <a:ext cx="11064240" cy="150030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31"/>
          <p:cNvSpPr txBox="1"/>
          <p:nvPr/>
        </p:nvSpPr>
        <p:spPr>
          <a:xfrm>
            <a:off x="571500" y="476250"/>
            <a:ext cx="116016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References &amp; Sources</a:t>
            </a:r>
            <a:endParaRPr b="1" sz="2550">
              <a:solidFill>
                <a:srgbClr val="1E3A8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514" name="Google Shape;514;p31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5" name="Google Shape;515;p31" title="VK colored transparent logo.png"/>
          <p:cNvPicPr preferRelativeResize="0"/>
          <p:nvPr/>
        </p:nvPicPr>
        <p:blipFill rotWithShape="1">
          <a:blip r:embed="rId6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Rounded Rectangle 515"/>
          <p:cNvSpPr/>
          <p:nvPr/>
        </p:nvSpPr>
        <p:spPr>
          <a:xfrm>
            <a:off x="9767620" y="457200"/>
            <a:ext cx="1890979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SOURCES WITH READING DEPTH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566928" y="1024128"/>
            <a:ext cx="11064240" cy="2743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DM Sans"/>
              </a:rPr>
              <a:t>Numbers match the superscripts on each slide. After each source we state how deeply it was read; nothing is labelled verified beyond that.</a:t>
            </a:r>
          </a:p>
        </p:txBody>
      </p:sp>
      <p:sp>
        <p:nvSpPr>
          <p:cNvPr id="518" name="TextBox 517"/>
          <p:cNvSpPr txBox="1"/>
          <p:nvPr/>
        </p:nvSpPr>
        <p:spPr>
          <a:xfrm>
            <a:off x="566928" y="1371600"/>
            <a:ext cx="11064240" cy="47548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1. </a:t>
            </a:r>
            <a:r>
              <a:rPr sz="980" b="0">
                <a:solidFill>
                  <a:srgbClr val="334155"/>
                </a:solidFill>
                <a:latin typeface="DM Sans"/>
              </a:rPr>
              <a:t>Milne S.D. et al., A wearable wound moisture sensor as an indicator for wound dressing change, Int. Wound J. 13(6):1309–1314 (2016). doi:10.1111/iwj.12521 · full text read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2. </a:t>
            </a:r>
            <a:r>
              <a:rPr sz="980" b="0">
                <a:solidFill>
                  <a:srgbClr val="334155"/>
                </a:solidFill>
                <a:latin typeface="DM Sans"/>
              </a:rPr>
              <a:t>Dressing instructions for use: some foam dressings say 'change when exudate approaches ~2 cm from the pad edge'; Mölnlycke Mepilex Border Flex brochure uses strike-through reaching 3 edges · manufacturer documents, read as excerpts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3. </a:t>
            </a:r>
            <a:r>
              <a:rPr sz="980" b="0">
                <a:solidFill>
                  <a:srgbClr val="334155"/>
                </a:solidFill>
                <a:latin typeface="DM Sans"/>
              </a:rPr>
              <a:t>McColl D., Cartlidge B., Connolly P., Real-time monitoring of moisture levels in wound dressings in vitro, Int. J. Surg. 5(5):316–322 (2007). doi:10.1016/j.ijsu.2007.02.008 · abstract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4. </a:t>
            </a:r>
            <a:r>
              <a:rPr sz="980" b="0">
                <a:solidFill>
                  <a:srgbClr val="334155"/>
                </a:solidFill>
                <a:latin typeface="DM Sans"/>
              </a:rPr>
              <a:t>US 5,469,145 and US 5,838,240 (wet diaper detector: detachable strip + clip-on detector); US 9,291,589; US 10,928,344 · patent summaries, claims not read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5. </a:t>
            </a:r>
            <a:r>
              <a:rPr sz="980" b="0">
                <a:solidFill>
                  <a:srgbClr val="334155"/>
                </a:solidFill>
                <a:latin typeface="DM Sans"/>
              </a:rPr>
              <a:t>Jiang Y. et al., Wireless, closed-loop, smart bandage with integrated sensors and stimulators, Nat. Biotechnol. (2022). doi:10.1038/s41587-022-01528-3 · listing + coverage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6. </a:t>
            </a:r>
            <a:r>
              <a:rPr sz="980" b="0">
                <a:solidFill>
                  <a:srgbClr val="334155"/>
                </a:solidFill>
                <a:latin typeface="DM Sans"/>
              </a:rPr>
              <a:t>Dealey C., Cameron J., Arrowsmith M., A study comparing two objective methods of quantifying the production of wound exudate, J. Wound Care 15(4):149–153 (2006) · abstract (methods disagree)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7. </a:t>
            </a:r>
            <a:r>
              <a:rPr sz="980" b="0">
                <a:solidFill>
                  <a:srgbClr val="334155"/>
                </a:solidFill>
                <a:latin typeface="DM Sans"/>
              </a:rPr>
              <a:t>Lin J. et al., Laser-induced porous graphene films from commercial polymers, Nat. Commun. 5:5714 (2014). doi:10.1038/ncomms6714 · full text read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8. </a:t>
            </a:r>
            <a:r>
              <a:rPr sz="980" b="0">
                <a:solidFill>
                  <a:srgbClr val="334155"/>
                </a:solidFill>
                <a:latin typeface="DM Sans"/>
              </a:rPr>
              <a:t>CO₂ laser tube current vs PWM setting, engineering measurements, softsolder.com (2022) · not peer-reviewed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9. </a:t>
            </a:r>
            <a:r>
              <a:rPr sz="980" b="0">
                <a:solidFill>
                  <a:srgbClr val="334155"/>
                </a:solidFill>
                <a:latin typeface="DM Sans"/>
              </a:rPr>
              <a:t>Li Y. et al., Laser-induced graphene in controlled atmospheres: from superhydrophilic to superhydrophobic surfaces, Adv. Mater. 29:1700496 (2017). doi:10.1002/adma.201700496 · abstract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10. </a:t>
            </a:r>
            <a:r>
              <a:rPr sz="980" b="0">
                <a:solidFill>
                  <a:srgbClr val="334155"/>
                </a:solidFill>
                <a:latin typeface="DM Sans"/>
              </a:rPr>
              <a:t>EN 13726-1:2002 / EN 13726:2023, Test methods for wound dressings (absorbency; 'Solution A') · catalogue entry; online link not reachable from our network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11. </a:t>
            </a:r>
            <a:r>
              <a:rPr sz="980" b="0">
                <a:solidFill>
                  <a:srgbClr val="334155"/>
                </a:solidFill>
                <a:latin typeface="DM Sans"/>
              </a:rPr>
              <a:t>DuPont position statement on the use of DuPont materials in medical applications (Kapton caution) · web page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12. </a:t>
            </a:r>
            <a:r>
              <a:rPr sz="980" b="0">
                <a:solidFill>
                  <a:srgbClr val="334155"/>
                </a:solidFill>
                <a:latin typeface="DM Sans"/>
              </a:rPr>
              <a:t>Texas Instruments ADS1115 datasheet (SBAS444); Espressif ESP32-C3 datasheet · vendor documents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13. </a:t>
            </a:r>
            <a:r>
              <a:rPr sz="980" b="0">
                <a:solidFill>
                  <a:srgbClr val="334155"/>
                </a:solidFill>
                <a:latin typeface="DM Sans"/>
              </a:rPr>
              <a:t>Wounds UK news (22 Aug 2018) on a Mölnlycke-commissioned survey of &gt;200 UK patients with chronic wounds: average dressing time 18 min · patient-reported, industry-sponsored; web page read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14. </a:t>
            </a:r>
            <a:r>
              <a:rPr sz="980" b="0">
                <a:solidFill>
                  <a:srgbClr val="334155"/>
                </a:solidFill>
                <a:latin typeface="DM Sans"/>
              </a:rPr>
              <a:t>Smith+Nephew, ALLEVYN LIFE product page: visual change indicator ('At 75%, it's time to change your dressing') · manufacturer web page, read 19 Oct 2026</a:t>
            </a:r>
          </a:p>
          <a:p>
            <a:pPr>
              <a:lnSpc>
                <a:spcPct val="108000"/>
              </a:lnSpc>
              <a:spcAft>
                <a:spcPts val="500"/>
              </a:spcAft>
            </a:pPr>
            <a:r>
              <a:rPr sz="980" b="1">
                <a:solidFill>
                  <a:srgbClr val="0F172A"/>
                </a:solidFill>
                <a:latin typeface="DM Sans"/>
              </a:rPr>
              <a:t>15. </a:t>
            </a:r>
            <a:r>
              <a:rPr sz="980" b="0">
                <a:solidFill>
                  <a:srgbClr val="334155"/>
                </a:solidFill>
                <a:latin typeface="DM Sans"/>
              </a:rPr>
              <a:t>Truemeds.in retail listings: Mepilex Lite 10 × 10 cm ₹242; Mepilex Border 10 × 10 cm ₹514 (pack size unclear) · retail pages, read 19 Oct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21" name="Google Shape;521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2" name="Google Shape;522;p32"/>
          <p:cNvSpPr txBox="1"/>
          <p:nvPr/>
        </p:nvSpPr>
        <p:spPr>
          <a:xfrm>
            <a:off x="533400" y="438150"/>
            <a:ext cx="1165860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25" u="none" cap="none" strike="noStrike">
                <a:solidFill>
                  <a:srgbClr val="0F172A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Image Sources</a:t>
            </a:r>
            <a:endParaRPr/>
          </a:p>
        </p:txBody>
      </p:sp>
      <p:pic>
        <p:nvPicPr>
          <p:cNvPr id="551" name="Google Shape;551;p32" title="MBF_Logo_2020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2" name="Google Shape;552;p32" title="VK colored transparent logo.png"/>
          <p:cNvPicPr preferRelativeResize="0"/>
          <p:nvPr/>
        </p:nvPicPr>
        <p:blipFill rotWithShape="1">
          <a:blip r:embed="rId11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53" name="Rounded Rectangle 552"/>
          <p:cNvSpPr/>
          <p:nvPr/>
        </p:nvSpPr>
        <p:spPr>
          <a:xfrm>
            <a:off x="9829800" y="457200"/>
            <a:ext cx="1828800" cy="24688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47857"/>
                </a:solidFill>
                <a:latin typeface="DM Sans"/>
              </a:rPr>
              <a:t>ALL IMAGES FROM OUR FILES</a:t>
            </a:r>
          </a:p>
        </p:txBody>
      </p:sp>
      <p:sp>
        <p:nvSpPr>
          <p:cNvPr id="554" name="TextBox 553"/>
          <p:cNvSpPr txBox="1"/>
          <p:nvPr/>
        </p:nvSpPr>
        <p:spPr>
          <a:xfrm>
            <a:off x="530352" y="932688"/>
            <a:ext cx="11128248" cy="4114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950" b="0">
                <a:solidFill>
                  <a:srgbClr val="334155"/>
                </a:solidFill>
                <a:latin typeface="DM Sans"/>
              </a:rPr>
              <a:t>Every image comes from our own project files: SolidWorks renders and screenshots, the KiCad export, and plots drawn by our scripts (written with AI assistance). No stock photos and no AI image generators. Team photos (slides 2 and 12) are taken by the team.</a:t>
            </a:r>
          </a:p>
        </p:txBody>
      </p:sp>
      <p:pic>
        <p:nvPicPr>
          <p:cNvPr id="555" name="Picture 554" descr="fig_proble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8680" y="1517904"/>
            <a:ext cx="852022" cy="566928"/>
          </a:xfrm>
          <a:prstGeom prst="rect">
            <a:avLst/>
          </a:prstGeom>
        </p:spPr>
      </p:pic>
      <p:sp>
        <p:nvSpPr>
          <p:cNvPr id="556" name="TextBox 555"/>
          <p:cNvSpPr txBox="1"/>
          <p:nvPr/>
        </p:nvSpPr>
        <p:spPr>
          <a:xfrm>
            <a:off x="1472184" y="151790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Problem illustration, drawn to scale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strip_v0_1_geometry.json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1_presentation/figures/fig_problem.png</a:t>
            </a:r>
          </a:p>
        </p:txBody>
      </p:sp>
      <p:pic>
        <p:nvPicPr>
          <p:cNvPr id="557" name="Picture 556" descr="fig_journey_befor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87720" y="1517904"/>
            <a:ext cx="852022" cy="566928"/>
          </a:xfrm>
          <a:prstGeom prst="rect">
            <a:avLst/>
          </a:prstGeom>
        </p:spPr>
      </p:pic>
      <p:sp>
        <p:nvSpPr>
          <p:cNvPr id="558" name="TextBox 557"/>
          <p:cNvSpPr txBox="1"/>
          <p:nvPr/>
        </p:nvSpPr>
        <p:spPr>
          <a:xfrm>
            <a:off x="5221224" y="151790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Before-state pain-point map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cited sources 1–3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1_presentation/figures/fig_journey_before.png</a:t>
            </a:r>
          </a:p>
        </p:txBody>
      </p:sp>
      <p:pic>
        <p:nvPicPr>
          <p:cNvPr id="559" name="Picture 558" descr="fig_journey_afte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036760" y="1517904"/>
            <a:ext cx="852022" cy="566928"/>
          </a:xfrm>
          <a:prstGeom prst="rect">
            <a:avLst/>
          </a:prstGeom>
        </p:spPr>
      </p:pic>
      <p:sp>
        <p:nvSpPr>
          <p:cNvPr id="560" name="TextBox 559"/>
          <p:cNvSpPr txBox="1"/>
          <p:nvPr/>
        </p:nvSpPr>
        <p:spPr>
          <a:xfrm>
            <a:off x="8970263" y="151790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After-state intended workflow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firmware states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1_presentation/figures/fig_journey_after.png</a:t>
            </a:r>
          </a:p>
        </p:txBody>
      </p:sp>
      <p:pic>
        <p:nvPicPr>
          <p:cNvPr id="561" name="Picture 560" descr="fig_howitwork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68751" y="2386584"/>
            <a:ext cx="791880" cy="566928"/>
          </a:xfrm>
          <a:prstGeom prst="rect">
            <a:avLst/>
          </a:prstGeom>
        </p:spPr>
      </p:pic>
      <p:sp>
        <p:nvSpPr>
          <p:cNvPr id="562" name="TextBox 561"/>
          <p:cNvSpPr txBox="1"/>
          <p:nvPr/>
        </p:nvSpPr>
        <p:spPr>
          <a:xfrm>
            <a:off x="1472184" y="238658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How it senses (concept)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sensor_selection.md, calc_readout.py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1_presentation/figures/fig_howitworks.png</a:t>
            </a:r>
          </a:p>
        </p:txBody>
      </p:sp>
      <p:pic>
        <p:nvPicPr>
          <p:cNvPr id="563" name="Picture 562" descr="fig_dataflow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317791" y="2386584"/>
            <a:ext cx="791880" cy="566928"/>
          </a:xfrm>
          <a:prstGeom prst="rect">
            <a:avLst/>
          </a:prstGeom>
        </p:spPr>
      </p:pic>
      <p:sp>
        <p:nvSpPr>
          <p:cNvPr id="564" name="TextBox 563"/>
          <p:cNvSpPr txBox="1"/>
          <p:nvPr/>
        </p:nvSpPr>
        <p:spPr>
          <a:xfrm>
            <a:off x="5221224" y="238658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Firmware scan and state logic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reader_v0_1 source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1_presentation/figures/fig_dataflow.png</a:t>
            </a:r>
          </a:p>
        </p:txBody>
      </p:sp>
      <p:pic>
        <p:nvPicPr>
          <p:cNvPr id="565" name="Picture 564" descr="fig_ca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66831" y="2386584"/>
            <a:ext cx="791880" cy="566928"/>
          </a:xfrm>
          <a:prstGeom prst="rect">
            <a:avLst/>
          </a:prstGeom>
        </p:spPr>
      </p:pic>
      <p:sp>
        <p:nvSpPr>
          <p:cNvPr id="566" name="TextBox 565"/>
          <p:cNvSpPr txBox="1"/>
          <p:nvPr/>
        </p:nvSpPr>
        <p:spPr>
          <a:xfrm>
            <a:off x="8970263" y="238658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Annotated SolidWorks views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render_cad.py + make_figures.py · 5_cad/solidworks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1_presentation/figures/fig_cad.png</a:t>
            </a:r>
          </a:p>
        </p:txBody>
      </p:sp>
      <p:pic>
        <p:nvPicPr>
          <p:cNvPr id="567" name="Picture 566" descr="fig_strip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68751" y="3255263"/>
            <a:ext cx="791880" cy="566928"/>
          </a:xfrm>
          <a:prstGeom prst="rect">
            <a:avLst/>
          </a:prstGeom>
        </p:spPr>
      </p:pic>
      <p:sp>
        <p:nvSpPr>
          <p:cNvPr id="568" name="TextBox 567"/>
          <p:cNvSpPr txBox="1"/>
          <p:nvPr/>
        </p:nvSpPr>
        <p:spPr>
          <a:xfrm>
            <a:off x="1472184" y="3255263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Strip and E2 coupon layers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our DXF files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1_presentation/figures/fig_strip.png</a:t>
            </a:r>
          </a:p>
        </p:txBody>
      </p:sp>
      <p:pic>
        <p:nvPicPr>
          <p:cNvPr id="569" name="Picture 568" descr="fig_schematic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317791" y="3255263"/>
            <a:ext cx="791880" cy="566928"/>
          </a:xfrm>
          <a:prstGeom prst="rect">
            <a:avLst/>
          </a:prstGeom>
        </p:spPr>
      </p:pic>
      <p:sp>
        <p:nvSpPr>
          <p:cNvPr id="570" name="TextBox 569"/>
          <p:cNvSpPr txBox="1"/>
          <p:nvPr/>
        </p:nvSpPr>
        <p:spPr>
          <a:xfrm>
            <a:off x="5221224" y="3255263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Measurement path + KiCad sheet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reader_v0_1 netlist + KiCad PDF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1_presentation/figures/fig_schematic.png</a:t>
            </a:r>
          </a:p>
        </p:txBody>
      </p:sp>
      <p:pic>
        <p:nvPicPr>
          <p:cNvPr id="571" name="Picture 570" descr="fig_windo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066831" y="3255263"/>
            <a:ext cx="791880" cy="566928"/>
          </a:xfrm>
          <a:prstGeom prst="rect">
            <a:avLst/>
          </a:prstGeom>
        </p:spPr>
      </p:pic>
      <p:sp>
        <p:nvSpPr>
          <p:cNvPr id="572" name="TextBox 571"/>
          <p:cNvSpPr txBox="1"/>
          <p:nvPr/>
        </p:nvSpPr>
        <p:spPr>
          <a:xfrm>
            <a:off x="8970263" y="3255263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Measurement window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calc_readout.py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1_presentation/figures/fig_window.png</a:t>
            </a:r>
          </a:p>
        </p:txBody>
      </p:sp>
      <p:pic>
        <p:nvPicPr>
          <p:cNvPr id="573" name="Picture 572" descr="fig_maker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68751" y="4123944"/>
            <a:ext cx="791880" cy="566928"/>
          </a:xfrm>
          <a:prstGeom prst="rect">
            <a:avLst/>
          </a:prstGeom>
        </p:spPr>
      </p:pic>
      <p:sp>
        <p:nvSpPr>
          <p:cNvPr id="574" name="TextBox 573"/>
          <p:cNvSpPr txBox="1"/>
          <p:nvPr/>
        </p:nvSpPr>
        <p:spPr>
          <a:xfrm>
            <a:off x="1472184" y="412394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Evidence gallery + tool output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our files, screen capture, 19 Oct tool runs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1_presentation/figures/fig_maker.png</a:t>
            </a:r>
          </a:p>
        </p:txBody>
      </p:sp>
      <p:pic>
        <p:nvPicPr>
          <p:cNvPr id="575" name="Picture 574" descr="fig_decisio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317791" y="4123944"/>
            <a:ext cx="791880" cy="566928"/>
          </a:xfrm>
          <a:prstGeom prst="rect">
            <a:avLst/>
          </a:prstGeom>
        </p:spPr>
      </p:pic>
      <p:sp>
        <p:nvSpPr>
          <p:cNvPr id="576" name="TextBox 575"/>
          <p:cNvSpPr txBox="1"/>
          <p:nvPr/>
        </p:nvSpPr>
        <p:spPr>
          <a:xfrm>
            <a:off x="5221224" y="412394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Decision matrix + iterations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decision_matrix.md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1_presentation/figures/fig_decision.png</a:t>
            </a:r>
          </a:p>
        </p:txBody>
      </p:sp>
      <p:pic>
        <p:nvPicPr>
          <p:cNvPr id="577" name="Picture 576" descr="fig_fmea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028431" y="4148010"/>
            <a:ext cx="868680" cy="518795"/>
          </a:xfrm>
          <a:prstGeom prst="rect">
            <a:avLst/>
          </a:prstGeom>
        </p:spPr>
      </p:pic>
      <p:sp>
        <p:nvSpPr>
          <p:cNvPr id="578" name="TextBox 577"/>
          <p:cNvSpPr txBox="1"/>
          <p:nvPr/>
        </p:nvSpPr>
        <p:spPr>
          <a:xfrm>
            <a:off x="8970263" y="412394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FMEA risk ranking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fmea_v0_1.csv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1_presentation/figures/fig_fmea.png</a:t>
            </a:r>
          </a:p>
        </p:txBody>
      </p:sp>
      <p:pic>
        <p:nvPicPr>
          <p:cNvPr id="579" name="Picture 578" descr="fig_roadmap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30351" y="5199344"/>
            <a:ext cx="868680" cy="153487"/>
          </a:xfrm>
          <a:prstGeom prst="rect">
            <a:avLst/>
          </a:prstGeom>
        </p:spPr>
      </p:pic>
      <p:sp>
        <p:nvSpPr>
          <p:cNvPr id="580" name="TextBox 579"/>
          <p:cNvSpPr txBox="1"/>
          <p:nvPr/>
        </p:nvSpPr>
        <p:spPr>
          <a:xfrm>
            <a:off x="1472184" y="499262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4-month roadmap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E2/bench/E4 plans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1_presentation/figures/fig_roadmap.png</a:t>
            </a:r>
          </a:p>
        </p:txBody>
      </p:sp>
      <p:pic>
        <p:nvPicPr>
          <p:cNvPr id="581" name="Picture 580" descr="fig_challenges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279392" y="5217191"/>
            <a:ext cx="868680" cy="117792"/>
          </a:xfrm>
          <a:prstGeom prst="rect">
            <a:avLst/>
          </a:prstGeom>
        </p:spPr>
      </p:pic>
      <p:sp>
        <p:nvSpPr>
          <p:cNvPr id="582" name="TextBox 581"/>
          <p:cNvSpPr txBox="1"/>
          <p:nvPr/>
        </p:nvSpPr>
        <p:spPr>
          <a:xfrm>
            <a:off x="5221224" y="4992624"/>
            <a:ext cx="2743200" cy="7315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1">
                <a:solidFill>
                  <a:srgbClr val="0F172A"/>
                </a:solidFill>
                <a:latin typeface="DM Sans"/>
              </a:rPr>
              <a:t>Seal clash + lead-break diagrams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Source: </a:t>
            </a:r>
            <a:r>
              <a:rPr sz="740" b="0">
                <a:solidFill>
                  <a:srgbClr val="0369A1"/>
                </a:solidFill>
                <a:latin typeface="DM Sans"/>
              </a:rPr>
              <a:t>make_figures.py · geometry + FMEA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740" b="0">
                <a:solidFill>
                  <a:srgbClr val="64748B"/>
                </a:solidFill>
                <a:latin typeface="DM Sans"/>
              </a:rPr>
              <a:t>1_presentation/figures/fig_challenges.png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125" name="Google Shape;12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5714641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334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3528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1722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9916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229350" y="1737360"/>
            <a:ext cx="542925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1737360"/>
            <a:ext cx="5431536" cy="36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Project Overview &amp; Team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95325" y="5838653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Core Innovation: </a:t>
            </a:r>
            <a:r>
              <a:rPr sz="960" b="0">
                <a:solidFill>
                  <a:srgbClr val="334155"/>
                </a:solidFill>
                <a:latin typeface="DM Sans"/>
              </a:rPr>
              <a:t>two laser-written zones, at the pad centre and on the maker's change line, let a clip-on reader tell a carer OK, CHANGE or CHECK without lifting the dressing.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953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0369A1"/>
                </a:solidFill>
                <a:latin typeface="Poppins SemiBold"/>
              </a:rPr>
              <a:t>VK26-IITI-HT-0050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953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TEAM / APPLICATION ID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35147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Health Tech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35147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EMERGENCY RESPONSE &amp; REMOTE MONITORING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3341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0369A1"/>
                </a:solidFill>
                <a:latin typeface="Poppins SemiBold"/>
              </a:rPr>
              <a:t>Sanjivani University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3341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INSTITUTION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1535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Stage 2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91535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DESIGN SPECIFICATION · OCT 2026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533400" y="5394960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Team Dermasense (photos taken by the team).</a:t>
            </a:r>
            <a:endParaRPr/>
          </a:p>
        </p:txBody>
      </p:sp>
      <p:pic>
        <p:nvPicPr>
          <p:cNvPr descr="image.png" id="146" name="Google Shape;14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8425" y="1958131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6698009" y="1939081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What we built in Stage 2 (14–19 Oct 2026)</a:t>
            </a:r>
            <a:endParaRPr/>
          </a:p>
        </p:txBody>
      </p:sp>
      <p:pic>
        <p:nvPicPr>
          <p:cNvPr id="156" name="Google Shape;156;p16" title="MBF_Logo_20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6" title="VK colored transparent logo.png"/>
          <p:cNvPicPr preferRelativeResize="0"/>
          <p:nvPr/>
        </p:nvPicPr>
        <p:blipFill rotWithShape="1">
          <a:blip r:embed="rId9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Rounded Rectangle 157"/>
          <p:cNvSpPr/>
          <p:nvPr/>
        </p:nvSpPr>
        <p:spPr>
          <a:xfrm>
            <a:off x="10389412" y="457200"/>
            <a:ext cx="1269187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PROJECT OVERVIEW</a:t>
            </a:r>
          </a:p>
        </p:txBody>
      </p:sp>
      <p:pic>
        <p:nvPicPr>
          <p:cNvPr id="159" name="PHOTO member1 - PLACEHOLDER (right-click &gt; Change Picture)" descr="placeholder_team.pn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1143000" y="1865376"/>
            <a:ext cx="1783080" cy="237744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160" name="TextBox 159"/>
          <p:cNvSpPr txBox="1"/>
          <p:nvPr/>
        </p:nvSpPr>
        <p:spPr>
          <a:xfrm>
            <a:off x="914400" y="4315968"/>
            <a:ext cx="2240280" cy="8686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000" b="1">
                <a:solidFill>
                  <a:srgbClr val="0F172A"/>
                </a:solidFill>
                <a:latin typeface="DM Sans"/>
              </a:rPr>
              <a:t>Soham Prabhakar Kadu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000" b="0">
                <a:solidFill>
                  <a:srgbClr val="64748B"/>
                </a:solidFill>
                <a:latin typeface="DM Sans"/>
              </a:rPr>
              <a:t>Role: </a:t>
            </a:r>
            <a:r>
              <a:rPr sz="1000" b="1">
                <a:solidFill>
                  <a:srgbClr val="B45309"/>
                </a:solidFill>
                <a:latin typeface="DM Sans"/>
              </a:rPr>
              <a:t>[team to add]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000" b="0">
                <a:solidFill>
                  <a:srgbClr val="64748B"/>
                </a:solidFill>
                <a:latin typeface="DM Sans"/>
              </a:rPr>
              <a:t>Sanjivani University</a:t>
            </a:r>
          </a:p>
        </p:txBody>
      </p:sp>
      <p:pic>
        <p:nvPicPr>
          <p:cNvPr id="161" name="PHOTO member2 - PLACEHOLDER (right-click &gt; Change Picture)" descr="placeholder_team.pn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3566160" y="1865376"/>
            <a:ext cx="1783080" cy="2377440"/>
          </a:xfrm>
          <a:prstGeom prst="rect">
            <a:avLst/>
          </a:prstGeom>
          <a:ln w="9525">
            <a:solidFill>
              <a:srgbClr val="CBD5E1"/>
            </a:solidFill>
          </a:ln>
        </p:spPr>
      </p:pic>
      <p:sp>
        <p:nvSpPr>
          <p:cNvPr id="162" name="TextBox 161"/>
          <p:cNvSpPr txBox="1"/>
          <p:nvPr/>
        </p:nvSpPr>
        <p:spPr>
          <a:xfrm>
            <a:off x="3337560" y="4315968"/>
            <a:ext cx="2240280" cy="8686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000" b="1">
                <a:solidFill>
                  <a:srgbClr val="0F172A"/>
                </a:solidFill>
                <a:latin typeface="DM Sans"/>
              </a:rPr>
              <a:t>Bhakti Ajay Kadam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000" b="0">
                <a:solidFill>
                  <a:srgbClr val="64748B"/>
                </a:solidFill>
                <a:latin typeface="DM Sans"/>
              </a:rPr>
              <a:t>Role: </a:t>
            </a:r>
            <a:r>
              <a:rPr sz="1000" b="1">
                <a:solidFill>
                  <a:srgbClr val="B45309"/>
                </a:solidFill>
                <a:latin typeface="DM Sans"/>
              </a:rPr>
              <a:t>[team to add]</a:t>
            </a:r>
          </a:p>
          <a:p>
            <a:pPr algn="ctr">
              <a:lnSpc>
                <a:spcPct val="108000"/>
              </a:lnSpc>
              <a:spcAft>
                <a:spcPts val="100"/>
              </a:spcAft>
            </a:pPr>
            <a:r>
              <a:rPr sz="1000" b="0">
                <a:solidFill>
                  <a:srgbClr val="64748B"/>
                </a:solidFill>
                <a:latin typeface="DM Sans"/>
              </a:rPr>
              <a:t>Sanjivani University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464808" y="2331720"/>
            <a:ext cx="5029200" cy="32004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CAD:  </a:t>
            </a:r>
            <a:r>
              <a:rPr sz="1100" b="0">
                <a:solidFill>
                  <a:srgbClr val="334155"/>
                </a:solidFill>
                <a:latin typeface="DM Sans"/>
              </a:rPr>
              <a:t>9 SolidWorks parts, 1 assembly, 7 A3 drawings; 99 automated checks pass.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Circuit:  </a:t>
            </a:r>
            <a:r>
              <a:rPr sz="1100" b="0">
                <a:solidFill>
                  <a:srgbClr val="334155"/>
                </a:solidFill>
                <a:latin typeface="DM Sans"/>
              </a:rPr>
              <a:t>KiCad reader schematic; 0 rule-check errors.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Firmware:  </a:t>
            </a:r>
            <a:r>
              <a:rPr sz="1100" b="0">
                <a:solidFill>
                  <a:srgbClr val="334155"/>
                </a:solidFill>
                <a:latin typeface="DM Sans"/>
              </a:rPr>
              <a:t>ESP32-C3 reader with Bluetooth output; 23 + 16 software tests pass.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Sensor strip:  </a:t>
            </a:r>
            <a:r>
              <a:rPr sz="1100" b="0">
                <a:solidFill>
                  <a:srgbClr val="334155"/>
                </a:solidFill>
                <a:latin typeface="DM Sans"/>
              </a:rPr>
              <a:t>laser files for the strip and 2 test coupons; 35/35 file checks.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Experiment:  </a:t>
            </a:r>
            <a:r>
              <a:rPr sz="1100" b="0">
                <a:solidFill>
                  <a:srgbClr val="334155"/>
                </a:solidFill>
                <a:latin typeface="DM Sans"/>
              </a:rPr>
              <a:t>E2 laser test, 72 samples fixed in advance.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Not yet:  </a:t>
            </a:r>
            <a:r>
              <a:rPr sz="1100" b="0">
                <a:solidFill>
                  <a:srgbClr val="334155"/>
                </a:solidFill>
                <a:latin typeface="DM Sans"/>
              </a:rPr>
              <a:t>nothing lased, wired or tested on a dressing.</a:t>
            </a:r>
          </a:p>
        </p:txBody>
      </p:sp>
      <p:pic>
        <p:nvPicPr>
          <p:cNvPr id="164" name="Picture 163" descr="cad_exploded_iso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85802" y="4443984"/>
            <a:ext cx="1330779" cy="84124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6464808" y="5303520"/>
            <a:ext cx="1572768" cy="201168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720" b="0">
                <a:solidFill>
                  <a:srgbClr val="64748B"/>
                </a:solidFill>
                <a:latin typeface="DM Sans"/>
              </a:rPr>
              <a:t>SolidWorks model</a:t>
            </a:r>
          </a:p>
        </p:txBody>
      </p:sp>
      <p:pic>
        <p:nvPicPr>
          <p:cNvPr id="166" name="Picture 165" descr="strip_v0_1_drawing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165592" y="4628692"/>
            <a:ext cx="1572768" cy="471830"/>
          </a:xfrm>
          <a:prstGeom prst="rect">
            <a:avLst/>
          </a:prstGeom>
        </p:spPr>
      </p:pic>
      <p:sp>
        <p:nvSpPr>
          <p:cNvPr id="167" name="TextBox 166"/>
          <p:cNvSpPr txBox="1"/>
          <p:nvPr/>
        </p:nvSpPr>
        <p:spPr>
          <a:xfrm>
            <a:off x="8165592" y="5303520"/>
            <a:ext cx="1572768" cy="201168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720" b="0">
                <a:solidFill>
                  <a:srgbClr val="64748B"/>
                </a:solidFill>
                <a:latin typeface="DM Sans"/>
              </a:rPr>
              <a:t>Laser file (DXF)</a:t>
            </a:r>
          </a:p>
        </p:txBody>
      </p:sp>
      <p:pic>
        <p:nvPicPr>
          <p:cNvPr id="168" name="Picture 167" descr="fig_schematic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65235" y="4443984"/>
            <a:ext cx="1175048" cy="841247"/>
          </a:xfrm>
          <a:prstGeom prst="rect">
            <a:avLst/>
          </a:prstGeom>
        </p:spPr>
      </p:pic>
      <p:sp>
        <p:nvSpPr>
          <p:cNvPr id="169" name="TextBox 168"/>
          <p:cNvSpPr txBox="1"/>
          <p:nvPr/>
        </p:nvSpPr>
        <p:spPr>
          <a:xfrm>
            <a:off x="9866376" y="5303520"/>
            <a:ext cx="1572768" cy="201168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720" b="0">
                <a:solidFill>
                  <a:srgbClr val="64748B"/>
                </a:solidFill>
                <a:latin typeface="DM Sans"/>
              </a:rPr>
              <a:t>Reader circuit (KiCad)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125" name="Google Shape;12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5714641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334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3528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1722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9916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229350" y="1737360"/>
            <a:ext cx="542925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1737360"/>
            <a:ext cx="5431536" cy="36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User Journey: Before State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95325" y="5838653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Quantified Inefficiency: </a:t>
            </a:r>
            <a:r>
              <a:rPr sz="960" b="0">
                <a:solidFill>
                  <a:srgbClr val="334155"/>
                </a:solidFill>
                <a:latin typeface="DM Sans"/>
              </a:rPr>
              <a:t>published figures only (a UK patient survey, Indian retail prices); we will time real checks with nurses.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953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44.9 %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953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CHANGES WHILE MOISTURE WAS STILL OPTIMAL¹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35147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≈ 18 min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35147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A DRESSING VISIT, PATIENT-REPORTED (UK)¹³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3341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₹240–510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3341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ONE 10 × 10 CM FOAM DRESSING, RETAIL¹⁵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1535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369A1"/>
                </a:solidFill>
                <a:latin typeface="Poppins SemiBold"/>
              </a:rPr>
              <a:t>0.1–1.3 g/cm²·day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91535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REPORTED EXUDATE RATES, 2 METHODS⁶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533400" y="5394960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today's pain-point map (cited numbers only).</a:t>
            </a:r>
            <a:endParaRPr/>
          </a:p>
        </p:txBody>
      </p:sp>
      <p:pic>
        <p:nvPicPr>
          <p:cNvPr descr="image.png" id="146" name="Google Shape;14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8425" y="1958131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6698009" y="1939081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Current Pain Point Mapping</a:t>
            </a:r>
            <a:endParaRPr/>
          </a:p>
        </p:txBody>
      </p:sp>
      <p:pic>
        <p:nvPicPr>
          <p:cNvPr id="156" name="Google Shape;156;p16" title="MBF_Logo_20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6" title="VK colored transparent logo.png"/>
          <p:cNvPicPr preferRelativeResize="0"/>
          <p:nvPr/>
        </p:nvPicPr>
        <p:blipFill rotWithShape="1">
          <a:blip r:embed="rId9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Rounded Rectangle 157"/>
          <p:cNvSpPr/>
          <p:nvPr/>
        </p:nvSpPr>
        <p:spPr>
          <a:xfrm>
            <a:off x="10078516" y="457200"/>
            <a:ext cx="1580083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CURRENT STATE · CITED</a:t>
            </a:r>
          </a:p>
        </p:txBody>
      </p:sp>
      <p:pic>
        <p:nvPicPr>
          <p:cNvPr id="159" name="Picture 158" descr="fig_journey_befo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756" y="1746504"/>
            <a:ext cx="5400726" cy="3593591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6464808" y="2395728"/>
            <a:ext cx="5029200" cy="31089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Time:  </a:t>
            </a:r>
            <a:r>
              <a:rPr sz="1200" b="0">
                <a:solidFill>
                  <a:srgbClr val="334155"/>
                </a:solidFill>
                <a:latin typeface="DM Sans"/>
              </a:rPr>
              <a:t>every check means unwrap, look, re-secure: about 18 min a visit¹³.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Waste:  </a:t>
            </a:r>
            <a:r>
              <a:rPr sz="1200" b="0">
                <a:solidFill>
                  <a:srgbClr val="334155"/>
                </a:solidFill>
                <a:latin typeface="DM Sans"/>
              </a:rPr>
              <a:t>44.9 % of changes came while moisture was still optimal¹; each discards a dressing¹⁵.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Risk:  </a:t>
            </a:r>
            <a:r>
              <a:rPr sz="1200" b="0">
                <a:solidFill>
                  <a:srgbClr val="334155"/>
                </a:solidFill>
                <a:latin typeface="DM Sans"/>
              </a:rPr>
              <a:t>a late change can leak: wet skin, soiled clothing.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Cause:  </a:t>
            </a:r>
            <a:r>
              <a:rPr sz="1200" b="0">
                <a:solidFill>
                  <a:srgbClr val="334155"/>
                </a:solidFill>
                <a:latin typeface="DM Sans"/>
              </a:rPr>
              <a:t>reported exudate rates span over 10×⁶; a clock cannot follow.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125" name="Google Shape;12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5714641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334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8" name="Google Shape;128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33528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9" name="Google Shape;129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1722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991600" y="956220"/>
            <a:ext cx="2667000" cy="64948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6229350" y="1737360"/>
            <a:ext cx="5429250" cy="38862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1737360"/>
            <a:ext cx="5431536" cy="361188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User Journey: After State (Intended)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695325" y="5838653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Design Principle: </a:t>
            </a:r>
            <a:r>
              <a:rPr sz="960" b="0">
                <a:solidFill>
                  <a:srgbClr val="334155"/>
                </a:solidFill>
                <a:latin typeface="DM Sans"/>
              </a:rPr>
              <a:t>only film and carbon are disposable; the strip never touches the wound.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6953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369A1"/>
                </a:solidFill>
                <a:latin typeface="Poppins SemiBold"/>
              </a:rPr>
              <a:t>up to 44.9 %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6953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EARLY CHANGES A RELIABLE ALERT COULD AVOID¹</a:t>
            </a:r>
            <a:endParaRPr/>
          </a:p>
        </p:txBody>
      </p:sp>
      <p:sp>
        <p:nvSpPr>
          <p:cNvPr id="138" name="Google Shape;138;p16"/>
          <p:cNvSpPr txBox="1"/>
          <p:nvPr/>
        </p:nvSpPr>
        <p:spPr>
          <a:xfrm>
            <a:off x="35147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≤ ₹100</a:t>
            </a:r>
            <a:endParaRPr/>
          </a:p>
        </p:txBody>
      </p:sp>
      <p:sp>
        <p:nvSpPr>
          <p:cNvPr id="139" name="Google Shape;139;p16"/>
          <p:cNvSpPr txBox="1"/>
          <p:nvPr/>
        </p:nvSpPr>
        <p:spPr>
          <a:xfrm>
            <a:off x="35147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TARGET STRIP COST (ESTIMATE)</a:t>
            </a:r>
            <a:endParaRPr/>
          </a:p>
        </p:txBody>
      </p:sp>
      <p:sp>
        <p:nvSpPr>
          <p:cNvPr id="140" name="Google Shape;140;p16"/>
          <p:cNvSpPr txBox="1"/>
          <p:nvPr/>
        </p:nvSpPr>
        <p:spPr>
          <a:xfrm>
            <a:off x="63341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±10 %</a:t>
            </a:r>
            <a:endParaRPr/>
          </a:p>
        </p:txBody>
      </p:sp>
      <p:sp>
        <p:nvSpPr>
          <p:cNvPr id="141" name="Google Shape;141;p16"/>
          <p:cNvSpPr txBox="1"/>
          <p:nvPr/>
        </p:nvSpPr>
        <p:spPr>
          <a:xfrm>
            <a:off x="63341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TARGET ALERT ACCURACY (BENCH, E4)</a:t>
            </a:r>
            <a:endParaRPr/>
          </a:p>
        </p:txBody>
      </p:sp>
      <p:sp>
        <p:nvSpPr>
          <p:cNvPr id="142" name="Google Shape;142;p16"/>
          <p:cNvSpPr txBox="1"/>
          <p:nvPr/>
        </p:nvSpPr>
        <p:spPr>
          <a:xfrm>
            <a:off x="9153525" y="1024128"/>
            <a:ext cx="2343150" cy="30175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993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369A1"/>
                </a:solidFill>
                <a:latin typeface="Poppins SemiBold"/>
              </a:rPr>
              <a:t>0</a:t>
            </a:r>
            <a:endParaRPr/>
          </a:p>
        </p:txBody>
      </p:sp>
      <p:sp>
        <p:nvSpPr>
          <p:cNvPr id="143" name="Google Shape;143;p16"/>
          <p:cNvSpPr txBox="1"/>
          <p:nvPr/>
        </p:nvSpPr>
        <p:spPr>
          <a:xfrm>
            <a:off x="9153525" y="1344168"/>
            <a:ext cx="23431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 Medium"/>
              </a:rPr>
              <a:t>CONTACT WITH THE WOUND BED (BY DESIGN)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533400" y="5394960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the intended workflow; bench-testable, not clinically validated.</a:t>
            </a:r>
            <a:endParaRPr/>
          </a:p>
        </p:txBody>
      </p:sp>
      <p:pic>
        <p:nvPicPr>
          <p:cNvPr descr="image.png" id="146" name="Google Shape;14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48425" y="1958131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/>
          <p:nvPr/>
        </p:nvSpPr>
        <p:spPr>
          <a:xfrm>
            <a:off x="6698009" y="1939081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Future Solution Mapping &amp; Quantified Efficiency</a:t>
            </a:r>
            <a:endParaRPr/>
          </a:p>
        </p:txBody>
      </p:sp>
      <p:pic>
        <p:nvPicPr>
          <p:cNvPr id="156" name="Google Shape;156;p16" title="MBF_Logo_2020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6" title="VK colored transparent logo.png"/>
          <p:cNvPicPr preferRelativeResize="0"/>
          <p:nvPr/>
        </p:nvPicPr>
        <p:blipFill rotWithShape="1">
          <a:blip r:embed="rId9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Rounded Rectangle 157"/>
          <p:cNvSpPr/>
          <p:nvPr/>
        </p:nvSpPr>
        <p:spPr>
          <a:xfrm>
            <a:off x="9208008" y="457200"/>
            <a:ext cx="2450592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INTENDED · NOT CLINICALLY VALIDATED</a:t>
            </a:r>
          </a:p>
        </p:txBody>
      </p:sp>
      <p:pic>
        <p:nvPicPr>
          <p:cNvPr id="159" name="Picture 158" descr="fig_journey_after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756" y="1746504"/>
            <a:ext cx="5400726" cy="3593591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6464808" y="2395728"/>
            <a:ext cx="5029200" cy="31089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Same routine:  </a:t>
            </a:r>
            <a:r>
              <a:rPr sz="1200" b="0">
                <a:solidFill>
                  <a:srgbClr val="334155"/>
                </a:solidFill>
                <a:latin typeface="DM Sans"/>
              </a:rPr>
              <a:t>strip on the pad, reader clips on.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Clear signal:  </a:t>
            </a:r>
            <a:r>
              <a:rPr sz="1200" b="0">
                <a:solidFill>
                  <a:srgbClr val="334155"/>
                </a:solidFill>
                <a:latin typeface="DM Sans"/>
              </a:rPr>
              <a:t>CHANGE when the line is wet; CHECK if it wets first.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Remote:  </a:t>
            </a:r>
            <a:r>
              <a:rPr sz="1200" b="0">
                <a:solidFill>
                  <a:srgbClr val="334155"/>
                </a:solidFill>
                <a:latin typeface="DM Sans"/>
              </a:rPr>
              <a:t>designed to broadcast the state to a nearby phone over Bluetooth (hardware test pending).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Payback:  </a:t>
            </a:r>
            <a:r>
              <a:rPr sz="1200" b="0">
                <a:solidFill>
                  <a:srgbClr val="334155"/>
                </a:solidFill>
                <a:latin typeface="DM Sans"/>
              </a:rPr>
              <a:t>a ≤ ₹100 strip pays for itself if 1 in 2–5 changes is avoided¹⁵ (strip only; the reader is reused).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234" name="Google Shape;23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555172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29350" y="956224"/>
            <a:ext cx="5429250" cy="4434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System Architecture &amp; Specs: Firmware &amp; Data Flow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723900" y="5646976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Software vs Hardware: </a:t>
            </a:r>
            <a:r>
              <a:rPr sz="960" b="0">
                <a:solidFill>
                  <a:srgbClr val="334155"/>
                </a:solidFill>
                <a:latin typeface="DM Sans"/>
              </a:rPr>
              <a:t>23 compile-time and 16 PC tests pass; not yet run on a wired board.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one reader scan, from measurement to state.</a:t>
            </a:r>
            <a:endParaRPr/>
          </a:p>
        </p:txBody>
      </p:sp>
      <p:pic>
        <p:nvPicPr>
          <p:cNvPr descr="image.png" id="243" name="Google Shape;243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0"/>
          <p:cNvSpPr txBox="1"/>
          <p:nvPr/>
        </p:nvSpPr>
        <p:spPr>
          <a:xfrm>
            <a:off x="669800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Firmware Logic &amp; Data Flow</a:t>
            </a:r>
            <a:endParaRPr/>
          </a:p>
        </p:txBody>
      </p:sp>
      <p:pic>
        <p:nvPicPr>
          <p:cNvPr id="255" name="Google Shape;255;p20" title="MBF_Logo_20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0" title="VK colored transparent logo.png"/>
          <p:cNvPicPr preferRelativeResize="0"/>
          <p:nvPr/>
        </p:nvPicPr>
        <p:blipFill rotWithShape="1">
          <a:blip r:embed="rId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Rounded Rectangle 256"/>
          <p:cNvSpPr/>
          <p:nvPr/>
        </p:nvSpPr>
        <p:spPr>
          <a:xfrm>
            <a:off x="8959291" y="457200"/>
            <a:ext cx="2699308" cy="24688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47857"/>
                </a:solidFill>
                <a:latin typeface="DM Sans"/>
              </a:rPr>
              <a:t>VERIFIED IN SOFTWARE · HARDWARE PENDING</a:t>
            </a:r>
          </a:p>
        </p:txBody>
      </p:sp>
      <p:pic>
        <p:nvPicPr>
          <p:cNvPr id="258" name="Picture 257" descr="fig_dataflo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sp>
        <p:nvSpPr>
          <p:cNvPr id="259" name="TextBox 258"/>
          <p:cNvSpPr txBox="1"/>
          <p:nvPr/>
        </p:nvSpPr>
        <p:spPr>
          <a:xfrm>
            <a:off x="6464808" y="1572768"/>
            <a:ext cx="5029200" cy="36576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Measure:  </a:t>
            </a:r>
            <a:r>
              <a:rPr sz="1200" b="0">
                <a:solidFill>
                  <a:srgbClr val="334155"/>
                </a:solidFill>
                <a:latin typeface="DM Sans"/>
              </a:rPr>
              <a:t>each zone driven both ways, so no net DC.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Read:  </a:t>
            </a:r>
            <a:r>
              <a:rPr sz="1200" b="0">
                <a:solidFill>
                  <a:srgbClr val="334155"/>
                </a:solidFill>
                <a:latin typeface="DM Sans"/>
              </a:rPr>
              <a:t>16-bit ADC, scaled to the 3V3 rail.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Decide:  </a:t>
            </a:r>
            <a:r>
              <a:rPr sz="1200" b="0">
                <a:solidFill>
                  <a:srgbClr val="334155"/>
                </a:solidFill>
                <a:latin typeface="DM Sans"/>
              </a:rPr>
              <a:t>wet &lt; 100 kΩ, dry &gt; 300 kΩ, 3 scans in a row.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Self-check:  </a:t>
            </a:r>
            <a:r>
              <a:rPr sz="1200" b="0">
                <a:solidFill>
                  <a:srgbClr val="334155"/>
                </a:solidFill>
                <a:latin typeface="DM Sans"/>
              </a:rPr>
              <a:t>a known 100 kΩ every scan, else FAULT.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Output:  </a:t>
            </a:r>
            <a:r>
              <a:rPr sz="1200" b="0">
                <a:solidFill>
                  <a:srgbClr val="334155"/>
                </a:solidFill>
                <a:latin typeface="DM Sans"/>
              </a:rPr>
              <a:t>LEDs; a CSV line over USB; a Bluetooth broadcast any scanner app can read (no custom app yet).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Why remote:  </a:t>
            </a:r>
            <a:r>
              <a:rPr sz="1200" b="0">
                <a:solidFill>
                  <a:srgbClr val="334155"/>
                </a:solidFill>
                <a:latin typeface="DM Sans"/>
              </a:rPr>
              <a:t>a carer nearby can see the state without unwrapping or plugging in (to be bench-tested).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234" name="Google Shape;234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5" name="Google Shape;235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5551726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6" name="Google Shape;236;p2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29350" y="956224"/>
            <a:ext cx="5429250" cy="44348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7" name="Google Shape;237;p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CAD Design &amp; Mechanical Specs: Sensing Strip &amp; Laser Process</a:t>
            </a:r>
            <a:endParaRPr/>
          </a:p>
        </p:txBody>
      </p:sp>
      <p:sp>
        <p:nvSpPr>
          <p:cNvPr id="240" name="Google Shape;240;p20"/>
          <p:cNvSpPr txBox="1"/>
          <p:nvPr/>
        </p:nvSpPr>
        <p:spPr>
          <a:xfrm>
            <a:off x="723900" y="5646976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Laser Files Checked: </a:t>
            </a:r>
            <a:r>
              <a:rPr sz="960" b="0">
                <a:solidFill>
                  <a:srgbClr val="334155"/>
                </a:solidFill>
                <a:latin typeface="DM Sans"/>
              </a:rPr>
              <a:t>35/35 file checks pass (files only; nothing lased yet). LaserCAD import is checked at the machine.</a:t>
            </a:r>
            <a:endParaRPr/>
          </a:p>
        </p:txBody>
      </p:sp>
      <p:sp>
        <p:nvSpPr>
          <p:cNvPr id="241" name="Google Shape;241;p20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our laser files, drawn from the DXFs. Not yet lased.</a:t>
            </a:r>
            <a:endParaRPr/>
          </a:p>
        </p:txBody>
      </p:sp>
      <p:pic>
        <p:nvPicPr>
          <p:cNvPr descr="image.png" id="243" name="Google Shape;243;p2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0"/>
          <p:cNvSpPr txBox="1"/>
          <p:nvPr/>
        </p:nvSpPr>
        <p:spPr>
          <a:xfrm>
            <a:off x="669800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Fabrication &amp; Process Validation (E2)</a:t>
            </a:r>
            <a:endParaRPr/>
          </a:p>
        </p:txBody>
      </p:sp>
      <p:pic>
        <p:nvPicPr>
          <p:cNvPr id="255" name="Google Shape;255;p20" title="MBF_Logo_20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6" name="Google Shape;256;p20" title="VK colored transparent logo.png"/>
          <p:cNvPicPr preferRelativeResize="0"/>
          <p:nvPr/>
        </p:nvPicPr>
        <p:blipFill rotWithShape="1">
          <a:blip r:embed="rId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Rounded Rectangle 256"/>
          <p:cNvSpPr/>
          <p:nvPr/>
        </p:nvSpPr>
        <p:spPr>
          <a:xfrm>
            <a:off x="9705441" y="457200"/>
            <a:ext cx="1953158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DESIGNED · LAB TEST PENDING</a:t>
            </a:r>
          </a:p>
        </p:txBody>
      </p:sp>
      <p:pic>
        <p:nvPicPr>
          <p:cNvPr id="258" name="Picture 257" descr="fig_stri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sp>
        <p:nvSpPr>
          <p:cNvPr id="259" name="TextBox 258"/>
          <p:cNvSpPr txBox="1"/>
          <p:nvPr/>
        </p:nvSpPr>
        <p:spPr>
          <a:xfrm>
            <a:off x="6464808" y="1572768"/>
            <a:ext cx="5029200" cy="365760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Material:  </a:t>
            </a:r>
            <a:r>
              <a:rPr sz="1200" b="0">
                <a:solidFill>
                  <a:srgbClr val="334155"/>
                </a:solidFill>
                <a:latin typeface="DM Sans"/>
              </a:rPr>
              <a:t>laser-carbonised, LIG-like layer on polyimide⁷.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Reference:  </a:t>
            </a:r>
            <a:r>
              <a:rPr sz="1200" b="0">
                <a:solidFill>
                  <a:srgbClr val="334155"/>
                </a:solidFill>
                <a:latin typeface="DM Sans"/>
              </a:rPr>
              <a:t>setting '12', most likely % PWM, not watts.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E2 plan:  </a:t>
            </a:r>
            <a:r>
              <a:rPr sz="1200" b="0">
                <a:solidFill>
                  <a:srgbClr val="334155"/>
                </a:solidFill>
                <a:latin typeface="DM Sans"/>
              </a:rPr>
              <a:t>7 coupons, 2 days, 72 pre-registered samples.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Pass rules:  </a:t>
            </a:r>
            <a:r>
              <a:rPr sz="1200" b="0">
                <a:solidFill>
                  <a:srgbClr val="334155"/>
                </a:solidFill>
                <a:latin typeface="DM Sans"/>
              </a:rPr>
              <a:t>CV ≤ 20 %, gaps &gt; 3 MΩ, fixed beforehand.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Sealed:  </a:t>
            </a:r>
            <a:r>
              <a:rPr sz="1200" b="0">
                <a:solidFill>
                  <a:srgbClr val="334155"/>
                </a:solidFill>
                <a:latin typeface="DM Sans"/>
              </a:rPr>
              <a:t>leads under tape; LIG made in air wets easily⁹.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277" name="Google Shape;27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8" name="Google Shape;278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574963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29350" y="956226"/>
            <a:ext cx="5429250" cy="4468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22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Electronics Schematics &amp; BOM: Bill of Materials</a:t>
            </a:r>
            <a:endParaRPr/>
          </a:p>
        </p:txBody>
      </p:sp>
      <p:sp>
        <p:nvSpPr>
          <p:cNvPr id="283" name="Google Shape;283;p22"/>
          <p:cNvSpPr txBox="1"/>
          <p:nvPr/>
        </p:nvSpPr>
        <p:spPr>
          <a:xfrm>
            <a:off x="723900" y="5844884"/>
            <a:ext cx="10698480" cy="35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Procurement Status: </a:t>
            </a:r>
            <a:r>
              <a:rPr sz="960" b="0">
                <a:solidFill>
                  <a:srgbClr val="334155"/>
                </a:solidFill>
                <a:latin typeface="DM Sans"/>
              </a:rPr>
              <a:t>reader parts and pins quoted 19 Oct, in stock in India; the rest are estimates. The reader is reused; only the strip is consumed.</a:t>
            </a:r>
            <a:endParaRPr/>
          </a:p>
        </p:txBody>
      </p:sp>
      <p:sp>
        <p:nvSpPr>
          <p:cNvPr id="284" name="Google Shape;284;p22"/>
          <p:cNvSpPr txBox="1"/>
          <p:nvPr/>
        </p:nvSpPr>
        <p:spPr>
          <a:xfrm>
            <a:off x="533400" y="4901184"/>
            <a:ext cx="542925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why a 100 kΩ reference (calculated ranges).</a:t>
            </a:r>
            <a:endParaRPr/>
          </a:p>
        </p:txBody>
      </p:sp>
      <p:pic>
        <p:nvPicPr>
          <p:cNvPr descr="image.png" id="287" name="Google Shape;287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1175295"/>
            <a:ext cx="1162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2"/>
          <p:cNvSpPr txBox="1"/>
          <p:nvPr/>
        </p:nvSpPr>
        <p:spPr>
          <a:xfrm>
            <a:off x="6659909" y="1156245"/>
            <a:ext cx="3051869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Prototype Bill of Materials</a:t>
            </a:r>
            <a:endParaRPr/>
          </a:p>
        </p:txBody>
      </p:sp>
      <p:pic>
        <p:nvPicPr>
          <p:cNvPr id="324" name="Google Shape;324;p22" title="MBF_Logo_20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22" title="VK colored transparent logo.png"/>
          <p:cNvPicPr preferRelativeResize="0"/>
          <p:nvPr/>
        </p:nvPicPr>
        <p:blipFill rotWithShape="1">
          <a:blip r:embed="rId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Rounded Rectangle 325"/>
          <p:cNvSpPr/>
          <p:nvPr/>
        </p:nvSpPr>
        <p:spPr>
          <a:xfrm>
            <a:off x="9332366" y="457200"/>
            <a:ext cx="2326233" cy="24688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B45309"/>
                </a:solidFill>
                <a:latin typeface="DM Sans"/>
              </a:rPr>
              <a:t>3 PRICES QUOTED · NOTHING ORDERED</a:t>
            </a:r>
          </a:p>
        </p:txBody>
      </p:sp>
      <p:pic>
        <p:nvPicPr>
          <p:cNvPr id="327" name="Picture 326" descr="fig_window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graphicFrame>
        <p:nvGraphicFramePr>
          <p:cNvPr id="328" name="Table 327"/>
          <p:cNvGraphicFramePr>
            <a:graphicFrameLocks noGrp="1"/>
          </p:cNvGraphicFramePr>
          <p:nvPr/>
        </p:nvGraphicFramePr>
        <p:xfrm>
          <a:off x="6446520" y="1517904"/>
          <a:ext cx="5010912" cy="3374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03120"/>
                <a:gridCol w="411480"/>
                <a:gridCol w="1325880"/>
                <a:gridCol w="1170432"/>
              </a:tblGrid>
              <a:tr h="374904"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0F172A"/>
                          </a:solidFill>
                          <a:latin typeface="DM Sans"/>
                        </a:rPr>
                        <a:t>Item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0F172A"/>
                          </a:solidFill>
                          <a:latin typeface="DM Sans"/>
                        </a:rPr>
                        <a:t>Qty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0F172A"/>
                          </a:solidFill>
                          <a:latin typeface="DM Sans"/>
                        </a:rPr>
                        <a:t>Source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19" b="1">
                          <a:solidFill>
                            <a:srgbClr val="0F172A"/>
                          </a:solidFill>
                          <a:latin typeface="DM Sans"/>
                        </a:rPr>
                        <a:t>₹</a:t>
                      </a:r>
                    </a:p>
                  </a:txBody>
                  <a:tcPr marL="36576" marR="36576" marT="22860" marB="18288" anchor="ctr">
                    <a:noFill/>
                    <a:lnL w="12700">
                      <a:noFill/>
                    </a:lnL>
                    <a:lnR w="12700">
                      <a:noFill/>
                    </a:lnR>
                    <a:lnT w="12700">
                      <a:noFill/>
                    </a:lnT>
                    <a:lnB w="12700">
                      <a:solidFill>
                        <a:srgbClr val="CBD5E1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ESP32-C3 SuperMini (PRO4607)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Probots · quoted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242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ADS1115 module (PRO789)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Probots · quoted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125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P75-B1 pogo pins (05880)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100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Hubtronics · quoted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354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Resistors, C0G cap, LEDs, board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set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local / online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158–421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Clamp + bench rig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set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lab / local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100–1,240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Strip materials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set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lab / online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800–3,500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Test consumables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set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local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>480–1,060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Total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0">
                          <a:solidFill>
                            <a:srgbClr val="334155"/>
                          </a:solidFill>
                          <a:latin typeface="DM Sans"/>
                        </a:rPr>
                        <a:t/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980" b="1">
                          <a:solidFill>
                            <a:srgbClr val="0F172A"/>
                          </a:solidFill>
                          <a:latin typeface="DM Sans"/>
                        </a:rPr>
                        <a:t>≈ 2,259–6,942</a:t>
                      </a:r>
                    </a:p>
                  </a:txBody>
                  <a:tcPr marL="36576" marR="36576" marT="22860" marB="18288" anchor="ctr">
                    <a:noFill/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solidFill>
                        <a:srgbClr val="E2E8F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362" name="Google Shape;362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4" name="Google Shape;364;p2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29350" y="956223"/>
            <a:ext cx="5429250" cy="45262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5" name="Google Shape;365;p2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0352" y="960120"/>
            <a:ext cx="5431536" cy="3895344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4"/>
          <p:cNvSpPr txBox="1"/>
          <p:nvPr/>
        </p:nvSpPr>
        <p:spPr>
          <a:xfrm>
            <a:off x="533400" y="438150"/>
            <a:ext cx="8595360" cy="31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Maker Journey: Engineering Iterations</a:t>
            </a:r>
            <a:endParaRPr/>
          </a:p>
        </p:txBody>
      </p:sp>
      <p:sp>
        <p:nvSpPr>
          <p:cNvPr id="368" name="Google Shape;368;p24"/>
          <p:cNvSpPr txBox="1"/>
          <p:nvPr/>
        </p:nvSpPr>
        <p:spPr>
          <a:xfrm>
            <a:off x="723900" y="5761004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Prior Art: </a:t>
            </a:r>
            <a:r>
              <a:rPr sz="960" b="0">
                <a:solidFill>
                  <a:srgbClr val="334155"/>
                </a:solidFill>
                <a:latin typeface="DM Sans"/>
              </a:rPr>
              <a:t>diaper strips⁴ and visual change indicators¹⁴ exist; our novelty is reading the change line electrically, with an order check.</a:t>
            </a:r>
            <a:endParaRPr/>
          </a:p>
        </p:txBody>
      </p:sp>
      <p:sp>
        <p:nvSpPr>
          <p:cNvPr id="369" name="Google Shape;369;p24"/>
          <p:cNvSpPr txBox="1"/>
          <p:nvPr/>
        </p:nvSpPr>
        <p:spPr>
          <a:xfrm>
            <a:off x="533400" y="4901184"/>
            <a:ext cx="542925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450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60" b="0">
                <a:solidFill>
                  <a:srgbClr val="64748B"/>
                </a:solidFill>
                <a:latin typeface="DM Sans"/>
              </a:rPr>
              <a:t>Figure: concept scores and the iteration path (each a dated commit).</a:t>
            </a:r>
            <a:endParaRPr/>
          </a:p>
        </p:txBody>
      </p:sp>
      <p:pic>
        <p:nvPicPr>
          <p:cNvPr descr="image.png" id="371" name="Google Shape;371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4"/>
          <p:cNvSpPr txBox="1"/>
          <p:nvPr/>
        </p:nvSpPr>
        <p:spPr>
          <a:xfrm>
            <a:off x="6717059" y="1156245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Stage 1 to Stage 2 Iterations</a:t>
            </a:r>
            <a:endParaRPr/>
          </a:p>
        </p:txBody>
      </p:sp>
      <p:pic>
        <p:nvPicPr>
          <p:cNvPr id="381" name="Google Shape;381;p24" title="MBF_Logo_20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24" title="VK colored transparent logo.png"/>
          <p:cNvPicPr preferRelativeResize="0"/>
          <p:nvPr/>
        </p:nvPicPr>
        <p:blipFill rotWithShape="1">
          <a:blip r:embed="rId2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83" name="Rounded Rectangle 382"/>
          <p:cNvSpPr/>
          <p:nvPr/>
        </p:nvSpPr>
        <p:spPr>
          <a:xfrm>
            <a:off x="10140696" y="457200"/>
            <a:ext cx="1517904" cy="246888"/>
          </a:xfrm>
          <a:prstGeom prst="roundRect">
            <a:avLst>
              <a:gd name="adj" fmla="val 5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0369A1"/>
                </a:solidFill>
                <a:latin typeface="DM Sans"/>
              </a:rPr>
              <a:t>DOCUMENTED DECISIONS</a:t>
            </a:r>
          </a:p>
        </p:txBody>
      </p:sp>
      <p:pic>
        <p:nvPicPr>
          <p:cNvPr id="384" name="Picture 383" descr="fig_decisio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96" y="970048"/>
            <a:ext cx="5413248" cy="3875487"/>
          </a:xfrm>
          <a:prstGeom prst="rect">
            <a:avLst/>
          </a:prstGeom>
        </p:spPr>
      </p:pic>
      <p:sp>
        <p:nvSpPr>
          <p:cNvPr id="385" name="TextBox 384"/>
          <p:cNvSpPr txBox="1"/>
          <p:nvPr/>
        </p:nvSpPr>
        <p:spPr>
          <a:xfrm>
            <a:off x="6464808" y="1572768"/>
            <a:ext cx="5029200" cy="38404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Pivot:  </a:t>
            </a:r>
            <a:r>
              <a:rPr sz="1200" b="0">
                <a:solidFill>
                  <a:srgbClr val="334155"/>
                </a:solidFill>
                <a:latin typeface="DM Sans"/>
              </a:rPr>
              <a:t>therapy bandage (already shown in labs⁵) → one job: is it full?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Choice:  </a:t>
            </a:r>
            <a:r>
              <a:rPr sz="1200" b="0">
                <a:solidFill>
                  <a:srgbClr val="334155"/>
                </a:solidFill>
                <a:latin typeface="DM Sans"/>
              </a:rPr>
              <a:t>two-zone strip (4.36) beat one zone (4.29): it spots leaks.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Kept:  </a:t>
            </a:r>
            <a:r>
              <a:rPr sz="1200" b="0">
                <a:solidFill>
                  <a:srgbClr val="334155"/>
                </a:solidFill>
                <a:latin typeface="DM Sans"/>
              </a:rPr>
              <a:t>Stage 1's Bluetooth telemetry, now a state broadcast (compiled; hardware test pending).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Corrected:  </a:t>
            </a:r>
            <a:r>
              <a:rPr sz="1200" b="0">
                <a:solidFill>
                  <a:srgbClr val="334155"/>
                </a:solidFill>
                <a:latin typeface="DM Sans"/>
              </a:rPr>
              <a:t>Stage 1 called Kapton 'medical-grade'; DuPont cautions otherwise¹¹.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200" b="0">
                <a:solidFill>
                  <a:srgbClr val="059669"/>
                </a:solidFill>
                <a:latin typeface="DM Sans"/>
              </a:rPr>
              <a:t>▪  </a:t>
            </a:r>
            <a:r>
              <a:rPr sz="1200" b="1">
                <a:solidFill>
                  <a:srgbClr val="0F172A"/>
                </a:solidFill>
                <a:latin typeface="DM Sans"/>
              </a:rPr>
              <a:t>Redesign:  </a:t>
            </a:r>
            <a:r>
              <a:rPr sz="1200" b="0">
                <a:solidFill>
                  <a:srgbClr val="334155"/>
                </a:solidFill>
                <a:latin typeface="DM Sans"/>
              </a:rPr>
              <a:t>FMEA risk → v0.2 loops each sense lead.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417" name="Google Shape;417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8" name="Google Shape;418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33400" y="956220"/>
            <a:ext cx="11125200" cy="239572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9" name="Google Shape;419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533400" y="3493008"/>
            <a:ext cx="5429250" cy="2395728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0" name="Google Shape;420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229350" y="3493008"/>
            <a:ext cx="5429250" cy="2395728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27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Roadmap</a:t>
            </a:r>
            <a:endParaRPr/>
          </a:p>
        </p:txBody>
      </p:sp>
      <p:pic>
        <p:nvPicPr>
          <p:cNvPr descr="image.png" id="424" name="Google Shape;424;p2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5247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27"/>
          <p:cNvSpPr txBox="1"/>
          <p:nvPr/>
        </p:nvSpPr>
        <p:spPr>
          <a:xfrm>
            <a:off x="1002059" y="1156245"/>
            <a:ext cx="822960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4-Month Plan on the programme's own dates: each gate must pass first</a:t>
            </a:r>
            <a:endParaRPr/>
          </a:p>
        </p:txBody>
      </p:sp>
      <p:pic>
        <p:nvPicPr>
          <p:cNvPr descr="image.png" id="435" name="Google Shape;435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52475" y="3712463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27"/>
          <p:cNvSpPr txBox="1"/>
          <p:nvPr/>
        </p:nvSpPr>
        <p:spPr>
          <a:xfrm>
            <a:off x="1002059" y="3685032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Build &amp; Bench (Months 1 - 2)</a:t>
            </a:r>
            <a:endParaRPr/>
          </a:p>
        </p:txBody>
      </p:sp>
      <p:pic>
        <p:nvPicPr>
          <p:cNvPr descr="image.png" id="439" name="Google Shape;439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48425" y="3712463"/>
            <a:ext cx="1352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27"/>
          <p:cNvSpPr txBox="1"/>
          <p:nvPr/>
        </p:nvSpPr>
        <p:spPr>
          <a:xfrm>
            <a:off x="6678959" y="3685032"/>
            <a:ext cx="484632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>
                <a:solidFill>
                  <a:srgbClr val="0F172A"/>
                </a:solidFill>
                <a:latin typeface="DM Sans"/>
              </a:rPr>
              <a:t>Validate &amp; Demo (Months 3 - 4)</a:t>
            </a:r>
            <a:endParaRPr/>
          </a:p>
        </p:txBody>
      </p:sp>
      <p:pic>
        <p:nvPicPr>
          <p:cNvPr id="447" name="Google Shape;447;p27" title="MBF_Logo_2020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48" name="Google Shape;448;p27" title="VK colored transparent logo.png"/>
          <p:cNvPicPr preferRelativeResize="0"/>
          <p:nvPr/>
        </p:nvPicPr>
        <p:blipFill rotWithShape="1">
          <a:blip r:embed="rId4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Rounded Rectangle 448"/>
          <p:cNvSpPr/>
          <p:nvPr/>
        </p:nvSpPr>
        <p:spPr>
          <a:xfrm>
            <a:off x="9829800" y="457200"/>
            <a:ext cx="1828800" cy="24688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475569"/>
                </a:solidFill>
                <a:latin typeface="DM Sans"/>
              </a:rPr>
              <a:t>FUTURE SCOPE · GATED PLAN</a:t>
            </a:r>
          </a:p>
        </p:txBody>
      </p:sp>
      <p:pic>
        <p:nvPicPr>
          <p:cNvPr id="450" name="Picture 449" descr="fig_road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4513" y="1417320"/>
            <a:ext cx="10609069" cy="1874519"/>
          </a:xfrm>
          <a:prstGeom prst="rect">
            <a:avLst/>
          </a:prstGeom>
        </p:spPr>
      </p:pic>
      <p:sp>
        <p:nvSpPr>
          <p:cNvPr id="451" name="TextBox 450"/>
          <p:cNvSpPr txBox="1"/>
          <p:nvPr/>
        </p:nvSpPr>
        <p:spPr>
          <a:xfrm>
            <a:off x="768096" y="4041648"/>
            <a:ext cx="5029200" cy="17373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Nov:  </a:t>
            </a:r>
            <a:r>
              <a:rPr sz="1150" b="0">
                <a:solidFill>
                  <a:srgbClr val="334155"/>
                </a:solidFill>
                <a:latin typeface="DM Sans"/>
              </a:rPr>
              <a:t>E2 laser tests (G1); build and bench-test the reader (G2).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Early Dec:  </a:t>
            </a:r>
            <a:r>
              <a:rPr sz="1150" b="0">
                <a:solidFill>
                  <a:srgbClr val="334155"/>
                </a:solidFill>
                <a:latin typeface="DM Sans"/>
              </a:rPr>
              <a:t>first strips on a dressing; 3-min prototype video.</a:t>
            </a:r>
          </a:p>
        </p:txBody>
      </p:sp>
      <p:sp>
        <p:nvSpPr>
          <p:cNvPr id="452" name="TextBox 451"/>
          <p:cNvSpPr txBox="1"/>
          <p:nvPr/>
        </p:nvSpPr>
        <p:spPr>
          <a:xfrm>
            <a:off x="6464808" y="4041648"/>
            <a:ext cx="5029200" cy="173736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Dec:  </a:t>
            </a:r>
            <a:r>
              <a:rPr sz="1150" b="0">
                <a:solidFill>
                  <a:srgbClr val="334155"/>
                </a:solidFill>
                <a:latin typeface="DM Sans"/>
              </a:rPr>
              <a:t>strip v0.2 + printed clamp; E4 wet tests (G3).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Jan:  </a:t>
            </a:r>
            <a:r>
              <a:rPr sz="1150" b="0">
                <a:solidFill>
                  <a:srgbClr val="334155"/>
                </a:solidFill>
                <a:latin typeface="DM Sans"/>
              </a:rPr>
              <a:t>repeatability; virtual semi-final with a live demo.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50" b="0">
                <a:solidFill>
                  <a:srgbClr val="059669"/>
                </a:solidFill>
                <a:latin typeface="DM Sans"/>
              </a:rPr>
              <a:t>▪  </a:t>
            </a:r>
            <a:r>
              <a:rPr sz="1150" b="1">
                <a:solidFill>
                  <a:srgbClr val="0F172A"/>
                </a:solidFill>
                <a:latin typeface="DM Sans"/>
              </a:rPr>
              <a:t>Stage 3:  </a:t>
            </a:r>
            <a:r>
              <a:rPr sz="1150" b="0">
                <a:solidFill>
                  <a:srgbClr val="334155"/>
                </a:solidFill>
                <a:latin typeface="DM Sans"/>
              </a:rPr>
              <a:t>working strip + reader: OK → CHANGE live on a dressing, raw data logged.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pic>
        <p:nvPicPr>
          <p:cNvPr descr="image.png" id="477" name="Google Shape;477;p3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8" name="Google Shape;478;p3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533400" y="5665754"/>
            <a:ext cx="11125200" cy="3631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9" name="Google Shape;479;p3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33400" y="956223"/>
            <a:ext cx="3568600" cy="22402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0" name="Google Shape;480;p3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311550" y="956223"/>
            <a:ext cx="3568749" cy="224028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1" name="Google Shape;481;p3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089850" y="956223"/>
            <a:ext cx="3568600" cy="2240280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30"/>
          <p:cNvSpPr txBox="1"/>
          <p:nvPr/>
        </p:nvSpPr>
        <p:spPr>
          <a:xfrm>
            <a:off x="533400" y="438150"/>
            <a:ext cx="8595360" cy="308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25" b="0">
                <a:solidFill>
                  <a:srgbClr val="0F172A"/>
                </a:solidFill>
                <a:latin typeface="Poppins SemiBold"/>
              </a:rPr>
              <a:t>Potential Solutions &amp; Risk Mitigation</a:t>
            </a:r>
            <a:endParaRPr/>
          </a:p>
        </p:txBody>
      </p:sp>
      <p:sp>
        <p:nvSpPr>
          <p:cNvPr id="484" name="Google Shape;484;p30"/>
          <p:cNvSpPr txBox="1"/>
          <p:nvPr/>
        </p:nvSpPr>
        <p:spPr>
          <a:xfrm>
            <a:off x="723900" y="5761004"/>
            <a:ext cx="10698480" cy="3291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50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60" b="1">
                <a:solidFill>
                  <a:srgbClr val="0F172A"/>
                </a:solidFill>
                <a:latin typeface="DM Sans"/>
              </a:rPr>
              <a:t>Rule We Keep: </a:t>
            </a:r>
            <a:r>
              <a:rPr sz="960" b="0">
                <a:solidFill>
                  <a:srgbClr val="334155"/>
                </a:solidFill>
                <a:latin typeface="DM Sans"/>
              </a:rPr>
              <a:t>no performance, graphene or clinical claim until it is measured.</a:t>
            </a:r>
            <a:endParaRPr/>
          </a:p>
        </p:txBody>
      </p:sp>
      <p:pic>
        <p:nvPicPr>
          <p:cNvPr descr="image.png" id="492" name="Google Shape;492;p3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752475" y="1175295"/>
            <a:ext cx="1924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30"/>
          <p:cNvSpPr txBox="1"/>
          <p:nvPr/>
        </p:nvSpPr>
        <p:spPr>
          <a:xfrm>
            <a:off x="1040159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Fixed &amp; Verified</a:t>
            </a:r>
            <a:endParaRPr/>
          </a:p>
        </p:txBody>
      </p:sp>
      <p:pic>
        <p:nvPicPr>
          <p:cNvPr descr="image.png" id="494" name="Google Shape;49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30625" y="1175295"/>
            <a:ext cx="17338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30"/>
          <p:cNvSpPr txBox="1"/>
          <p:nvPr/>
        </p:nvSpPr>
        <p:spPr>
          <a:xfrm>
            <a:off x="4799260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Designed, to Prove</a:t>
            </a:r>
            <a:endParaRPr/>
          </a:p>
        </p:txBody>
      </p:sp>
      <p:pic>
        <p:nvPicPr>
          <p:cNvPr descr="image.png" id="496" name="Google Shape;496;p3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08925" y="1175295"/>
            <a:ext cx="154334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30"/>
          <p:cNvSpPr txBox="1"/>
          <p:nvPr/>
        </p:nvSpPr>
        <p:spPr>
          <a:xfrm>
            <a:off x="8558510" y="1156245"/>
            <a:ext cx="3063240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>
                <a:solidFill>
                  <a:srgbClr val="0F172A"/>
                </a:solidFill>
                <a:latin typeface="DM Sans"/>
              </a:rPr>
              <a:t>Fallbacks</a:t>
            </a:r>
            <a:endParaRPr/>
          </a:p>
        </p:txBody>
      </p:sp>
      <p:pic>
        <p:nvPicPr>
          <p:cNvPr id="498" name="Google Shape;498;p30" title="MBF_Logo_2020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095194" y="6280800"/>
            <a:ext cx="1096806" cy="57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9" name="Google Shape;499;p30" title="VK colored transparent logo.png"/>
          <p:cNvPicPr preferRelativeResize="0"/>
          <p:nvPr/>
        </p:nvPicPr>
        <p:blipFill rotWithShape="1">
          <a:blip r:embed="rId4">
            <a:alphaModFix/>
          </a:blip>
          <a:srcRect b="44466" l="14673" r="15820" t="33074"/>
          <a:stretch/>
        </p:blipFill>
        <p:spPr>
          <a:xfrm>
            <a:off x="0" y="6280800"/>
            <a:ext cx="1786280" cy="5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" name="Rounded Rectangle 499"/>
          <p:cNvSpPr/>
          <p:nvPr/>
        </p:nvSpPr>
        <p:spPr>
          <a:xfrm>
            <a:off x="9829800" y="457200"/>
            <a:ext cx="1828800" cy="246888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/>
          <a:lstStyle/>
          <a:p>
            <a:pPr algn="ctr"/>
            <a:r>
              <a:rPr sz="750" b="1">
                <a:solidFill>
                  <a:srgbClr val="475569"/>
                </a:solidFill>
                <a:latin typeface="DM Sans"/>
              </a:rPr>
              <a:t>FIXED · DESIGNED · FUTURE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749808" y="1517904"/>
            <a:ext cx="3154680" cy="1636776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Seal: </a:t>
            </a:r>
            <a:r>
              <a:rPr sz="1100" b="0">
                <a:solidFill>
                  <a:srgbClr val="334155"/>
                </a:solidFill>
                <a:latin typeface="DM Sans"/>
              </a:rPr>
              <a:t>starts at x = 23 mm; 0 clash.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Units: </a:t>
            </a:r>
            <a:r>
              <a:rPr sz="1100" b="0">
                <a:solidFill>
                  <a:srgbClr val="334155"/>
                </a:solidFill>
                <a:latin typeface="DM Sans"/>
              </a:rPr>
              <a:t>all STEP files in mm.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Checks: </a:t>
            </a:r>
            <a:r>
              <a:rPr sz="1100" b="0">
                <a:solidFill>
                  <a:srgbClr val="334155"/>
                </a:solidFill>
                <a:latin typeface="DM Sans"/>
              </a:rPr>
              <a:t>99 CAD checks pass.</a:t>
            </a:r>
          </a:p>
        </p:txBody>
      </p:sp>
      <p:sp>
        <p:nvSpPr>
          <p:cNvPr id="502" name="TextBox 501"/>
          <p:cNvSpPr txBox="1"/>
          <p:nvPr/>
        </p:nvSpPr>
        <p:spPr>
          <a:xfrm>
            <a:off x="4526280" y="1517904"/>
            <a:ext cx="3154680" cy="1636776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v0.2 strip: </a:t>
            </a:r>
            <a:r>
              <a:rPr sz="1100" b="0">
                <a:solidFill>
                  <a:srgbClr val="334155"/>
                </a:solidFill>
                <a:latin typeface="DM Sans"/>
              </a:rPr>
              <a:t>every sense lead looped.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Contact: </a:t>
            </a:r>
            <a:r>
              <a:rPr sz="1100" b="0">
                <a:solidFill>
                  <a:srgbClr val="334155"/>
                </a:solidFill>
                <a:latin typeface="DM Sans"/>
              </a:rPr>
              <a:t>silver pads, rounded pins.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Self-test: </a:t>
            </a:r>
            <a:r>
              <a:rPr sz="1100" b="0">
                <a:solidFill>
                  <a:srgbClr val="334155"/>
                </a:solidFill>
                <a:latin typeface="DM Sans"/>
              </a:rPr>
              <a:t>check resistor → FAULT.</a:t>
            </a:r>
          </a:p>
        </p:txBody>
      </p:sp>
      <p:sp>
        <p:nvSpPr>
          <p:cNvPr id="503" name="TextBox 502"/>
          <p:cNvSpPr txBox="1"/>
          <p:nvPr/>
        </p:nvSpPr>
        <p:spPr>
          <a:xfrm>
            <a:off x="8311896" y="1517904"/>
            <a:ext cx="3154680" cy="1636776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Wider lines: </a:t>
            </a:r>
            <a:r>
              <a:rPr sz="1100" b="0">
                <a:solidFill>
                  <a:srgbClr val="334155"/>
                </a:solidFill>
                <a:latin typeface="DM Sans"/>
              </a:rPr>
              <a:t>if E2 says so.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Process: </a:t>
            </a:r>
            <a:r>
              <a:rPr sz="1100" b="0">
                <a:solidFill>
                  <a:srgbClr val="334155"/>
                </a:solidFill>
                <a:latin typeface="DM Sans"/>
              </a:rPr>
              <a:t>slower passes, log current.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100" b="1">
                <a:solidFill>
                  <a:srgbClr val="0F172A"/>
                </a:solidFill>
                <a:latin typeface="DM Sans"/>
              </a:rPr>
              <a:t>Concept: </a:t>
            </a:r>
            <a:r>
              <a:rPr sz="1100" b="0">
                <a:solidFill>
                  <a:srgbClr val="334155"/>
                </a:solidFill>
                <a:latin typeface="DM Sans"/>
              </a:rPr>
              <a:t>one-zone strip (score 4.29).</a:t>
            </a:r>
          </a:p>
        </p:txBody>
      </p:sp>
      <p:sp>
        <p:nvSpPr>
          <p:cNvPr id="504" name="Rounded Rectangle 503"/>
          <p:cNvSpPr/>
          <p:nvPr/>
        </p:nvSpPr>
        <p:spPr>
          <a:xfrm>
            <a:off x="530352" y="3364992"/>
            <a:ext cx="11128248" cy="2176272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TextBox 504"/>
          <p:cNvSpPr txBox="1"/>
          <p:nvPr/>
        </p:nvSpPr>
        <p:spPr>
          <a:xfrm>
            <a:off x="749808" y="3474720"/>
            <a:ext cx="10698480" cy="27432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sz="1150" b="1">
                <a:solidFill>
                  <a:srgbClr val="0F172A"/>
                </a:solidFill>
                <a:latin typeface="DM Sans"/>
              </a:rPr>
              <a:t>Future Scope &amp; Validation Plan</a:t>
            </a:r>
          </a:p>
        </p:txBody>
      </p:sp>
      <p:sp>
        <p:nvSpPr>
          <p:cNvPr id="506" name="TextBox 505"/>
          <p:cNvSpPr txBox="1"/>
          <p:nvPr/>
        </p:nvSpPr>
        <p:spPr>
          <a:xfrm>
            <a:off x="749808" y="3886200"/>
            <a:ext cx="5257800" cy="15544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Experiments:  </a:t>
            </a:r>
            <a:r>
              <a:rPr sz="1100" b="0">
                <a:solidFill>
                  <a:srgbClr val="334155"/>
                </a:solidFill>
                <a:latin typeface="DM Sans"/>
              </a:rPr>
              <a:t>E2 laser, reader bench test, E4 wet tests.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Material:  </a:t>
            </a:r>
            <a:r>
              <a:rPr sz="1100" b="0">
                <a:solidFill>
                  <a:srgbClr val="334155"/>
                </a:solidFill>
                <a:latin typeface="DM Sans"/>
              </a:rPr>
              <a:t>Raman and SEM before any 'graphene' claim.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Reliability:  </a:t>
            </a:r>
            <a:r>
              <a:rPr sz="1100" b="0">
                <a:solidFill>
                  <a:srgbClr val="334155"/>
                </a:solidFill>
                <a:latin typeface="DM Sans"/>
              </a:rPr>
              <a:t>bending, contact cycling, humidity drift.</a:t>
            </a:r>
          </a:p>
        </p:txBody>
      </p:sp>
      <p:sp>
        <p:nvSpPr>
          <p:cNvPr id="507" name="TextBox 506"/>
          <p:cNvSpPr txBox="1"/>
          <p:nvPr/>
        </p:nvSpPr>
        <p:spPr>
          <a:xfrm>
            <a:off x="6263640" y="3886200"/>
            <a:ext cx="5257800" cy="1554480"/>
          </a:xfrm>
          <a:prstGeom prst="rect">
            <a:avLst/>
          </a:prstGeom>
          <a:noFill/>
        </p:spPr>
        <p:txBody>
          <a:bodyPr wrap="square" lIns="18288" rIns="18288" tIns="9144" bIns="9144" anchor="t"/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Product:  </a:t>
            </a:r>
            <a:r>
              <a:rPr sz="1100" b="0">
                <a:solidFill>
                  <a:srgbClr val="334155"/>
                </a:solidFill>
                <a:latin typeface="DM Sans"/>
              </a:rPr>
              <a:t>battery pod; phone app on the BLE broadcast; strips per dressing.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Before patients:  </a:t>
            </a:r>
            <a:r>
              <a:rPr sz="1100" b="0">
                <a:solidFill>
                  <a:srgbClr val="334155"/>
                </a:solidFill>
                <a:latin typeface="DM Sans"/>
              </a:rPr>
              <a:t>ISO 10993, IEC 60601-1, ethics approval.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 b="0">
                <a:solidFill>
                  <a:srgbClr val="059669"/>
                </a:solidFill>
                <a:latin typeface="DM Sans"/>
              </a:rPr>
              <a:t>▪  </a:t>
            </a:r>
            <a:r>
              <a:rPr sz="1100" b="1">
                <a:solidFill>
                  <a:srgbClr val="0F172A"/>
                </a:solidFill>
                <a:latin typeface="DM Sans"/>
              </a:rPr>
              <a:t>Not claimed:  </a:t>
            </a:r>
            <a:r>
              <a:rPr sz="1100" b="0">
                <a:solidFill>
                  <a:srgbClr val="334155"/>
                </a:solidFill>
                <a:latin typeface="DM Sans"/>
              </a:rPr>
              <a:t>sensing performance, graphene, clinical benefit.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