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9" r:id="rId10"/>
    <p:sldId id="276" r:id="rId47"/>
    <p:sldId id="277" r:id="rId48"/>
    <p:sldId id="261" r:id="rId12"/>
    <p:sldId id="278" r:id="rId49"/>
    <p:sldId id="263" r:id="rId14"/>
    <p:sldId id="279" r:id="rId50"/>
    <p:sldId id="265" r:id="rId16"/>
    <p:sldId id="280" r:id="rId51"/>
    <p:sldId id="267" r:id="rId18"/>
    <p:sldId id="281" r:id="rId52"/>
    <p:sldId id="270" r:id="rId21"/>
    <p:sldId id="282" r:id="rId53"/>
    <p:sldId id="273" r:id="rId24"/>
    <p:sldId id="283" r:id="rId54"/>
    <p:sldId id="274" r:id="rId25"/>
    <p:sldId id="275" r:id="rId26"/>
  </p:sldIdLst>
  <p:sldSz cy="6858000" cx="12192000"/>
  <p:notesSz cx="6858000" cy="9144000"/>
  <p:embeddedFontLst>
    <p:embeddedFont>
      <p:font typeface="DM Sans Medium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  <p:embeddedFont>
      <p:font typeface="DM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AD28DD-9E69-47B7-B3C4-3EE7697E9F47}">
  <a:tblStyle styleId="{BBAD28DD-9E69-47B7-B3C4-3EE7697E9F4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18" Type="http://schemas.openxmlformats.org/officeDocument/2006/relationships/slide" Target="slides/slide12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font" Target="fonts/DMSansMedium-regular.fntdata"/><Relationship Id="rId28" Type="http://schemas.openxmlformats.org/officeDocument/2006/relationships/font" Target="fonts/DMSansMedium-bold.fntdata"/><Relationship Id="rId29" Type="http://schemas.openxmlformats.org/officeDocument/2006/relationships/font" Target="fonts/DMSansMedium-italic.fntdata"/><Relationship Id="rId30" Type="http://schemas.openxmlformats.org/officeDocument/2006/relationships/font" Target="fonts/DMSansMedium-boldItalic.fntdata"/><Relationship Id="rId31" Type="http://schemas.openxmlformats.org/officeDocument/2006/relationships/font" Target="fonts/Poppins-regular.fntdata"/><Relationship Id="rId32" Type="http://schemas.openxmlformats.org/officeDocument/2006/relationships/font" Target="fonts/Poppins-bold.fntdata"/><Relationship Id="rId33" Type="http://schemas.openxmlformats.org/officeDocument/2006/relationships/font" Target="fonts/Poppins-italic.fntdata"/><Relationship Id="rId34" Type="http://schemas.openxmlformats.org/officeDocument/2006/relationships/font" Target="fonts/Poppins-boldItalic.fntdata"/><Relationship Id="rId35" Type="http://schemas.openxmlformats.org/officeDocument/2006/relationships/font" Target="fonts/Inter-regular.fntdata"/><Relationship Id="rId36" Type="http://schemas.openxmlformats.org/officeDocument/2006/relationships/font" Target="fonts/Inter-bold.fntdata"/><Relationship Id="rId37" Type="http://schemas.openxmlformats.org/officeDocument/2006/relationships/font" Target="fonts/Inter-italic.fntdata"/><Relationship Id="rId38" Type="http://schemas.openxmlformats.org/officeDocument/2006/relationships/font" Target="fonts/Inter-boldItalic.fntdata"/><Relationship Id="rId39" Type="http://schemas.openxmlformats.org/officeDocument/2006/relationships/font" Target="fonts/PoppinsSemiBold-regular.fntdata"/><Relationship Id="rId40" Type="http://schemas.openxmlformats.org/officeDocument/2006/relationships/font" Target="fonts/PoppinsSemiBold-bold.fntdata"/><Relationship Id="rId41" Type="http://schemas.openxmlformats.org/officeDocument/2006/relationships/font" Target="fonts/PoppinsSemiBold-italic.fntdata"/><Relationship Id="rId42" Type="http://schemas.openxmlformats.org/officeDocument/2006/relationships/font" Target="fonts/PoppinsSemiBold-boldItalic.fntdata"/><Relationship Id="rId43" Type="http://schemas.openxmlformats.org/officeDocument/2006/relationships/font" Target="fonts/DMSans-regular.fntdata"/><Relationship Id="rId44" Type="http://schemas.openxmlformats.org/officeDocument/2006/relationships/font" Target="fonts/DMSans-bold.fntdata"/><Relationship Id="rId45" Type="http://schemas.openxmlformats.org/officeDocument/2006/relationships/font" Target="fonts/DMSans-italic.fntdata"/><Relationship Id="rId46" Type="http://schemas.openxmlformats.org/officeDocument/2006/relationships/font" Target="fonts/DMSans-boldItalic.fntdata"/><Relationship Id="rId47" Type="http://schemas.openxmlformats.org/officeDocument/2006/relationships/slide" Target="slides/slide21.xml"/><Relationship Id="rId48" Type="http://schemas.openxmlformats.org/officeDocument/2006/relationships/slide" Target="slides/slide22.xml"/><Relationship Id="rId49" Type="http://schemas.openxmlformats.org/officeDocument/2006/relationships/slide" Target="slides/slide23.xml"/><Relationship Id="rId50" Type="http://schemas.openxmlformats.org/officeDocument/2006/relationships/slide" Target="slides/slide24.xml"/><Relationship Id="rId51" Type="http://schemas.openxmlformats.org/officeDocument/2006/relationships/slide" Target="slides/slide25.xml"/><Relationship Id="rId52" Type="http://schemas.openxmlformats.org/officeDocument/2006/relationships/slide" Target="slides/slide26.xml"/><Relationship Id="rId53" Type="http://schemas.openxmlformats.org/officeDocument/2006/relationships/slide" Target="slides/slide27.xml"/><Relationship Id="rId54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Core innovation: two laser-carbonised electrode zones, at the pad centre and on the dressing maker's change line, let a clip-on reader say OK, CHANGE or CHECK without lifting the dressing.</a:t>
            </a:r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b70659208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Target user: nurses and carers (diabetic foot, venous leg, pressure ulcers). Public search: WoundSense reads one point [1]; a lab study mapped 8 points [3]; diaper wetness strips with clip-on readers exist [4]; smart bandages use custom electronics [5]. Visual change indicators exist (ALLEVYN LIFE: 'At 75%, it's time to change' [14]) but need the dressing face to be visible. Why now: some makers define 'full' as a distance from the pad edge [2] and conductive carbon can be laser-written on polyimide in one pass [7]. Project: Dermasense, VK26-IITI-HT-0050, Health Tech.</a:t>
            </a:r>
          </a:p>
        </p:txBody>
      </p:sp>
      <p:sp>
        <p:nvSpPr>
          <p:cNvPr id="123" name="Google Shape;123;g3fb70659208_26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b70659208_26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Electrode lines/gaps 1.0 mm (provisional until E2). Windows 6 x 3.9 mm. Expected wet 4.2-14.8 kOhm, dry &gt;= 1 MOhm (calc_readout.py). Self-check: 100 kOhm 0.1 % resistor (+/-5 %) and COM loop -&gt; FAULT. BLE: one 13-byte advertisement per scan (ble_beacon.h), compiled, not run on hardware. Sources: config.h, strip_v0_1_geometry.json.</a:t>
            </a:r>
          </a:p>
        </p:txBody>
      </p:sp>
      <p:sp>
        <p:nvSpPr>
          <p:cNvPr id="180" name="Google Shape;180;g3fb70659208_26_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b70659208_26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Hand calculations (calc_mechanical.py): 1.48 mm pin compression, 2.9 N total, lid deflection 11 um, tolerance stack 0.49 mm vs +/-1.35 mm, 0.62 % bending strain at 10 mm radius, 20 MPa vs 231 MPa at the dowels. No FEA: loads &lt; 3 N. 9 parts, 1 assembly, 7 A3 drawings, STEP. Seal clash was 9.0 mm3; now 0.</a:t>
            </a:r>
          </a:p>
        </p:txBody>
      </p:sp>
      <p:sp>
        <p:nvSpPr>
          <p:cNvPr id="232" name="Google Shape;232;g3fb70659208_26_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70659208_26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Full pin map: 7_firmware/WIRING.md (generated from the netlist). I2C on GPIO6/7 (ADS1115 0x48); A1 = 3V3 rail; LEDs on GPIO0/1/21; strapping pins GPIO2/8/9 unused.</a:t>
            </a:r>
          </a:p>
        </p:txBody>
      </p:sp>
      <p:sp>
        <p:nvSpPr>
          <p:cNvPr id="275" name="Google Shape;275;g3fb70659208_26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b70659208_26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Native files in the repository: .SLDPRT, .SLDASM, .SLDDRW, .STEP, .kicad_sch, .ino, .dxf. CAD re-check: 99 pass, 0 fail. KiCad ERC log: 0 violations. Faculty sign-off follows the E2 review. We do not stage or generate lab photos.</a:t>
            </a:r>
          </a:p>
        </p:txBody>
      </p:sp>
      <p:sp>
        <p:nvSpPr>
          <p:cNvPr id="360" name="Google Shape;360;g3fb70659208_26_1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b70659208_26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Full FMEA: 3_decisions/fmea_v0_1.md (15 modes). Laser safety: signed checklist each session (4_sensor_strip/e2_experiment/E2_safety_checklist.md). Bench test T8 checks average DC &lt; 5 mV.</a:t>
            </a:r>
          </a:p>
        </p:txBody>
      </p:sp>
      <p:sp>
        <p:nvSpPr>
          <p:cNvPr id="415" name="Google Shape;415;g3fb70659208_26_1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b70659208_26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Evidence: 5_cad/verify_cad_report.md (interference), 3_decisions/fmea_v0_1.md, 4_sensor_strip/machine_record.md.</a:t>
            </a:r>
          </a:p>
        </p:txBody>
      </p:sp>
      <p:sp>
        <p:nvSpPr>
          <p:cNvPr id="475" name="Google Shape;475;g3fb70659208_26_1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Full list with verification notes: 2_research/literature.csv and research_matrix.csv (41 + 16 entries).</a:t>
            </a:r>
          </a:p>
        </p:txBody>
      </p:sp>
      <p:sp>
        <p:nvSpPr>
          <p:cNvPr id="502" name="Google Shape;5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b70659208_26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Generators: 1_presentation/render_cad.py and make_figures.py.</a:t>
            </a:r>
          </a:p>
        </p:txBody>
      </p:sp>
      <p:sp>
        <p:nvSpPr>
          <p:cNvPr id="519" name="Google Shape;519;g3fb70659208_26_2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Milne 2016 [1]; Dealey 2006 [6] (0.10 and 0.21 g/cm²/24 h by one method, mean 1.3 by the other); UK survey of &gt;200 patients commissioned by Mölnlycke, 2018 [13]: average dressing time 18 min, about 5 changes a week (patient-reported, industry-sponsored); Truemeds listings [15]: Mepilex Lite 10x10 cm Rs 242, Mepilex Border 10x10 cm Rs 514 (pack size unclear). Not yet measured: nurse minutes per check in Indian clinics.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Targets and projections, not results. Payback: strip &lt;= Rs 100 (estimate) / dressing Rs 242-514 [15] = 0.19-0.41, i.e. one avoided change in every 2.4-5.1 dressings. 'Up to 44.9 %' assumes every change waits for CHANGE; some changes are made for other clinical reasons, so the real figure is lower and must be measured. Bluetooth: compiled, not yet tested on hardware (bench test T11). FAULT covers a broken strip or reader error.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ADS1115 single-shot 128 SPS, auto-range; A1 reads the 3V3 rail. Rx from both phases, averaged, scaled by the check resistor (+/-5 % else FAULT), minus 2 kOhm protection. Idle pins high-Z; zones frozen during FAULT. Compiles for ESP32-C3 with 0 warnings (650,349 bytes, 49 % of flash, with Bluetooth). BLE payload: state, wet flags, scan number, both zone resistances; unencrypted, test company ID 0xFFFF, bench only. Decoder: 7_firmware/tools/decode_beacon.py.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Graphene not confirmed until Raman. Machine (LaserCAD config): 1200 x 900 mm bed, 20 kHz PWM, 98 % cap. Logged per layer: min/max power, speed, 0.1 mm interval, passes, scan direction, focus, tube current. E2 = 4 bracket coupons (power 10/12/14, speed x0.67/1/1.5) + 3 resolution coupons.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Line items: 6_electronics/bom_v0_1.csv (23 lines, each traced to the file that needs it). First order: silver paint, 1 % resistor set, 0.1 % 100 kOhm resistors, ADS1115, ESP32-C3. Quoted 19 Oct 2026 incl. GST: Probots PRO4607 ESP32-C3 SuperMini Rs 242; Probots PRO789 ADS1115 Rs 125; Hubtronics 05880 P75-B1 pack of 100 Rs 354. Total leaves out the borrowed meter, USB cable and E4 dressings. Ranges = sum of min/max estimates.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 concepts scored on 13 weighted criteria (3_decisions/decision_matrix.md). Verification fixes: seal moved off the clamp; STEP was in cm, now mm; drawings rebuilt first-angle. FMEA F04 (cracked sense lead reads dry, RPN 224). 4 zones were cut to 2 until E2 proves finer lines. Stage 1 also estimated '60 % fewer changes'; we dropped that number (no source). IP: concept and files are the team's own; no patent filed yet.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Gates: G1 E2 Rs CV &lt;= 20 %; G2 reader bench test T0-T11; G3 E4 alert within +/-10 %; G4 live demo with logged raw data. Programme dates (vishwakarma-awards.org and the Internshala listing, read 19 Oct 2026): prototype video + updated PPT in December (listing: 4 Dec 2026); Health Tech semi-final interviews in January; IIT Indore bootcamp and finale 26 Jan - 1 Feb 2027. No patient use. Raman/SEM via a partner lab if access is granted.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Future scope details: 4_sensor_strip/e2_experiment/E2_measurements_and_unknowns.md.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7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14.png"/><Relationship Id="rId9" Type="http://schemas.openxmlformats.org/officeDocument/2006/relationships/image" Target="../media/image11.png"/><Relationship Id="rId10" Type="http://schemas.openxmlformats.org/officeDocument/2006/relationships/image" Target="../media/image15.png"/><Relationship Id="rId11" Type="http://schemas.openxmlformats.org/officeDocument/2006/relationships/image" Target="../media/image18.png"/><Relationship Id="rId12" Type="http://schemas.openxmlformats.org/officeDocument/2006/relationships/image" Target="../media/image10.png"/><Relationship Id="rId13" Type="http://schemas.openxmlformats.org/officeDocument/2006/relationships/image" Target="../media/image22.png"/><Relationship Id="rId14" Type="http://schemas.openxmlformats.org/officeDocument/2006/relationships/image" Target="../media/image70.png"/><Relationship Id="rId15" Type="http://schemas.openxmlformats.org/officeDocument/2006/relationships/image" Target="../media/image7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15.png"/><Relationship Id="rId8" Type="http://schemas.openxmlformats.org/officeDocument/2006/relationships/image" Target="../media/image23.png"/><Relationship Id="rId9" Type="http://schemas.openxmlformats.org/officeDocument/2006/relationships/image" Target="../media/image36.png"/><Relationship Id="rId10" Type="http://schemas.openxmlformats.org/officeDocument/2006/relationships/image" Target="../media/image22.png"/><Relationship Id="rId11" Type="http://schemas.openxmlformats.org/officeDocument/2006/relationships/image" Target="../media/image70.png"/><Relationship Id="rId12" Type="http://schemas.openxmlformats.org/officeDocument/2006/relationships/image" Target="../media/image8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15.png"/><Relationship Id="rId8" Type="http://schemas.openxmlformats.org/officeDocument/2006/relationships/image" Target="../media/image26.png"/><Relationship Id="rId9" Type="http://schemas.openxmlformats.org/officeDocument/2006/relationships/image" Target="../media/image29.png"/><Relationship Id="rId10" Type="http://schemas.openxmlformats.org/officeDocument/2006/relationships/image" Target="../media/image22.png"/><Relationship Id="rId11" Type="http://schemas.openxmlformats.org/officeDocument/2006/relationships/image" Target="../media/image70.png"/><Relationship Id="rId12" Type="http://schemas.openxmlformats.org/officeDocument/2006/relationships/image" Target="../media/image8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15.png"/><Relationship Id="rId8" Type="http://schemas.openxmlformats.org/officeDocument/2006/relationships/image" Target="../media/image38.png"/><Relationship Id="rId9" Type="http://schemas.openxmlformats.org/officeDocument/2006/relationships/image" Target="../media/image35.png"/><Relationship Id="rId10" Type="http://schemas.openxmlformats.org/officeDocument/2006/relationships/image" Target="../media/image22.png"/><Relationship Id="rId11" Type="http://schemas.openxmlformats.org/officeDocument/2006/relationships/image" Target="../media/image70.png"/><Relationship Id="rId12" Type="http://schemas.openxmlformats.org/officeDocument/2006/relationships/image" Target="../media/image8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15.png"/><Relationship Id="rId8" Type="http://schemas.openxmlformats.org/officeDocument/2006/relationships/image" Target="../media/image50.png"/><Relationship Id="rId9" Type="http://schemas.openxmlformats.org/officeDocument/2006/relationships/image" Target="../media/image53.png"/><Relationship Id="rId10" Type="http://schemas.openxmlformats.org/officeDocument/2006/relationships/image" Target="../media/image22.png"/><Relationship Id="rId11" Type="http://schemas.openxmlformats.org/officeDocument/2006/relationships/image" Target="../media/image70.png"/><Relationship Id="rId12" Type="http://schemas.openxmlformats.org/officeDocument/2006/relationships/image" Target="../media/image8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9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15.png"/><Relationship Id="rId8" Type="http://schemas.openxmlformats.org/officeDocument/2006/relationships/image" Target="../media/image54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22.png"/><Relationship Id="rId12" Type="http://schemas.openxmlformats.org/officeDocument/2006/relationships/image" Target="../media/image70.png"/><Relationship Id="rId13" Type="http://schemas.openxmlformats.org/officeDocument/2006/relationships/image" Target="../media/image8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66.png"/><Relationship Id="rId6" Type="http://schemas.openxmlformats.org/officeDocument/2006/relationships/image" Target="../media/image61.png"/><Relationship Id="rId7" Type="http://schemas.openxmlformats.org/officeDocument/2006/relationships/image" Target="../media/image63.png"/><Relationship Id="rId8" Type="http://schemas.openxmlformats.org/officeDocument/2006/relationships/image" Target="../media/image15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7.png"/><Relationship Id="rId12" Type="http://schemas.openxmlformats.org/officeDocument/2006/relationships/image" Target="../media/image22.png"/><Relationship Id="rId13" Type="http://schemas.openxmlformats.org/officeDocument/2006/relationships/image" Target="../media/image70.png"/><Relationship Id="rId14" Type="http://schemas.openxmlformats.org/officeDocument/2006/relationships/image" Target="../media/image9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22.png"/><Relationship Id="rId6" Type="http://schemas.openxmlformats.org/officeDocument/2006/relationships/image" Target="../media/image70.png"/><Relationship Id="rId7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6.png"/><Relationship Id="rId4" Type="http://schemas.openxmlformats.org/officeDocument/2006/relationships/image" Target="../media/image74.png"/><Relationship Id="rId5" Type="http://schemas.openxmlformats.org/officeDocument/2006/relationships/image" Target="../media/image71.png"/><Relationship Id="rId6" Type="http://schemas.openxmlformats.org/officeDocument/2006/relationships/image" Target="../media/image73.png"/><Relationship Id="rId7" Type="http://schemas.openxmlformats.org/officeDocument/2006/relationships/image" Target="../media/image72.png"/><Relationship Id="rId8" Type="http://schemas.openxmlformats.org/officeDocument/2006/relationships/image" Target="../media/image75.png"/><Relationship Id="rId9" Type="http://schemas.openxmlformats.org/officeDocument/2006/relationships/image" Target="../media/image15.png"/><Relationship Id="rId10" Type="http://schemas.openxmlformats.org/officeDocument/2006/relationships/image" Target="../media/image22.png"/><Relationship Id="rId11" Type="http://schemas.openxmlformats.org/officeDocument/2006/relationships/image" Target="../media/image70.png"/><Relationship Id="rId12" Type="http://schemas.openxmlformats.org/officeDocument/2006/relationships/image" Target="../media/image77.png"/><Relationship Id="rId13" Type="http://schemas.openxmlformats.org/officeDocument/2006/relationships/image" Target="../media/image78.png"/><Relationship Id="rId14" Type="http://schemas.openxmlformats.org/officeDocument/2006/relationships/image" Target="../media/image79.png"/><Relationship Id="rId15" Type="http://schemas.openxmlformats.org/officeDocument/2006/relationships/image" Target="../media/image80.png"/><Relationship Id="rId16" Type="http://schemas.openxmlformats.org/officeDocument/2006/relationships/image" Target="../media/image81.png"/><Relationship Id="rId17" Type="http://schemas.openxmlformats.org/officeDocument/2006/relationships/image" Target="../media/image82.png"/><Relationship Id="rId18" Type="http://schemas.openxmlformats.org/officeDocument/2006/relationships/image" Target="../media/image83.png"/><Relationship Id="rId19" Type="http://schemas.openxmlformats.org/officeDocument/2006/relationships/image" Target="../media/image84.png"/><Relationship Id="rId20" Type="http://schemas.openxmlformats.org/officeDocument/2006/relationships/image" Target="../media/image85.png"/><Relationship Id="rId21" Type="http://schemas.openxmlformats.org/officeDocument/2006/relationships/image" Target="../media/image86.png"/><Relationship Id="rId22" Type="http://schemas.openxmlformats.org/officeDocument/2006/relationships/image" Target="../media/image87.png"/><Relationship Id="rId23" Type="http://schemas.openxmlformats.org/officeDocument/2006/relationships/image" Target="../media/image88.png"/><Relationship Id="rId24" Type="http://schemas.openxmlformats.org/officeDocument/2006/relationships/image" Target="../media/image89.png"/><Relationship Id="rId25" Type="http://schemas.openxmlformats.org/officeDocument/2006/relationships/image" Target="../media/image9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11.png"/><Relationship Id="rId9" Type="http://schemas.openxmlformats.org/officeDocument/2006/relationships/image" Target="../media/image70.png"/><Relationship Id="rId10" Type="http://schemas.openxmlformats.org/officeDocument/2006/relationships/image" Target="../media/image5.png"/><Relationship Id="rId11" Type="http://schemas.openxmlformats.org/officeDocument/2006/relationships/image" Target="../media/image9.png"/><Relationship Id="rId12" Type="http://schemas.openxmlformats.org/officeDocument/2006/relationships/image" Target="../media/image21.png"/><Relationship Id="rId13" Type="http://schemas.openxmlformats.org/officeDocument/2006/relationships/image" Target="../media/image14.png"/><Relationship Id="rId14" Type="http://schemas.openxmlformats.org/officeDocument/2006/relationships/image" Target="../media/image78.png"/><Relationship Id="rId1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11.png"/><Relationship Id="rId9" Type="http://schemas.openxmlformats.org/officeDocument/2006/relationships/image" Target="../media/image70.png"/><Relationship Id="rId10" Type="http://schemas.openxmlformats.org/officeDocument/2006/relationships/image" Target="../media/image5.png"/><Relationship Id="rId11" Type="http://schemas.openxmlformats.org/officeDocument/2006/relationships/image" Target="../media/image9.png"/><Relationship Id="rId12" Type="http://schemas.openxmlformats.org/officeDocument/2006/relationships/image" Target="../media/image21.png"/><Relationship Id="rId13" Type="http://schemas.openxmlformats.org/officeDocument/2006/relationships/image" Target="../media/image14.png"/><Relationship Id="rId14" Type="http://schemas.openxmlformats.org/officeDocument/2006/relationships/image" Target="../media/image79.png"/><Relationship Id="rId1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Relationship Id="rId9" Type="http://schemas.openxmlformats.org/officeDocument/2006/relationships/image" Target="../media/image15.png"/><Relationship Id="rId10" Type="http://schemas.openxmlformats.org/officeDocument/2006/relationships/image" Target="../media/image26.png"/><Relationship Id="rId11" Type="http://schemas.openxmlformats.org/officeDocument/2006/relationships/image" Target="../media/image81.png"/><Relationship Id="rId1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Relationship Id="rId9" Type="http://schemas.openxmlformats.org/officeDocument/2006/relationships/image" Target="../media/image15.png"/><Relationship Id="rId10" Type="http://schemas.openxmlformats.org/officeDocument/2006/relationships/image" Target="../media/image26.png"/><Relationship Id="rId11" Type="http://schemas.openxmlformats.org/officeDocument/2006/relationships/image" Target="../media/image83.png"/><Relationship Id="rId1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35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Relationship Id="rId9" Type="http://schemas.openxmlformats.org/officeDocument/2006/relationships/image" Target="../media/image15.png"/><Relationship Id="rId10" Type="http://schemas.openxmlformats.org/officeDocument/2006/relationships/image" Target="../media/image38.png"/><Relationship Id="rId11" Type="http://schemas.openxmlformats.org/officeDocument/2006/relationships/image" Target="../media/image85.png"/><Relationship Id="rId1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53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Relationship Id="rId9" Type="http://schemas.openxmlformats.org/officeDocument/2006/relationships/image" Target="../media/image15.png"/><Relationship Id="rId10" Type="http://schemas.openxmlformats.org/officeDocument/2006/relationships/image" Target="../media/image50.png"/><Relationship Id="rId11" Type="http://schemas.openxmlformats.org/officeDocument/2006/relationships/image" Target="../media/image87.png"/><Relationship Id="rId1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57.png"/><Relationship Id="rId4" Type="http://schemas.openxmlformats.org/officeDocument/2006/relationships/image" Target="../media/image70.png"/><Relationship Id="rId5" Type="http://schemas.openxmlformats.org/officeDocument/2006/relationships/image" Target="../media/image3.png"/><Relationship Id="rId6" Type="http://schemas.openxmlformats.org/officeDocument/2006/relationships/image" Target="../media/image49.png"/><Relationship Id="rId7" Type="http://schemas.openxmlformats.org/officeDocument/2006/relationships/image" Target="../media/image56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15.png"/><Relationship Id="rId11" Type="http://schemas.openxmlformats.org/officeDocument/2006/relationships/image" Target="../media/image54.png"/><Relationship Id="rId12" Type="http://schemas.openxmlformats.org/officeDocument/2006/relationships/image" Target="../media/image89.png"/><Relationship Id="rId1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7.png"/><Relationship Id="rId3" Type="http://schemas.openxmlformats.org/officeDocument/2006/relationships/image" Target="../media/image65.png"/><Relationship Id="rId4" Type="http://schemas.openxmlformats.org/officeDocument/2006/relationships/image" Target="../media/image70.png"/><Relationship Id="rId5" Type="http://schemas.openxmlformats.org/officeDocument/2006/relationships/image" Target="../media/image22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64.png"/><Relationship Id="rId9" Type="http://schemas.openxmlformats.org/officeDocument/2006/relationships/image" Target="../media/image66.png"/><Relationship Id="rId10" Type="http://schemas.openxmlformats.org/officeDocument/2006/relationships/image" Target="../media/image61.png"/><Relationship Id="rId11" Type="http://schemas.openxmlformats.org/officeDocument/2006/relationships/image" Target="../media/image63.png"/><Relationship Id="rId12" Type="http://schemas.openxmlformats.org/officeDocument/2006/relationships/image" Target="../media/image15.png"/><Relationship Id="rId1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20528" y="3182619"/>
            <a:ext cx="7551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Vishwakarma Application ID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011680" y="3931920"/>
            <a:ext cx="81655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0369A1"/>
                </a:solidFill>
                <a:latin typeface="Poppins SemiBold"/>
              </a:rPr>
              <a:t>VK26-IITI-HT-0050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0213" y="2268205"/>
            <a:ext cx="5851614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00669" y="80825"/>
            <a:ext cx="1491330" cy="78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80825"/>
            <a:ext cx="2428825" cy="7848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1280160" y="4590288"/>
            <a:ext cx="9628632" cy="45720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0">
                <a:solidFill>
                  <a:srgbClr val="0F172A"/>
                </a:solidFill>
                <a:latin typeface="Poppins SemiBold"/>
              </a:rPr>
              <a:t>Dermasense: a laser-written strip that reads a dressing's own 'change line'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80160" y="5138928"/>
            <a:ext cx="9628632" cy="73152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00" b="0">
                <a:solidFill>
                  <a:srgbClr val="334155"/>
                </a:solidFill>
                <a:latin typeface="DM Sans"/>
              </a:rPr>
              <a:t>Soham Prabhakar Kadu · Bhakti Ajay Kadam</a:t>
            </a:r>
          </a:p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00" b="0">
                <a:solidFill>
                  <a:srgbClr val="334155"/>
                </a:solidFill>
                <a:latin typeface="DM Sans"/>
              </a:rPr>
              <a:t>Health Tech: Emergency Response &amp; Remote Monitoring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80160" y="5897880"/>
            <a:ext cx="9628632" cy="27432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1">
                <a:solidFill>
                  <a:srgbClr val="64748B"/>
                </a:solidFill>
                <a:latin typeface="DM Sans"/>
              </a:rPr>
              <a:t>Evidence key:  </a:t>
            </a:r>
            <a:r>
              <a:rPr sz="850" b="1">
                <a:solidFill>
                  <a:srgbClr val="059669"/>
                </a:solidFill>
                <a:latin typeface="DM Sans"/>
              </a:rPr>
              <a:t>● verified</a:t>
            </a:r>
            <a:r>
              <a:rPr sz="850" b="1">
                <a:solidFill>
                  <a:srgbClr val="B45309"/>
                </a:solidFill>
                <a:latin typeface="DM Sans"/>
              </a:rPr>
              <a:t>   ● designed, lab test pending</a:t>
            </a:r>
            <a:r>
              <a:rPr sz="850" b="1">
                <a:solidFill>
                  <a:srgbClr val="475569"/>
                </a:solidFill>
                <a:latin typeface="DM Sans"/>
              </a:rPr>
              <a:t>   ● future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714641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28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722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916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29350" y="1737360"/>
            <a:ext cx="542925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0352" y="1737360"/>
            <a:ext cx="5431536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Problem Context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95325" y="5838653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1">
                <a:solidFill>
                  <a:srgbClr val="0F172A"/>
                </a:solidFill>
                <a:latin typeface="DM Sans"/>
              </a:rPr>
              <a:t>Problem: </a:t>
            </a:r>
            <a:r>
              <a:rPr sz="960" b="0">
                <a:solidFill>
                  <a:srgbClr val="334155"/>
                </a:solidFill>
                <a:latin typeface="DM Sans"/>
              </a:rPr>
              <a:t>carers cannot see when a covered dressing is really full.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953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44.9 %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953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OF 588 CHANGES MADE AT OPTIMAL MOISTURE¹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5147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≈ 2 cm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35147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MAKER'S 'CHANGE NOW' LINE FROM PAD EDGE²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3341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1 point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3341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WHERE TODAY'S MOISTURE SENSOR READS¹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1535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Uneven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1535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IN-VITRO MOISTURE MAP, 8 POINTS³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33400" y="5394960"/>
            <a:ext cx="54292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the change line is invisible under a cover (to scale, our design).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48425" y="1958131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6698009" y="1939081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F172A"/>
                </a:solidFill>
                <a:latin typeface="DM Sans"/>
              </a:rPr>
              <a:t>Target Beneficiary &amp; Problem Statement</a:t>
            </a:r>
            <a:endParaRPr/>
          </a:p>
        </p:txBody>
      </p:sp>
      <p:pic>
        <p:nvPicPr>
          <p:cNvPr id="156" name="Google Shape;156;p16" title="MBF_Logo_202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Rounded Rectangle 157"/>
          <p:cNvSpPr/>
          <p:nvPr/>
        </p:nvSpPr>
        <p:spPr>
          <a:xfrm>
            <a:off x="9767620" y="457200"/>
            <a:ext cx="1890979" cy="24688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0369A1"/>
                </a:solidFill>
                <a:latin typeface="DM Sans"/>
              </a:rPr>
              <a:t>PUBLISHED EVIDENCE · CITED</a:t>
            </a:r>
          </a:p>
        </p:txBody>
      </p:sp>
      <p:pic>
        <p:nvPicPr>
          <p:cNvPr id="159" name="Picture 158" descr="fig_problem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5756" y="1746504"/>
            <a:ext cx="5400726" cy="3593591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6464808" y="2395728"/>
            <a:ext cx="5029200" cy="310896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Who:  </a:t>
            </a:r>
            <a:r>
              <a:rPr sz="1200" b="0">
                <a:solidFill>
                  <a:srgbClr val="334155"/>
                </a:solidFill>
                <a:latin typeface="DM Sans"/>
              </a:rPr>
              <a:t>nurses and home carers of chronic wounds under foam dressings.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Pain:  </a:t>
            </a:r>
            <a:r>
              <a:rPr sz="1200" b="0">
                <a:solidFill>
                  <a:srgbClr val="334155"/>
                </a:solidFill>
                <a:latin typeface="DM Sans"/>
              </a:rPr>
              <a:t>the maker's 'change now' sign is visual¹⁴, and the dressing is covered.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Today:  </a:t>
            </a:r>
            <a:r>
              <a:rPr sz="1200" b="0">
                <a:solidFill>
                  <a:srgbClr val="334155"/>
                </a:solidFill>
                <a:latin typeface="DM Sans"/>
              </a:rPr>
              <a:t>change by the clock, by lifting the cover, or after a leak.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Gap:  </a:t>
            </a:r>
            <a:r>
              <a:rPr sz="1200" b="0">
                <a:solidFill>
                  <a:srgbClr val="334155"/>
                </a:solidFill>
                <a:latin typeface="DM Sans"/>
              </a:rPr>
              <a:t>in our search, no low-cost sensor reads that change line⁴⁵.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310956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4"/>
            <a:ext cx="5429250" cy="40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352" y="960120"/>
            <a:ext cx="5431536" cy="389534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System Architecture &amp; Specs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723900" y="5406206"/>
            <a:ext cx="1069848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1">
                <a:solidFill>
                  <a:srgbClr val="0F172A"/>
                </a:solidFill>
                <a:latin typeface="DM Sans"/>
              </a:rPr>
              <a:t>Architecture Rationale: </a:t>
            </a:r>
            <a:r>
              <a:rPr sz="960" b="0">
                <a:solidFill>
                  <a:srgbClr val="334155"/>
                </a:solidFill>
                <a:latin typeface="DM Sans"/>
              </a:rPr>
              <a:t>only film and carbon are disposable; every electronic part is reused.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533400" y="4882896"/>
            <a:ext cx="54292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subsystems; ✓ = verified in software, ◐ = hardware still to prove.</a:t>
            </a:r>
            <a:endParaRPr/>
          </a:p>
        </p:txBody>
      </p:sp>
      <p:pic>
        <p:nvPicPr>
          <p:cNvPr descr="image.png" id="192" name="Google Shape;19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6698009" y="1156245"/>
            <a:ext cx="35071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F172A"/>
                </a:solidFill>
                <a:latin typeface="DM Sans"/>
              </a:rPr>
              <a:t>Target Specifications &amp; Hardware</a:t>
            </a:r>
            <a:endParaRPr/>
          </a:p>
        </p:txBody>
      </p:sp>
      <p:pic>
        <p:nvPicPr>
          <p:cNvPr id="212" name="Google Shape;212;p18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Rounded Rectangle 213"/>
          <p:cNvSpPr/>
          <p:nvPr/>
        </p:nvSpPr>
        <p:spPr>
          <a:xfrm>
            <a:off x="9705441" y="457200"/>
            <a:ext cx="1953158" cy="24688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B45309"/>
                </a:solidFill>
                <a:latin typeface="DM Sans"/>
              </a:rPr>
              <a:t>DESIGNED · LAB TEST PENDING</a:t>
            </a:r>
          </a:p>
        </p:txBody>
      </p:sp>
      <p:pic>
        <p:nvPicPr>
          <p:cNvPr id="215" name="Picture 214" descr="fig_blo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9496" y="970048"/>
            <a:ext cx="5413248" cy="3875487"/>
          </a:xfrm>
          <a:prstGeom prst="rect">
            <a:avLst/>
          </a:prstGeom>
        </p:spPr>
      </p:pic>
      <p:graphicFrame>
        <p:nvGraphicFramePr>
          <p:cNvPr id="216" name="Table 215"/>
          <p:cNvGraphicFramePr>
            <a:graphicFrameLocks noGrp="1"/>
          </p:cNvGraphicFramePr>
          <p:nvPr/>
        </p:nvGraphicFramePr>
        <p:xfrm>
          <a:off x="6446520" y="1554480"/>
          <a:ext cx="5010910" cy="3200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70303"/>
                <a:gridCol w="3340607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DM Sans"/>
                        </a:rPr>
                        <a:t>Parameter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DM Sans"/>
                        </a:rPr>
                        <a:t>Design value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DM Sans"/>
                        </a:rPr>
                        <a:t>Sensing zones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DM Sans"/>
                        </a:rPr>
                        <a:t>2: pad centre C, change line A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DM Sans"/>
                        </a:rPr>
                        <a:t>Wet / dry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DM Sans"/>
                        </a:rPr>
                        <a:t>&lt; 100 kΩ / &gt; 300 kΩ, 3 scans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DM Sans"/>
                        </a:rPr>
                        <a:t>Drive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DM Sans"/>
                        </a:rPr>
                        <a:t>bipolar, ≤ 33 µA, no net DC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DM Sans"/>
                        </a:rPr>
                        <a:t>ADC / MCU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DM Sans"/>
                        </a:rPr>
                        <a:t>ADS1115 16-bit (I²C) · ESP32-C3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DM Sans"/>
                        </a:rPr>
                        <a:t>Contacts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DM Sans"/>
                        </a:rPr>
                        <a:t>4 pogo pins + 2 dowels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DM Sans"/>
                        </a:rPr>
                        <a:t>Output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DM Sans"/>
                        </a:rPr>
                        <a:t>LEDs · USB log · BLE broadcast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551726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4"/>
            <a:ext cx="5429250" cy="4434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352" y="960120"/>
            <a:ext cx="5431536" cy="389534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CAD Design &amp; Mechanical Specs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723900" y="5646976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1">
                <a:solidFill>
                  <a:srgbClr val="0F172A"/>
                </a:solidFill>
                <a:latin typeface="DM Sans"/>
              </a:rPr>
              <a:t>Design Iteration: </a:t>
            </a:r>
            <a:r>
              <a:rPr sz="960" b="0">
                <a:solidFill>
                  <a:srgbClr val="334155"/>
                </a:solidFill>
                <a:latin typeface="DM Sans"/>
              </a:rPr>
              <a:t>a clash check moved the seal tape off the clamp (decision D-013).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533400" y="4901184"/>
            <a:ext cx="54292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our SolidWorks 2019 models: exploded stack, clamp, drawing, assembly.</a:t>
            </a:r>
            <a:endParaRPr/>
          </a:p>
        </p:txBody>
      </p:sp>
      <p:pic>
        <p:nvPicPr>
          <p:cNvPr descr="image.png" id="243" name="Google Shape;24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6698009" y="1156245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F172A"/>
                </a:solidFill>
                <a:latin typeface="DM Sans"/>
              </a:rPr>
              <a:t>Materials &amp; Mechanical Checks</a:t>
            </a:r>
            <a:endParaRPr/>
          </a:p>
        </p:txBody>
      </p:sp>
      <p:pic>
        <p:nvPicPr>
          <p:cNvPr id="255" name="Google Shape;255;p20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Rounded Rectangle 256"/>
          <p:cNvSpPr/>
          <p:nvPr/>
        </p:nvSpPr>
        <p:spPr>
          <a:xfrm>
            <a:off x="8959291" y="457200"/>
            <a:ext cx="2699308" cy="24688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B45309"/>
                </a:solidFill>
                <a:latin typeface="DM Sans"/>
              </a:rPr>
              <a:t>DESIGNED · CAD VERIFIED · NOT YET BUILT</a:t>
            </a:r>
          </a:p>
        </p:txBody>
      </p:sp>
      <p:pic>
        <p:nvPicPr>
          <p:cNvPr id="258" name="Picture 257" descr="fig_ca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9496" y="970048"/>
            <a:ext cx="5413248" cy="3875487"/>
          </a:xfrm>
          <a:prstGeom prst="rect">
            <a:avLst/>
          </a:prstGeom>
        </p:spPr>
      </p:pic>
      <p:sp>
        <p:nvSpPr>
          <p:cNvPr id="259" name="TextBox 258"/>
          <p:cNvSpPr txBox="1"/>
          <p:nvPr/>
        </p:nvSpPr>
        <p:spPr>
          <a:xfrm>
            <a:off x="6464808" y="1572768"/>
            <a:ext cx="5029200" cy="365760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Materials:  </a:t>
            </a:r>
            <a:r>
              <a:rPr sz="1200" b="0">
                <a:solidFill>
                  <a:srgbClr val="334155"/>
                </a:solidFill>
                <a:latin typeface="DM Sans"/>
              </a:rPr>
              <a:t>polyimide strip · PETG clamp · acrylic rig.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Contact:  </a:t>
            </a:r>
            <a:r>
              <a:rPr sz="1200" b="0">
                <a:solidFill>
                  <a:srgbClr val="334155"/>
                </a:solidFill>
                <a:latin typeface="DM Sans"/>
              </a:rPr>
              <a:t>4 pogo pins, 0.72 N each (calculated).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Alignment:  </a:t>
            </a:r>
            <a:r>
              <a:rPr sz="1200" b="0">
                <a:solidFill>
                  <a:srgbClr val="334155"/>
                </a:solidFill>
                <a:latin typeface="DM Sans"/>
              </a:rPr>
              <a:t>2.8× tolerance margin on 3 mm pads.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Verified:  </a:t>
            </a:r>
            <a:r>
              <a:rPr sz="1200" b="0">
                <a:solidFill>
                  <a:srgbClr val="334155"/>
                </a:solidFill>
                <a:latin typeface="DM Sans"/>
              </a:rPr>
              <a:t>99 automated CAD checks pass, 0 fail.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Provisional:  </a:t>
            </a:r>
            <a:r>
              <a:rPr sz="1200" b="0">
                <a:solidFill>
                  <a:srgbClr val="334155"/>
                </a:solidFill>
                <a:latin typeface="DM Sans"/>
              </a:rPr>
              <a:t>strip sizes wait for E2 laser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74963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6"/>
            <a:ext cx="5429250" cy="446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352" y="960120"/>
            <a:ext cx="5431536" cy="389534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Electronics Schematics &amp; BOM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723900" y="5844884"/>
            <a:ext cx="1069848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1">
                <a:solidFill>
                  <a:srgbClr val="0F172A"/>
                </a:solidFill>
                <a:latin typeface="DM Sans"/>
              </a:rPr>
              <a:t>Verification: </a:t>
            </a:r>
            <a:r>
              <a:rPr sz="960" b="0">
                <a:solidFill>
                  <a:srgbClr val="334155"/>
                </a:solidFill>
                <a:latin typeface="DM Sans"/>
              </a:rPr>
              <a:t>ERC 0 violations; netlist matches firmware and strip pads (0 mismatches).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533400" y="4901184"/>
            <a:ext cx="54292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our KiCad 10 schematic of the reader (exported by kicad-cli).</a:t>
            </a:r>
            <a:endParaRPr/>
          </a:p>
        </p:txBody>
      </p:sp>
      <p:pic>
        <p:nvPicPr>
          <p:cNvPr descr="image.png" id="287" name="Google Shape;28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162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6659909" y="1156245"/>
            <a:ext cx="305186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F172A"/>
                </a:solidFill>
                <a:latin typeface="DM Sans"/>
              </a:rPr>
              <a:t>Key Connections</a:t>
            </a:r>
            <a:endParaRPr/>
          </a:p>
        </p:txBody>
      </p:sp>
      <p:pic>
        <p:nvPicPr>
          <p:cNvPr id="324" name="Google Shape;324;p22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2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Rounded Rectangle 325"/>
          <p:cNvSpPr/>
          <p:nvPr/>
        </p:nvSpPr>
        <p:spPr>
          <a:xfrm>
            <a:off x="9643262" y="457200"/>
            <a:ext cx="2015337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047857"/>
                </a:solidFill>
                <a:latin typeface="DM Sans"/>
              </a:rPr>
              <a:t>ERC VERIFIED · NOT YET WIRED</a:t>
            </a:r>
          </a:p>
        </p:txBody>
      </p:sp>
      <p:pic>
        <p:nvPicPr>
          <p:cNvPr id="327" name="Picture 326" descr="fig_schemati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9496" y="1518742"/>
            <a:ext cx="5413248" cy="2778098"/>
          </a:xfrm>
          <a:prstGeom prst="rect">
            <a:avLst/>
          </a:prstGeom>
        </p:spPr>
      </p:pic>
      <p:sp>
        <p:nvSpPr>
          <p:cNvPr id="328" name="TextBox 327"/>
          <p:cNvSpPr txBox="1"/>
          <p:nvPr/>
        </p:nvSpPr>
        <p:spPr>
          <a:xfrm>
            <a:off x="6464808" y="1572768"/>
            <a:ext cx="5029200" cy="365760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Drive:  </a:t>
            </a:r>
            <a:r>
              <a:rPr sz="1200" b="0">
                <a:solidFill>
                  <a:srgbClr val="334155"/>
                </a:solidFill>
                <a:latin typeface="DM Sans"/>
              </a:rPr>
              <a:t>GPIO3 / GPIO4 → 1 kΩ → zones C, A.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Sense:  </a:t>
            </a:r>
            <a:r>
              <a:rPr sz="1200" b="0">
                <a:solidFill>
                  <a:srgbClr val="334155"/>
                </a:solidFill>
                <a:latin typeface="DM Sans"/>
              </a:rPr>
              <a:t>node N → 100 kΩ reference → ADC A0.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Check:  </a:t>
            </a:r>
            <a:r>
              <a:rPr sz="1200" b="0">
                <a:solidFill>
                  <a:srgbClr val="334155"/>
                </a:solidFill>
                <a:latin typeface="DM Sans"/>
              </a:rPr>
              <a:t>100 kΩ on GPIO20; strip loop on GPIO5.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Strip:  </a:t>
            </a:r>
            <a:r>
              <a:rPr sz="1200" b="0">
                <a:solidFill>
                  <a:srgbClr val="334155"/>
                </a:solidFill>
                <a:latin typeface="DM Sans"/>
              </a:rPr>
              <a:t>4 pogo pins on 3 × 6 mm pads.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Power:  </a:t>
            </a:r>
            <a:r>
              <a:rPr sz="1200" b="0">
                <a:solidFill>
                  <a:srgbClr val="334155"/>
                </a:solidFill>
                <a:latin typeface="DM Sans"/>
              </a:rPr>
              <a:t>USB-C → 3V3 regulator on the module.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956223"/>
            <a:ext cx="5429250" cy="4526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352" y="960120"/>
            <a:ext cx="5431536" cy="389534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4"/>
          <p:cNvSpPr txBox="1"/>
          <p:nvPr/>
        </p:nvSpPr>
        <p:spPr>
          <a:xfrm>
            <a:off x="533400" y="438150"/>
            <a:ext cx="8595360" cy="3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Maker Journey</a:t>
            </a:r>
            <a:endParaRPr/>
          </a:p>
        </p:txBody>
      </p:sp>
      <p:sp>
        <p:nvSpPr>
          <p:cNvPr id="368" name="Google Shape;368;p24"/>
          <p:cNvSpPr txBox="1"/>
          <p:nvPr/>
        </p:nvSpPr>
        <p:spPr>
          <a:xfrm>
            <a:off x="723900" y="5761004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1">
                <a:solidFill>
                  <a:srgbClr val="0F172A"/>
                </a:solidFill>
                <a:latin typeface="DM Sans"/>
              </a:rPr>
              <a:t>Raw Repository Linkage: </a:t>
            </a:r>
            <a:r>
              <a:rPr sz="960" b="0">
                <a:solidFill>
                  <a:srgbClr val="334155"/>
                </a:solidFill>
                <a:latin typeface="DM Sans"/>
              </a:rPr>
              <a:t>[team to insert the GitHub / Drive link before upload]</a:t>
            </a:r>
            <a:endParaRPr/>
          </a:p>
        </p:txBody>
      </p:sp>
      <p:sp>
        <p:nvSpPr>
          <p:cNvPr id="369" name="Google Shape;369;p24"/>
          <p:cNvSpPr txBox="1"/>
          <p:nvPr/>
        </p:nvSpPr>
        <p:spPr>
          <a:xfrm>
            <a:off x="533400" y="4901184"/>
            <a:ext cx="54292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our SolidWorks window and verbatim tool output (14–15 Oct 2026).</a:t>
            </a:r>
            <a:endParaRPr/>
          </a:p>
        </p:txBody>
      </p:sp>
      <p:pic>
        <p:nvPicPr>
          <p:cNvPr descr="image.png" id="371" name="Google Shape;371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8425" y="1175295"/>
            <a:ext cx="1733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4"/>
          <p:cNvSpPr txBox="1"/>
          <p:nvPr/>
        </p:nvSpPr>
        <p:spPr>
          <a:xfrm>
            <a:off x="6717059" y="1156245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F172A"/>
                </a:solidFill>
                <a:latin typeface="DM Sans"/>
              </a:rPr>
              <a:t>Authenticity: What Each Artifact Proves</a:t>
            </a:r>
            <a:endParaRPr/>
          </a:p>
        </p:txBody>
      </p:sp>
      <p:pic>
        <p:nvPicPr>
          <p:cNvPr id="381" name="Google Shape;381;p24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4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Rounded Rectangle 382"/>
          <p:cNvSpPr/>
          <p:nvPr/>
        </p:nvSpPr>
        <p:spPr>
          <a:xfrm>
            <a:off x="9021470" y="457200"/>
            <a:ext cx="2637129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047857"/>
                </a:solidFill>
                <a:latin typeface="DM Sans"/>
              </a:rPr>
              <a:t>GENUINE ARTIFACTS · NO STAGED EVIDENCE</a:t>
            </a:r>
          </a:p>
        </p:txBody>
      </p:sp>
      <p:pic>
        <p:nvPicPr>
          <p:cNvPr id="384" name="Picture 383" descr="fig_mak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9496" y="970048"/>
            <a:ext cx="5413248" cy="3875487"/>
          </a:xfrm>
          <a:prstGeom prst="rect">
            <a:avLst/>
          </a:prstGeom>
        </p:spPr>
      </p:pic>
      <p:sp>
        <p:nvSpPr>
          <p:cNvPr id="385" name="TextBox 384"/>
          <p:cNvSpPr txBox="1"/>
          <p:nvPr/>
        </p:nvSpPr>
        <p:spPr>
          <a:xfrm>
            <a:off x="6464808" y="1572768"/>
            <a:ext cx="5029200" cy="384048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CAD:  </a:t>
            </a:r>
            <a:r>
              <a:rPr sz="1200" b="0">
                <a:solidFill>
                  <a:srgbClr val="334155"/>
                </a:solidFill>
                <a:latin typeface="DM Sans"/>
              </a:rPr>
              <a:t>our assembly open in SolidWorks, 13 parts.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Checks:  </a:t>
            </a:r>
            <a:r>
              <a:rPr sz="1200" b="0">
                <a:solidFill>
                  <a:srgbClr val="334155"/>
                </a:solidFill>
                <a:latin typeface="DM Sans"/>
              </a:rPr>
              <a:t>CAD, ERC, compile and tests all re-runnable.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History:  </a:t>
            </a:r>
            <a:r>
              <a:rPr sz="1200" b="0">
                <a:solidFill>
                  <a:srgbClr val="334155"/>
                </a:solidFill>
                <a:latin typeface="DM Sans"/>
              </a:rPr>
              <a:t>every step a git commit since 14 Oct.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Photos:  </a:t>
            </a:r>
            <a:r>
              <a:rPr sz="1200" b="0">
                <a:solidFill>
                  <a:srgbClr val="334155"/>
                </a:solidFill>
                <a:latin typeface="DM Sans"/>
              </a:rPr>
              <a:t>none yet; the first laser session is next.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7" name="Google Shape;4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956220"/>
            <a:ext cx="1112520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3200400"/>
            <a:ext cx="5429250" cy="2697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9350" y="3200400"/>
            <a:ext cx="5429250" cy="269748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7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Safety &amp; Hazard Mitigation</a:t>
            </a:r>
            <a:endParaRPr/>
          </a:p>
        </p:txBody>
      </p:sp>
      <p:pic>
        <p:nvPicPr>
          <p:cNvPr descr="image.png" id="424" name="Google Shape;42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247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7"/>
          <p:cNvSpPr txBox="1"/>
          <p:nvPr/>
        </p:nvSpPr>
        <p:spPr>
          <a:xfrm>
            <a:off x="1002059" y="1156245"/>
            <a:ext cx="676656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F172A"/>
                </a:solidFill>
                <a:latin typeface="DM Sans"/>
              </a:rPr>
              <a:t>Design FMEA: top risks of 15 (ratings estimated before tests)</a:t>
            </a:r>
            <a:endParaRPr/>
          </a:p>
        </p:txBody>
      </p:sp>
      <p:pic>
        <p:nvPicPr>
          <p:cNvPr descr="image.png" id="435" name="Google Shape;435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3419856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7"/>
          <p:cNvSpPr txBox="1"/>
          <p:nvPr/>
        </p:nvSpPr>
        <p:spPr>
          <a:xfrm>
            <a:off x="1002059" y="3392424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F172A"/>
                </a:solidFill>
                <a:latin typeface="DM Sans"/>
              </a:rPr>
              <a:t>Fail-safes</a:t>
            </a:r>
            <a:endParaRPr/>
          </a:p>
        </p:txBody>
      </p:sp>
      <p:pic>
        <p:nvPicPr>
          <p:cNvPr descr="image.png" id="439" name="Google Shape;439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48425" y="3419856"/>
            <a:ext cx="1352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7"/>
          <p:cNvSpPr txBox="1"/>
          <p:nvPr/>
        </p:nvSpPr>
        <p:spPr>
          <a:xfrm>
            <a:off x="6678959" y="3392424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F172A"/>
                </a:solidFill>
                <a:latin typeface="DM Sans"/>
              </a:rPr>
              <a:t>Standards (considered, not claimed)</a:t>
            </a:r>
            <a:endParaRPr/>
          </a:p>
        </p:txBody>
      </p:sp>
      <p:pic>
        <p:nvPicPr>
          <p:cNvPr id="447" name="Google Shape;447;p27" title="MBF_Logo_202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7" title="VK colored transparent logo.png"/>
          <p:cNvPicPr preferRelativeResize="0"/>
          <p:nvPr/>
        </p:nvPicPr>
        <p:blipFill rotWithShape="1">
          <a:blip r:embed="rId12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Rounded Rectangle 448"/>
          <p:cNvSpPr/>
          <p:nvPr/>
        </p:nvSpPr>
        <p:spPr>
          <a:xfrm>
            <a:off x="9456724" y="457200"/>
            <a:ext cx="2201875" cy="24688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B45309"/>
                </a:solidFill>
                <a:latin typeface="DM Sans"/>
              </a:rPr>
              <a:t>RISKS ESTIMATED · TESTS PLANNED</a:t>
            </a:r>
          </a:p>
        </p:txBody>
      </p:sp>
      <p:graphicFrame>
        <p:nvGraphicFramePr>
          <p:cNvPr id="450" name="Table 449"/>
          <p:cNvGraphicFramePr>
            <a:graphicFrameLocks noGrp="1"/>
          </p:cNvGraphicFramePr>
          <p:nvPr/>
        </p:nvGraphicFramePr>
        <p:xfrm>
          <a:off x="749808" y="1481328"/>
          <a:ext cx="7452358" cy="13167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93868"/>
                <a:gridCol w="638773"/>
                <a:gridCol w="3619717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DM Sans"/>
                        </a:rPr>
                        <a:t>Failure mode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DM Sans"/>
                        </a:rPr>
                        <a:t>RPN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172A"/>
                          </a:solidFill>
                          <a:latin typeface="DM Sans"/>
                        </a:rPr>
                        <a:t>Fix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DM Sans"/>
                        </a:rPr>
                        <a:t>Cracked sense lead reads 'dry'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DC2626"/>
                          </a:solidFill>
                          <a:latin typeface="DM Sans"/>
                        </a:rPr>
                        <a:t>224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DM Sans"/>
                        </a:rPr>
                        <a:t>v0.2: loop each lead to a 2nd pad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DM Sans"/>
                        </a:rPr>
                        <a:t>Front path differs from model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DC2626"/>
                          </a:solidFill>
                          <a:latin typeface="DM Sans"/>
                        </a:rPr>
                        <a:t>210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DM Sans"/>
                        </a:rPr>
                        <a:t>test on real foam dressings (E4)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DM Sans"/>
                        </a:rPr>
                        <a:t>Humid dressing reads 'wet'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DC2626"/>
                          </a:solidFill>
                          <a:latin typeface="DM Sans"/>
                        </a:rPr>
                        <a:t>150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DM Sans"/>
                        </a:rPr>
                        <a:t>measure dry baselines (E4)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51" name="Picture 450" descr="fig_fme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7078" y="1143000"/>
            <a:ext cx="3154042" cy="1883664"/>
          </a:xfrm>
          <a:prstGeom prst="rect">
            <a:avLst/>
          </a:prstGeom>
        </p:spPr>
      </p:pic>
      <p:sp>
        <p:nvSpPr>
          <p:cNvPr id="452" name="TextBox 451"/>
          <p:cNvSpPr txBox="1"/>
          <p:nvPr/>
        </p:nvSpPr>
        <p:spPr>
          <a:xfrm>
            <a:off x="768096" y="3749039"/>
            <a:ext cx="5029200" cy="210312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 b="0">
                <a:solidFill>
                  <a:srgbClr val="059669"/>
                </a:solidFill>
                <a:latin typeface="DM Sans"/>
              </a:rPr>
              <a:t>▪  </a:t>
            </a:r>
            <a:r>
              <a:rPr sz="1100" b="1">
                <a:solidFill>
                  <a:srgbClr val="0F172A"/>
                </a:solidFill>
                <a:latin typeface="DM Sans"/>
              </a:rPr>
              <a:t>Bench only:  </a:t>
            </a:r>
            <a:r>
              <a:rPr sz="1100" b="0">
                <a:solidFill>
                  <a:srgbClr val="334155"/>
                </a:solidFill>
                <a:latin typeface="DM Sans"/>
              </a:rPr>
              <a:t>USB reader, never on a person.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 b="0">
                <a:solidFill>
                  <a:srgbClr val="059669"/>
                </a:solidFill>
                <a:latin typeface="DM Sans"/>
              </a:rPr>
              <a:t>▪  </a:t>
            </a:r>
            <a:r>
              <a:rPr sz="1100" b="1">
                <a:solidFill>
                  <a:srgbClr val="0F172A"/>
                </a:solidFill>
                <a:latin typeface="DM Sans"/>
              </a:rPr>
              <a:t>No net DC:  </a:t>
            </a:r>
            <a:r>
              <a:rPr sz="1100" b="0">
                <a:solidFill>
                  <a:srgbClr val="334155"/>
                </a:solidFill>
                <a:latin typeface="DM Sans"/>
              </a:rPr>
              <a:t>bipolar drive, idle pins off.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 b="0">
                <a:solidFill>
                  <a:srgbClr val="059669"/>
                </a:solidFill>
                <a:latin typeface="DM Sans"/>
              </a:rPr>
              <a:t>▪  </a:t>
            </a:r>
            <a:r>
              <a:rPr sz="1100" b="1">
                <a:solidFill>
                  <a:srgbClr val="0F172A"/>
                </a:solidFill>
                <a:latin typeface="DM Sans"/>
              </a:rPr>
              <a:t>Self-check:  </a:t>
            </a:r>
            <a:r>
              <a:rPr sz="1100" b="0">
                <a:solidFill>
                  <a:srgbClr val="334155"/>
                </a:solidFill>
                <a:latin typeface="DM Sans"/>
              </a:rPr>
              <a:t>every scan, else FAULT.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 b="0">
                <a:solidFill>
                  <a:srgbClr val="059669"/>
                </a:solidFill>
                <a:latin typeface="DM Sans"/>
              </a:rPr>
              <a:t>▪  </a:t>
            </a:r>
            <a:r>
              <a:rPr sz="1100" b="1">
                <a:solidFill>
                  <a:srgbClr val="0F172A"/>
                </a:solidFill>
                <a:latin typeface="DM Sans"/>
              </a:rPr>
              <a:t>No wound contact:  </a:t>
            </a:r>
            <a:r>
              <a:rPr sz="1100" b="0">
                <a:solidFill>
                  <a:srgbClr val="334155"/>
                </a:solidFill>
                <a:latin typeface="DM Sans"/>
              </a:rPr>
              <a:t>strip on the pad's outer face.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6464808" y="3749039"/>
            <a:ext cx="5029200" cy="210312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059669"/>
                </a:solidFill>
                <a:latin typeface="DM Sans"/>
              </a:rPr>
              <a:t>▪  </a:t>
            </a:r>
            <a:r>
              <a:rPr sz="1100" b="1">
                <a:solidFill>
                  <a:srgbClr val="0F172A"/>
                </a:solidFill>
                <a:latin typeface="DM Sans"/>
              </a:rPr>
              <a:t>ISO 14971  </a:t>
            </a:r>
            <a:r>
              <a:rPr sz="1100" b="0">
                <a:solidFill>
                  <a:srgbClr val="334155"/>
                </a:solidFill>
                <a:latin typeface="DM Sans"/>
              </a:rPr>
              <a:t>risk management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059669"/>
                </a:solidFill>
                <a:latin typeface="DM Sans"/>
              </a:rPr>
              <a:t>▪  </a:t>
            </a:r>
            <a:r>
              <a:rPr sz="1100" b="1">
                <a:solidFill>
                  <a:srgbClr val="0F172A"/>
                </a:solidFill>
                <a:latin typeface="DM Sans"/>
              </a:rPr>
              <a:t>IEC 60601-1  </a:t>
            </a:r>
            <a:r>
              <a:rPr sz="1100" b="0">
                <a:solidFill>
                  <a:srgbClr val="334155"/>
                </a:solidFill>
                <a:latin typeface="DM Sans"/>
              </a:rPr>
              <a:t>future on-body reader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059669"/>
                </a:solidFill>
                <a:latin typeface="DM Sans"/>
              </a:rPr>
              <a:t>▪  </a:t>
            </a:r>
            <a:r>
              <a:rPr sz="1100" b="1">
                <a:solidFill>
                  <a:srgbClr val="0F172A"/>
                </a:solidFill>
                <a:latin typeface="DM Sans"/>
              </a:rPr>
              <a:t>ISO 10993-1  </a:t>
            </a:r>
            <a:r>
              <a:rPr sz="1100" b="0">
                <a:solidFill>
                  <a:srgbClr val="334155"/>
                </a:solidFill>
                <a:latin typeface="DM Sans"/>
              </a:rPr>
              <a:t>before any skin contact¹¹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059669"/>
                </a:solidFill>
                <a:latin typeface="DM Sans"/>
              </a:rPr>
              <a:t>▪  </a:t>
            </a:r>
            <a:r>
              <a:rPr sz="1100" b="1">
                <a:solidFill>
                  <a:srgbClr val="0F172A"/>
                </a:solidFill>
                <a:latin typeface="DM Sans"/>
              </a:rPr>
              <a:t>EN 13726  </a:t>
            </a:r>
            <a:r>
              <a:rPr sz="1100" b="0">
                <a:solidFill>
                  <a:srgbClr val="334155"/>
                </a:solidFill>
                <a:latin typeface="DM Sans"/>
              </a:rPr>
              <a:t>simulated exudate for tests¹⁰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059669"/>
                </a:solidFill>
                <a:latin typeface="DM Sans"/>
              </a:rPr>
              <a:t>▪  </a:t>
            </a:r>
            <a:r>
              <a:rPr sz="1100" b="1">
                <a:solidFill>
                  <a:srgbClr val="0F172A"/>
                </a:solidFill>
                <a:latin typeface="DM Sans"/>
              </a:rPr>
              <a:t>IEC 60825-1  </a:t>
            </a:r>
            <a:r>
              <a:rPr sz="1100" b="0">
                <a:solidFill>
                  <a:srgbClr val="334155"/>
                </a:solidFill>
                <a:latin typeface="DM Sans"/>
              </a:rPr>
              <a:t>laser work during fabrication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7" name="Google Shape;47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956223"/>
            <a:ext cx="356860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1550" y="956223"/>
            <a:ext cx="3568749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1" name="Google Shape;48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89850" y="956223"/>
            <a:ext cx="35686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0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Technical Challenges &amp; Risks</a:t>
            </a:r>
            <a:endParaRPr/>
          </a:p>
        </p:txBody>
      </p:sp>
      <p:sp>
        <p:nvSpPr>
          <p:cNvPr id="484" name="Google Shape;484;p30"/>
          <p:cNvSpPr txBox="1"/>
          <p:nvPr/>
        </p:nvSpPr>
        <p:spPr>
          <a:xfrm>
            <a:off x="723900" y="5761004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1">
                <a:solidFill>
                  <a:srgbClr val="0F172A"/>
                </a:solidFill>
                <a:latin typeface="DM Sans"/>
              </a:rPr>
              <a:t>Also Caught: </a:t>
            </a:r>
            <a:r>
              <a:rPr sz="960" b="0">
                <a:solidFill>
                  <a:srgbClr val="334155"/>
                </a:solidFill>
                <a:latin typeface="DM Sans"/>
              </a:rPr>
              <a:t>STEP exported in cm (now mm); a drawing showed 0.13 for 0.125 mm (fixed).</a:t>
            </a:r>
            <a:endParaRPr/>
          </a:p>
        </p:txBody>
      </p:sp>
      <p:pic>
        <p:nvPicPr>
          <p:cNvPr descr="image.png" id="492" name="Google Shape;492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1175295"/>
            <a:ext cx="1924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0"/>
          <p:cNvSpPr txBox="1"/>
          <p:nvPr/>
        </p:nvSpPr>
        <p:spPr>
          <a:xfrm>
            <a:off x="1040159" y="1156245"/>
            <a:ext cx="30632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Geometry: Seal Under Clamp</a:t>
            </a:r>
            <a:endParaRPr/>
          </a:p>
        </p:txBody>
      </p:sp>
      <p:pic>
        <p:nvPicPr>
          <p:cNvPr descr="image.png" id="494" name="Google Shape;494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30625" y="1175295"/>
            <a:ext cx="1733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0"/>
          <p:cNvSpPr txBox="1"/>
          <p:nvPr/>
        </p:nvSpPr>
        <p:spPr>
          <a:xfrm>
            <a:off x="4799260" y="1156245"/>
            <a:ext cx="30632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Circuit: Hidden Lead Break</a:t>
            </a:r>
            <a:endParaRPr/>
          </a:p>
        </p:txBody>
      </p:sp>
      <p:pic>
        <p:nvPicPr>
          <p:cNvPr descr="image.png" id="496" name="Google Shape;496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089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0"/>
          <p:cNvSpPr txBox="1"/>
          <p:nvPr/>
        </p:nvSpPr>
        <p:spPr>
          <a:xfrm>
            <a:off x="8558510" y="1156245"/>
            <a:ext cx="30632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Process: Unknown Laser Recipe</a:t>
            </a:r>
            <a:endParaRPr/>
          </a:p>
        </p:txBody>
      </p:sp>
      <p:pic>
        <p:nvPicPr>
          <p:cNvPr id="498" name="Google Shape;498;p30" title="MBF_Logo_2020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0" title="VK colored transparent logo.png"/>
          <p:cNvPicPr preferRelativeResize="0"/>
          <p:nvPr/>
        </p:nvPicPr>
        <p:blipFill rotWithShape="1">
          <a:blip r:embed="rId13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Rounded Rectangle 499"/>
          <p:cNvSpPr/>
          <p:nvPr/>
        </p:nvSpPr>
        <p:spPr>
          <a:xfrm>
            <a:off x="9581083" y="457200"/>
            <a:ext cx="2077516" cy="24688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0369A1"/>
                </a:solidFill>
                <a:latin typeface="DM Sans"/>
              </a:rPr>
              <a:t>FOUND IN OUR OWN VERIFICATION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749808" y="1517904"/>
            <a:ext cx="3154680" cy="1911095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0F172A"/>
                </a:solidFill>
                <a:latin typeface="DM Sans"/>
              </a:rPr>
              <a:t>Found: </a:t>
            </a:r>
            <a:r>
              <a:rPr sz="1100" b="0">
                <a:solidFill>
                  <a:srgbClr val="334155"/>
                </a:solidFill>
                <a:latin typeface="DM Sans"/>
              </a:rPr>
              <a:t>seal tape overlapped the clamp (9.0 mm³).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0F172A"/>
                </a:solidFill>
                <a:latin typeface="DM Sans"/>
              </a:rPr>
              <a:t>Impact: </a:t>
            </a:r>
            <a:r>
              <a:rPr sz="1100" b="0">
                <a:solidFill>
                  <a:srgbClr val="334155"/>
                </a:solidFill>
                <a:latin typeface="DM Sans"/>
              </a:rPr>
              <a:t>would lift the strip off the pins.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0F172A"/>
                </a:solidFill>
                <a:latin typeface="DM Sans"/>
              </a:rPr>
              <a:t>How: </a:t>
            </a:r>
            <a:r>
              <a:rPr sz="1100" b="0">
                <a:solidFill>
                  <a:srgbClr val="334155"/>
                </a:solidFill>
                <a:latin typeface="DM Sans"/>
              </a:rPr>
              <a:t>automated clash check.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4526280" y="1517904"/>
            <a:ext cx="3154680" cy="1911095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0F172A"/>
                </a:solidFill>
                <a:latin typeface="DM Sans"/>
              </a:rPr>
              <a:t>Found: </a:t>
            </a:r>
            <a:r>
              <a:rPr sz="1100" b="0">
                <a:solidFill>
                  <a:srgbClr val="334155"/>
                </a:solidFill>
                <a:latin typeface="DM Sans"/>
              </a:rPr>
              <a:t>a cracked sense lead reads 'dry'.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0F172A"/>
                </a:solidFill>
                <a:latin typeface="DM Sans"/>
              </a:rPr>
              <a:t>Impact: </a:t>
            </a:r>
            <a:r>
              <a:rPr sz="1100" b="0">
                <a:solidFill>
                  <a:srgbClr val="334155"/>
                </a:solidFill>
                <a:latin typeface="DM Sans"/>
              </a:rPr>
              <a:t>CHANGE never shown, no alarm.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0F172A"/>
                </a:solidFill>
                <a:latin typeface="DM Sans"/>
              </a:rPr>
              <a:t>How: </a:t>
            </a:r>
            <a:r>
              <a:rPr sz="1100" b="0">
                <a:solidFill>
                  <a:srgbClr val="334155"/>
                </a:solidFill>
                <a:latin typeface="DM Sans"/>
              </a:rPr>
              <a:t>design FMEA (RPN 224).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8311896" y="1517904"/>
            <a:ext cx="3154680" cy="1911095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0F172A"/>
                </a:solidFill>
                <a:latin typeface="DM Sans"/>
              </a:rPr>
              <a:t>Found: </a:t>
            </a:r>
            <a:r>
              <a:rPr sz="1100" b="0">
                <a:solidFill>
                  <a:srgbClr val="334155"/>
                </a:solidFill>
                <a:latin typeface="DM Sans"/>
              </a:rPr>
              <a:t>'12' is likely a % command; tubes are unsteady at low power⁸.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0F172A"/>
                </a:solidFill>
                <a:latin typeface="DM Sans"/>
              </a:rPr>
              <a:t>Impact: </a:t>
            </a:r>
            <a:r>
              <a:rPr sz="1100" b="0">
                <a:solidFill>
                  <a:srgbClr val="334155"/>
                </a:solidFill>
                <a:latin typeface="DM Sans"/>
              </a:rPr>
              <a:t>every strip size is provisional.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0F172A"/>
                </a:solidFill>
                <a:latin typeface="DM Sans"/>
              </a:rPr>
              <a:t>How: </a:t>
            </a:r>
            <a:r>
              <a:rPr sz="1100" b="0">
                <a:solidFill>
                  <a:srgbClr val="334155"/>
                </a:solidFill>
                <a:latin typeface="DM Sans"/>
              </a:rPr>
              <a:t>LaserCAD config audit.</a:t>
            </a:r>
          </a:p>
        </p:txBody>
      </p:sp>
      <p:pic>
        <p:nvPicPr>
          <p:cNvPr id="504" name="Picture 503" descr="fig_challenge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6928" y="3867567"/>
            <a:ext cx="11064240" cy="15003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1"/>
          <p:cNvSpPr txBox="1"/>
          <p:nvPr/>
        </p:nvSpPr>
        <p:spPr>
          <a:xfrm>
            <a:off x="571500" y="476250"/>
            <a:ext cx="11601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References &amp; Sources</a:t>
            </a:r>
            <a:endParaRPr b="1" sz="2550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14" name="Google Shape;514;p31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1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Rounded Rectangle 515"/>
          <p:cNvSpPr/>
          <p:nvPr/>
        </p:nvSpPr>
        <p:spPr>
          <a:xfrm>
            <a:off x="9767620" y="457200"/>
            <a:ext cx="1890979" cy="24688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0369A1"/>
                </a:solidFill>
                <a:latin typeface="DM Sans"/>
              </a:rPr>
              <a:t>SOURCES WITH READING DEPTH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566928" y="1024128"/>
            <a:ext cx="11064240" cy="27432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DM Sans"/>
              </a:rPr>
              <a:t>Numbers match the superscripts on each slide. After each source we state how deeply it was read; nothing is labelled verified beyond that.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566928" y="137160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1. </a:t>
            </a:r>
            <a:r>
              <a:rPr sz="980" b="0">
                <a:solidFill>
                  <a:srgbClr val="334155"/>
                </a:solidFill>
                <a:latin typeface="DM Sans"/>
              </a:rPr>
              <a:t>Milne S.D. et al., A wearable wound moisture sensor as an indicator for wound dressing change, Int. Wound J. 13(6):1309–1314 (2016). doi:10.1111/iwj.12521 · full text read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2. </a:t>
            </a:r>
            <a:r>
              <a:rPr sz="980" b="0">
                <a:solidFill>
                  <a:srgbClr val="334155"/>
                </a:solidFill>
                <a:latin typeface="DM Sans"/>
              </a:rPr>
              <a:t>Dressing instructions for use: some foam dressings say 'change when exudate approaches ~2 cm from the pad edge'; Mölnlycke Mepilex Border Flex brochure uses strike-through reaching 3 edges · manufacturer documents, read as excerpts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3. </a:t>
            </a:r>
            <a:r>
              <a:rPr sz="980" b="0">
                <a:solidFill>
                  <a:srgbClr val="334155"/>
                </a:solidFill>
                <a:latin typeface="DM Sans"/>
              </a:rPr>
              <a:t>McColl D., Cartlidge B., Connolly P., Real-time monitoring of moisture levels in wound dressings in vitro, Int. J. Surg. 5(5):316–322 (2007). doi:10.1016/j.ijsu.2007.02.008 · abstract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4. </a:t>
            </a:r>
            <a:r>
              <a:rPr sz="980" b="0">
                <a:solidFill>
                  <a:srgbClr val="334155"/>
                </a:solidFill>
                <a:latin typeface="DM Sans"/>
              </a:rPr>
              <a:t>US 5,469,145 and US 5,838,240 (wet diaper detector: detachable strip + clip-on detector); US 9,291,589; US 10,928,344 · patent summaries, claims not read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5. </a:t>
            </a:r>
            <a:r>
              <a:rPr sz="980" b="0">
                <a:solidFill>
                  <a:srgbClr val="334155"/>
                </a:solidFill>
                <a:latin typeface="DM Sans"/>
              </a:rPr>
              <a:t>Jiang Y. et al., Wireless, closed-loop, smart bandage with integrated sensors and stimulators, Nat. Biotechnol. (2022). doi:10.1038/s41587-022-01528-3 · listing + coverage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6. </a:t>
            </a:r>
            <a:r>
              <a:rPr sz="980" b="0">
                <a:solidFill>
                  <a:srgbClr val="334155"/>
                </a:solidFill>
                <a:latin typeface="DM Sans"/>
              </a:rPr>
              <a:t>Dealey C., Cameron J., Arrowsmith M., A study comparing two objective methods of quantifying the production of wound exudate, J. Wound Care 15(4):149–153 (2006) · abstract (methods disagree)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7. </a:t>
            </a:r>
            <a:r>
              <a:rPr sz="980" b="0">
                <a:solidFill>
                  <a:srgbClr val="334155"/>
                </a:solidFill>
                <a:latin typeface="DM Sans"/>
              </a:rPr>
              <a:t>Lin J. et al., Laser-induced porous graphene films from commercial polymers, Nat. Commun. 5:5714 (2014). doi:10.1038/ncomms6714 · full text read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8. </a:t>
            </a:r>
            <a:r>
              <a:rPr sz="980" b="0">
                <a:solidFill>
                  <a:srgbClr val="334155"/>
                </a:solidFill>
                <a:latin typeface="DM Sans"/>
              </a:rPr>
              <a:t>CO₂ laser tube current vs PWM setting, engineering measurements, softsolder.com (2022) · not peer-reviewed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9. </a:t>
            </a:r>
            <a:r>
              <a:rPr sz="980" b="0">
                <a:solidFill>
                  <a:srgbClr val="334155"/>
                </a:solidFill>
                <a:latin typeface="DM Sans"/>
              </a:rPr>
              <a:t>Li Y. et al., Laser-induced graphene in controlled atmospheres: from superhydrophilic to superhydrophobic surfaces, Adv. Mater. 29:1700496 (2017). doi:10.1002/adma.201700496 · abstract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10. </a:t>
            </a:r>
            <a:r>
              <a:rPr sz="980" b="0">
                <a:solidFill>
                  <a:srgbClr val="334155"/>
                </a:solidFill>
                <a:latin typeface="DM Sans"/>
              </a:rPr>
              <a:t>EN 13726-1:2002 / EN 13726:2023, Test methods for wound dressings (absorbency; 'Solution A') · catalogue entry; online link not reachable from our network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11. </a:t>
            </a:r>
            <a:r>
              <a:rPr sz="980" b="0">
                <a:solidFill>
                  <a:srgbClr val="334155"/>
                </a:solidFill>
                <a:latin typeface="DM Sans"/>
              </a:rPr>
              <a:t>DuPont position statement on the use of DuPont materials in medical applications (Kapton caution) · web page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12. </a:t>
            </a:r>
            <a:r>
              <a:rPr sz="980" b="0">
                <a:solidFill>
                  <a:srgbClr val="334155"/>
                </a:solidFill>
                <a:latin typeface="DM Sans"/>
              </a:rPr>
              <a:t>Texas Instruments ADS1115 datasheet (SBAS444); Espressif ESP32-C3 datasheet · vendor documents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13. </a:t>
            </a:r>
            <a:r>
              <a:rPr sz="980" b="0">
                <a:solidFill>
                  <a:srgbClr val="334155"/>
                </a:solidFill>
                <a:latin typeface="DM Sans"/>
              </a:rPr>
              <a:t>Wounds UK news (22 Aug 2018) on a Mölnlycke-commissioned survey of &gt;200 UK patients with chronic wounds: average dressing time 18 min · patient-reported, industry-sponsored; web page read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14. </a:t>
            </a:r>
            <a:r>
              <a:rPr sz="980" b="0">
                <a:solidFill>
                  <a:srgbClr val="334155"/>
                </a:solidFill>
                <a:latin typeface="DM Sans"/>
              </a:rPr>
              <a:t>Smith+Nephew, ALLEVYN LIFE product page: visual change indicator ('At 75%, it's time to change your dressing') · manufacturer web page, read 19 Oct 2026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980" b="1">
                <a:solidFill>
                  <a:srgbClr val="0F172A"/>
                </a:solidFill>
                <a:latin typeface="DM Sans"/>
              </a:rPr>
              <a:t>15. </a:t>
            </a:r>
            <a:r>
              <a:rPr sz="980" b="0">
                <a:solidFill>
                  <a:srgbClr val="334155"/>
                </a:solidFill>
                <a:latin typeface="DM Sans"/>
              </a:rPr>
              <a:t>Truemeds.in retail listings: Mepilex Lite 10 × 10 cm ₹242; Mepilex Border 10 × 10 cm ₹514 (pack size unclear) · retail pages, read 19 Oct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1" name="Google Shape;52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2"/>
          <p:cNvSpPr txBox="1"/>
          <p:nvPr/>
        </p:nvSpPr>
        <p:spPr>
          <a:xfrm>
            <a:off x="533400" y="438150"/>
            <a:ext cx="116586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pic>
        <p:nvPicPr>
          <p:cNvPr id="551" name="Google Shape;551;p32" title="MBF_Logo_202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2" title="VK colored transparent logo.png"/>
          <p:cNvPicPr preferRelativeResize="0"/>
          <p:nvPr/>
        </p:nvPicPr>
        <p:blipFill rotWithShape="1">
          <a:blip r:embed="rId11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Rounded Rectangle 552"/>
          <p:cNvSpPr/>
          <p:nvPr/>
        </p:nvSpPr>
        <p:spPr>
          <a:xfrm>
            <a:off x="10202875" y="457200"/>
            <a:ext cx="1455724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047857"/>
                </a:solidFill>
                <a:latin typeface="DM Sans"/>
              </a:rPr>
              <a:t>ALL IMAGES ORIGINAL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530352" y="932688"/>
            <a:ext cx="11128248" cy="41148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950" b="0">
                <a:solidFill>
                  <a:srgbClr val="334155"/>
                </a:solidFill>
                <a:latin typeface="DM Sans"/>
              </a:rPr>
              <a:t>Every image in this deck was produced by the team from our own project files. No stock photos, no AI-generated images and no external images are used.</a:t>
            </a:r>
          </a:p>
        </p:txBody>
      </p:sp>
      <p:pic>
        <p:nvPicPr>
          <p:cNvPr id="555" name="Picture 554" descr="fig_problem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1593" y="1417320"/>
            <a:ext cx="797053" cy="530352"/>
          </a:xfrm>
          <a:prstGeom prst="rect">
            <a:avLst/>
          </a:prstGeom>
        </p:spPr>
      </p:pic>
      <p:sp>
        <p:nvSpPr>
          <p:cNvPr id="556" name="TextBox 555"/>
          <p:cNvSpPr txBox="1"/>
          <p:nvPr/>
        </p:nvSpPr>
        <p:spPr>
          <a:xfrm>
            <a:off x="1490472" y="1435608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Problem illustration, drawn to scale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make_figures.py · strip_v0_1_geometry.json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1_presentation/figures/fig_problem.png</a:t>
            </a:r>
          </a:p>
        </p:txBody>
      </p:sp>
      <p:pic>
        <p:nvPicPr>
          <p:cNvPr id="557" name="Picture 556" descr="fig_journey_befor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5153" y="1417320"/>
            <a:ext cx="797053" cy="530352"/>
          </a:xfrm>
          <a:prstGeom prst="rect">
            <a:avLst/>
          </a:prstGeom>
        </p:spPr>
      </p:pic>
      <p:sp>
        <p:nvSpPr>
          <p:cNvPr id="558" name="TextBox 557"/>
          <p:cNvSpPr txBox="1"/>
          <p:nvPr/>
        </p:nvSpPr>
        <p:spPr>
          <a:xfrm>
            <a:off x="7114032" y="1435608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Before-state pain-point map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make_figures.py · cited sources 1–3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1_presentation/figures/fig_journey_before.png</a:t>
            </a:r>
          </a:p>
        </p:txBody>
      </p:sp>
      <p:pic>
        <p:nvPicPr>
          <p:cNvPr id="559" name="Picture 558" descr="fig_journey_aft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1593" y="2075688"/>
            <a:ext cx="797053" cy="530352"/>
          </a:xfrm>
          <a:prstGeom prst="rect">
            <a:avLst/>
          </a:prstGeom>
        </p:spPr>
      </p:pic>
      <p:sp>
        <p:nvSpPr>
          <p:cNvPr id="560" name="TextBox 559"/>
          <p:cNvSpPr txBox="1"/>
          <p:nvPr/>
        </p:nvSpPr>
        <p:spPr>
          <a:xfrm>
            <a:off x="1490472" y="2093976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After-state intended workflow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make_figures.py · firmware states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1_presentation/figures/fig_journey_after.png</a:t>
            </a:r>
          </a:p>
        </p:txBody>
      </p:sp>
      <p:pic>
        <p:nvPicPr>
          <p:cNvPr id="561" name="Picture 560" descr="fig_block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3284" y="2075688"/>
            <a:ext cx="740791" cy="530352"/>
          </a:xfrm>
          <a:prstGeom prst="rect">
            <a:avLst/>
          </a:prstGeom>
        </p:spPr>
      </p:pic>
      <p:sp>
        <p:nvSpPr>
          <p:cNvPr id="562" name="TextBox 561"/>
          <p:cNvSpPr txBox="1"/>
          <p:nvPr/>
        </p:nvSpPr>
        <p:spPr>
          <a:xfrm>
            <a:off x="7114032" y="2093976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System block diagram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make_figures.py · verification logs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1_presentation/figures/fig_block.png</a:t>
            </a:r>
          </a:p>
        </p:txBody>
      </p:sp>
      <p:pic>
        <p:nvPicPr>
          <p:cNvPr id="563" name="Picture 562" descr="fig_dataflow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9724" y="2734056"/>
            <a:ext cx="740791" cy="530352"/>
          </a:xfrm>
          <a:prstGeom prst="rect">
            <a:avLst/>
          </a:prstGeom>
        </p:spPr>
      </p:pic>
      <p:sp>
        <p:nvSpPr>
          <p:cNvPr id="564" name="TextBox 563"/>
          <p:cNvSpPr txBox="1"/>
          <p:nvPr/>
        </p:nvSpPr>
        <p:spPr>
          <a:xfrm>
            <a:off x="1490472" y="2752344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Firmware scan and state logic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make_figures.py · reader_v0_1 source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1_presentation/figures/fig_dataflow.png</a:t>
            </a:r>
          </a:p>
        </p:txBody>
      </p:sp>
      <p:pic>
        <p:nvPicPr>
          <p:cNvPr id="565" name="Picture 564" descr="fig_ca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3284" y="2734056"/>
            <a:ext cx="740791" cy="530352"/>
          </a:xfrm>
          <a:prstGeom prst="rect">
            <a:avLst/>
          </a:prstGeom>
        </p:spPr>
      </p:pic>
      <p:sp>
        <p:nvSpPr>
          <p:cNvPr id="566" name="TextBox 565"/>
          <p:cNvSpPr txBox="1"/>
          <p:nvPr/>
        </p:nvSpPr>
        <p:spPr>
          <a:xfrm>
            <a:off x="7114032" y="2752344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SolidWorks renders + drawing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render_cad.py · 5_cad/solidworks (our models)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1_presentation/figures/fig_cad.png</a:t>
            </a:r>
          </a:p>
        </p:txBody>
      </p:sp>
      <p:pic>
        <p:nvPicPr>
          <p:cNvPr id="567" name="Picture 566" descr="fig_strip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9724" y="3392424"/>
            <a:ext cx="740791" cy="530352"/>
          </a:xfrm>
          <a:prstGeom prst="rect">
            <a:avLst/>
          </a:prstGeom>
        </p:spPr>
      </p:pic>
      <p:sp>
        <p:nvSpPr>
          <p:cNvPr id="568" name="TextBox 567"/>
          <p:cNvSpPr txBox="1"/>
          <p:nvPr/>
        </p:nvSpPr>
        <p:spPr>
          <a:xfrm>
            <a:off x="1490472" y="3410712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Strip and E2 coupon layers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make_figures.py · our DXF files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1_presentation/figures/fig_strip.png</a:t>
            </a:r>
          </a:p>
        </p:txBody>
      </p:sp>
      <p:pic>
        <p:nvPicPr>
          <p:cNvPr id="569" name="Picture 568" descr="fig_schemati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53912" y="3437041"/>
            <a:ext cx="859536" cy="441116"/>
          </a:xfrm>
          <a:prstGeom prst="rect">
            <a:avLst/>
          </a:prstGeom>
        </p:spPr>
      </p:pic>
      <p:sp>
        <p:nvSpPr>
          <p:cNvPr id="570" name="TextBox 569"/>
          <p:cNvSpPr txBox="1"/>
          <p:nvPr/>
        </p:nvSpPr>
        <p:spPr>
          <a:xfrm>
            <a:off x="7114032" y="3410712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KiCad schematic export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kicad-cli · reader_v0_1.kicad_sch (ours)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1_presentation/figures/fig_schematic.png</a:t>
            </a:r>
          </a:p>
        </p:txBody>
      </p:sp>
      <p:pic>
        <p:nvPicPr>
          <p:cNvPr id="571" name="Picture 570" descr="fig_window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9724" y="4050791"/>
            <a:ext cx="740791" cy="530352"/>
          </a:xfrm>
          <a:prstGeom prst="rect">
            <a:avLst/>
          </a:prstGeom>
        </p:spPr>
      </p:pic>
      <p:sp>
        <p:nvSpPr>
          <p:cNvPr id="572" name="TextBox 571"/>
          <p:cNvSpPr txBox="1"/>
          <p:nvPr/>
        </p:nvSpPr>
        <p:spPr>
          <a:xfrm>
            <a:off x="1490472" y="4069079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Measurement window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make_figures.py · calc_readout.py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1_presentation/figures/fig_window.png</a:t>
            </a:r>
          </a:p>
        </p:txBody>
      </p:sp>
      <p:pic>
        <p:nvPicPr>
          <p:cNvPr id="573" name="Picture 572" descr="fig_maker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13284" y="4050791"/>
            <a:ext cx="740791" cy="530352"/>
          </a:xfrm>
          <a:prstGeom prst="rect">
            <a:avLst/>
          </a:prstGeom>
        </p:spPr>
      </p:pic>
      <p:sp>
        <p:nvSpPr>
          <p:cNvPr id="574" name="TextBox 573"/>
          <p:cNvSpPr txBox="1"/>
          <p:nvPr/>
        </p:nvSpPr>
        <p:spPr>
          <a:xfrm>
            <a:off x="7114032" y="4069079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SolidWorks screenshot + logs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screen capture of our machine · verbatim tool output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1_presentation/figures/fig_maker.png</a:t>
            </a:r>
          </a:p>
        </p:txBody>
      </p:sp>
      <p:pic>
        <p:nvPicPr>
          <p:cNvPr id="575" name="Picture 574" descr="fig_decision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9724" y="4709159"/>
            <a:ext cx="740791" cy="530352"/>
          </a:xfrm>
          <a:prstGeom prst="rect">
            <a:avLst/>
          </a:prstGeom>
        </p:spPr>
      </p:pic>
      <p:sp>
        <p:nvSpPr>
          <p:cNvPr id="576" name="TextBox 575"/>
          <p:cNvSpPr txBox="1"/>
          <p:nvPr/>
        </p:nvSpPr>
        <p:spPr>
          <a:xfrm>
            <a:off x="1490472" y="4727447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Decision matrix + iterations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make_figures.py · decision_matrix.md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1_presentation/figures/fig_decision.png</a:t>
            </a:r>
          </a:p>
        </p:txBody>
      </p:sp>
      <p:pic>
        <p:nvPicPr>
          <p:cNvPr id="577" name="Picture 576" descr="fig_fmea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53912" y="4717669"/>
            <a:ext cx="859535" cy="513333"/>
          </a:xfrm>
          <a:prstGeom prst="rect">
            <a:avLst/>
          </a:prstGeom>
        </p:spPr>
      </p:pic>
      <p:sp>
        <p:nvSpPr>
          <p:cNvPr id="578" name="TextBox 577"/>
          <p:cNvSpPr txBox="1"/>
          <p:nvPr/>
        </p:nvSpPr>
        <p:spPr>
          <a:xfrm>
            <a:off x="7114032" y="4727447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FMEA risk ranking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make_figures.py · fmea_v0_1.csv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1_presentation/figures/fig_fmea.png</a:t>
            </a:r>
          </a:p>
        </p:txBody>
      </p:sp>
      <p:pic>
        <p:nvPicPr>
          <p:cNvPr id="579" name="Picture 578" descr="fig_roadmap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0352" y="5556768"/>
            <a:ext cx="859536" cy="151871"/>
          </a:xfrm>
          <a:prstGeom prst="rect">
            <a:avLst/>
          </a:prstGeom>
        </p:spPr>
      </p:pic>
      <p:sp>
        <p:nvSpPr>
          <p:cNvPr id="580" name="TextBox 579"/>
          <p:cNvSpPr txBox="1"/>
          <p:nvPr/>
        </p:nvSpPr>
        <p:spPr>
          <a:xfrm>
            <a:off x="1490472" y="5385816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4-month roadmap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make_figures.py · E2/bench/E4 plans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1_presentation/figures/fig_roadmap.png</a:t>
            </a:r>
          </a:p>
        </p:txBody>
      </p:sp>
      <p:pic>
        <p:nvPicPr>
          <p:cNvPr id="581" name="Picture 580" descr="fig_challenges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53912" y="5574427"/>
            <a:ext cx="859536" cy="116552"/>
          </a:xfrm>
          <a:prstGeom prst="rect">
            <a:avLst/>
          </a:prstGeom>
        </p:spPr>
      </p:pic>
      <p:sp>
        <p:nvSpPr>
          <p:cNvPr id="582" name="TextBox 581"/>
          <p:cNvSpPr txBox="1"/>
          <p:nvPr/>
        </p:nvSpPr>
        <p:spPr>
          <a:xfrm>
            <a:off x="7114032" y="5385816"/>
            <a:ext cx="4526280" cy="54864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1">
                <a:solidFill>
                  <a:srgbClr val="0F172A"/>
                </a:solidFill>
                <a:latin typeface="DM Sans"/>
              </a:rPr>
              <a:t>Seal clash + lead-break diagrams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Source: </a:t>
            </a:r>
            <a:r>
              <a:rPr sz="760" b="0">
                <a:solidFill>
                  <a:srgbClr val="0369A1"/>
                </a:solidFill>
                <a:latin typeface="DM Sans"/>
              </a:rPr>
              <a:t>make_figures.py · geometry + FMEA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DM Sans"/>
              </a:rPr>
              <a:t>1_presentation/figures/fig_challenges.png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5714641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34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528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1722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9916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229350" y="1737360"/>
            <a:ext cx="542925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0352" y="1737360"/>
            <a:ext cx="5431536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User Journey: Before State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95325" y="5838653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1">
                <a:solidFill>
                  <a:srgbClr val="0F172A"/>
                </a:solidFill>
                <a:latin typeface="DM Sans"/>
              </a:rPr>
              <a:t>Quantified Inefficiency: </a:t>
            </a:r>
            <a:r>
              <a:rPr sz="960" b="0">
                <a:solidFill>
                  <a:srgbClr val="334155"/>
                </a:solidFill>
                <a:latin typeface="DM Sans"/>
              </a:rPr>
              <a:t>published figures only (a UK patient survey, Indian retail prices); we will time real checks with nurses.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953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44.9 %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953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CHANGES WHILE MOISTURE WAS STILL OPTIMAL¹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5147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≈ 18 min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35147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A DRESSING VISIT, PATIENT-REPORTED¹³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3341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₹240–510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3341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ONE 10 × 10 CM FOAM DRESSING, RETAIL¹⁵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1535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369A1"/>
                </a:solidFill>
                <a:latin typeface="Poppins SemiBold"/>
              </a:rPr>
              <a:t>0.1–1.3 g/cm²·day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1535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REPORTED EXUDATE RATES, 2 METHODS⁶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33400" y="5394960"/>
            <a:ext cx="54292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today's pain-point map (cited numbers only).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8425" y="1958131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6698009" y="1939081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F172A"/>
                </a:solidFill>
                <a:latin typeface="DM Sans"/>
              </a:rPr>
              <a:t>Current Pain Point Mapping</a:t>
            </a:r>
            <a:endParaRPr/>
          </a:p>
        </p:txBody>
      </p:sp>
      <p:pic>
        <p:nvPicPr>
          <p:cNvPr id="156" name="Google Shape;156;p16" title="MBF_Logo_20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9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Rounded Rectangle 157"/>
          <p:cNvSpPr/>
          <p:nvPr/>
        </p:nvSpPr>
        <p:spPr>
          <a:xfrm>
            <a:off x="10078516" y="457200"/>
            <a:ext cx="1580083" cy="24688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0369A1"/>
                </a:solidFill>
                <a:latin typeface="DM Sans"/>
              </a:rPr>
              <a:t>CURRENT STATE · CITED</a:t>
            </a:r>
          </a:p>
        </p:txBody>
      </p:sp>
      <p:pic>
        <p:nvPicPr>
          <p:cNvPr id="159" name="Picture 158" descr="fig_journey_befor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5756" y="1746504"/>
            <a:ext cx="5400726" cy="3593591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6464808" y="2395728"/>
            <a:ext cx="5029200" cy="310896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Time:  </a:t>
            </a:r>
            <a:r>
              <a:rPr sz="1200" b="0">
                <a:solidFill>
                  <a:srgbClr val="334155"/>
                </a:solidFill>
                <a:latin typeface="DM Sans"/>
              </a:rPr>
              <a:t>every check means unwrap, look, re-secure: about 18 min a visit¹³.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Waste:  </a:t>
            </a:r>
            <a:r>
              <a:rPr sz="1200" b="0">
                <a:solidFill>
                  <a:srgbClr val="334155"/>
                </a:solidFill>
                <a:latin typeface="DM Sans"/>
              </a:rPr>
              <a:t>44.9 % of changes came while moisture was still optimal¹; each discards a dressing¹⁵.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Risk:  </a:t>
            </a:r>
            <a:r>
              <a:rPr sz="1200" b="0">
                <a:solidFill>
                  <a:srgbClr val="334155"/>
                </a:solidFill>
                <a:latin typeface="DM Sans"/>
              </a:rPr>
              <a:t>a late change can leak: wet skin, soiled clothing.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Cause:  </a:t>
            </a:r>
            <a:r>
              <a:rPr sz="1200" b="0">
                <a:solidFill>
                  <a:srgbClr val="334155"/>
                </a:solidFill>
                <a:latin typeface="DM Sans"/>
              </a:rPr>
              <a:t>reported exudate rates span over 10×⁶; a clock cannot follow.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5714641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34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528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1722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9916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229350" y="1737360"/>
            <a:ext cx="542925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0352" y="1737360"/>
            <a:ext cx="5431536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User Journey: After State (Intended)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95325" y="5838653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1">
                <a:solidFill>
                  <a:srgbClr val="0F172A"/>
                </a:solidFill>
                <a:latin typeface="DM Sans"/>
              </a:rPr>
              <a:t>Design Principle: </a:t>
            </a:r>
            <a:r>
              <a:rPr sz="960" b="0">
                <a:solidFill>
                  <a:srgbClr val="334155"/>
                </a:solidFill>
                <a:latin typeface="DM Sans"/>
              </a:rPr>
              <a:t>only film and carbon are disposable; the strip never touches the wound.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953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369A1"/>
                </a:solidFill>
                <a:latin typeface="Poppins SemiBold"/>
              </a:rPr>
              <a:t>up to 44.9 %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953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EARLY CHANGES A RELIABLE ALERT COULD AVOID¹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5147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≤ ₹100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35147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TARGET STRIP COST (ESTIMATE)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3341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±10 %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3341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TARGET ALERT ACCURACY (BENCH, E4)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153525" y="1024128"/>
            <a:ext cx="234315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369A1"/>
                </a:solidFill>
                <a:latin typeface="Poppins SemiBold"/>
              </a:rPr>
              <a:t>0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153525" y="1344168"/>
            <a:ext cx="23431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 Medium"/>
              </a:rPr>
              <a:t>CONTACT WITH THE WOUND BED (BY DESIGN)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33400" y="5394960"/>
            <a:ext cx="54292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the intended workflow; bench-testable, not clinically validated.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8425" y="1958131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6698009" y="1939081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F172A"/>
                </a:solidFill>
                <a:latin typeface="DM Sans"/>
              </a:rPr>
              <a:t>Future Solution Mapping &amp; Quantified Efficiency</a:t>
            </a:r>
            <a:endParaRPr/>
          </a:p>
        </p:txBody>
      </p:sp>
      <p:pic>
        <p:nvPicPr>
          <p:cNvPr id="156" name="Google Shape;156;p16" title="MBF_Logo_20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9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Rounded Rectangle 157"/>
          <p:cNvSpPr/>
          <p:nvPr/>
        </p:nvSpPr>
        <p:spPr>
          <a:xfrm>
            <a:off x="9208008" y="457200"/>
            <a:ext cx="2450592" cy="24688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B45309"/>
                </a:solidFill>
                <a:latin typeface="DM Sans"/>
              </a:rPr>
              <a:t>INTENDED · NOT CLINICALLY VALIDATED</a:t>
            </a:r>
          </a:p>
        </p:txBody>
      </p:sp>
      <p:pic>
        <p:nvPicPr>
          <p:cNvPr id="159" name="Picture 158" descr="fig_journey_aft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5756" y="1746504"/>
            <a:ext cx="5400726" cy="3593591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6464808" y="2395728"/>
            <a:ext cx="5029200" cy="310896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Same routine:  </a:t>
            </a:r>
            <a:r>
              <a:rPr sz="1200" b="0">
                <a:solidFill>
                  <a:srgbClr val="334155"/>
                </a:solidFill>
                <a:latin typeface="DM Sans"/>
              </a:rPr>
              <a:t>strip on the pad, reader clips on.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Clear signal:  </a:t>
            </a:r>
            <a:r>
              <a:rPr sz="1200" b="0">
                <a:solidFill>
                  <a:srgbClr val="334155"/>
                </a:solidFill>
                <a:latin typeface="DM Sans"/>
              </a:rPr>
              <a:t>CHANGE when the line is wet; CHECK if it wets first.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Remote:  </a:t>
            </a:r>
            <a:r>
              <a:rPr sz="1200" b="0">
                <a:solidFill>
                  <a:srgbClr val="334155"/>
                </a:solidFill>
                <a:latin typeface="DM Sans"/>
              </a:rPr>
              <a:t>the state is broadcast over Bluetooth to a phone.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Payback:  </a:t>
            </a:r>
            <a:r>
              <a:rPr sz="1200" b="0">
                <a:solidFill>
                  <a:srgbClr val="334155"/>
                </a:solidFill>
                <a:latin typeface="DM Sans"/>
              </a:rPr>
              <a:t>a ≤ ₹100 strip pays for itself if 1 in 2–5 changes is avoided¹⁵.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descr="image.png" id="234" name="Google Shape;23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551726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29350" y="956224"/>
            <a:ext cx="5429250" cy="4434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0352" y="960120"/>
            <a:ext cx="5431536" cy="389534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System Architecture &amp; Specs: Firmware &amp; Data Flow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723900" y="5646976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1">
                <a:solidFill>
                  <a:srgbClr val="0F172A"/>
                </a:solidFill>
                <a:latin typeface="DM Sans"/>
              </a:rPr>
              <a:t>Software vs Hardware: </a:t>
            </a:r>
            <a:r>
              <a:rPr sz="960" b="0">
                <a:solidFill>
                  <a:srgbClr val="334155"/>
                </a:solidFill>
                <a:latin typeface="DM Sans"/>
              </a:rPr>
              <a:t>23 compile-time and 16 PC tests pass; not yet run on a wired board.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533400" y="4901184"/>
            <a:ext cx="54292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one reader scan, from measurement to state.</a:t>
            </a:r>
            <a:endParaRPr/>
          </a:p>
        </p:txBody>
      </p:sp>
      <p:pic>
        <p:nvPicPr>
          <p:cNvPr descr="image.png" id="243" name="Google Shape;24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6698009" y="1156245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F172A"/>
                </a:solidFill>
                <a:latin typeface="DM Sans"/>
              </a:rPr>
              <a:t>Firmware Logic &amp; Data Flow</a:t>
            </a:r>
            <a:endParaRPr/>
          </a:p>
        </p:txBody>
      </p:sp>
      <p:pic>
        <p:nvPicPr>
          <p:cNvPr id="255" name="Google Shape;255;p20" title="MBF_Logo_20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title="VK colored transparent logo.png"/>
          <p:cNvPicPr preferRelativeResize="0"/>
          <p:nvPr/>
        </p:nvPicPr>
        <p:blipFill rotWithShape="1">
          <a:blip r:embed="rId2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Rounded Rectangle 256"/>
          <p:cNvSpPr/>
          <p:nvPr/>
        </p:nvSpPr>
        <p:spPr>
          <a:xfrm>
            <a:off x="8959291" y="457200"/>
            <a:ext cx="2699308" cy="24688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047857"/>
                </a:solidFill>
                <a:latin typeface="DM Sans"/>
              </a:rPr>
              <a:t>VERIFIED IN SOFTWARE · HARDWARE PENDING</a:t>
            </a:r>
          </a:p>
        </p:txBody>
      </p:sp>
      <p:pic>
        <p:nvPicPr>
          <p:cNvPr id="258" name="Picture 257" descr="fig_dataflo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496" y="970048"/>
            <a:ext cx="5413248" cy="3875487"/>
          </a:xfrm>
          <a:prstGeom prst="rect">
            <a:avLst/>
          </a:prstGeom>
        </p:spPr>
      </p:pic>
      <p:sp>
        <p:nvSpPr>
          <p:cNvPr id="259" name="TextBox 258"/>
          <p:cNvSpPr txBox="1"/>
          <p:nvPr/>
        </p:nvSpPr>
        <p:spPr>
          <a:xfrm>
            <a:off x="6464808" y="1572768"/>
            <a:ext cx="5029200" cy="365760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Measure:  </a:t>
            </a:r>
            <a:r>
              <a:rPr sz="1200" b="0">
                <a:solidFill>
                  <a:srgbClr val="334155"/>
                </a:solidFill>
                <a:latin typeface="DM Sans"/>
              </a:rPr>
              <a:t>each zone driven both ways, so no net DC.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Read:  </a:t>
            </a:r>
            <a:r>
              <a:rPr sz="1200" b="0">
                <a:solidFill>
                  <a:srgbClr val="334155"/>
                </a:solidFill>
                <a:latin typeface="DM Sans"/>
              </a:rPr>
              <a:t>16-bit ADC, scaled to the 3V3 rail.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Decide:  </a:t>
            </a:r>
            <a:r>
              <a:rPr sz="1200" b="0">
                <a:solidFill>
                  <a:srgbClr val="334155"/>
                </a:solidFill>
                <a:latin typeface="DM Sans"/>
              </a:rPr>
              <a:t>wet &lt; 100 kΩ, dry &gt; 300 kΩ, 3 scans in a row.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Self-check:  </a:t>
            </a:r>
            <a:r>
              <a:rPr sz="1200" b="0">
                <a:solidFill>
                  <a:srgbClr val="334155"/>
                </a:solidFill>
                <a:latin typeface="DM Sans"/>
              </a:rPr>
              <a:t>a known 100 kΩ every scan, else FAULT.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Share:  </a:t>
            </a:r>
            <a:r>
              <a:rPr sz="1200" b="0">
                <a:solidFill>
                  <a:srgbClr val="334155"/>
                </a:solidFill>
                <a:latin typeface="DM Sans"/>
              </a:rPr>
              <a:t>CSV over USB, and a Bluetooth broadcast to a phone.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descr="image.png" id="234" name="Google Shape;23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551726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29350" y="956224"/>
            <a:ext cx="5429250" cy="4434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0352" y="960120"/>
            <a:ext cx="5431536" cy="389534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CAD Design &amp; Mechanical Specs: Sensing Strip &amp; Laser Process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723900" y="5646976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1">
                <a:solidFill>
                  <a:srgbClr val="0F172A"/>
                </a:solidFill>
                <a:latin typeface="DM Sans"/>
              </a:rPr>
              <a:t>Laser Files Verified: </a:t>
            </a:r>
            <a:r>
              <a:rPr sz="960" b="0">
                <a:solidFill>
                  <a:srgbClr val="334155"/>
                </a:solidFill>
                <a:latin typeface="DM Sans"/>
              </a:rPr>
              <a:t>35/35 file checks pass; LaserCAD import is checked at the machine.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533400" y="4901184"/>
            <a:ext cx="54292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our laser files, drawn from the DXFs. Not yet lased.</a:t>
            </a:r>
            <a:endParaRPr/>
          </a:p>
        </p:txBody>
      </p:sp>
      <p:pic>
        <p:nvPicPr>
          <p:cNvPr descr="image.png" id="243" name="Google Shape;24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6698009" y="1156245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F172A"/>
                </a:solidFill>
                <a:latin typeface="DM Sans"/>
              </a:rPr>
              <a:t>Fabrication &amp; Process Validation (E2)</a:t>
            </a:r>
            <a:endParaRPr/>
          </a:p>
        </p:txBody>
      </p:sp>
      <p:pic>
        <p:nvPicPr>
          <p:cNvPr id="255" name="Google Shape;255;p20" title="MBF_Logo_20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title="VK colored transparent logo.png"/>
          <p:cNvPicPr preferRelativeResize="0"/>
          <p:nvPr/>
        </p:nvPicPr>
        <p:blipFill rotWithShape="1">
          <a:blip r:embed="rId2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Rounded Rectangle 256"/>
          <p:cNvSpPr/>
          <p:nvPr/>
        </p:nvSpPr>
        <p:spPr>
          <a:xfrm>
            <a:off x="9705441" y="457200"/>
            <a:ext cx="1953158" cy="24688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B45309"/>
                </a:solidFill>
                <a:latin typeface="DM Sans"/>
              </a:rPr>
              <a:t>DESIGNED · LAB TEST PENDING</a:t>
            </a:r>
          </a:p>
        </p:txBody>
      </p:sp>
      <p:pic>
        <p:nvPicPr>
          <p:cNvPr id="258" name="Picture 257" descr="fig_stri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496" y="970048"/>
            <a:ext cx="5413248" cy="3875487"/>
          </a:xfrm>
          <a:prstGeom prst="rect">
            <a:avLst/>
          </a:prstGeom>
        </p:spPr>
      </p:pic>
      <p:sp>
        <p:nvSpPr>
          <p:cNvPr id="259" name="TextBox 258"/>
          <p:cNvSpPr txBox="1"/>
          <p:nvPr/>
        </p:nvSpPr>
        <p:spPr>
          <a:xfrm>
            <a:off x="6464808" y="1572768"/>
            <a:ext cx="5029200" cy="365760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Material:  </a:t>
            </a:r>
            <a:r>
              <a:rPr sz="1200" b="0">
                <a:solidFill>
                  <a:srgbClr val="334155"/>
                </a:solidFill>
                <a:latin typeface="DM Sans"/>
              </a:rPr>
              <a:t>laser-carbonised, LIG-like layer on polyimide⁷.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Reference:  </a:t>
            </a:r>
            <a:r>
              <a:rPr sz="1200" b="0">
                <a:solidFill>
                  <a:srgbClr val="334155"/>
                </a:solidFill>
                <a:latin typeface="DM Sans"/>
              </a:rPr>
              <a:t>setting '12', most likely % PWM, not watts.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E2 plan:  </a:t>
            </a:r>
            <a:r>
              <a:rPr sz="1200" b="0">
                <a:solidFill>
                  <a:srgbClr val="334155"/>
                </a:solidFill>
                <a:latin typeface="DM Sans"/>
              </a:rPr>
              <a:t>7 coupons, 2 days, 72 pre-registered samples.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Pass rules:  </a:t>
            </a:r>
            <a:r>
              <a:rPr sz="1200" b="0">
                <a:solidFill>
                  <a:srgbClr val="334155"/>
                </a:solidFill>
                <a:latin typeface="DM Sans"/>
              </a:rPr>
              <a:t>CV ≤ 20 %, gaps &gt; 3 MΩ, fixed beforehand.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Sealed:  </a:t>
            </a:r>
            <a:r>
              <a:rPr sz="1200" b="0">
                <a:solidFill>
                  <a:srgbClr val="334155"/>
                </a:solidFill>
                <a:latin typeface="DM Sans"/>
              </a:rPr>
              <a:t>leads under tape; LIG made in air wets easily⁹.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descr="image.png" id="277" name="Google Shape;27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74963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29350" y="956226"/>
            <a:ext cx="5429250" cy="446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0352" y="960120"/>
            <a:ext cx="5431536" cy="389534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Electronics Schematics &amp; BOM: Bill of Materials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723900" y="5844884"/>
            <a:ext cx="1069848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1">
                <a:solidFill>
                  <a:srgbClr val="0F172A"/>
                </a:solidFill>
                <a:latin typeface="DM Sans"/>
              </a:rPr>
              <a:t>Procurement Status: </a:t>
            </a:r>
            <a:r>
              <a:rPr sz="960" b="0">
                <a:solidFill>
                  <a:srgbClr val="334155"/>
                </a:solidFill>
                <a:latin typeface="DM Sans"/>
              </a:rPr>
              <a:t>reader parts and pins quoted 19 Oct, in stock in India; the rest are estimates.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533400" y="4901184"/>
            <a:ext cx="542925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why a 100 kΩ reference (calculated ranges).</a:t>
            </a:r>
            <a:endParaRPr/>
          </a:p>
        </p:txBody>
      </p:sp>
      <p:pic>
        <p:nvPicPr>
          <p:cNvPr descr="image.png" id="287" name="Google Shape;28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1175295"/>
            <a:ext cx="1162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6659909" y="1156245"/>
            <a:ext cx="305186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F172A"/>
                </a:solidFill>
                <a:latin typeface="DM Sans"/>
              </a:rPr>
              <a:t>Prototype Bill of Materials</a:t>
            </a:r>
            <a:endParaRPr/>
          </a:p>
        </p:txBody>
      </p:sp>
      <p:pic>
        <p:nvPicPr>
          <p:cNvPr id="324" name="Google Shape;324;p22" title="MBF_Logo_20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2" title="VK colored transparent logo.png"/>
          <p:cNvPicPr preferRelativeResize="0"/>
          <p:nvPr/>
        </p:nvPicPr>
        <p:blipFill rotWithShape="1">
          <a:blip r:embed="rId2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Rounded Rectangle 325"/>
          <p:cNvSpPr/>
          <p:nvPr/>
        </p:nvSpPr>
        <p:spPr>
          <a:xfrm>
            <a:off x="9332366" y="457200"/>
            <a:ext cx="2326233" cy="24688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B45309"/>
                </a:solidFill>
                <a:latin typeface="DM Sans"/>
              </a:rPr>
              <a:t>3 PRICES QUOTED · NOTHING ORDERED</a:t>
            </a:r>
          </a:p>
        </p:txBody>
      </p:sp>
      <p:pic>
        <p:nvPicPr>
          <p:cNvPr id="327" name="Picture 326" descr="fig_windo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496" y="970048"/>
            <a:ext cx="5413248" cy="3875487"/>
          </a:xfrm>
          <a:prstGeom prst="rect">
            <a:avLst/>
          </a:prstGeom>
        </p:spPr>
      </p:pic>
      <p:graphicFrame>
        <p:nvGraphicFramePr>
          <p:cNvPr id="328" name="Table 327"/>
          <p:cNvGraphicFramePr>
            <a:graphicFrameLocks noGrp="1"/>
          </p:cNvGraphicFramePr>
          <p:nvPr/>
        </p:nvGraphicFramePr>
        <p:xfrm>
          <a:off x="6446520" y="1517904"/>
          <a:ext cx="5010912" cy="33741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411480"/>
                <a:gridCol w="1325880"/>
                <a:gridCol w="1170432"/>
              </a:tblGrid>
              <a:tr h="374904">
                <a:tc>
                  <a:txBody>
                    <a:bodyPr wrap="square"/>
                    <a:lstStyle/>
                    <a:p>
                      <a:r>
                        <a:rPr sz="919" b="1">
                          <a:solidFill>
                            <a:srgbClr val="0F172A"/>
                          </a:solidFill>
                          <a:latin typeface="DM Sans"/>
                        </a:rPr>
                        <a:t>Item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>
                          <a:solidFill>
                            <a:srgbClr val="0F172A"/>
                          </a:solidFill>
                          <a:latin typeface="DM Sans"/>
                        </a:rPr>
                        <a:t>Qty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>
                          <a:solidFill>
                            <a:srgbClr val="0F172A"/>
                          </a:solidFill>
                          <a:latin typeface="DM Sans"/>
                        </a:rPr>
                        <a:t>Source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>
                          <a:solidFill>
                            <a:srgbClr val="0F172A"/>
                          </a:solidFill>
                          <a:latin typeface="DM Sans"/>
                        </a:rPr>
                        <a:t>₹</a:t>
                      </a:r>
                    </a:p>
                  </a:txBody>
                  <a:tcPr marL="36576" marR="36576" marT="22860" marB="18288" anchor="ctr">
                    <a:noFill/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0F172A"/>
                          </a:solidFill>
                          <a:latin typeface="DM Sans"/>
                        </a:rPr>
                        <a:t>ESP32-C3 SuperMini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Probots · quoted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242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0F172A"/>
                          </a:solidFill>
                          <a:latin typeface="DM Sans"/>
                        </a:rPr>
                        <a:t>ADS1115 16-bit ADC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Probots · quoted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125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0F172A"/>
                          </a:solidFill>
                          <a:latin typeface="DM Sans"/>
                        </a:rPr>
                        <a:t>P75-B1 pogo pins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100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Hubtronics · quoted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354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0F172A"/>
                          </a:solidFill>
                          <a:latin typeface="DM Sans"/>
                        </a:rPr>
                        <a:t>Resistors, C0G cap, LEDs, board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set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local / online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158–421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0F172A"/>
                          </a:solidFill>
                          <a:latin typeface="DM Sans"/>
                        </a:rPr>
                        <a:t>Clamp + bench rig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set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lab / local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100–1,240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0F172A"/>
                          </a:solidFill>
                          <a:latin typeface="DM Sans"/>
                        </a:rPr>
                        <a:t>Strip materials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set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lab / online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800–3,500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0F172A"/>
                          </a:solidFill>
                          <a:latin typeface="DM Sans"/>
                        </a:rPr>
                        <a:t>Test consumables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set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local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>480–1,060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0F172A"/>
                          </a:solidFill>
                          <a:latin typeface="DM Sans"/>
                        </a:rPr>
                        <a:t>Total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334155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1">
                          <a:solidFill>
                            <a:srgbClr val="0F172A"/>
                          </a:solidFill>
                          <a:latin typeface="DM Sans"/>
                        </a:rPr>
                        <a:t>≈ 2,259–6,942</a:t>
                      </a:r>
                    </a:p>
                  </a:txBody>
                  <a:tcPr marL="36576" marR="36576" marT="22860" marB="18288" anchor="ctr">
                    <a:noFill/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descr="image.png" id="362" name="Google Shape;36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29350" y="956223"/>
            <a:ext cx="5429250" cy="4526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0352" y="960120"/>
            <a:ext cx="5431536" cy="389534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4"/>
          <p:cNvSpPr txBox="1"/>
          <p:nvPr/>
        </p:nvSpPr>
        <p:spPr>
          <a:xfrm>
            <a:off x="533400" y="438150"/>
            <a:ext cx="8595360" cy="3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Maker Journey: Engineering Iterations</a:t>
            </a:r>
            <a:endParaRPr/>
          </a:p>
        </p:txBody>
      </p:sp>
      <p:sp>
        <p:nvSpPr>
          <p:cNvPr id="368" name="Google Shape;368;p24"/>
          <p:cNvSpPr txBox="1"/>
          <p:nvPr/>
        </p:nvSpPr>
        <p:spPr>
          <a:xfrm>
            <a:off x="723900" y="5761004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1">
                <a:solidFill>
                  <a:srgbClr val="0F172A"/>
                </a:solidFill>
                <a:latin typeface="DM Sans"/>
              </a:rPr>
              <a:t>Prior Art: </a:t>
            </a:r>
            <a:r>
              <a:rPr sz="960" b="0">
                <a:solidFill>
                  <a:srgbClr val="334155"/>
                </a:solidFill>
                <a:latin typeface="DM Sans"/>
              </a:rPr>
              <a:t>diaper strips⁴ and visual change indicators¹⁴ exist; our novelty is reading the change line electrically, with an order check.</a:t>
            </a:r>
            <a:endParaRPr/>
          </a:p>
        </p:txBody>
      </p:sp>
      <p:sp>
        <p:nvSpPr>
          <p:cNvPr id="369" name="Google Shape;369;p24"/>
          <p:cNvSpPr txBox="1"/>
          <p:nvPr/>
        </p:nvSpPr>
        <p:spPr>
          <a:xfrm>
            <a:off x="533400" y="4901184"/>
            <a:ext cx="542925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0">
                <a:solidFill>
                  <a:srgbClr val="64748B"/>
                </a:solidFill>
                <a:latin typeface="DM Sans"/>
              </a:rPr>
              <a:t>Figure: concept scores and the iteration path (each a dated commit).</a:t>
            </a:r>
            <a:endParaRPr/>
          </a:p>
        </p:txBody>
      </p:sp>
      <p:pic>
        <p:nvPicPr>
          <p:cNvPr descr="image.png" id="371" name="Google Shape;37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1175295"/>
            <a:ext cx="1733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4"/>
          <p:cNvSpPr txBox="1"/>
          <p:nvPr/>
        </p:nvSpPr>
        <p:spPr>
          <a:xfrm>
            <a:off x="6717059" y="1156245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F172A"/>
                </a:solidFill>
                <a:latin typeface="DM Sans"/>
              </a:rPr>
              <a:t>Stage 1 to Stage 2 Iterations</a:t>
            </a:r>
            <a:endParaRPr/>
          </a:p>
        </p:txBody>
      </p:sp>
      <p:pic>
        <p:nvPicPr>
          <p:cNvPr id="381" name="Google Shape;381;p24" title="MBF_Logo_20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4" title="VK colored transparent logo.png"/>
          <p:cNvPicPr preferRelativeResize="0"/>
          <p:nvPr/>
        </p:nvPicPr>
        <p:blipFill rotWithShape="1">
          <a:blip r:embed="rId2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Rounded Rectangle 382"/>
          <p:cNvSpPr/>
          <p:nvPr/>
        </p:nvSpPr>
        <p:spPr>
          <a:xfrm>
            <a:off x="10140696" y="457200"/>
            <a:ext cx="1517904" cy="24688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0369A1"/>
                </a:solidFill>
                <a:latin typeface="DM Sans"/>
              </a:rPr>
              <a:t>DOCUMENTED DECISIONS</a:t>
            </a:r>
          </a:p>
        </p:txBody>
      </p:sp>
      <p:pic>
        <p:nvPicPr>
          <p:cNvPr id="384" name="Picture 383" descr="fig_decisi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496" y="970048"/>
            <a:ext cx="5413248" cy="3875487"/>
          </a:xfrm>
          <a:prstGeom prst="rect">
            <a:avLst/>
          </a:prstGeom>
        </p:spPr>
      </p:pic>
      <p:sp>
        <p:nvSpPr>
          <p:cNvPr id="385" name="TextBox 384"/>
          <p:cNvSpPr txBox="1"/>
          <p:nvPr/>
        </p:nvSpPr>
        <p:spPr>
          <a:xfrm>
            <a:off x="6464808" y="1572768"/>
            <a:ext cx="5029200" cy="384048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Pivot:  </a:t>
            </a:r>
            <a:r>
              <a:rPr sz="1200" b="0">
                <a:solidFill>
                  <a:srgbClr val="334155"/>
                </a:solidFill>
                <a:latin typeface="DM Sans"/>
              </a:rPr>
              <a:t>therapy bandage (already shown in labs⁵) → one job: is it full?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Choice:  </a:t>
            </a:r>
            <a:r>
              <a:rPr sz="1200" b="0">
                <a:solidFill>
                  <a:srgbClr val="334155"/>
                </a:solidFill>
                <a:latin typeface="DM Sans"/>
              </a:rPr>
              <a:t>two-zone strip (4.36) beat one zone (4.29): it spots leaks.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Kept:  </a:t>
            </a:r>
            <a:r>
              <a:rPr sz="1200" b="0">
                <a:solidFill>
                  <a:srgbClr val="334155"/>
                </a:solidFill>
                <a:latin typeface="DM Sans"/>
              </a:rPr>
              <a:t>Stage 1's Bluetooth telemetry, now a state broadcast.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Corrected:  </a:t>
            </a:r>
            <a:r>
              <a:rPr sz="1200" b="0">
                <a:solidFill>
                  <a:srgbClr val="334155"/>
                </a:solidFill>
                <a:latin typeface="DM Sans"/>
              </a:rPr>
              <a:t>Stage 1 called Kapton 'medical-grade'; DuPont cautions otherwise¹¹.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200" b="0">
                <a:solidFill>
                  <a:srgbClr val="059669"/>
                </a:solidFill>
                <a:latin typeface="DM Sans"/>
              </a:rPr>
              <a:t>▪  </a:t>
            </a:r>
            <a:r>
              <a:rPr sz="1200" b="1">
                <a:solidFill>
                  <a:srgbClr val="0F172A"/>
                </a:solidFill>
                <a:latin typeface="DM Sans"/>
              </a:rPr>
              <a:t>Redesign:  </a:t>
            </a:r>
            <a:r>
              <a:rPr sz="1200" b="0">
                <a:solidFill>
                  <a:srgbClr val="334155"/>
                </a:solidFill>
                <a:latin typeface="DM Sans"/>
              </a:rPr>
              <a:t>FMEA risk → v0.2 loops each sense lead.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descr="image.png" id="417" name="Google Shape;41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956220"/>
            <a:ext cx="11125200" cy="23957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3493008"/>
            <a:ext cx="5429250" cy="23957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29350" y="3493008"/>
            <a:ext cx="5429250" cy="2395728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7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Roadmap</a:t>
            </a:r>
            <a:endParaRPr/>
          </a:p>
        </p:txBody>
      </p:sp>
      <p:pic>
        <p:nvPicPr>
          <p:cNvPr descr="image.png" id="424" name="Google Shape;424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247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7"/>
          <p:cNvSpPr txBox="1"/>
          <p:nvPr/>
        </p:nvSpPr>
        <p:spPr>
          <a:xfrm>
            <a:off x="1002059" y="1156245"/>
            <a:ext cx="8229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F172A"/>
                </a:solidFill>
                <a:latin typeface="DM Sans"/>
              </a:rPr>
              <a:t>4-Month Plan on the programme's own dates: each gate must pass first</a:t>
            </a:r>
            <a:endParaRPr/>
          </a:p>
        </p:txBody>
      </p:sp>
      <p:pic>
        <p:nvPicPr>
          <p:cNvPr descr="image.png" id="435" name="Google Shape;43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3712463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7"/>
          <p:cNvSpPr txBox="1"/>
          <p:nvPr/>
        </p:nvSpPr>
        <p:spPr>
          <a:xfrm>
            <a:off x="1002059" y="3685032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F172A"/>
                </a:solidFill>
                <a:latin typeface="DM Sans"/>
              </a:rPr>
              <a:t>Build &amp; Bench (Months 1 - 2)</a:t>
            </a:r>
            <a:endParaRPr/>
          </a:p>
        </p:txBody>
      </p:sp>
      <p:pic>
        <p:nvPicPr>
          <p:cNvPr descr="image.png" id="439" name="Google Shape;43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8425" y="3712463"/>
            <a:ext cx="1352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7"/>
          <p:cNvSpPr txBox="1"/>
          <p:nvPr/>
        </p:nvSpPr>
        <p:spPr>
          <a:xfrm>
            <a:off x="6678959" y="3685032"/>
            <a:ext cx="48463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0F172A"/>
                </a:solidFill>
                <a:latin typeface="DM Sans"/>
              </a:rPr>
              <a:t>Validate &amp; Demo (Months 3 - 4)</a:t>
            </a:r>
            <a:endParaRPr/>
          </a:p>
        </p:txBody>
      </p:sp>
      <p:pic>
        <p:nvPicPr>
          <p:cNvPr id="447" name="Google Shape;447;p27" title="MBF_Logo_2020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7" title="VK colored transparent logo.png"/>
          <p:cNvPicPr preferRelativeResize="0"/>
          <p:nvPr/>
        </p:nvPicPr>
        <p:blipFill rotWithShape="1">
          <a:blip r:embed="rId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Rounded Rectangle 448"/>
          <p:cNvSpPr/>
          <p:nvPr/>
        </p:nvSpPr>
        <p:spPr>
          <a:xfrm>
            <a:off x="9829800" y="457200"/>
            <a:ext cx="1828800" cy="24688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475569"/>
                </a:solidFill>
                <a:latin typeface="DM Sans"/>
              </a:rPr>
              <a:t>FUTURE SCOPE · GATED PLAN</a:t>
            </a:r>
          </a:p>
        </p:txBody>
      </p:sp>
      <p:pic>
        <p:nvPicPr>
          <p:cNvPr id="450" name="Picture 449" descr="fig_roadma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4513" y="1417320"/>
            <a:ext cx="10609069" cy="1874519"/>
          </a:xfrm>
          <a:prstGeom prst="rect">
            <a:avLst/>
          </a:prstGeom>
        </p:spPr>
      </p:pic>
      <p:sp>
        <p:nvSpPr>
          <p:cNvPr id="451" name="TextBox 450"/>
          <p:cNvSpPr txBox="1"/>
          <p:nvPr/>
        </p:nvSpPr>
        <p:spPr>
          <a:xfrm>
            <a:off x="768096" y="4041648"/>
            <a:ext cx="5029200" cy="173736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0">
                <a:solidFill>
                  <a:srgbClr val="059669"/>
                </a:solidFill>
                <a:latin typeface="DM Sans"/>
              </a:rPr>
              <a:t>▪  </a:t>
            </a:r>
            <a:r>
              <a:rPr sz="1150" b="1">
                <a:solidFill>
                  <a:srgbClr val="0F172A"/>
                </a:solidFill>
                <a:latin typeface="DM Sans"/>
              </a:rPr>
              <a:t>Nov:  </a:t>
            </a:r>
            <a:r>
              <a:rPr sz="1150" b="0">
                <a:solidFill>
                  <a:srgbClr val="334155"/>
                </a:solidFill>
                <a:latin typeface="DM Sans"/>
              </a:rPr>
              <a:t>E2 laser tests (G1); build and bench-test the reader (G2).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0">
                <a:solidFill>
                  <a:srgbClr val="059669"/>
                </a:solidFill>
                <a:latin typeface="DM Sans"/>
              </a:rPr>
              <a:t>▪  </a:t>
            </a:r>
            <a:r>
              <a:rPr sz="1150" b="1">
                <a:solidFill>
                  <a:srgbClr val="0F172A"/>
                </a:solidFill>
                <a:latin typeface="DM Sans"/>
              </a:rPr>
              <a:t>Early Dec:  </a:t>
            </a:r>
            <a:r>
              <a:rPr sz="1150" b="0">
                <a:solidFill>
                  <a:srgbClr val="334155"/>
                </a:solidFill>
                <a:latin typeface="DM Sans"/>
              </a:rPr>
              <a:t>first strips on a dressing; 3-min prototype video.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6464808" y="4041648"/>
            <a:ext cx="5029200" cy="173736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0">
                <a:solidFill>
                  <a:srgbClr val="059669"/>
                </a:solidFill>
                <a:latin typeface="DM Sans"/>
              </a:rPr>
              <a:t>▪  </a:t>
            </a:r>
            <a:r>
              <a:rPr sz="1150" b="1">
                <a:solidFill>
                  <a:srgbClr val="0F172A"/>
                </a:solidFill>
                <a:latin typeface="DM Sans"/>
              </a:rPr>
              <a:t>Dec:  </a:t>
            </a:r>
            <a:r>
              <a:rPr sz="1150" b="0">
                <a:solidFill>
                  <a:srgbClr val="334155"/>
                </a:solidFill>
                <a:latin typeface="DM Sans"/>
              </a:rPr>
              <a:t>strip v0.2 + printed clamp; E4 wet tests (G3).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0">
                <a:solidFill>
                  <a:srgbClr val="059669"/>
                </a:solidFill>
                <a:latin typeface="DM Sans"/>
              </a:rPr>
              <a:t>▪  </a:t>
            </a:r>
            <a:r>
              <a:rPr sz="1150" b="1">
                <a:solidFill>
                  <a:srgbClr val="0F172A"/>
                </a:solidFill>
                <a:latin typeface="DM Sans"/>
              </a:rPr>
              <a:t>Jan:  </a:t>
            </a:r>
            <a:r>
              <a:rPr sz="1150" b="0">
                <a:solidFill>
                  <a:srgbClr val="334155"/>
                </a:solidFill>
                <a:latin typeface="DM Sans"/>
              </a:rPr>
              <a:t>repeatability; virtual semi-final with a live demo.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0">
                <a:solidFill>
                  <a:srgbClr val="059669"/>
                </a:solidFill>
                <a:latin typeface="DM Sans"/>
              </a:rPr>
              <a:t>▪  </a:t>
            </a:r>
            <a:r>
              <a:rPr sz="1150" b="1">
                <a:solidFill>
                  <a:srgbClr val="0F172A"/>
                </a:solidFill>
                <a:latin typeface="DM Sans"/>
              </a:rPr>
              <a:t>Stage 3:  </a:t>
            </a:r>
            <a:r>
              <a:rPr sz="1150" b="0">
                <a:solidFill>
                  <a:srgbClr val="334155"/>
                </a:solidFill>
                <a:latin typeface="DM Sans"/>
              </a:rPr>
              <a:t>OK → CHANGE live on a dressing at IIT Indore.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descr="image.png" id="477" name="Google Shape;47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400" y="956223"/>
            <a:ext cx="3568600" cy="2240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11550" y="956223"/>
            <a:ext cx="3568749" cy="2240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1" name="Google Shape;481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89850" y="956223"/>
            <a:ext cx="3568600" cy="224028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0"/>
          <p:cNvSpPr txBox="1"/>
          <p:nvPr/>
        </p:nvSpPr>
        <p:spPr>
          <a:xfrm>
            <a:off x="533400" y="438150"/>
            <a:ext cx="859536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>
                <a:solidFill>
                  <a:srgbClr val="0F172A"/>
                </a:solidFill>
                <a:latin typeface="Poppins SemiBold"/>
              </a:rPr>
              <a:t>Potential Solutions &amp; Risk Mitigation</a:t>
            </a:r>
            <a:endParaRPr/>
          </a:p>
        </p:txBody>
      </p:sp>
      <p:sp>
        <p:nvSpPr>
          <p:cNvPr id="484" name="Google Shape;484;p30"/>
          <p:cNvSpPr txBox="1"/>
          <p:nvPr/>
        </p:nvSpPr>
        <p:spPr>
          <a:xfrm>
            <a:off x="723900" y="5761004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1">
                <a:solidFill>
                  <a:srgbClr val="0F172A"/>
                </a:solidFill>
                <a:latin typeface="DM Sans"/>
              </a:rPr>
              <a:t>Rule We Keep: </a:t>
            </a:r>
            <a:r>
              <a:rPr sz="960" b="0">
                <a:solidFill>
                  <a:srgbClr val="334155"/>
                </a:solidFill>
                <a:latin typeface="DM Sans"/>
              </a:rPr>
              <a:t>no performance, graphene or clinical claim until it is measured.</a:t>
            </a:r>
            <a:endParaRPr/>
          </a:p>
        </p:txBody>
      </p:sp>
      <p:pic>
        <p:nvPicPr>
          <p:cNvPr descr="image.png" id="492" name="Google Shape;492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2475" y="1175295"/>
            <a:ext cx="1924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0"/>
          <p:cNvSpPr txBox="1"/>
          <p:nvPr/>
        </p:nvSpPr>
        <p:spPr>
          <a:xfrm>
            <a:off x="1040159" y="1156245"/>
            <a:ext cx="30632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Fixed &amp; Verified</a:t>
            </a:r>
            <a:endParaRPr/>
          </a:p>
        </p:txBody>
      </p:sp>
      <p:pic>
        <p:nvPicPr>
          <p:cNvPr descr="image.png" id="494" name="Google Shape;49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0625" y="1175295"/>
            <a:ext cx="1733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0"/>
          <p:cNvSpPr txBox="1"/>
          <p:nvPr/>
        </p:nvSpPr>
        <p:spPr>
          <a:xfrm>
            <a:off x="4799260" y="1156245"/>
            <a:ext cx="30632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Designed, to Prove</a:t>
            </a:r>
            <a:endParaRPr/>
          </a:p>
        </p:txBody>
      </p:sp>
      <p:pic>
        <p:nvPicPr>
          <p:cNvPr descr="image.png" id="496" name="Google Shape;49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089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0"/>
          <p:cNvSpPr txBox="1"/>
          <p:nvPr/>
        </p:nvSpPr>
        <p:spPr>
          <a:xfrm>
            <a:off x="8558510" y="1156245"/>
            <a:ext cx="30632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172A"/>
                </a:solidFill>
                <a:latin typeface="DM Sans"/>
              </a:rPr>
              <a:t>Fallbacks</a:t>
            </a:r>
            <a:endParaRPr/>
          </a:p>
        </p:txBody>
      </p:sp>
      <p:pic>
        <p:nvPicPr>
          <p:cNvPr id="498" name="Google Shape;498;p30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0" title="VK colored transparent logo.png"/>
          <p:cNvPicPr preferRelativeResize="0"/>
          <p:nvPr/>
        </p:nvPicPr>
        <p:blipFill rotWithShape="1">
          <a:blip r:embed="rId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Rounded Rectangle 499"/>
          <p:cNvSpPr/>
          <p:nvPr/>
        </p:nvSpPr>
        <p:spPr>
          <a:xfrm>
            <a:off x="9829800" y="457200"/>
            <a:ext cx="1828800" cy="24688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750" b="1">
                <a:solidFill>
                  <a:srgbClr val="475569"/>
                </a:solidFill>
                <a:latin typeface="DM Sans"/>
              </a:rPr>
              <a:t>FIXED · DESIGNED · FUTURE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749808" y="1517904"/>
            <a:ext cx="3154680" cy="1636776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0F172A"/>
                </a:solidFill>
                <a:latin typeface="DM Sans"/>
              </a:rPr>
              <a:t>Seal: </a:t>
            </a:r>
            <a:r>
              <a:rPr sz="1100" b="0">
                <a:solidFill>
                  <a:srgbClr val="334155"/>
                </a:solidFill>
                <a:latin typeface="DM Sans"/>
              </a:rPr>
              <a:t>starts at x = 23 mm; 0 clash.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0F172A"/>
                </a:solidFill>
                <a:latin typeface="DM Sans"/>
              </a:rPr>
              <a:t>Units: </a:t>
            </a:r>
            <a:r>
              <a:rPr sz="1100" b="0">
                <a:solidFill>
                  <a:srgbClr val="334155"/>
                </a:solidFill>
                <a:latin typeface="DM Sans"/>
              </a:rPr>
              <a:t>all STEP files in mm.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0F172A"/>
                </a:solidFill>
                <a:latin typeface="DM Sans"/>
              </a:rPr>
              <a:t>Checks: </a:t>
            </a:r>
            <a:r>
              <a:rPr sz="1100" b="0">
                <a:solidFill>
                  <a:srgbClr val="334155"/>
                </a:solidFill>
                <a:latin typeface="DM Sans"/>
              </a:rPr>
              <a:t>99 CAD checks pass.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4526280" y="1517904"/>
            <a:ext cx="3154680" cy="1636776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0F172A"/>
                </a:solidFill>
                <a:latin typeface="DM Sans"/>
              </a:rPr>
              <a:t>v0.2 strip: </a:t>
            </a:r>
            <a:r>
              <a:rPr sz="1100" b="0">
                <a:solidFill>
                  <a:srgbClr val="334155"/>
                </a:solidFill>
                <a:latin typeface="DM Sans"/>
              </a:rPr>
              <a:t>every sense lead looped.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0F172A"/>
                </a:solidFill>
                <a:latin typeface="DM Sans"/>
              </a:rPr>
              <a:t>Contact: </a:t>
            </a:r>
            <a:r>
              <a:rPr sz="1100" b="0">
                <a:solidFill>
                  <a:srgbClr val="334155"/>
                </a:solidFill>
                <a:latin typeface="DM Sans"/>
              </a:rPr>
              <a:t>silver pads, rounded pins.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0F172A"/>
                </a:solidFill>
                <a:latin typeface="DM Sans"/>
              </a:rPr>
              <a:t>Self-test: </a:t>
            </a:r>
            <a:r>
              <a:rPr sz="1100" b="0">
                <a:solidFill>
                  <a:srgbClr val="334155"/>
                </a:solidFill>
                <a:latin typeface="DM Sans"/>
              </a:rPr>
              <a:t>check resistor → FAULT.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8311896" y="1517904"/>
            <a:ext cx="3154680" cy="1636776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0F172A"/>
                </a:solidFill>
                <a:latin typeface="DM Sans"/>
              </a:rPr>
              <a:t>Wider lines: </a:t>
            </a:r>
            <a:r>
              <a:rPr sz="1100" b="0">
                <a:solidFill>
                  <a:srgbClr val="334155"/>
                </a:solidFill>
                <a:latin typeface="DM Sans"/>
              </a:rPr>
              <a:t>if E2 says so.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0F172A"/>
                </a:solidFill>
                <a:latin typeface="DM Sans"/>
              </a:rPr>
              <a:t>Process: </a:t>
            </a:r>
            <a:r>
              <a:rPr sz="1100" b="0">
                <a:solidFill>
                  <a:srgbClr val="334155"/>
                </a:solidFill>
                <a:latin typeface="DM Sans"/>
              </a:rPr>
              <a:t>slower passes, log current.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>
                <a:solidFill>
                  <a:srgbClr val="0F172A"/>
                </a:solidFill>
                <a:latin typeface="DM Sans"/>
              </a:rPr>
              <a:t>Concept: </a:t>
            </a:r>
            <a:r>
              <a:rPr sz="1100" b="0">
                <a:solidFill>
                  <a:srgbClr val="334155"/>
                </a:solidFill>
                <a:latin typeface="DM Sans"/>
              </a:rPr>
              <a:t>one-zone strip (score 4.29).</a:t>
            </a:r>
          </a:p>
        </p:txBody>
      </p:sp>
      <p:sp>
        <p:nvSpPr>
          <p:cNvPr id="504" name="Rounded Rectangle 503"/>
          <p:cNvSpPr/>
          <p:nvPr/>
        </p:nvSpPr>
        <p:spPr>
          <a:xfrm>
            <a:off x="530352" y="3364992"/>
            <a:ext cx="11128248" cy="217627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TextBox 504"/>
          <p:cNvSpPr txBox="1"/>
          <p:nvPr/>
        </p:nvSpPr>
        <p:spPr>
          <a:xfrm>
            <a:off x="749808" y="3474720"/>
            <a:ext cx="10698480" cy="27432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DM Sans"/>
              </a:rPr>
              <a:t>Future Scope &amp; Validation Plan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749808" y="3886200"/>
            <a:ext cx="5257800" cy="155448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059669"/>
                </a:solidFill>
                <a:latin typeface="DM Sans"/>
              </a:rPr>
              <a:t>▪  </a:t>
            </a:r>
            <a:r>
              <a:rPr sz="1100" b="1">
                <a:solidFill>
                  <a:srgbClr val="0F172A"/>
                </a:solidFill>
                <a:latin typeface="DM Sans"/>
              </a:rPr>
              <a:t>Experiments:  </a:t>
            </a:r>
            <a:r>
              <a:rPr sz="1100" b="0">
                <a:solidFill>
                  <a:srgbClr val="334155"/>
                </a:solidFill>
                <a:latin typeface="DM Sans"/>
              </a:rPr>
              <a:t>E2 laser, reader bench test, E4 wet tests.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059669"/>
                </a:solidFill>
                <a:latin typeface="DM Sans"/>
              </a:rPr>
              <a:t>▪  </a:t>
            </a:r>
            <a:r>
              <a:rPr sz="1100" b="1">
                <a:solidFill>
                  <a:srgbClr val="0F172A"/>
                </a:solidFill>
                <a:latin typeface="DM Sans"/>
              </a:rPr>
              <a:t>Material:  </a:t>
            </a:r>
            <a:r>
              <a:rPr sz="1100" b="0">
                <a:solidFill>
                  <a:srgbClr val="334155"/>
                </a:solidFill>
                <a:latin typeface="DM Sans"/>
              </a:rPr>
              <a:t>Raman and SEM before any 'graphene' claim.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059669"/>
                </a:solidFill>
                <a:latin typeface="DM Sans"/>
              </a:rPr>
              <a:t>▪  </a:t>
            </a:r>
            <a:r>
              <a:rPr sz="1100" b="1">
                <a:solidFill>
                  <a:srgbClr val="0F172A"/>
                </a:solidFill>
                <a:latin typeface="DM Sans"/>
              </a:rPr>
              <a:t>Reliability:  </a:t>
            </a:r>
            <a:r>
              <a:rPr sz="1100" b="0">
                <a:solidFill>
                  <a:srgbClr val="334155"/>
                </a:solidFill>
                <a:latin typeface="DM Sans"/>
              </a:rPr>
              <a:t>bending, contact cycling, humidity drift.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6263640" y="3886200"/>
            <a:ext cx="5257800" cy="1554480"/>
          </a:xfrm>
          <a:prstGeom prst="rect">
            <a:avLst/>
          </a:prstGeom>
          <a:noFill/>
        </p:spPr>
        <p:txBody>
          <a:bodyPr wrap="square" lIns="18288" rIns="18288" tIns="9144" bIns="9144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059669"/>
                </a:solidFill>
                <a:latin typeface="DM Sans"/>
              </a:rPr>
              <a:t>▪  </a:t>
            </a:r>
            <a:r>
              <a:rPr sz="1100" b="1">
                <a:solidFill>
                  <a:srgbClr val="0F172A"/>
                </a:solidFill>
                <a:latin typeface="DM Sans"/>
              </a:rPr>
              <a:t>Product:  </a:t>
            </a:r>
            <a:r>
              <a:rPr sz="1100" b="0">
                <a:solidFill>
                  <a:srgbClr val="334155"/>
                </a:solidFill>
                <a:latin typeface="DM Sans"/>
              </a:rPr>
              <a:t>battery pod; phone app on the BLE broadcast; strips per dressing.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059669"/>
                </a:solidFill>
                <a:latin typeface="DM Sans"/>
              </a:rPr>
              <a:t>▪  </a:t>
            </a:r>
            <a:r>
              <a:rPr sz="1100" b="1">
                <a:solidFill>
                  <a:srgbClr val="0F172A"/>
                </a:solidFill>
                <a:latin typeface="DM Sans"/>
              </a:rPr>
              <a:t>Before patients:  </a:t>
            </a:r>
            <a:r>
              <a:rPr sz="1100" b="0">
                <a:solidFill>
                  <a:srgbClr val="334155"/>
                </a:solidFill>
                <a:latin typeface="DM Sans"/>
              </a:rPr>
              <a:t>ISO 10993, IEC 60601-1, ethics approval.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00" b="0">
                <a:solidFill>
                  <a:srgbClr val="059669"/>
                </a:solidFill>
                <a:latin typeface="DM Sans"/>
              </a:rPr>
              <a:t>▪  </a:t>
            </a:r>
            <a:r>
              <a:rPr sz="1100" b="1">
                <a:solidFill>
                  <a:srgbClr val="0F172A"/>
                </a:solidFill>
                <a:latin typeface="DM Sans"/>
              </a:rPr>
              <a:t>Not claimed:  </a:t>
            </a:r>
            <a:r>
              <a:rPr sz="1100" b="0">
                <a:solidFill>
                  <a:srgbClr val="334155"/>
                </a:solidFill>
                <a:latin typeface="DM Sans"/>
              </a:rPr>
              <a:t>sensing performance, graphene, clinical benefit.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