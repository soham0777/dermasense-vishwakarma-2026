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9" r:id="rId10"/>
    <p:sldId id="276" r:id="rId47"/>
    <p:sldId id="277" r:id="rId48"/>
    <p:sldId id="261" r:id="rId12"/>
    <p:sldId id="278" r:id="rId49"/>
    <p:sldId id="263" r:id="rId14"/>
    <p:sldId id="279" r:id="rId50"/>
    <p:sldId id="265" r:id="rId16"/>
    <p:sldId id="280" r:id="rId51"/>
    <p:sldId id="267" r:id="rId18"/>
    <p:sldId id="281" r:id="rId52"/>
    <p:sldId id="270" r:id="rId21"/>
    <p:sldId id="282" r:id="rId53"/>
    <p:sldId id="273" r:id="rId24"/>
    <p:sldId id="283" r:id="rId5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AD28DD-9E69-47B7-B3C4-3EE7697E9F47}">
  <a:tblStyle styleId="{BBAD28DD-9E69-47B7-B3C4-3EE7697E9F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DMSansMedium-regular.fntdata"/><Relationship Id="rId28" Type="http://schemas.openxmlformats.org/officeDocument/2006/relationships/font" Target="fonts/DMSansMedium-bold.fntdata"/><Relationship Id="rId29" Type="http://schemas.openxmlformats.org/officeDocument/2006/relationships/font" Target="fonts/DMSansMedium-italic.fntdata"/><Relationship Id="rId30" Type="http://schemas.openxmlformats.org/officeDocument/2006/relationships/font" Target="fonts/DMSansMedium-boldItalic.fntdata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Inter-regular.fntdata"/><Relationship Id="rId36" Type="http://schemas.openxmlformats.org/officeDocument/2006/relationships/font" Target="fonts/Inter-bold.fntdata"/><Relationship Id="rId37" Type="http://schemas.openxmlformats.org/officeDocument/2006/relationships/font" Target="fonts/Inter-italic.fntdata"/><Relationship Id="rId38" Type="http://schemas.openxmlformats.org/officeDocument/2006/relationships/font" Target="fonts/Inter-boldItalic.fntdata"/><Relationship Id="rId39" Type="http://schemas.openxmlformats.org/officeDocument/2006/relationships/font" Target="fonts/PoppinsSemiBold-regular.fntdata"/><Relationship Id="rId40" Type="http://schemas.openxmlformats.org/officeDocument/2006/relationships/font" Target="fonts/PoppinsSemiBold-bold.fntdata"/><Relationship Id="rId41" Type="http://schemas.openxmlformats.org/officeDocument/2006/relationships/font" Target="fonts/PoppinsSemiBold-italic.fntdata"/><Relationship Id="rId42" Type="http://schemas.openxmlformats.org/officeDocument/2006/relationships/font" Target="fonts/PoppinsSemiBold-boldItalic.fntdata"/><Relationship Id="rId43" Type="http://schemas.openxmlformats.org/officeDocument/2006/relationships/font" Target="fonts/DMSans-regular.fntdata"/><Relationship Id="rId44" Type="http://schemas.openxmlformats.org/officeDocument/2006/relationships/font" Target="fonts/DMSans-bold.fntdata"/><Relationship Id="rId45" Type="http://schemas.openxmlformats.org/officeDocument/2006/relationships/font" Target="fonts/DMSans-italic.fntdata"/><Relationship Id="rId46" Type="http://schemas.openxmlformats.org/officeDocument/2006/relationships/font" Target="fonts/DMSans-boldItalic.fntdata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Cover. Application ID from the Stage 2 invitation. Team names as registered. No institution or mentor is shown until confirmed (see PPT_QA_Report.md).</a:t>
            </a:r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Sources: L08 Milne 2016 (full text), L28 dressing IFUs, L26 McColl 2007, P01/P02 patents, L03 Jiang 2022. Figure: Stage2_Final/figures/fig_problem.png (geometry from strip_v0_1_geometry.json).</a:t>
            </a:r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Values: 05_electronics/calc_readout_report.md, 07_firmware/reader_v0_1/config.h, 04_lig_lab/strip_v0_1_geometry.json.</a:t>
            </a:r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Evidence: 06_cad/calc_mechanical_report.md, 06_cad/verify_cad_report.md, 06_cad/solidworks/*.</a:t>
            </a:r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Evidence: 05_electronics/kicad/out/erc.rpt, 07_firmware/tools/check_consistency.py, 07_firmware/WIRING.md.</a:t>
            </a:r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repository link is the one item the team must add (see PPT_QA_Report.md). Screenshot: Stage2_Final/figures/sw_ui_assembly.png (captured by render_cad.py).</a:t>
            </a:r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Evidence: 00_control/fmea_v0_1.csv, 04_lig_lab/e2/E2_safety_checklist.md. Standards are considered in the design; no compliance is claimed.</a:t>
            </a:r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Evidence: 06_cad/verify_cad_report.md (interference), 00_control/fmea_v0_1.md, 04_lig_lab/machine_record.md.</a:t>
            </a:r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Full list with verification notes: 02_research/literature.csv and research_matrix.csv (36 + 16 entries).</a:t>
            </a:r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Generators: Stage2_Final/figures/src/render_cad.py and make_final_figures.py.</a:t>
            </a:r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L08 Milne 2016; L38 exudate quantification study (abstract; two methods disagree).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Targets, not results. E4 (strips on real dressings with simulated exudate) will measure the alert accuracy.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Evidence: 07_firmware/reader_v0_1/zone_logic_tests.h, tools/test_*.py, arduino-cli output (327,176 bytes, 24 %).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Evidence: 04_lig_lab/laser_files_check.md, 04_lig_lab/e2/E2_procedure.md, e2_sample_matrix.csv, machine_record.md.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Totals computed from 09_procurement/bom_v0_1.csv (ranges = sum of min and max estimates).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Evidence: 03_sensors/decision_matrix.md, 00_control/decisions.md (D-009…D-013), git history.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Gate criteria from 04_lig_lab/e2/E2_procedure.md and 07_firmware/BENCH_TEST.md. Calendar months assume the first laser session in the week after submission.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scope and validation plan below the cards; details in E2_measurements_and_unknowns.md.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Relationship Id="rId9" Type="http://schemas.openxmlformats.org/officeDocument/2006/relationships/image" Target="../media/image11.png"/><Relationship Id="rId10" Type="http://schemas.openxmlformats.org/officeDocument/2006/relationships/image" Target="../media/image15.png"/><Relationship Id="rId11" Type="http://schemas.openxmlformats.org/officeDocument/2006/relationships/image" Target="../media/image18.png"/><Relationship Id="rId12" Type="http://schemas.openxmlformats.org/officeDocument/2006/relationships/image" Target="../media/image10.png"/><Relationship Id="rId13" Type="http://schemas.openxmlformats.org/officeDocument/2006/relationships/image" Target="../media/image22.png"/><Relationship Id="rId14" Type="http://schemas.openxmlformats.org/officeDocument/2006/relationships/image" Target="../media/image70.png"/><Relationship Id="rId15" Type="http://schemas.openxmlformats.org/officeDocument/2006/relationships/image" Target="../media/image7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Relationship Id="rId9" Type="http://schemas.openxmlformats.org/officeDocument/2006/relationships/image" Target="../media/image36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Relationship Id="rId9" Type="http://schemas.openxmlformats.org/officeDocument/2006/relationships/image" Target="../media/image29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38.png"/><Relationship Id="rId9" Type="http://schemas.openxmlformats.org/officeDocument/2006/relationships/image" Target="../media/image35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50.png"/><Relationship Id="rId9" Type="http://schemas.openxmlformats.org/officeDocument/2006/relationships/image" Target="../media/image53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5.png"/><Relationship Id="rId8" Type="http://schemas.openxmlformats.org/officeDocument/2006/relationships/image" Target="../media/image54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22.png"/><Relationship Id="rId12" Type="http://schemas.openxmlformats.org/officeDocument/2006/relationships/image" Target="../media/image70.png"/><Relationship Id="rId13" Type="http://schemas.openxmlformats.org/officeDocument/2006/relationships/image" Target="../media/image8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6.png"/><Relationship Id="rId6" Type="http://schemas.openxmlformats.org/officeDocument/2006/relationships/image" Target="../media/image61.png"/><Relationship Id="rId7" Type="http://schemas.openxmlformats.org/officeDocument/2006/relationships/image" Target="../media/image63.png"/><Relationship Id="rId8" Type="http://schemas.openxmlformats.org/officeDocument/2006/relationships/image" Target="../media/image15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7.png"/><Relationship Id="rId12" Type="http://schemas.openxmlformats.org/officeDocument/2006/relationships/image" Target="../media/image22.png"/><Relationship Id="rId13" Type="http://schemas.openxmlformats.org/officeDocument/2006/relationships/image" Target="../media/image70.png"/><Relationship Id="rId14" Type="http://schemas.openxmlformats.org/officeDocument/2006/relationships/image" Target="../media/image9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72.png"/><Relationship Id="rId8" Type="http://schemas.openxmlformats.org/officeDocument/2006/relationships/image" Target="../media/image75.png"/><Relationship Id="rId9" Type="http://schemas.openxmlformats.org/officeDocument/2006/relationships/image" Target="../media/image15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Relationship Id="rId21" Type="http://schemas.openxmlformats.org/officeDocument/2006/relationships/image" Target="../media/image86.png"/><Relationship Id="rId22" Type="http://schemas.openxmlformats.org/officeDocument/2006/relationships/image" Target="../media/image87.png"/><Relationship Id="rId23" Type="http://schemas.openxmlformats.org/officeDocument/2006/relationships/image" Target="../media/image88.png"/><Relationship Id="rId24" Type="http://schemas.openxmlformats.org/officeDocument/2006/relationships/image" Target="../media/image89.png"/><Relationship Id="rId25" Type="http://schemas.openxmlformats.org/officeDocument/2006/relationships/image" Target="../media/image9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70.png"/><Relationship Id="rId10" Type="http://schemas.openxmlformats.org/officeDocument/2006/relationships/image" Target="../media/image5.png"/><Relationship Id="rId11" Type="http://schemas.openxmlformats.org/officeDocument/2006/relationships/image" Target="../media/image9.png"/><Relationship Id="rId12" Type="http://schemas.openxmlformats.org/officeDocument/2006/relationships/image" Target="../media/image21.png"/><Relationship Id="rId13" Type="http://schemas.openxmlformats.org/officeDocument/2006/relationships/image" Target="../media/image14.png"/><Relationship Id="rId14" Type="http://schemas.openxmlformats.org/officeDocument/2006/relationships/image" Target="../media/image78.png"/><Relationship Id="rId1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70.png"/><Relationship Id="rId10" Type="http://schemas.openxmlformats.org/officeDocument/2006/relationships/image" Target="../media/image5.png"/><Relationship Id="rId11" Type="http://schemas.openxmlformats.org/officeDocument/2006/relationships/image" Target="../media/image9.png"/><Relationship Id="rId12" Type="http://schemas.openxmlformats.org/officeDocument/2006/relationships/image" Target="../media/image21.png"/><Relationship Id="rId13" Type="http://schemas.openxmlformats.org/officeDocument/2006/relationships/image" Target="../media/image14.png"/><Relationship Id="rId14" Type="http://schemas.openxmlformats.org/officeDocument/2006/relationships/image" Target="../media/image79.png"/><Relationship Id="rId1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26.png"/><Relationship Id="rId11" Type="http://schemas.openxmlformats.org/officeDocument/2006/relationships/image" Target="../media/image81.png"/><Relationship Id="rId1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26.png"/><Relationship Id="rId11" Type="http://schemas.openxmlformats.org/officeDocument/2006/relationships/image" Target="../media/image83.png"/><Relationship Id="rId1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38.png"/><Relationship Id="rId11" Type="http://schemas.openxmlformats.org/officeDocument/2006/relationships/image" Target="../media/image85.png"/><Relationship Id="rId1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3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50.png"/><Relationship Id="rId11" Type="http://schemas.openxmlformats.org/officeDocument/2006/relationships/image" Target="../media/image87.png"/><Relationship Id="rId1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57.png"/><Relationship Id="rId4" Type="http://schemas.openxmlformats.org/officeDocument/2006/relationships/image" Target="../media/image70.png"/><Relationship Id="rId5" Type="http://schemas.openxmlformats.org/officeDocument/2006/relationships/image" Target="../media/image3.png"/><Relationship Id="rId6" Type="http://schemas.openxmlformats.org/officeDocument/2006/relationships/image" Target="../media/image49.png"/><Relationship Id="rId7" Type="http://schemas.openxmlformats.org/officeDocument/2006/relationships/image" Target="../media/image56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15.png"/><Relationship Id="rId11" Type="http://schemas.openxmlformats.org/officeDocument/2006/relationships/image" Target="../media/image54.png"/><Relationship Id="rId12" Type="http://schemas.openxmlformats.org/officeDocument/2006/relationships/image" Target="../media/image89.png"/><Relationship Id="rId1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3" Type="http://schemas.openxmlformats.org/officeDocument/2006/relationships/image" Target="../media/image65.png"/><Relationship Id="rId4" Type="http://schemas.openxmlformats.org/officeDocument/2006/relationships/image" Target="../media/image70.png"/><Relationship Id="rId5" Type="http://schemas.openxmlformats.org/officeDocument/2006/relationships/image" Target="../media/image22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64.png"/><Relationship Id="rId9" Type="http://schemas.openxmlformats.org/officeDocument/2006/relationships/image" Target="../media/image66.png"/><Relationship Id="rId10" Type="http://schemas.openxmlformats.org/officeDocument/2006/relationships/image" Target="../media/image61.png"/><Relationship Id="rId11" Type="http://schemas.openxmlformats.org/officeDocument/2006/relationships/image" Target="../media/image63.png"/><Relationship Id="rId12" Type="http://schemas.openxmlformats.org/officeDocument/2006/relationships/image" Target="../media/image15.png"/><Relationship Id="rId1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Vishwakarma Application ID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11680" y="3931920"/>
            <a:ext cx="81655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0369A1"/>
                </a:solidFill>
                <a:latin typeface="Poppins SemiBold"/>
              </a:rPr>
              <a:t>VK26-IITI-HT-0050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1280160" y="4572000"/>
            <a:ext cx="9628632" cy="14630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Poppins SemiBold"/>
              </a:rPr>
              <a:t>Dermasense: a laser-written moisture strip that reads a wound dressing's own 'change line'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0160" y="5138928"/>
            <a:ext cx="9628632" cy="9144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DM Sans"/>
              </a:rPr>
              <a:t>Team: </a:t>
            </a:r>
            <a:r>
              <a:rPr sz="1050" b="0">
                <a:solidFill>
                  <a:srgbClr val="334155"/>
                </a:solidFill>
                <a:latin typeface="DM Sans"/>
              </a:rPr>
              <a:t>Soham Prabhakar Kadu · Bhakti Ajay Kadam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DM Sans"/>
              </a:rPr>
              <a:t>Track: </a:t>
            </a:r>
            <a:r>
              <a:rPr sz="1050" b="0">
                <a:solidFill>
                  <a:srgbClr val="334155"/>
                </a:solidFill>
                <a:latin typeface="DM Sans"/>
              </a:rPr>
              <a:t>Health Tech: Emergency Response &amp; Remote Monitoring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DM Sans"/>
              </a:rPr>
              <a:t>Core innovation: </a:t>
            </a:r>
            <a:r>
              <a:rPr sz="1050" b="0">
                <a:solidFill>
                  <a:srgbClr val="334155"/>
                </a:solidFill>
                <a:latin typeface="DM Sans"/>
              </a:rPr>
              <a:t>two laser-carbonised electrode zones, at the pad centre and on the dressing maker's change line, let a clip-on reader say OK, CHANGE or CHECK without lifting the dressing.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0160" y="5989320"/>
            <a:ext cx="9628632" cy="2743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00" b="1">
                <a:solidFill>
                  <a:srgbClr val="64748B"/>
                </a:solidFill>
                <a:latin typeface="DM Sans"/>
              </a:rPr>
              <a:t>Evidence key on every slide:  </a:t>
            </a:r>
            <a:r>
              <a:rPr sz="800" b="1">
                <a:solidFill>
                  <a:srgbClr val="059669"/>
                </a:solidFill>
                <a:latin typeface="DM Sans"/>
              </a:rPr>
              <a:t>● completed &amp; verified</a:t>
            </a:r>
            <a:r>
              <a:rPr sz="800" b="1">
                <a:solidFill>
                  <a:srgbClr val="B45309"/>
                </a:solidFill>
                <a:latin typeface="DM Sans"/>
              </a:rPr>
              <a:t>   ● designed, physical validation pending</a:t>
            </a:r>
            <a:r>
              <a:rPr sz="800" b="1">
                <a:solidFill>
                  <a:srgbClr val="475569"/>
                </a:solidFill>
                <a:latin typeface="DM Sans"/>
              </a:rPr>
              <a:t>   ● future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7360"/>
            <a:ext cx="54292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352" y="1737360"/>
            <a:ext cx="543153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Problem Context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Project Overview: </a:t>
            </a:r>
            <a:r>
              <a:rPr sz="860" b="0">
                <a:solidFill>
                  <a:srgbClr val="334155"/>
                </a:solidFill>
                <a:latin typeface="DM Sans"/>
              </a:rPr>
              <a:t>Dermasense · Team ID VK26-IITI-HT-0050 · Track: Health Tech · Core innovation: a laser-written two-zone strip that tells carers when a dressing has reached its own change line.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44.9 %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OF 588 CHANGES MADE AT OPTIMAL MOISTURE¹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≈ 2 cm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MAKER'S 'CHANGE NOW' LINE FROM PAD EDGE²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1 point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WHERE TODAY'S MOISTURE SENSOR READS¹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Uneven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IN-VITRO MOISTURE MAP, 8 POINTS³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94960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the maker's change line (≈ 2 cm inside the pad edge²) is invisible under a cover. To scale.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Target Beneficiary &amp; Problem Statement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Rounded Rectangle 157"/>
          <p:cNvSpPr/>
          <p:nvPr/>
        </p:nvSpPr>
        <p:spPr>
          <a:xfrm>
            <a:off x="9767620" y="457200"/>
            <a:ext cx="1890979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PUBLISHED EVIDENCE · CITED</a:t>
            </a:r>
          </a:p>
        </p:txBody>
      </p:sp>
      <p:pic>
        <p:nvPicPr>
          <p:cNvPr id="159" name="Picture 158" descr="fig_problem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756" y="1746504"/>
            <a:ext cx="5400726" cy="359359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464808" y="2267712"/>
            <a:ext cx="5029200" cy="32918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Target user: </a:t>
            </a:r>
            <a:r>
              <a:rPr sz="1040" b="0">
                <a:solidFill>
                  <a:srgbClr val="334155"/>
                </a:solidFill>
                <a:latin typeface="DM Sans"/>
              </a:rPr>
              <a:t>nurses and home carers looking after exuding chronic wounds (diabetic foot, venous leg and pressure ulcers) under foam dressings.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Operational pain point: </a:t>
            </a:r>
            <a:r>
              <a:rPr sz="1040" b="0">
                <a:solidFill>
                  <a:srgbClr val="334155"/>
                </a:solidFill>
                <a:latin typeface="DM Sans"/>
              </a:rPr>
              <a:t>the 'change now' signal is visual. Under bandages, socks or compression it is hidden, so dressings are changed by the clock, by lifting the cover, or after a leak.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Problem statement: </a:t>
            </a:r>
            <a:r>
              <a:rPr sz="1040" b="0">
                <a:solidFill>
                  <a:srgbClr val="334155"/>
                </a:solidFill>
                <a:latin typeface="DM Sans"/>
              </a:rPr>
              <a:t>carers need a reliable, low-cost signal that exudate has reached the maker's change line, without lifting the dressing.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Public search disclosure: </a:t>
            </a:r>
            <a:r>
              <a:rPr sz="1040" b="0">
                <a:solidFill>
                  <a:srgbClr val="334155"/>
                </a:solidFill>
                <a:latin typeface="DM Sans"/>
              </a:rPr>
              <a:t>WoundSense reads moisture at one point¹; a lab study mapped 8 points³; diaper wetness strips with clip-on readers exist⁴; smart bandages use custom electronics⁵. In our search, none reads a dressing's own change line.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Why now: </a:t>
            </a:r>
            <a:r>
              <a:rPr sz="1040" b="0">
                <a:solidFill>
                  <a:srgbClr val="334155"/>
                </a:solidFill>
                <a:latin typeface="DM Sans"/>
              </a:rPr>
              <a:t>some makers already define 'full' as a distance from the pad edge², and conductive carbon can be laser-written onto polyimide in one pass⁷: a sensor can follow the maker's own rule at low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System Architecture &amp; Specs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23900" y="5406206"/>
            <a:ext cx="1069848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Architecture Rationale: </a:t>
            </a:r>
            <a:r>
              <a:rPr sz="860" b="0">
                <a:solidFill>
                  <a:srgbClr val="334155"/>
                </a:solidFill>
                <a:latin typeface="DM Sans"/>
              </a:rPr>
              <a:t>only film and carbon are disposable. Bipolar drive keeps the net DC on wet electrodes near zero, and a known resistor checks the reader on every scan.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4882896"/>
            <a:ext cx="5429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block diagram with the software-verified and hardware-pending status of each block.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Engineering Target Specifications &amp; Subsystems</a:t>
            </a:r>
            <a:endParaRPr/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Rounded Rectangle 213"/>
          <p:cNvSpPr/>
          <p:nvPr/>
        </p:nvSpPr>
        <p:spPr>
          <a:xfrm>
            <a:off x="9021470" y="457200"/>
            <a:ext cx="2637129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DESIGNED · PHYSICAL VALIDATION PENDING</a:t>
            </a:r>
          </a:p>
        </p:txBody>
      </p:sp>
      <p:pic>
        <p:nvPicPr>
          <p:cNvPr id="215" name="Picture 214" descr="fig_b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6446520" y="1463040"/>
          <a:ext cx="5010910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1098"/>
                <a:gridCol w="1934906"/>
                <a:gridCol w="193490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Parameter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Target / design value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Selected hardware / basis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Sensing zones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2: C (pad centre), A (change line); windows 6 × 3.9 mm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LIG-like electrodes on 0.125 mm polyimide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Electrode line / gap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1.0 / 1.0 mm (provisional)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fixed by E2 line-width and isolation data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Wet / dry decision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&lt; 100 kΩ wet, &gt; 300 kΩ dry, 3 scans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calc: wet 4–15 kΩ, dry ≥ 1 MΩ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Excitation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bipolar, ≤ 33 µA, idle high-Z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ESP32-C3 GPIO through 1 kΩ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Measurement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16-bit, auto-range, ratiometric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ADS1115 (I²C 0x48), 100 kΩ 0.1 % ref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Self-test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check resistor ±5 % + COM loop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100 kΩ 0.1 %; FAULT state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Contacts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4 pads at 5.08 mm, 2 dowels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P75-B1 pogo pins, PETG clamp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Output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CSV over USB + 3 LEDs (now)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BLE phone view = future scope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CAD Design &amp; Mechanical Specs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Design Iteration: </a:t>
            </a:r>
            <a:r>
              <a:rPr sz="860" b="0">
                <a:solidFill>
                  <a:srgbClr val="334155"/>
                </a:solidFill>
                <a:latin typeface="DM Sans"/>
              </a:rPr>
              <a:t>interference detection found the seal tape trapped under the clamp (9.0 mm³). The seal now starts at x = 23 mm, re-verified with 0 interference (decision D-013).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SolidWorks 2019 models (9 parts, 1 assembly, 7 A3 drawings, STEP), v0.1 bench rig.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Material Selection &amp; Mechanical Validation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Rounded Rectangle 256"/>
          <p:cNvSpPr/>
          <p:nvPr/>
        </p:nvSpPr>
        <p:spPr>
          <a:xfrm>
            <a:off x="8959291" y="457200"/>
            <a:ext cx="2699308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DESIGNED · CAD VERIFIED · NOT YET BUILT</a:t>
            </a:r>
          </a:p>
        </p:txBody>
      </p:sp>
      <p:pic>
        <p:nvPicPr>
          <p:cNvPr id="258" name="Picture 257" descr="fig_ca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6464808" y="1463040"/>
            <a:ext cx="5029200" cy="3840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Materials: </a:t>
            </a:r>
            <a:r>
              <a:rPr sz="919" b="0">
                <a:solidFill>
                  <a:srgbClr val="334155"/>
                </a:solidFill>
                <a:latin typeface="DM Sans"/>
              </a:rPr>
              <a:t>polyimide 0.125 mm (laser-carbonisable, flexible); PETG clamp (printable, tough); cast acrylic rig (laser-cut); stainless 2 mm dowels; P75-B1 pogo pins.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Contact force (hand calculation): </a:t>
            </a:r>
            <a:r>
              <a:rPr sz="919" b="0">
                <a:solidFill>
                  <a:srgbClr val="334155"/>
                </a:solidFill>
                <a:latin typeface="DM Sans"/>
              </a:rPr>
              <a:t>1.48 mm pin compression → 0.72 N per pin, 2.9 N total; the 4 mm lid deflects 11 µm, so the springs set the force.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Alignment: </a:t>
            </a:r>
            <a:r>
              <a:rPr sz="919" b="0">
                <a:solidFill>
                  <a:srgbClr val="334155"/>
                </a:solidFill>
                <a:latin typeface="DM Sans"/>
              </a:rPr>
              <a:t>worst-case tolerance stack 0.49 mm against ±1.35 mm allowed on a 3 mm pad (2.8× margin).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Strip loads: </a:t>
            </a:r>
            <a:r>
              <a:rPr sz="919" b="0">
                <a:solidFill>
                  <a:srgbClr val="334155"/>
                </a:solidFill>
                <a:latin typeface="DM Sans"/>
              </a:rPr>
              <a:t>0.62 % bending strain at a 10 mm radius (polyimide yields near 3 %); a 10 N tug gives 20 MPa at the dowels against 231 MPa tensile.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No FEA: </a:t>
            </a:r>
            <a:r>
              <a:rPr sz="919" b="0">
                <a:solidFill>
                  <a:srgbClr val="334155"/>
                </a:solidFill>
                <a:latin typeface="DM Sans"/>
              </a:rPr>
              <a:t>loads are below 3 N, so hand calculations suffice; the contact itself is tested physically (T-CON-01).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Independent check: </a:t>
            </a:r>
            <a:r>
              <a:rPr sz="919" b="0">
                <a:solidFill>
                  <a:srgbClr val="334155"/>
                </a:solidFill>
                <a:latin typeface="DM Sans"/>
              </a:rPr>
              <a:t>verify_cad.py re-opens every file: units, volumes, 13 positions, interference, drawings → 99 pass, 0 fail, 5 waiting for E2.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08152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Electronics Schematics &amp; BOM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723900" y="5844884"/>
            <a:ext cx="1069848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Verification: </a:t>
            </a:r>
            <a:r>
              <a:rPr sz="860" b="0">
                <a:solidFill>
                  <a:srgbClr val="334155"/>
                </a:solidFill>
                <a:latin typeface="DM Sans"/>
              </a:rPr>
              <a:t>KiCad ERC 0 violations. A script checks the netlist against the firmware pins and strip pad order (0 mismatches) and writes the perfboard wiring table.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4069080"/>
            <a:ext cx="5429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KiCad 10 schematic of the two-zone reader, exported by kicad-cli.</a:t>
            </a:r>
            <a:endParaRPr/>
          </a:p>
        </p:txBody>
      </p:sp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Pinout &amp; Connection Map (from the netlist)</a:t>
            </a:r>
            <a:endParaRPr/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Rounded Rectangle 325"/>
          <p:cNvSpPr/>
          <p:nvPr/>
        </p:nvSpPr>
        <p:spPr>
          <a:xfrm>
            <a:off x="9643262" y="457200"/>
            <a:ext cx="2015337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ERC VERIFIED · NOT YET WIRED</a:t>
            </a:r>
          </a:p>
        </p:txBody>
      </p:sp>
      <p:pic>
        <p:nvPicPr>
          <p:cNvPr id="327" name="Picture 326" descr="fig_schemati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1111834"/>
            <a:ext cx="5413248" cy="2778098"/>
          </a:xfrm>
          <a:prstGeom prst="rect">
            <a:avLst/>
          </a:prstGeom>
        </p:spPr>
      </p:pic>
      <p:sp>
        <p:nvSpPr>
          <p:cNvPr id="328" name="TextBox 327"/>
          <p:cNvSpPr txBox="1"/>
          <p:nvPr/>
        </p:nvSpPr>
        <p:spPr>
          <a:xfrm>
            <a:off x="566928" y="4407408"/>
            <a:ext cx="5349240" cy="12344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0">
                <a:solidFill>
                  <a:srgbClr val="059669"/>
                </a:solidFill>
                <a:latin typeface="DM Sans"/>
              </a:rPr>
              <a:t>▪  </a:t>
            </a:r>
            <a:r>
              <a:rPr sz="880" b="1">
                <a:solidFill>
                  <a:srgbClr val="0F172A"/>
                </a:solidFill>
                <a:latin typeface="DM Sans"/>
              </a:rPr>
              <a:t>Power distribution: </a:t>
            </a:r>
            <a:r>
              <a:rPr sz="880" b="0">
                <a:solidFill>
                  <a:srgbClr val="334155"/>
                </a:solidFill>
                <a:latin typeface="DM Sans"/>
              </a:rPr>
              <a:t>USB-C → SuperMini 3V3 regulator → ADS1115 and node network; the 3V3 rail is measured on A1 every scan.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0">
                <a:solidFill>
                  <a:srgbClr val="059669"/>
                </a:solidFill>
                <a:latin typeface="DM Sans"/>
              </a:rPr>
              <a:t>▪  </a:t>
            </a:r>
            <a:r>
              <a:rPr sz="880" b="1">
                <a:solidFill>
                  <a:srgbClr val="0F172A"/>
                </a:solidFill>
                <a:latin typeface="DM Sans"/>
              </a:rPr>
              <a:t>Connection strategy: </a:t>
            </a:r>
            <a:r>
              <a:rPr sz="880" b="0">
                <a:solidFill>
                  <a:srgbClr val="334155"/>
                </a:solidFill>
                <a:latin typeface="DM Sans"/>
              </a:rPr>
              <a:t>4 pogo pins press on the strip's 3 × 6 mm pads (no soldering, no ZIF on porous carbon); 2 dowels through laser-cut holes align it.</a:t>
            </a:r>
          </a:p>
        </p:txBody>
      </p:sp>
      <p:graphicFrame>
        <p:nvGraphicFramePr>
          <p:cNvPr id="329" name="Table 328"/>
          <p:cNvGraphicFramePr>
            <a:graphicFrameLocks noGrp="1"/>
          </p:cNvGraphicFramePr>
          <p:nvPr/>
        </p:nvGraphicFramePr>
        <p:xfrm>
          <a:off x="6446520" y="1463040"/>
          <a:ext cx="5010910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00909"/>
                <a:gridCol w="1493637"/>
                <a:gridCol w="221636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Net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ESP32-C3 / module pin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Function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DRV_C · DRV_A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GPIO3 · GPIO4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drive zone C · zone A through 1 kΩ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DRV_LOOP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GPIO5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COM loop continuity (broken strip)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DRV_REF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GPIO10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100 kΩ 0.1 % reference to node N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DRV_CHK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GPIO20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100 kΩ self-check to node N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SDA · SCL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GPIO6 · GPIO7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I²C to ADS1115 (0x48)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N · +3V3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ADS1115 A0 · A1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node voltage · rail (ratiometric)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LED_G/Y/R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GPIO0 · GPIO1 · GPIO21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OK · CHANGE · CHECK/FAULT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S_C S_A COM1 COM2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J4 pins 1–4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pogo pins on the strip pads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DM Sans"/>
                        </a:rPr>
                        <a:t>not used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GPIO2 · 8 · 9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34155"/>
                          </a:solidFill>
                          <a:latin typeface="DM Sans"/>
                        </a:rPr>
                        <a:t>strapping pins kept free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452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859536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Maker Journey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Raw Repository Linkage: </a:t>
            </a:r>
            <a:r>
              <a:rPr sz="860" b="0">
                <a:solidFill>
                  <a:srgbClr val="334155"/>
                </a:solidFill>
                <a:latin typeface="DM Sans"/>
              </a:rPr>
              <a:t>[team to insert the GitHub / Drive link before upload]: full history from commit 330b474. Faculty sign-off follows the E2 review.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SolidWorks window captured on our machine + verbatim tool output (14–15 Oct 2026).</a:t>
            </a:r>
            <a:endParaRPr/>
          </a:p>
        </p:txBody>
      </p:sp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Authenticity Verification: What Each Artifact Proves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Rounded Rectangle 382"/>
          <p:cNvSpPr/>
          <p:nvPr/>
        </p:nvSpPr>
        <p:spPr>
          <a:xfrm>
            <a:off x="9021470" y="457200"/>
            <a:ext cx="2637129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GENUINE ARTIFACTS · NO STAGED EVIDENCE</a:t>
            </a:r>
          </a:p>
        </p:txBody>
      </p:sp>
      <p:pic>
        <p:nvPicPr>
          <p:cNvPr id="384" name="Picture 383" descr="fig_mak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6464808" y="1463040"/>
            <a:ext cx="5029200" cy="39319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CAD in active use: </a:t>
            </a:r>
            <a:r>
              <a:rPr sz="940" b="0">
                <a:solidFill>
                  <a:srgbClr val="334155"/>
                </a:solidFill>
                <a:latin typeface="DM Sans"/>
              </a:rPr>
              <a:t>our native assembly open in SolidWorks with its FeatureManager tree (13 components + mates); .SLDPRT, .SLDASM, .SLDDRW and .STEP files.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Independent re-check: </a:t>
            </a:r>
            <a:r>
              <a:rPr sz="940" b="0">
                <a:solidFill>
                  <a:srgbClr val="334155"/>
                </a:solidFill>
                <a:latin typeface="DM Sans"/>
              </a:rPr>
              <a:t>a script re-opens every CAD file and recomputes volumes and positions from the design data: 99 pass, 0 fail.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EDA + firmware: </a:t>
            </a:r>
            <a:r>
              <a:rPr sz="940" b="0">
                <a:solidFill>
                  <a:srgbClr val="334155"/>
                </a:solidFill>
                <a:latin typeface="DM Sans"/>
              </a:rPr>
              <a:t>KiCad schematic with its ERC log (0 violations); firmware built by arduino-cli; logger and cross-check tests pass.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Timestamps: </a:t>
            </a:r>
            <a:r>
              <a:rPr sz="940" b="0">
                <a:solidFill>
                  <a:srgbClr val="334155"/>
                </a:solidFill>
                <a:latin typeface="DM Sans"/>
              </a:rPr>
              <a:t>every step is a git commit since the 14 Oct restart, with raw native files (.SLDPRT, .STEP, .kicad_sch, .ino, .dxf) for audit.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Lab photographs: </a:t>
            </a:r>
            <a:r>
              <a:rPr sz="940" b="0">
                <a:solidFill>
                  <a:srgbClr val="334155"/>
                </a:solidFill>
                <a:latin typeface="DM Sans"/>
              </a:rPr>
              <a:t>none yet. The first laser session (E2) will be photographed with ID badges. We do not stage or generate lab photos.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200400"/>
            <a:ext cx="5429250" cy="2697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200400"/>
            <a:ext cx="542925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Safety &amp; Hazard Mitigation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6400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Design FMEA v0.1: 15 failure modes (ratings estimated before tests)</a:t>
            </a:r>
            <a:endParaRPr/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419856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392424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Physical &amp; Embedded Fail-safes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419856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392424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Standards Compliance (considered, not claimed)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Rounded Rectangle 448"/>
          <p:cNvSpPr/>
          <p:nvPr/>
        </p:nvSpPr>
        <p:spPr>
          <a:xfrm>
            <a:off x="9456724" y="457200"/>
            <a:ext cx="2201875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RISKS ESTIMATED · TESTS PLANNED</a:t>
            </a:r>
          </a:p>
        </p:txBody>
      </p:sp>
      <p:graphicFrame>
        <p:nvGraphicFramePr>
          <p:cNvPr id="450" name="Table 449"/>
          <p:cNvGraphicFramePr>
            <a:graphicFrameLocks noGrp="1"/>
          </p:cNvGraphicFramePr>
          <p:nvPr/>
        </p:nvGraphicFramePr>
        <p:xfrm>
          <a:off x="749808" y="1444752"/>
          <a:ext cx="7452358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36849"/>
                <a:gridCol w="2046774"/>
                <a:gridCol w="472332"/>
                <a:gridCol w="3096403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Failure mode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Effect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RPN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Mitigation / verification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0F172A"/>
                          </a:solidFill>
                          <a:latin typeface="DM Sans"/>
                        </a:rPr>
                        <a:t>F04 cracked sense lead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zone reads 'dry' forever, no alarm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DC2626"/>
                          </a:solidFill>
                          <a:latin typeface="DM Sans"/>
                        </a:rPr>
                        <a:t>224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v0.2: loop each lead to a 2nd pad · T-MECH-01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0F172A"/>
                          </a:solidFill>
                          <a:latin typeface="DM Sans"/>
                        </a:rPr>
                        <a:t>F07 front path differs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CHANGE late or never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DC2626"/>
                          </a:solidFill>
                          <a:latin typeface="DM Sans"/>
                        </a:rPr>
                        <a:t>210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E4 on real foam dressings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0F172A"/>
                          </a:solidFill>
                          <a:latin typeface="DM Sans"/>
                        </a:rPr>
                        <a:t>F08 humid dry baseline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false wet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DC2626"/>
                          </a:solidFill>
                          <a:latin typeface="DM Sans"/>
                        </a:rPr>
                        <a:t>150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measure baselines (E4); thresholds in config.h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0F172A"/>
                          </a:solidFill>
                          <a:latin typeface="DM Sans"/>
                        </a:rPr>
                        <a:t>F01 weak conductive layer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zones always dry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B45309"/>
                          </a:solidFill>
                          <a:latin typeface="DM Sans"/>
                        </a:rPr>
                        <a:t>140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E2 bracket + per-strip QC record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0F172A"/>
                          </a:solidFill>
                          <a:latin typeface="DM Sans"/>
                        </a:rPr>
                        <a:t>F05 pin contact on porous LIG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readings drift high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1">
                          <a:solidFill>
                            <a:srgbClr val="B45309"/>
                          </a:solidFill>
                          <a:latin typeface="DM Sans"/>
                        </a:rPr>
                        <a:t>120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90" b="0">
                          <a:solidFill>
                            <a:srgbClr val="334155"/>
                          </a:solidFill>
                          <a:latin typeface="DM Sans"/>
                        </a:rPr>
                        <a:t>silver pads, rounded pins · T-CON-01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51" name="Picture 450" descr="fig_fm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7078" y="1143000"/>
            <a:ext cx="3154042" cy="1883664"/>
          </a:xfrm>
          <a:prstGeom prst="rect">
            <a:avLst/>
          </a:prstGeom>
        </p:spPr>
      </p:pic>
      <p:sp>
        <p:nvSpPr>
          <p:cNvPr id="452" name="TextBox 451"/>
          <p:cNvSpPr txBox="1"/>
          <p:nvPr/>
        </p:nvSpPr>
        <p:spPr>
          <a:xfrm>
            <a:off x="768096" y="3703320"/>
            <a:ext cx="5029200" cy="21488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Bench only: </a:t>
            </a:r>
            <a:r>
              <a:rPr sz="930" b="0">
                <a:solidFill>
                  <a:srgbClr val="334155"/>
                </a:solidFill>
                <a:latin typeface="DM Sans"/>
              </a:rPr>
              <a:t>the USB reader is not for patient use; an on-body version must be battery-only and isolated.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No net DC: </a:t>
            </a:r>
            <a:r>
              <a:rPr sz="930" b="0">
                <a:solidFill>
                  <a:srgbClr val="334155"/>
                </a:solidFill>
                <a:latin typeface="DM Sans"/>
              </a:rPr>
              <a:t>bipolar drive, high-Z idle; bench test T8 checks &lt; 5 mV average.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Self-check every scan: </a:t>
            </a:r>
            <a:r>
              <a:rPr sz="930" b="0">
                <a:solidFill>
                  <a:srgbClr val="334155"/>
                </a:solidFill>
                <a:latin typeface="DM Sans"/>
              </a:rPr>
              <a:t>known 100 kΩ resistor + COM loop → FAULT instead of a wrong state.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No wound contact: </a:t>
            </a:r>
            <a:r>
              <a:rPr sz="930" b="0">
                <a:solidFill>
                  <a:srgbClr val="334155"/>
                </a:solidFill>
                <a:latin typeface="DM Sans"/>
              </a:rPr>
              <a:t>strip on the pad's outer face; leads sealed under polyimide tape.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Laser work: </a:t>
            </a:r>
            <a:r>
              <a:rPr sz="930" b="0">
                <a:solidFill>
                  <a:srgbClr val="334155"/>
                </a:solidFill>
                <a:latin typeface="DM Sans"/>
              </a:rPr>
              <a:t>signed checklist each session: exhaust, never unattended, CO₂ extinguisher, lowest power first.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6464808" y="3703320"/>
            <a:ext cx="5029200" cy="21488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ISO 14971: </a:t>
            </a:r>
            <a:r>
              <a:rPr sz="930" b="0">
                <a:solidFill>
                  <a:srgbClr val="334155"/>
                </a:solidFill>
                <a:latin typeface="DM Sans"/>
              </a:rPr>
              <a:t>risk-management approach; the FMEA is updated with test data.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IEC 60601-1: </a:t>
            </a:r>
            <a:r>
              <a:rPr sz="930" b="0">
                <a:solidFill>
                  <a:srgbClr val="334155"/>
                </a:solidFill>
                <a:latin typeface="DM Sans"/>
              </a:rPr>
              <a:t>electrical safety for any future on-body reader.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ISO 10993-1: </a:t>
            </a:r>
            <a:r>
              <a:rPr sz="930" b="0">
                <a:solidFill>
                  <a:srgbClr val="334155"/>
                </a:solidFill>
                <a:latin typeface="DM Sans"/>
              </a:rPr>
              <a:t>biological evaluation before any skin or dressing contact; polyimide film is not sold as medical grade¹¹.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EN 13726: </a:t>
            </a:r>
            <a:r>
              <a:rPr sz="930" b="0">
                <a:solidFill>
                  <a:srgbClr val="334155"/>
                </a:solidFill>
                <a:latin typeface="DM Sans"/>
              </a:rPr>
              <a:t>simulated exudate ('Solution A') for bench dressing tests¹⁰.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0">
                <a:solidFill>
                  <a:srgbClr val="059669"/>
                </a:solidFill>
                <a:latin typeface="DM Sans"/>
              </a:rPr>
              <a:t>▪  </a:t>
            </a:r>
            <a:r>
              <a:rPr sz="930" b="1">
                <a:solidFill>
                  <a:srgbClr val="0F172A"/>
                </a:solidFill>
                <a:latin typeface="DM Sans"/>
              </a:rPr>
              <a:t>Laser safety: </a:t>
            </a:r>
            <a:r>
              <a:rPr sz="930" b="0">
                <a:solidFill>
                  <a:srgbClr val="334155"/>
                </a:solidFill>
                <a:latin typeface="DM Sans"/>
              </a:rPr>
              <a:t>IEC 60825-1 class rules and the lab's SOP during fabrication.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Technical Challenges &amp; Risks</a:t>
            </a:r>
            <a:endParaRPr/>
          </a:p>
        </p:txBody>
      </p:sp>
      <p:sp>
        <p:nvSpPr>
          <p:cNvPr id="484" name="Google Shape;484;p30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Also Caught in Verification: </a:t>
            </a:r>
            <a:r>
              <a:rPr sz="860" b="0">
                <a:solidFill>
                  <a:srgbClr val="334155"/>
                </a:solidFill>
                <a:latin typeface="DM Sans"/>
              </a:rPr>
              <a:t>assembly STEP exported in cm (now mm); drawings showed 0.13 mm for a 0.125 mm film and repeated dimensions (fixed); a SolidWorks API crash on colour arrays (typed arrays).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DM Sans"/>
              </a:rPr>
              <a:t>Geometry: Seal Trapped Under Clamp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DM Sans"/>
              </a:rPr>
              <a:t>Circuit: A Hidden Sense-Lead Failure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DM Sans"/>
              </a:rPr>
              <a:t>Process: An Unknown Laser Recipe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Rounded Rectangle 499"/>
          <p:cNvSpPr/>
          <p:nvPr/>
        </p:nvSpPr>
        <p:spPr>
          <a:xfrm>
            <a:off x="9581083" y="457200"/>
            <a:ext cx="2077516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FOUND IN OUR OWN VERIFICATION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749808" y="1481328"/>
            <a:ext cx="3154680" cy="2221991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Observed: </a:t>
            </a:r>
            <a:r>
              <a:rPr sz="980" b="0">
                <a:solidFill>
                  <a:srgbClr val="334155"/>
                </a:solidFill>
                <a:latin typeface="DM Sans"/>
              </a:rPr>
              <a:t>the 0.09 mm seal tape began at x = 12 mm, but the clamp reaches x = 22 mm: a 9.0 mm³ overlap.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Impact: </a:t>
            </a:r>
            <a:r>
              <a:rPr sz="980" b="0">
                <a:solidFill>
                  <a:srgbClr val="334155"/>
                </a:solidFill>
                <a:latin typeface="DM Sans"/>
              </a:rPr>
              <a:t>tape under the paddle lifts the strip off the pogo pins: no contact, or an unreliable one.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How found: </a:t>
            </a:r>
            <a:r>
              <a:rPr sz="980" b="0">
                <a:solidFill>
                  <a:srgbClr val="334155"/>
                </a:solidFill>
                <a:latin typeface="DM Sans"/>
              </a:rPr>
              <a:t>automated interference detection in our CAD verification script.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4526280" y="1481328"/>
            <a:ext cx="3154680" cy="2221991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Observed: </a:t>
            </a:r>
            <a:r>
              <a:rPr sz="980" b="0">
                <a:solidFill>
                  <a:srgbClr val="334155"/>
                </a:solidFill>
                <a:latin typeface="DM Sans"/>
              </a:rPr>
              <a:t>the reader checks the COM loop, but a cracked SENSE lead simply reads open, which looks like 'dry' (FMEA F04, RPN 224).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Impact: </a:t>
            </a:r>
            <a:r>
              <a:rPr sz="980" b="0">
                <a:solidFill>
                  <a:srgbClr val="334155"/>
                </a:solidFill>
                <a:latin typeface="DM Sans"/>
              </a:rPr>
              <a:t>CHANGE would never appear and nothing would alarm.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How found: </a:t>
            </a:r>
            <a:r>
              <a:rPr sz="980" b="0">
                <a:solidFill>
                  <a:srgbClr val="334155"/>
                </a:solidFill>
                <a:latin typeface="DM Sans"/>
              </a:rPr>
              <a:t>design FMEA of strip + reader together.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311896" y="1481328"/>
            <a:ext cx="3154680" cy="2221991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Observed: </a:t>
            </a:r>
            <a:r>
              <a:rPr sz="980" b="0">
                <a:solidFill>
                  <a:srgbClr val="334155"/>
                </a:solidFill>
                <a:latin typeface="DM Sans"/>
              </a:rPr>
              <a:t>'12' is a % PWM command on an unidentified tube; CO₂ tubes fire unevenly at low settings⁸. Line width, gap isolation and contact on porous carbon are unmeasured.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Impact: </a:t>
            </a:r>
            <a:r>
              <a:rPr sz="980" b="0">
                <a:solidFill>
                  <a:srgbClr val="334155"/>
                </a:solidFill>
                <a:latin typeface="DM Sans"/>
              </a:rPr>
              <a:t>every strip dimension is provisional.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How found: </a:t>
            </a:r>
            <a:r>
              <a:rPr sz="980" b="0">
                <a:solidFill>
                  <a:srgbClr val="334155"/>
                </a:solidFill>
                <a:latin typeface="DM Sans"/>
              </a:rPr>
              <a:t>LaserCAD config audit + literature.</a:t>
            </a:r>
          </a:p>
        </p:txBody>
      </p:sp>
      <p:pic>
        <p:nvPicPr>
          <p:cNvPr id="504" name="Picture 503" descr="fig_challeng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" y="3959007"/>
            <a:ext cx="11064240" cy="15003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References &amp; Sources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Rounded Rectangle 515"/>
          <p:cNvSpPr/>
          <p:nvPr/>
        </p:nvSpPr>
        <p:spPr>
          <a:xfrm>
            <a:off x="9767620" y="457200"/>
            <a:ext cx="1890979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SOURCES WITH READING DEPTH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DM Sans"/>
              </a:rPr>
              <a:t>Numbers match the superscripts on each slide. After each source we state how deeply it was read; nothing is labelled verified beyond that.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566928" y="137160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1. </a:t>
            </a:r>
            <a:r>
              <a:rPr sz="1019" b="0">
                <a:solidFill>
                  <a:srgbClr val="334155"/>
                </a:solidFill>
                <a:latin typeface="DM Sans"/>
              </a:rPr>
              <a:t>Milne S.D. et al., A wearable wound moisture sensor as an indicator for wound dressing change, Int. Wound J. 13(6):1309–1314 (2016). doi:10.1111/iwj.12521 · full text read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2. </a:t>
            </a:r>
            <a:r>
              <a:rPr sz="1019" b="0">
                <a:solidFill>
                  <a:srgbClr val="334155"/>
                </a:solidFill>
                <a:latin typeface="DM Sans"/>
              </a:rPr>
              <a:t>Dressing instructions for use: some foam dressings say 'change when exudate approaches ~2 cm from the pad edge'; Mölnlycke Mepilex Border Flex brochure uses strike-through reaching 3 edges · manufacturer documents, read as excerpts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3. </a:t>
            </a:r>
            <a:r>
              <a:rPr sz="1019" b="0">
                <a:solidFill>
                  <a:srgbClr val="334155"/>
                </a:solidFill>
                <a:latin typeface="DM Sans"/>
              </a:rPr>
              <a:t>McColl D., Cartlidge B., Connolly P., Real-time monitoring of moisture levels in wound dressings in vitro, Int. J. Surg. 5(5):316–322 (2007). doi:10.1016/j.ijsu.2007.02.008 · abstract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4. </a:t>
            </a:r>
            <a:r>
              <a:rPr sz="1019" b="0">
                <a:solidFill>
                  <a:srgbClr val="334155"/>
                </a:solidFill>
                <a:latin typeface="DM Sans"/>
              </a:rPr>
              <a:t>US 5,469,145 and US 5,838,240 (wet diaper detector: detachable strip + clip-on detector); US 9,291,589; US 10,928,344 · patent summaries, claims not read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5. </a:t>
            </a:r>
            <a:r>
              <a:rPr sz="1019" b="0">
                <a:solidFill>
                  <a:srgbClr val="334155"/>
                </a:solidFill>
                <a:latin typeface="DM Sans"/>
              </a:rPr>
              <a:t>Jiang Y. et al., Wireless, closed-loop, smart bandage with integrated sensors and stimulators, Nat. Biotechnol. (2022). doi:10.1038/s41587-022-01528-3 · listing + coverage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6. </a:t>
            </a:r>
            <a:r>
              <a:rPr sz="1019" b="0">
                <a:solidFill>
                  <a:srgbClr val="334155"/>
                </a:solidFill>
                <a:latin typeface="DM Sans"/>
              </a:rPr>
              <a:t>Dealey C., Cameron J., Arrowsmith M., A study comparing two objective methods of quantifying the production of wound exudate, J. Wound Care 15(4):149–153 (2006) · abstract (methods disagree)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7. </a:t>
            </a:r>
            <a:r>
              <a:rPr sz="1019" b="0">
                <a:solidFill>
                  <a:srgbClr val="334155"/>
                </a:solidFill>
                <a:latin typeface="DM Sans"/>
              </a:rPr>
              <a:t>Lin J. et al., Laser-induced porous graphene films from commercial polymers, Nat. Commun. 5:5714 (2014). doi:10.1038/ncomms6714 · full text read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8. </a:t>
            </a:r>
            <a:r>
              <a:rPr sz="1019" b="0">
                <a:solidFill>
                  <a:srgbClr val="334155"/>
                </a:solidFill>
                <a:latin typeface="DM Sans"/>
              </a:rPr>
              <a:t>CO₂ laser tube current vs PWM setting, engineering measurements, softsolder.com (2022) · not peer-reviewed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9. </a:t>
            </a:r>
            <a:r>
              <a:rPr sz="1019" b="0">
                <a:solidFill>
                  <a:srgbClr val="334155"/>
                </a:solidFill>
                <a:latin typeface="DM Sans"/>
              </a:rPr>
              <a:t>Li Y. et al., Laser-induced graphene in controlled atmospheres: from superhydrophilic to superhydrophobic surfaces, Adv. Mater. 29:1700496 (2017). doi:10.1002/adma.201700496 · abstract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10. </a:t>
            </a:r>
            <a:r>
              <a:rPr sz="1019" b="0">
                <a:solidFill>
                  <a:srgbClr val="334155"/>
                </a:solidFill>
                <a:latin typeface="DM Sans"/>
              </a:rPr>
              <a:t>EN 13726-1:2002 / EN 13726:2023, Test methods for wound dressings (absorbency; 'Solution A') · catalogue entry; online link not reachable from our network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11. </a:t>
            </a:r>
            <a:r>
              <a:rPr sz="1019" b="0">
                <a:solidFill>
                  <a:srgbClr val="334155"/>
                </a:solidFill>
                <a:latin typeface="DM Sans"/>
              </a:rPr>
              <a:t>DuPont position statement on the use of DuPont materials in medical applications (Kapton caution) · web page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19" b="1">
                <a:solidFill>
                  <a:srgbClr val="0F172A"/>
                </a:solidFill>
                <a:latin typeface="DM Sans"/>
              </a:rPr>
              <a:t>12. </a:t>
            </a:r>
            <a:r>
              <a:rPr sz="1019" b="0">
                <a:solidFill>
                  <a:srgbClr val="334155"/>
                </a:solidFill>
                <a:latin typeface="DM Sans"/>
              </a:rPr>
              <a:t>Texas Instruments ADS1115 datasheet (SBAS444); Espressif ESP32-C3 datasheet · vendor documents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Rounded Rectangle 552"/>
          <p:cNvSpPr/>
          <p:nvPr/>
        </p:nvSpPr>
        <p:spPr>
          <a:xfrm>
            <a:off x="10202875" y="457200"/>
            <a:ext cx="145572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ALL IMAGES ORIGINAL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30352" y="932688"/>
            <a:ext cx="11128248" cy="411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DM Sans"/>
              </a:rPr>
              <a:t>Every image in this deck was produced by the team from our own project files. No stock photos, no AI-generated images and no external images are used.</a:t>
            </a:r>
          </a:p>
        </p:txBody>
      </p:sp>
      <p:pic>
        <p:nvPicPr>
          <p:cNvPr id="555" name="Picture 554" descr="fig_proble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593" y="1417320"/>
            <a:ext cx="797053" cy="530352"/>
          </a:xfrm>
          <a:prstGeom prst="rect">
            <a:avLst/>
          </a:prstGeom>
        </p:spPr>
      </p:pic>
      <p:sp>
        <p:nvSpPr>
          <p:cNvPr id="556" name="TextBox 555"/>
          <p:cNvSpPr txBox="1"/>
          <p:nvPr/>
        </p:nvSpPr>
        <p:spPr>
          <a:xfrm>
            <a:off x="1490472" y="1435608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Problem illustration, drawn to scale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strip_v0_1_geometry.json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Stage2_Final/figures/fig_problem.png</a:t>
            </a:r>
          </a:p>
        </p:txBody>
      </p:sp>
      <p:pic>
        <p:nvPicPr>
          <p:cNvPr id="557" name="Picture 556" descr="fig_journey_befo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153" y="1417320"/>
            <a:ext cx="797053" cy="530352"/>
          </a:xfrm>
          <a:prstGeom prst="rect">
            <a:avLst/>
          </a:prstGeom>
        </p:spPr>
      </p:pic>
      <p:sp>
        <p:nvSpPr>
          <p:cNvPr id="558" name="TextBox 557"/>
          <p:cNvSpPr txBox="1"/>
          <p:nvPr/>
        </p:nvSpPr>
        <p:spPr>
          <a:xfrm>
            <a:off x="7114032" y="1435608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Before-state pain-point map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cited sources 1–3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Stage2_Final/figures/fig_journey_before.png</a:t>
            </a:r>
          </a:p>
        </p:txBody>
      </p:sp>
      <p:pic>
        <p:nvPicPr>
          <p:cNvPr id="559" name="Picture 558" descr="fig_journey_af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593" y="2075688"/>
            <a:ext cx="797053" cy="530352"/>
          </a:xfrm>
          <a:prstGeom prst="rect">
            <a:avLst/>
          </a:prstGeom>
        </p:spPr>
      </p:pic>
      <p:sp>
        <p:nvSpPr>
          <p:cNvPr id="560" name="TextBox 559"/>
          <p:cNvSpPr txBox="1"/>
          <p:nvPr/>
        </p:nvSpPr>
        <p:spPr>
          <a:xfrm>
            <a:off x="1490472" y="209397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After-state intended workflow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firmware states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Stage2_Final/figures/fig_journey_after.png</a:t>
            </a:r>
          </a:p>
        </p:txBody>
      </p:sp>
      <p:pic>
        <p:nvPicPr>
          <p:cNvPr id="561" name="Picture 560" descr="fig_blo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3284" y="2075688"/>
            <a:ext cx="740791" cy="530352"/>
          </a:xfrm>
          <a:prstGeom prst="rect">
            <a:avLst/>
          </a:prstGeom>
        </p:spPr>
      </p:pic>
      <p:sp>
        <p:nvSpPr>
          <p:cNvPr id="562" name="TextBox 561"/>
          <p:cNvSpPr txBox="1"/>
          <p:nvPr/>
        </p:nvSpPr>
        <p:spPr>
          <a:xfrm>
            <a:off x="7114032" y="209397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System block diagram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verification logs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Stage2_Final/figures/fig_block.png</a:t>
            </a:r>
          </a:p>
        </p:txBody>
      </p:sp>
      <p:pic>
        <p:nvPicPr>
          <p:cNvPr id="563" name="Picture 562" descr="fig_dataflo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9724" y="2734056"/>
            <a:ext cx="740791" cy="530352"/>
          </a:xfrm>
          <a:prstGeom prst="rect">
            <a:avLst/>
          </a:prstGeom>
        </p:spPr>
      </p:pic>
      <p:sp>
        <p:nvSpPr>
          <p:cNvPr id="564" name="TextBox 563"/>
          <p:cNvSpPr txBox="1"/>
          <p:nvPr/>
        </p:nvSpPr>
        <p:spPr>
          <a:xfrm>
            <a:off x="1490472" y="2752344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Firmware scan and state logic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reader_v0_1 source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Stage2_Final/figures/fig_dataflow.png</a:t>
            </a:r>
          </a:p>
        </p:txBody>
      </p:sp>
      <p:pic>
        <p:nvPicPr>
          <p:cNvPr id="565" name="Picture 564" descr="fig_ca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3284" y="2734056"/>
            <a:ext cx="740791" cy="530352"/>
          </a:xfrm>
          <a:prstGeom prst="rect">
            <a:avLst/>
          </a:prstGeom>
        </p:spPr>
      </p:pic>
      <p:sp>
        <p:nvSpPr>
          <p:cNvPr id="566" name="TextBox 565"/>
          <p:cNvSpPr txBox="1"/>
          <p:nvPr/>
        </p:nvSpPr>
        <p:spPr>
          <a:xfrm>
            <a:off x="7114032" y="2752344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SolidWorks renders + drawing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render_cad.py · 06_cad/solidworks (our models)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Stage2_Final/figures/fig_cad.png</a:t>
            </a:r>
          </a:p>
        </p:txBody>
      </p:sp>
      <p:pic>
        <p:nvPicPr>
          <p:cNvPr id="567" name="Picture 566" descr="fig_stri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9724" y="3392424"/>
            <a:ext cx="740791" cy="530352"/>
          </a:xfrm>
          <a:prstGeom prst="rect">
            <a:avLst/>
          </a:prstGeom>
        </p:spPr>
      </p:pic>
      <p:sp>
        <p:nvSpPr>
          <p:cNvPr id="568" name="TextBox 567"/>
          <p:cNvSpPr txBox="1"/>
          <p:nvPr/>
        </p:nvSpPr>
        <p:spPr>
          <a:xfrm>
            <a:off x="1490472" y="3410712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Strip and E2 coupon layers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our DXF files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Stage2_Final/figures/fig_strip.png</a:t>
            </a:r>
          </a:p>
        </p:txBody>
      </p:sp>
      <p:pic>
        <p:nvPicPr>
          <p:cNvPr id="569" name="Picture 568" descr="fig_schemati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53912" y="3437041"/>
            <a:ext cx="859536" cy="441116"/>
          </a:xfrm>
          <a:prstGeom prst="rect">
            <a:avLst/>
          </a:prstGeom>
        </p:spPr>
      </p:pic>
      <p:sp>
        <p:nvSpPr>
          <p:cNvPr id="570" name="TextBox 569"/>
          <p:cNvSpPr txBox="1"/>
          <p:nvPr/>
        </p:nvSpPr>
        <p:spPr>
          <a:xfrm>
            <a:off x="7114032" y="3410712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KiCad schematic export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kicad-cli · reader_v0_1.kicad_sch (ours)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Stage2_Final/figures/fig_schematic.png</a:t>
            </a:r>
          </a:p>
        </p:txBody>
      </p:sp>
      <p:pic>
        <p:nvPicPr>
          <p:cNvPr id="571" name="Picture 570" descr="fig_wind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9724" y="4050791"/>
            <a:ext cx="740791" cy="530352"/>
          </a:xfrm>
          <a:prstGeom prst="rect">
            <a:avLst/>
          </a:prstGeom>
        </p:spPr>
      </p:pic>
      <p:sp>
        <p:nvSpPr>
          <p:cNvPr id="572" name="TextBox 571"/>
          <p:cNvSpPr txBox="1"/>
          <p:nvPr/>
        </p:nvSpPr>
        <p:spPr>
          <a:xfrm>
            <a:off x="1490472" y="4069079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Measurement window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calc_readout.py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Stage2_Final/figures/fig_window.png</a:t>
            </a:r>
          </a:p>
        </p:txBody>
      </p:sp>
      <p:pic>
        <p:nvPicPr>
          <p:cNvPr id="573" name="Picture 572" descr="fig_mak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3284" y="4050791"/>
            <a:ext cx="740791" cy="530352"/>
          </a:xfrm>
          <a:prstGeom prst="rect">
            <a:avLst/>
          </a:prstGeom>
        </p:spPr>
      </p:pic>
      <p:sp>
        <p:nvSpPr>
          <p:cNvPr id="574" name="TextBox 573"/>
          <p:cNvSpPr txBox="1"/>
          <p:nvPr/>
        </p:nvSpPr>
        <p:spPr>
          <a:xfrm>
            <a:off x="7114032" y="4069079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SolidWorks screenshot + logs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screen capture of our machine · verbatim tool output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Stage2_Final/figures/fig_maker.png</a:t>
            </a:r>
          </a:p>
        </p:txBody>
      </p:sp>
      <p:pic>
        <p:nvPicPr>
          <p:cNvPr id="575" name="Picture 574" descr="fig_decisi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24" y="4709159"/>
            <a:ext cx="740791" cy="530352"/>
          </a:xfrm>
          <a:prstGeom prst="rect">
            <a:avLst/>
          </a:prstGeom>
        </p:spPr>
      </p:pic>
      <p:sp>
        <p:nvSpPr>
          <p:cNvPr id="576" name="TextBox 575"/>
          <p:cNvSpPr txBox="1"/>
          <p:nvPr/>
        </p:nvSpPr>
        <p:spPr>
          <a:xfrm>
            <a:off x="1490472" y="4727447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Decision matrix + iterations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decision_matrix.md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Stage2_Final/figures/fig_decision.png</a:t>
            </a:r>
          </a:p>
        </p:txBody>
      </p:sp>
      <p:pic>
        <p:nvPicPr>
          <p:cNvPr id="577" name="Picture 576" descr="fig_fme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53912" y="4717669"/>
            <a:ext cx="859535" cy="513333"/>
          </a:xfrm>
          <a:prstGeom prst="rect">
            <a:avLst/>
          </a:prstGeom>
        </p:spPr>
      </p:pic>
      <p:sp>
        <p:nvSpPr>
          <p:cNvPr id="578" name="TextBox 577"/>
          <p:cNvSpPr txBox="1"/>
          <p:nvPr/>
        </p:nvSpPr>
        <p:spPr>
          <a:xfrm>
            <a:off x="7114032" y="4727447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FMEA risk ranking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fmea_v0_1.csv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Stage2_Final/figures/fig_fmea.png</a:t>
            </a:r>
          </a:p>
        </p:txBody>
      </p:sp>
      <p:pic>
        <p:nvPicPr>
          <p:cNvPr id="579" name="Picture 578" descr="fig_roadmap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0352" y="5556768"/>
            <a:ext cx="859536" cy="151871"/>
          </a:xfrm>
          <a:prstGeom prst="rect">
            <a:avLst/>
          </a:prstGeom>
        </p:spPr>
      </p:pic>
      <p:sp>
        <p:nvSpPr>
          <p:cNvPr id="580" name="TextBox 579"/>
          <p:cNvSpPr txBox="1"/>
          <p:nvPr/>
        </p:nvSpPr>
        <p:spPr>
          <a:xfrm>
            <a:off x="1490472" y="538581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4-month roadmap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E2/bench/E4 plans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Stage2_Final/figures/fig_roadmap.png</a:t>
            </a:r>
          </a:p>
        </p:txBody>
      </p:sp>
      <p:pic>
        <p:nvPicPr>
          <p:cNvPr id="581" name="Picture 580" descr="fig_challenge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53912" y="5574427"/>
            <a:ext cx="859536" cy="116552"/>
          </a:xfrm>
          <a:prstGeom prst="rect">
            <a:avLst/>
          </a:prstGeom>
        </p:spPr>
      </p:pic>
      <p:sp>
        <p:nvSpPr>
          <p:cNvPr id="582" name="TextBox 581"/>
          <p:cNvSpPr txBox="1"/>
          <p:nvPr/>
        </p:nvSpPr>
        <p:spPr>
          <a:xfrm>
            <a:off x="7114032" y="538581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Seal clash + lead-break diagrams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make_final_figures.py · geometry + FMEA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Stage2_Final/figures/fig_challenges.png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29350" y="1737360"/>
            <a:ext cx="54292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1737360"/>
            <a:ext cx="543153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User Journey: Before State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Quantified Inefficiency: </a:t>
            </a:r>
            <a:r>
              <a:rPr sz="860" b="0">
                <a:solidFill>
                  <a:srgbClr val="334155"/>
                </a:solidFill>
                <a:latin typeface="DM Sans"/>
              </a:rPr>
              <a:t>only published figures are used; we have not yet measured nurse time or dressing cost per patient, and we do not estimate them here.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44.9 %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CHANGES WHILE MOISTURE WAS STILL OPTIMAL¹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369A1"/>
                </a:solidFill>
                <a:latin typeface="Poppins SemiBold"/>
              </a:rPr>
              <a:t>0.1–1.3 g/cm²·day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REPORTED EXUDATE RATES, 2 METHODS⁶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Hidden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EXUDATE FRONT UNDER BANDAGE OR GARMENT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369A1"/>
                </a:solidFill>
                <a:latin typeface="Poppins SemiBold"/>
              </a:rPr>
              <a:t>Lift to look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THE ONLY WAY TO CHECK A COVERED PAD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94960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current pain-point map. Numbers are cited; steps follow dressing instructions.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Current Pain Point Mapping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Rounded Rectangle 157"/>
          <p:cNvSpPr/>
          <p:nvPr/>
        </p:nvSpPr>
        <p:spPr>
          <a:xfrm>
            <a:off x="10078516" y="457200"/>
            <a:ext cx="1580083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CURRENT STATE · CITED</a:t>
            </a:r>
          </a:p>
        </p:txBody>
      </p:sp>
      <p:pic>
        <p:nvPicPr>
          <p:cNvPr id="159" name="Picture 158" descr="fig_journey_befo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756" y="1746504"/>
            <a:ext cx="5400726" cy="359359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464808" y="2267712"/>
            <a:ext cx="5029200" cy="32918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Time loss: </a:t>
            </a:r>
            <a:r>
              <a:rPr sz="1040" b="0">
                <a:solidFill>
                  <a:srgbClr val="334155"/>
                </a:solidFill>
                <a:latin typeface="DM Sans"/>
              </a:rPr>
              <a:t>each check means unwrapping the limb or lifting the border, then re-securing it. Minutes per check will be measured in our nurse interviews (not yet done).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Material waste: </a:t>
            </a:r>
            <a:r>
              <a:rPr sz="1040" b="0">
                <a:solidFill>
                  <a:srgbClr val="334155"/>
                </a:solidFill>
                <a:latin typeface="DM Sans"/>
              </a:rPr>
              <a:t>in the WoundSense study 44.9 % of 588 changes happened while moisture was still optimal¹: dressings with capacity left were discarded and the wound disturbed.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Safety hazard: </a:t>
            </a:r>
            <a:r>
              <a:rPr sz="1040" b="0">
                <a:solidFill>
                  <a:srgbClr val="334155"/>
                </a:solidFill>
                <a:latin typeface="DM Sans"/>
              </a:rPr>
              <a:t>a late change lets exudate reach the border or leak: wet peri-wound skin (maceration risk) and soiled clothing.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Why a schedule fails: </a:t>
            </a:r>
            <a:r>
              <a:rPr sz="1040" b="0">
                <a:solidFill>
                  <a:srgbClr val="334155"/>
                </a:solidFill>
                <a:latin typeface="DM Sans"/>
              </a:rPr>
              <a:t>reported exudate production ranged from 0.10 to 1.3 g/cm² per day across patients and two methods⁶; a fixed interval cannot follow that.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Root cause: </a:t>
            </a:r>
            <a:r>
              <a:rPr sz="1040" b="0">
                <a:solidFill>
                  <a:srgbClr val="334155"/>
                </a:solidFill>
                <a:latin typeface="DM Sans"/>
              </a:rPr>
              <a:t>the decision signal, the exudate front against the maker's line², is visual, and the dressing is covered.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29350" y="1737360"/>
            <a:ext cx="54292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1737360"/>
            <a:ext cx="543153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User Journey: After State (Intended)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Design Principle: </a:t>
            </a:r>
            <a:r>
              <a:rPr sz="860" b="0">
                <a:solidFill>
                  <a:srgbClr val="334155"/>
                </a:solidFill>
                <a:latin typeface="DM Sans"/>
              </a:rPr>
              <a:t>the strip never touches the wound bed; only film and carbon are thrown away; every electronic part lives in the reusable reader.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2 zones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CENTRE C + MAKER'S CHANGE LINE 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4 states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OK · CHANGE · CHECK · FAULT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±10 %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TARGET ALERT ACCURACY (BENCH, E4)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0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CONTACT WITH THE WOUND BED (BY DESIGN)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94960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intended workflow, designed and bench-testable, not clinically validated.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Future Solution Mapping &amp; Quantified Efficiency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Rounded Rectangle 157"/>
          <p:cNvSpPr/>
          <p:nvPr/>
        </p:nvSpPr>
        <p:spPr>
          <a:xfrm>
            <a:off x="8648395" y="457200"/>
            <a:ext cx="3010204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INTENDED WORKFLOW · NOT CLINICALLY VALIDATED</a:t>
            </a:r>
          </a:p>
        </p:txBody>
      </p:sp>
      <p:pic>
        <p:nvPicPr>
          <p:cNvPr id="159" name="Picture 158" descr="fig_journey_af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756" y="1746504"/>
            <a:ext cx="5400726" cy="359359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464808" y="2267712"/>
            <a:ext cx="5029200" cy="32918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Fits today's routine: </a:t>
            </a:r>
            <a:r>
              <a:rPr sz="1040" b="0">
                <a:solidFill>
                  <a:srgbClr val="334155"/>
                </a:solidFill>
                <a:latin typeface="DM Sans"/>
              </a:rPr>
              <a:t>the strip goes on the pad's outer face when the dressing is applied; the reader clips onto its paddle. Nothing else changes.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Decision support: </a:t>
            </a:r>
            <a:r>
              <a:rPr sz="1040" b="0">
                <a:solidFill>
                  <a:srgbClr val="334155"/>
                </a:solidFill>
                <a:latin typeface="DM Sans"/>
              </a:rPr>
              <a:t>CHANGE when the front reaches the maker's line; CHECK if A wets before C (edge leak or misplaced strip); FAULT for a broken strip or reader error.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Efficiency targets (to measure in E4): </a:t>
            </a:r>
            <a:r>
              <a:rPr sz="1040" b="0">
                <a:solidFill>
                  <a:srgbClr val="334155"/>
                </a:solidFill>
                <a:latin typeface="DM Sans"/>
              </a:rPr>
              <a:t>alert within ±10 % of the fluid volume at which the front visibly reaches the line; zero lifts of the dressing just to look.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Cost target: </a:t>
            </a:r>
            <a:r>
              <a:rPr sz="1040" b="0">
                <a:solidFill>
                  <a:srgbClr val="334155"/>
                </a:solidFill>
                <a:latin typeface="DM Sans"/>
              </a:rPr>
              <a:t>≤ ₹100 per disposable strip: polyimide film + laser time only; the reader is reused (estimate from the BOM film price).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40" b="0">
                <a:solidFill>
                  <a:srgbClr val="059669"/>
                </a:solidFill>
                <a:latin typeface="DM Sans"/>
              </a:rPr>
              <a:t>▪  </a:t>
            </a:r>
            <a:r>
              <a:rPr sz="1040" b="1">
                <a:solidFill>
                  <a:srgbClr val="0F172A"/>
                </a:solidFill>
                <a:latin typeface="DM Sans"/>
              </a:rPr>
              <a:t>Who benefits (expected, to verify): </a:t>
            </a:r>
            <a:r>
              <a:rPr sz="1040" b="0">
                <a:solidFill>
                  <a:srgbClr val="334155"/>
                </a:solidFill>
                <a:latin typeface="DM Sans"/>
              </a:rPr>
              <a:t>patients: fewer needless removals; carers: a logged reason for each change; clinics: fewer wasted dressings.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4"/>
            <a:ext cx="542925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System Architecture &amp; Specs: Firmware &amp; Data Flow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Software vs Hardware: </a:t>
            </a:r>
            <a:r>
              <a:rPr sz="860" b="0">
                <a:solidFill>
                  <a:srgbClr val="334155"/>
                </a:solidFill>
                <a:latin typeface="DM Sans"/>
              </a:rPr>
              <a:t>19 compile-time logic tests and 10 PC-side tests pass; the firmware compiles for ESP32-C3 with 0 warnings. It has not run on a wired board yet (bench test T0–T10 is next).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one reader scan: four bipolar measurements, then hysteresis and the state decision.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Firmware Logic, Signal Measurement &amp; Logging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Rounded Rectangle 256"/>
          <p:cNvSpPr/>
          <p:nvPr/>
        </p:nvSpPr>
        <p:spPr>
          <a:xfrm>
            <a:off x="8959291" y="457200"/>
            <a:ext cx="2699308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VERIFIED IN SOFTWARE · HARDWARE PENDING</a:t>
            </a:r>
          </a:p>
        </p:txBody>
      </p:sp>
      <p:pic>
        <p:nvPicPr>
          <p:cNvPr id="258" name="Picture 257" descr="fig_datafl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6464808" y="1463040"/>
            <a:ext cx="5029200" cy="3840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0">
                <a:solidFill>
                  <a:srgbClr val="059669"/>
                </a:solidFill>
                <a:latin typeface="DM Sans"/>
              </a:rPr>
              <a:t>▪  </a:t>
            </a:r>
            <a:r>
              <a:rPr sz="980" b="1">
                <a:solidFill>
                  <a:srgbClr val="0F172A"/>
                </a:solidFill>
                <a:latin typeface="DM Sans"/>
              </a:rPr>
              <a:t>Resistance measurement: </a:t>
            </a:r>
            <a:r>
              <a:rPr sz="980" b="0">
                <a:solidFill>
                  <a:srgbClr val="334155"/>
                </a:solidFill>
                <a:latin typeface="DM Sans"/>
              </a:rPr>
              <a:t>each path is driven both ways through a 100 kΩ 0.1 % reference. Equal + and − phases leave no net DC on wet electrodes.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0">
                <a:solidFill>
                  <a:srgbClr val="059669"/>
                </a:solidFill>
                <a:latin typeface="DM Sans"/>
              </a:rPr>
              <a:t>▪  </a:t>
            </a:r>
            <a:r>
              <a:rPr sz="980" b="1">
                <a:solidFill>
                  <a:srgbClr val="0F172A"/>
                </a:solidFill>
                <a:latin typeface="DM Sans"/>
              </a:rPr>
              <a:t>ADC acquisition: </a:t>
            </a:r>
            <a:r>
              <a:rPr sz="980" b="0">
                <a:solidFill>
                  <a:srgbClr val="334155"/>
                </a:solidFill>
                <a:latin typeface="DM Sans"/>
              </a:rPr>
              <a:t>ADS1115 single-shot at 128 SPS, auto-ranged. A1 reads the 3V3 rail, so the maths is ratiometric.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0">
                <a:solidFill>
                  <a:srgbClr val="059669"/>
                </a:solidFill>
                <a:latin typeface="DM Sans"/>
              </a:rPr>
              <a:t>▪  </a:t>
            </a:r>
            <a:r>
              <a:rPr sz="980" b="1">
                <a:solidFill>
                  <a:srgbClr val="0F172A"/>
                </a:solidFill>
                <a:latin typeface="DM Sans"/>
              </a:rPr>
              <a:t>Processing: </a:t>
            </a:r>
            <a:r>
              <a:rPr sz="980" b="0">
                <a:solidFill>
                  <a:srgbClr val="334155"/>
                </a:solidFill>
                <a:latin typeface="DM Sans"/>
              </a:rPr>
              <a:t>Rx from both phases, averaged, scaled by the on-board 100 kΩ check (must read within ±5 %, else FAULT), minus the 2 kΩ of protection resistors.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0">
                <a:solidFill>
                  <a:srgbClr val="059669"/>
                </a:solidFill>
                <a:latin typeface="DM Sans"/>
              </a:rPr>
              <a:t>▪  </a:t>
            </a:r>
            <a:r>
              <a:rPr sz="980" b="1">
                <a:solidFill>
                  <a:srgbClr val="0F172A"/>
                </a:solidFill>
                <a:latin typeface="DM Sans"/>
              </a:rPr>
              <a:t>Interpretation: </a:t>
            </a:r>
            <a:r>
              <a:rPr sz="980" b="0">
                <a:solidFill>
                  <a:srgbClr val="334155"/>
                </a:solidFill>
                <a:latin typeface="DM Sans"/>
              </a:rPr>
              <a:t>wet below 100 kΩ, dry above 300 kΩ, three scans in a row; LEDs show OK, CHANGE, CHECK (blinking) or FAULT.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0">
                <a:solidFill>
                  <a:srgbClr val="059669"/>
                </a:solidFill>
                <a:latin typeface="DM Sans"/>
              </a:rPr>
              <a:t>▪  </a:t>
            </a:r>
            <a:r>
              <a:rPr sz="980" b="1">
                <a:solidFill>
                  <a:srgbClr val="0F172A"/>
                </a:solidFill>
                <a:latin typeface="DM Sans"/>
              </a:rPr>
              <a:t>Logging: </a:t>
            </a:r>
            <a:r>
              <a:rPr sz="980" b="0">
                <a:solidFill>
                  <a:srgbClr val="334155"/>
                </a:solidFill>
                <a:latin typeface="DM Sans"/>
              </a:rPr>
              <a:t>one CSV line per scan over USB. The PC logger checks the header and every row, adds PC time and keeps bad lines apart.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0">
                <a:solidFill>
                  <a:srgbClr val="059669"/>
                </a:solidFill>
                <a:latin typeface="DM Sans"/>
              </a:rPr>
              <a:t>▪  </a:t>
            </a:r>
            <a:r>
              <a:rPr sz="980" b="1">
                <a:solidFill>
                  <a:srgbClr val="0F172A"/>
                </a:solidFill>
                <a:latin typeface="DM Sans"/>
              </a:rPr>
              <a:t>Fail-safe behaviour: </a:t>
            </a:r>
            <a:r>
              <a:rPr sz="980" b="0">
                <a:solidFill>
                  <a:srgbClr val="334155"/>
                </a:solidFill>
                <a:latin typeface="DM Sans"/>
              </a:rPr>
              <a:t>between scans every drive pin is high-impedance, so no current flows through the strip; during a FAULT the zone states are frozen, not guessed.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4"/>
            <a:ext cx="542925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CAD Design &amp; Mechanical Specs: Sensing Strip &amp; Laser Process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Laser Files Verified: </a:t>
            </a:r>
            <a:r>
              <a:rPr sz="860" b="0">
                <a:solidFill>
                  <a:srgbClr val="334155"/>
                </a:solidFill>
                <a:latin typeface="DM Sans"/>
              </a:rPr>
              <a:t>4 DXFs pass 35/35 checks (mm units, closed outlines, no overlaps, minimum line and gap, fits the bed). The import into LaserCAD is checked at the machine (E2 step S0-6).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laser files drawn from the DXFs: strip v0.1 and the E2 coupon. Not yet lased.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Fabrication Approach &amp; Process Validation (E2)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Rounded Rectangle 256"/>
          <p:cNvSpPr/>
          <p:nvPr/>
        </p:nvSpPr>
        <p:spPr>
          <a:xfrm>
            <a:off x="9021470" y="457200"/>
            <a:ext cx="2637129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DESIGNED · PHYSICAL VALIDATION PENDING</a:t>
            </a:r>
          </a:p>
        </p:txBody>
      </p:sp>
      <p:pic>
        <p:nvPicPr>
          <p:cNvPr id="258" name="Picture 257" descr="fig_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6464808" y="1463040"/>
            <a:ext cx="5029200" cy="3840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Material: </a:t>
            </a:r>
            <a:r>
              <a:rPr sz="919" b="0">
                <a:solidFill>
                  <a:srgbClr val="334155"/>
                </a:solidFill>
                <a:latin typeface="DM Sans"/>
              </a:rPr>
              <a:t>polyimide written by our CO₂ laser in one raster pass⁷. We call it a LIG-like laser-carbonised conductive layer until Raman confirms graphene.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Machine facts (LaserCAD config): </a:t>
            </a:r>
            <a:r>
              <a:rPr sz="919" b="0">
                <a:solidFill>
                  <a:srgbClr val="334155"/>
                </a:solidFill>
                <a:latin typeface="DM Sans"/>
              </a:rPr>
              <a:t>1200 × 900 mm bed, 20 kHz PWM, 98 % power cap. Our reference '12' is most likely a % PWM command, not watts.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Critical parameters logged: </a:t>
            </a:r>
            <a:r>
              <a:rPr sz="919" b="0">
                <a:solidFill>
                  <a:srgbClr val="334155"/>
                </a:solidFill>
                <a:latin typeface="DM Sans"/>
              </a:rPr>
              <a:t>min/max power %, speed, 0.1 mm interval, passes, scan direction, focus and tube current, copied from every layer dialog.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E2 plan: </a:t>
            </a:r>
            <a:r>
              <a:rPr sz="919" b="0">
                <a:solidFill>
                  <a:srgbClr val="334155"/>
                </a:solidFill>
                <a:latin typeface="DM Sans"/>
              </a:rPr>
              <a:t>4 bracket coupons (power 10/12/14, speed ×0.67/1/1.5) on 2 days + 3 resolution coupons; 72 pre-registered samples.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Pass rules, fixed before testing: </a:t>
            </a:r>
            <a:r>
              <a:rPr sz="919" b="0">
                <a:solidFill>
                  <a:srgbClr val="334155"/>
                </a:solidFill>
                <a:latin typeface="DM Sans"/>
              </a:rPr>
              <a:t>sheet-resistance CV ≤ 20 %; smallest reliable line and gap; gaps &gt; 3 MΩ; laser-cut holes 2.00–2.10 mm.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Sealed leads: </a:t>
            </a:r>
            <a:r>
              <a:rPr sz="919" b="0">
                <a:solidFill>
                  <a:srgbClr val="334155"/>
                </a:solidFill>
                <a:latin typeface="DM Sans"/>
              </a:rPr>
              <a:t>LIG made in air is superhydrophilic⁹, so every lead outside the two windows is covered by polyimide tape.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Electronics Schematics &amp; BOM: Bill of Materials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723900" y="5844884"/>
            <a:ext cx="1069848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Procurement Status: </a:t>
            </a:r>
            <a:r>
              <a:rPr sz="860" b="0">
                <a:solidFill>
                  <a:srgbClr val="334155"/>
                </a:solidFill>
                <a:latin typeface="DM Sans"/>
              </a:rPr>
              <a:t>nothing ordered yet. Prices are estimates to confirm on supplier pages; all parts are sold in India. First order: silver paint, 1 % resistor set, 0.1 % resistors, ADS1115, ESP32-C3.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4901184"/>
            <a:ext cx="5429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why these values; ranges are calculations, to be replaced by E2/E4 data.</a:t>
            </a:r>
            <a:endParaRPr/>
          </a:p>
        </p:txBody>
      </p:sp>
      <p:pic>
        <p:nvPicPr>
          <p:cNvPr descr="image.png" id="287" name="Google Shape;2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Itemized Prototype Bill of Materials (estimates)</a:t>
            </a:r>
            <a:endParaRPr/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Rounded Rectangle 325"/>
          <p:cNvSpPr/>
          <p:nvPr/>
        </p:nvSpPr>
        <p:spPr>
          <a:xfrm>
            <a:off x="9705441" y="457200"/>
            <a:ext cx="1953158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ESTIMATES · NOT YET ORDERED</a:t>
            </a:r>
          </a:p>
        </p:txBody>
      </p:sp>
      <p:pic>
        <p:nvPicPr>
          <p:cNvPr id="327" name="Picture 326" descr="fig_wind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graphicFrame>
        <p:nvGraphicFramePr>
          <p:cNvPr id="328" name="Table 327"/>
          <p:cNvGraphicFramePr>
            <a:graphicFrameLocks noGrp="1"/>
          </p:cNvGraphicFramePr>
          <p:nvPr/>
        </p:nvGraphicFramePr>
        <p:xfrm>
          <a:off x="6446520" y="1463040"/>
          <a:ext cx="501091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1600199"/>
                <a:gridCol w="347472"/>
                <a:gridCol w="1024128"/>
                <a:gridCol w="80467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Component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Specification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Qty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Source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Est. ₹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ESP32-C3 SuperMini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USB-C, native USB serial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Local / online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250–450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ADS1115 module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16-bit I²C ADC, auto-range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Local / online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200–450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Precision resistors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100 kΩ 0.1 % ×2 · 1 kΩ 1 % ×7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Online (element14 / Mouser IN)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47–141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C0G capacitor, LEDs, perfboard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10 nF C0G · 3 LEDs · headers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Local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111–280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Pogo pins P75-B1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1.02 mm, 2 mm travel (4 + 2 spare)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Online (Probots)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90–240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Clamp + bench rig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PETG print · acrylic · M3/M4 · dowels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Lab / local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100–1,240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Strip materials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polyimide film · seal tape · silver paint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Lab / online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800–3,500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Test consumables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1 % resistor set · IPA · gloves · saline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Local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>480–1,060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Total (excl. DMM, E4 dressings)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0">
                          <a:solidFill>
                            <a:srgbClr val="334155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780" b="1">
                          <a:solidFill>
                            <a:srgbClr val="0F172A"/>
                          </a:solidFill>
                          <a:latin typeface="DM Sans"/>
                        </a:rPr>
                        <a:t>≈ 2,078–7,361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362" name="Google Shape;3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3"/>
            <a:ext cx="5429250" cy="452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859536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Maker Journey: Engineering Iterations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Prior Art We Respect: </a:t>
            </a:r>
            <a:r>
              <a:rPr sz="860" b="0">
                <a:solidFill>
                  <a:srgbClr val="334155"/>
                </a:solidFill>
                <a:latin typeface="DM Sans"/>
              </a:rPr>
              <a:t>diaper wetness strips with clip-on readers exist⁴. Our contribution is the change-line placement, the order check and a reproducible laser process.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weighted concept scores and the iteration path; each step is a dated git commit.</a:t>
            </a:r>
            <a:endParaRPr/>
          </a:p>
        </p:txBody>
      </p:sp>
      <p:pic>
        <p:nvPicPr>
          <p:cNvPr descr="image.png" id="371" name="Google Shape;37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Stage 1 to Stage 2 Engineering Iterations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Rounded Rectangle 382"/>
          <p:cNvSpPr/>
          <p:nvPr/>
        </p:nvSpPr>
        <p:spPr>
          <a:xfrm>
            <a:off x="10140696" y="457200"/>
            <a:ext cx="1517904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DOCUMENTED DECISIONS</a:t>
            </a:r>
          </a:p>
        </p:txBody>
      </p:sp>
      <p:pic>
        <p:nvPicPr>
          <p:cNvPr id="384" name="Picture 383" descr="fig_decis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6464808" y="1463040"/>
            <a:ext cx="5029200" cy="39319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Iterative pivot: </a:t>
            </a:r>
            <a:r>
              <a:rPr sz="940" b="0">
                <a:solidFill>
                  <a:srgbClr val="334155"/>
                </a:solidFill>
                <a:latin typeface="DM Sans"/>
              </a:rPr>
              <a:t>Stage 1's closed-loop electrotherapy bandage was too broad to build and validate in four months; we narrowed it to one measurable job: is the dressing full?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Concept selection: </a:t>
            </a:r>
            <a:r>
              <a:rPr sz="940" b="0">
                <a:solidFill>
                  <a:srgbClr val="334155"/>
                </a:solidFill>
                <a:latin typeface="DM Sans"/>
              </a:rPr>
              <a:t>5 sensing concepts scored on 13 weighted criteria. S2 (4.36) beat the simpler S1 (4.29) because its order check separates a real front from a leak.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Fit the process we have: </a:t>
            </a:r>
            <a:r>
              <a:rPr sz="940" b="0">
                <a:solidFill>
                  <a:srgbClr val="334155"/>
                </a:solidFill>
                <a:latin typeface="DM Sans"/>
              </a:rPr>
              <a:t>4 zones → 2 zones, and 1 mm lines and gaps until E2 measures what our laser can resolve.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Verification-driven fixes: </a:t>
            </a:r>
            <a:r>
              <a:rPr sz="940" b="0">
                <a:solidFill>
                  <a:srgbClr val="334155"/>
                </a:solidFill>
                <a:latin typeface="DM Sans"/>
              </a:rPr>
              <a:t>seal moved off the clamp; assembly STEP was in cm, now mm; drawings rebuilt first-angle with every dimension once.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40" b="0">
                <a:solidFill>
                  <a:srgbClr val="059669"/>
                </a:solidFill>
                <a:latin typeface="DM Sans"/>
              </a:rPr>
              <a:t>▪  </a:t>
            </a:r>
            <a:r>
              <a:rPr sz="940" b="1">
                <a:solidFill>
                  <a:srgbClr val="0F172A"/>
                </a:solidFill>
                <a:latin typeface="DM Sans"/>
              </a:rPr>
              <a:t>Risk-driven redesign: </a:t>
            </a:r>
            <a:r>
              <a:rPr sz="940" b="0">
                <a:solidFill>
                  <a:srgbClr val="334155"/>
                </a:solidFill>
                <a:latin typeface="DM Sans"/>
              </a:rPr>
              <a:t>the FMEA showed a cracked sense lead would read 'dry' forever (RPN 224), so v0.2 loops each sense lead to a second pad.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417" name="Google Shape;4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11125200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3493008"/>
            <a:ext cx="5429250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29350" y="3493008"/>
            <a:ext cx="5429250" cy="239572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Roadmap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822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4-Month Fabrication &amp; Validation Plan (each gate must pass before the next step)</a:t>
            </a:r>
            <a:endParaRPr/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3712463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685032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Fabrication &amp; Bench Phase (Months 1 - 2)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8425" y="3712463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685032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Validation &amp; Stage 3 Demo (Months 3 - 4)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Rounded Rectangle 448"/>
          <p:cNvSpPr/>
          <p:nvPr/>
        </p:nvSpPr>
        <p:spPr>
          <a:xfrm>
            <a:off x="9829800" y="457200"/>
            <a:ext cx="1828800" cy="24688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475569"/>
                </a:solidFill>
                <a:latin typeface="DM Sans"/>
              </a:rPr>
              <a:t>FUTURE SCOPE · GATED PLAN</a:t>
            </a:r>
          </a:p>
        </p:txBody>
      </p:sp>
      <p:pic>
        <p:nvPicPr>
          <p:cNvPr id="450" name="Picture 449" descr="fig_road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513" y="1417320"/>
            <a:ext cx="10609069" cy="1874519"/>
          </a:xfrm>
          <a:prstGeom prst="rect">
            <a:avLst/>
          </a:prstGeom>
        </p:spPr>
      </p:pic>
      <p:sp>
        <p:nvSpPr>
          <p:cNvPr id="451" name="TextBox 450"/>
          <p:cNvSpPr txBox="1"/>
          <p:nvPr/>
        </p:nvSpPr>
        <p:spPr>
          <a:xfrm>
            <a:off x="768096" y="3995928"/>
            <a:ext cx="5029200" cy="18288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Nov 2026: </a:t>
            </a:r>
            <a:r>
              <a:rPr sz="919" b="0">
                <a:solidFill>
                  <a:srgbClr val="334155"/>
                </a:solidFill>
                <a:latin typeface="DM Sans"/>
              </a:rPr>
              <a:t>E2 laser validation (S0, Day 1, Day 2); order parts; wire and bench-test the reader (T0–T10).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Dec 2026: </a:t>
            </a:r>
            <a:r>
              <a:rPr sz="919" b="0">
                <a:solidFill>
                  <a:srgbClr val="334155"/>
                </a:solidFill>
                <a:latin typeface="DM Sans"/>
              </a:rPr>
              <a:t>strip v0.2 from E2 data with looped sense leads; print the clamp; contact (T-CON-01) and bend (T-MECH-01) tests.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6464808" y="3995928"/>
            <a:ext cx="5029200" cy="18288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Jan 2027: </a:t>
            </a:r>
            <a:r>
              <a:rPr sz="919" b="0">
                <a:solidFill>
                  <a:srgbClr val="334155"/>
                </a:solidFill>
                <a:latin typeface="DM Sans"/>
              </a:rPr>
              <a:t>E4: strips on real foam dressings with simulated exudate: dry baselines, thresholds, alert vs the visible front.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Feb 2027: </a:t>
            </a:r>
            <a:r>
              <a:rPr sz="919" b="0">
                <a:solidFill>
                  <a:srgbClr val="334155"/>
                </a:solidFill>
                <a:latin typeface="DM Sans"/>
              </a:rPr>
              <a:t>repeatability (≥ 5 strips × 3 runs); integrated bench demo and Stage 3 video with raw data.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19" b="0">
                <a:solidFill>
                  <a:srgbClr val="059669"/>
                </a:solidFill>
                <a:latin typeface="DM Sans"/>
              </a:rPr>
              <a:t>▪  </a:t>
            </a:r>
            <a:r>
              <a:rPr sz="919" b="1">
                <a:solidFill>
                  <a:srgbClr val="0F172A"/>
                </a:solidFill>
                <a:latin typeface="DM Sans"/>
              </a:rPr>
              <a:t>Stage 3 Target: </a:t>
            </a:r>
            <a:r>
              <a:rPr sz="919" b="0">
                <a:solidFill>
                  <a:srgbClr val="334155"/>
                </a:solidFill>
                <a:latin typeface="DM Sans"/>
              </a:rPr>
              <a:t>a working bench prototype (strip + clamp + reader) showing OK → CHANGE on a real dressing, with logged data. No patient use.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477" name="Google Shape;47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956223"/>
            <a:ext cx="3568600" cy="2487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11550" y="956223"/>
            <a:ext cx="3568749" cy="2487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9850" y="956223"/>
            <a:ext cx="3568600" cy="248716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Potential Solutions &amp; Risk Mitigation</a:t>
            </a:r>
            <a:endParaRPr/>
          </a:p>
        </p:txBody>
      </p:sp>
      <p:sp>
        <p:nvSpPr>
          <p:cNvPr id="484" name="Google Shape;484;p30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>
                <a:solidFill>
                  <a:srgbClr val="0F172A"/>
                </a:solidFill>
                <a:latin typeface="DM Sans"/>
              </a:rPr>
              <a:t>Rule We Keep: </a:t>
            </a:r>
            <a:r>
              <a:rPr sz="860" b="0">
                <a:solidFill>
                  <a:srgbClr val="334155"/>
                </a:solidFill>
                <a:latin typeface="DM Sans"/>
              </a:rPr>
              <a:t>no claim of sensing performance, graphene identity or clinical benefit until the measurement exists.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DM Sans"/>
              </a:rPr>
              <a:t>Fixed &amp; Verified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DM Sans"/>
              </a:rPr>
              <a:t>Designed, to Prove on Hardware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DM Sans"/>
              </a:rPr>
              <a:t>Fallbacks if E2 Disappoints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Rounded Rectangle 499"/>
          <p:cNvSpPr/>
          <p:nvPr/>
        </p:nvSpPr>
        <p:spPr>
          <a:xfrm>
            <a:off x="9456724" y="457200"/>
            <a:ext cx="2201875" cy="24688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475569"/>
                </a:solidFill>
                <a:latin typeface="DM Sans"/>
              </a:rPr>
              <a:t>FIXED · DESIGNED · FUTURE SCOPE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749808" y="1481328"/>
            <a:ext cx="3154680" cy="19202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Seal: </a:t>
            </a:r>
            <a:r>
              <a:rPr sz="980" b="0">
                <a:solidFill>
                  <a:srgbClr val="334155"/>
                </a:solidFill>
                <a:latin typeface="DM Sans"/>
              </a:rPr>
              <a:t>now starts at x = 23 mm; re-verified with 0 interference (D-013).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Units &amp; drawings: </a:t>
            </a:r>
            <a:r>
              <a:rPr sz="980" b="0">
                <a:solidFill>
                  <a:srgbClr val="334155"/>
                </a:solidFill>
                <a:latin typeface="DM Sans"/>
              </a:rPr>
              <a:t>all STEP in mm; first-angle A3 drawings; CAD checks 99 pass / 0 fail.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Design consistency: </a:t>
            </a:r>
            <a:r>
              <a:rPr sz="980" b="0">
                <a:solidFill>
                  <a:srgbClr val="334155"/>
                </a:solidFill>
                <a:latin typeface="DM Sans"/>
              </a:rPr>
              <a:t>schematic ↔ firmware ↔ strip pads checked by script.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4526280" y="1481328"/>
            <a:ext cx="3154680" cy="19202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v0.2 strip: </a:t>
            </a:r>
            <a:r>
              <a:rPr sz="980" b="0">
                <a:solidFill>
                  <a:srgbClr val="334155"/>
                </a:solidFill>
                <a:latin typeface="DM Sans"/>
              </a:rPr>
              <a:t>each sense lead loops back to a second pad (6 pads), so every lead is checked every scan.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Contact: </a:t>
            </a:r>
            <a:r>
              <a:rPr sz="980" b="0">
                <a:solidFill>
                  <a:srgbClr val="334155"/>
                </a:solidFill>
                <a:latin typeface="DM Sans"/>
              </a:rPr>
              <a:t>silver-painted pads and rounded pogo tips; contact resistance over clamp cycles (T-CON-01).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Self-test: </a:t>
            </a:r>
            <a:r>
              <a:rPr sz="980" b="0">
                <a:solidFill>
                  <a:srgbClr val="334155"/>
                </a:solidFill>
                <a:latin typeface="DM Sans"/>
              </a:rPr>
              <a:t>check resistor and loop → FAULT, verified in bench test T2–T9.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311896" y="1481328"/>
            <a:ext cx="3154680" cy="19202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Wider features: </a:t>
            </a:r>
            <a:r>
              <a:rPr sz="980" b="0">
                <a:solidFill>
                  <a:srgbClr val="334155"/>
                </a:solidFill>
                <a:latin typeface="DM Sans"/>
              </a:rPr>
              <a:t>set lines and gaps to what E2 resolves, re-run the DRC.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Process: </a:t>
            </a:r>
            <a:r>
              <a:rPr sz="980" b="0">
                <a:solidFill>
                  <a:srgbClr val="334155"/>
                </a:solidFill>
                <a:latin typeface="DM Sans"/>
              </a:rPr>
              <a:t>bracket power and speed, slower or defocused passes, log tube current.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Partner laser: </a:t>
            </a:r>
            <a:r>
              <a:rPr sz="980" b="0">
                <a:solidFill>
                  <a:srgbClr val="334155"/>
                </a:solidFill>
                <a:latin typeface="DM Sans"/>
              </a:rPr>
              <a:t>same DXF files on another lab's machine.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Concept: </a:t>
            </a:r>
            <a:r>
              <a:rPr sz="980" b="0">
                <a:solidFill>
                  <a:srgbClr val="334155"/>
                </a:solidFill>
                <a:latin typeface="DM Sans"/>
              </a:rPr>
              <a:t>S1 single-zone strip (score 4.29) if two zones cannot be resolved.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530352" y="3584448"/>
            <a:ext cx="11128248" cy="1965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749808" y="3675887"/>
            <a:ext cx="10698480" cy="2743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DM Sans"/>
              </a:rPr>
              <a:t>Future Scope &amp; Validation Plan: evidence needed before practical or clinical use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749808" y="4023360"/>
            <a:ext cx="5257800" cy="14630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90" b="0">
                <a:solidFill>
                  <a:srgbClr val="059669"/>
                </a:solidFill>
                <a:latin typeface="DM Sans"/>
              </a:rPr>
              <a:t>▪  </a:t>
            </a:r>
            <a:r>
              <a:rPr sz="890" b="1">
                <a:solidFill>
                  <a:srgbClr val="0F172A"/>
                </a:solidFill>
                <a:latin typeface="DM Sans"/>
              </a:rPr>
              <a:t>Remaining physical experiments: </a:t>
            </a:r>
            <a:r>
              <a:rPr sz="890" b="0">
                <a:solidFill>
                  <a:srgbClr val="334155"/>
                </a:solidFill>
                <a:latin typeface="DM Sans"/>
              </a:rPr>
              <a:t>E2 fabrication; reader bench test; E4 wetting tests with simulated exudate on foam dressings; repeatability.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90" b="0">
                <a:solidFill>
                  <a:srgbClr val="059669"/>
                </a:solidFill>
                <a:latin typeface="DM Sans"/>
              </a:rPr>
              <a:t>▪  </a:t>
            </a:r>
            <a:r>
              <a:rPr sz="890" b="1">
                <a:solidFill>
                  <a:srgbClr val="0F172A"/>
                </a:solidFill>
                <a:latin typeface="DM Sans"/>
              </a:rPr>
              <a:t>Material characterisation: </a:t>
            </a:r>
            <a:r>
              <a:rPr sz="890" b="0">
                <a:solidFill>
                  <a:srgbClr val="334155"/>
                </a:solidFill>
                <a:latin typeface="DM Sans"/>
              </a:rPr>
              <a:t>Raman (D, G, 2D bands) and SEM through a partner facility before any 'graphene' claim.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90" b="0">
                <a:solidFill>
                  <a:srgbClr val="059669"/>
                </a:solidFill>
                <a:latin typeface="DM Sans"/>
              </a:rPr>
              <a:t>▪  </a:t>
            </a:r>
            <a:r>
              <a:rPr sz="890" b="1">
                <a:solidFill>
                  <a:srgbClr val="0F172A"/>
                </a:solidFill>
                <a:latin typeface="DM Sans"/>
              </a:rPr>
              <a:t>Reliability: </a:t>
            </a:r>
            <a:r>
              <a:rPr sz="890" b="0">
                <a:solidFill>
                  <a:srgbClr val="334155"/>
                </a:solidFill>
                <a:latin typeface="DM Sans"/>
              </a:rPr>
              <a:t>bending (T-MECH-01), contact cycling (T-CON-01), storage and humidity drift.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6263640" y="4023360"/>
            <a:ext cx="5257800" cy="14630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90" b="0">
                <a:solidFill>
                  <a:srgbClr val="059669"/>
                </a:solidFill>
                <a:latin typeface="DM Sans"/>
              </a:rPr>
              <a:t>▪  </a:t>
            </a:r>
            <a:r>
              <a:rPr sz="890" b="1">
                <a:solidFill>
                  <a:srgbClr val="0F172A"/>
                </a:solidFill>
                <a:latin typeface="DM Sans"/>
              </a:rPr>
              <a:t>Product steps: </a:t>
            </a:r>
            <a:r>
              <a:rPr sz="890" b="0">
                <a:solidFill>
                  <a:srgbClr val="334155"/>
                </a:solidFill>
                <a:latin typeface="DM Sans"/>
              </a:rPr>
              <a:t>battery-only isolated pod with BLE; multi-strip logging; a strip layout matched to each dressing model's change line.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90" b="0">
                <a:solidFill>
                  <a:srgbClr val="059669"/>
                </a:solidFill>
                <a:latin typeface="DM Sans"/>
              </a:rPr>
              <a:t>▪  </a:t>
            </a:r>
            <a:r>
              <a:rPr sz="890" b="1">
                <a:solidFill>
                  <a:srgbClr val="0F172A"/>
                </a:solidFill>
                <a:latin typeface="DM Sans"/>
              </a:rPr>
              <a:t>Before any patient use: </a:t>
            </a:r>
            <a:r>
              <a:rPr sz="890" b="0">
                <a:solidFill>
                  <a:srgbClr val="334155"/>
                </a:solidFill>
                <a:latin typeface="DM Sans"/>
              </a:rPr>
              <a:t>ISO 10993 biological evaluation, IEC 60601-1 electrical safety, clinician feedback and an ethics-approved study.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90" b="0">
                <a:solidFill>
                  <a:srgbClr val="059669"/>
                </a:solidFill>
                <a:latin typeface="DM Sans"/>
              </a:rPr>
              <a:t>▪  </a:t>
            </a:r>
            <a:r>
              <a:rPr sz="890" b="1">
                <a:solidFill>
                  <a:srgbClr val="0F172A"/>
                </a:solidFill>
                <a:latin typeface="DM Sans"/>
              </a:rPr>
              <a:t>Not claimed today: </a:t>
            </a:r>
            <a:r>
              <a:rPr sz="890" b="0">
                <a:solidFill>
                  <a:srgbClr val="334155"/>
                </a:solidFill>
                <a:latin typeface="DM Sans"/>
              </a:rPr>
              <a:t>that the sensor works, that the material is graphene, or any clinical benefit.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