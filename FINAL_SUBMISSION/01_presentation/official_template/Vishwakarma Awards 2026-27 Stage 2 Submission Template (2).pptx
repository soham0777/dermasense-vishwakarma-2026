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DM Sans Medium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  <p:embeddedFont>
      <p:font typeface="DM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AD28DD-9E69-47B7-B3C4-3EE7697E9F47}">
  <a:tblStyle styleId="{BBAD28DD-9E69-47B7-B3C4-3EE7697E9F4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.fntdata"/><Relationship Id="rId20" Type="http://schemas.openxmlformats.org/officeDocument/2006/relationships/slide" Target="slides/slide14.xml"/><Relationship Id="rId42" Type="http://schemas.openxmlformats.org/officeDocument/2006/relationships/font" Target="fonts/PoppinsSemiBold-boldItalic.fntdata"/><Relationship Id="rId41" Type="http://schemas.openxmlformats.org/officeDocument/2006/relationships/font" Target="fonts/PoppinsSemiBold-italic.fntdata"/><Relationship Id="rId22" Type="http://schemas.openxmlformats.org/officeDocument/2006/relationships/slide" Target="slides/slide16.xml"/><Relationship Id="rId44" Type="http://schemas.openxmlformats.org/officeDocument/2006/relationships/font" Target="fonts/DMSans-bold.fntdata"/><Relationship Id="rId21" Type="http://schemas.openxmlformats.org/officeDocument/2006/relationships/slide" Target="slides/slide15.xml"/><Relationship Id="rId43" Type="http://schemas.openxmlformats.org/officeDocument/2006/relationships/font" Target="fonts/DMSans-regular.fntdata"/><Relationship Id="rId24" Type="http://schemas.openxmlformats.org/officeDocument/2006/relationships/slide" Target="slides/slide18.xml"/><Relationship Id="rId46" Type="http://schemas.openxmlformats.org/officeDocument/2006/relationships/font" Target="fonts/DMSans-boldItalic.fntdata"/><Relationship Id="rId23" Type="http://schemas.openxmlformats.org/officeDocument/2006/relationships/slide" Target="slides/slide17.xml"/><Relationship Id="rId45" Type="http://schemas.openxmlformats.org/officeDocument/2006/relationships/font" Target="fonts/DM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DMSansMedium-bold.fntdata"/><Relationship Id="rId27" Type="http://schemas.openxmlformats.org/officeDocument/2006/relationships/font" Target="fonts/DMSans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regular.fntdata"/><Relationship Id="rId30" Type="http://schemas.openxmlformats.org/officeDocument/2006/relationships/font" Target="fonts/DMSansMedium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-italic.fntdata"/><Relationship Id="rId10" Type="http://schemas.openxmlformats.org/officeDocument/2006/relationships/slide" Target="slides/slide4.xml"/><Relationship Id="rId32" Type="http://schemas.openxmlformats.org/officeDocument/2006/relationships/font" Target="fonts/Poppins-bold.fntdata"/><Relationship Id="rId13" Type="http://schemas.openxmlformats.org/officeDocument/2006/relationships/slide" Target="slides/slide7.xml"/><Relationship Id="rId35" Type="http://schemas.openxmlformats.org/officeDocument/2006/relationships/font" Target="fonts/Inter-regular.fntdata"/><Relationship Id="rId12" Type="http://schemas.openxmlformats.org/officeDocument/2006/relationships/slide" Target="slides/slide6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9.xml"/><Relationship Id="rId37" Type="http://schemas.openxmlformats.org/officeDocument/2006/relationships/font" Target="fonts/Inter-italic.fntdata"/><Relationship Id="rId14" Type="http://schemas.openxmlformats.org/officeDocument/2006/relationships/slide" Target="slides/slide8.xml"/><Relationship Id="rId36" Type="http://schemas.openxmlformats.org/officeDocument/2006/relationships/font" Target="fonts/Inter-bold.fntdata"/><Relationship Id="rId17" Type="http://schemas.openxmlformats.org/officeDocument/2006/relationships/slide" Target="slides/slide11.xml"/><Relationship Id="rId39" Type="http://schemas.openxmlformats.org/officeDocument/2006/relationships/font" Target="fonts/PoppinsSemiBold-regular.fntdata"/><Relationship Id="rId16" Type="http://schemas.openxmlformats.org/officeDocument/2006/relationships/slide" Target="slides/slide10.xml"/><Relationship Id="rId38" Type="http://schemas.openxmlformats.org/officeDocument/2006/relationships/font" Target="fonts/Inter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b706592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b7065920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b70659208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b70659208_2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b70659208_2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b70659208_26_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b70659208_26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b70659208_26_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70659208_26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b70659208_26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b70659208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fb70659208_12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b70659208_26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fb70659208_26_1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b7065920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fb70659208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b70659208_26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b70659208_26_1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b7065920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fb70659208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b70659208_26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fb70659208_26_1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b70659208_26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fb70659208_26_2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7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70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2.png"/><Relationship Id="rId6" Type="http://schemas.openxmlformats.org/officeDocument/2006/relationships/image" Target="../media/image70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5.png"/><Relationship Id="rId13" Type="http://schemas.openxmlformats.org/officeDocument/2006/relationships/image" Target="../media/image2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70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Relationship Id="rId8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36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15.png"/><Relationship Id="rId8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0.png"/><Relationship Id="rId4" Type="http://schemas.openxmlformats.org/officeDocument/2006/relationships/image" Target="../media/image37.png"/><Relationship Id="rId9" Type="http://schemas.openxmlformats.org/officeDocument/2006/relationships/image" Target="../media/image70.png"/><Relationship Id="rId5" Type="http://schemas.openxmlformats.org/officeDocument/2006/relationships/image" Target="../media/image27.png"/><Relationship Id="rId6" Type="http://schemas.openxmlformats.org/officeDocument/2006/relationships/image" Target="../media/image24.png"/><Relationship Id="rId7" Type="http://schemas.openxmlformats.org/officeDocument/2006/relationships/image" Target="../media/image39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15.png"/><Relationship Id="rId8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png"/><Relationship Id="rId4" Type="http://schemas.openxmlformats.org/officeDocument/2006/relationships/image" Target="../media/image46.png"/><Relationship Id="rId9" Type="http://schemas.openxmlformats.org/officeDocument/2006/relationships/image" Target="../media/image70.png"/><Relationship Id="rId5" Type="http://schemas.openxmlformats.org/officeDocument/2006/relationships/image" Target="../media/image33.png"/><Relationship Id="rId6" Type="http://schemas.openxmlformats.org/officeDocument/2006/relationships/image" Target="../media/image30.png"/><Relationship Id="rId7" Type="http://schemas.openxmlformats.org/officeDocument/2006/relationships/image" Target="../media/image34.png"/><Relationship Id="rId8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35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15.png"/><Relationship Id="rId8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44.png"/><Relationship Id="rId5" Type="http://schemas.openxmlformats.org/officeDocument/2006/relationships/image" Target="../media/image59.png"/><Relationship Id="rId6" Type="http://schemas.openxmlformats.org/officeDocument/2006/relationships/image" Target="../media/image4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53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15.png"/><Relationship Id="rId8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5.png"/><Relationship Id="rId9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47.png"/><Relationship Id="rId7" Type="http://schemas.openxmlformats.org/officeDocument/2006/relationships/image" Target="../media/image22.png"/><Relationship Id="rId8" Type="http://schemas.openxmlformats.org/officeDocument/2006/relationships/image" Target="../media/image7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48.png"/><Relationship Id="rId5" Type="http://schemas.openxmlformats.org/officeDocument/2006/relationships/image" Target="../media/image22.png"/><Relationship Id="rId6" Type="http://schemas.openxmlformats.org/officeDocument/2006/relationships/image" Target="../media/image70.png"/><Relationship Id="rId7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57.png"/><Relationship Id="rId1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9.png"/><Relationship Id="rId9" Type="http://schemas.openxmlformats.org/officeDocument/2006/relationships/image" Target="../media/image56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15.png"/><Relationship Id="rId8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58.png"/><Relationship Id="rId5" Type="http://schemas.openxmlformats.org/officeDocument/2006/relationships/image" Target="../media/image22.png"/><Relationship Id="rId6" Type="http://schemas.openxmlformats.org/officeDocument/2006/relationships/image" Target="../media/image70.png"/><Relationship Id="rId7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62.png"/><Relationship Id="rId5" Type="http://schemas.openxmlformats.org/officeDocument/2006/relationships/image" Target="../media/image22.png"/><Relationship Id="rId6" Type="http://schemas.openxmlformats.org/officeDocument/2006/relationships/image" Target="../media/image70.png"/><Relationship Id="rId7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67.png"/><Relationship Id="rId10" Type="http://schemas.openxmlformats.org/officeDocument/2006/relationships/image" Target="../media/image65.png"/><Relationship Id="rId13" Type="http://schemas.openxmlformats.org/officeDocument/2006/relationships/image" Target="../media/image70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64.png"/><Relationship Id="rId5" Type="http://schemas.openxmlformats.org/officeDocument/2006/relationships/image" Target="../media/image66.png"/><Relationship Id="rId6" Type="http://schemas.openxmlformats.org/officeDocument/2006/relationships/image" Target="../media/image61.png"/><Relationship Id="rId7" Type="http://schemas.openxmlformats.org/officeDocument/2006/relationships/image" Target="../media/image63.png"/><Relationship Id="rId8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22.png"/><Relationship Id="rId6" Type="http://schemas.openxmlformats.org/officeDocument/2006/relationships/image" Target="../media/image70.png"/><Relationship Id="rId7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6.png"/><Relationship Id="rId4" Type="http://schemas.openxmlformats.org/officeDocument/2006/relationships/image" Target="../media/image74.png"/><Relationship Id="rId9" Type="http://schemas.openxmlformats.org/officeDocument/2006/relationships/image" Target="../media/image15.png"/><Relationship Id="rId5" Type="http://schemas.openxmlformats.org/officeDocument/2006/relationships/image" Target="../media/image71.png"/><Relationship Id="rId6" Type="http://schemas.openxmlformats.org/officeDocument/2006/relationships/image" Target="../media/image73.png"/><Relationship Id="rId7" Type="http://schemas.openxmlformats.org/officeDocument/2006/relationships/image" Target="../media/image72.png"/><Relationship Id="rId8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20528" y="3182619"/>
            <a:ext cx="7551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Vishwakarma Application ID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905250" y="4062412"/>
            <a:ext cx="438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0213" y="2268205"/>
            <a:ext cx="5851614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00669" y="80825"/>
            <a:ext cx="1491330" cy="7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80825"/>
            <a:ext cx="2428825" cy="78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369800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09625" y="2112750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Slide 1 &amp; 2 Template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254137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Project Overview: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Title, Team ID, Track, and 1-line Core Innovation Summary.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311287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Problem Statement: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Clear, concise definition of the operational pain point and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exact target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beneficiary segment.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16365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Problem Context (1-2 Slides)</a:t>
            </a:r>
            <a:endParaRPr/>
          </a:p>
        </p:txBody>
      </p:sp>
      <p:pic>
        <p:nvPicPr>
          <p:cNvPr id="100" name="Google Shape;100;p14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0075" y="1597875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6468200" y="2340825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 "</a:t>
            </a:r>
            <a:r>
              <a:rPr lang="en-US" sz="165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After</a:t>
            </a: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State" Requirement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468200" y="2769450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Future Solution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Mapping: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Include a clear flowchart, storyboard, or diagram illustrating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how your solution will benefit the users.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468200" y="3340950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Quantified </a:t>
            </a:r>
            <a:r>
              <a:rPr b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fficiency: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Benchmark time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gain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material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usage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labor cost, or safety p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ost your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innovation.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8200" y="18645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User Journey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(1-2 Slides)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312" y="1636247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21437" y="2379197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 "</a:t>
            </a:r>
            <a:r>
              <a:rPr lang="en-US" sz="165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Before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State" Requirement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21437" y="2807822"/>
            <a:ext cx="48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Current Pain Point Mapping: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Include a clear flowchart, storyboard, or diagram illustrating curre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nt issues faced by the users due to lack of the solution proposed by you.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21437" y="3591089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Quantified Inefficiency: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Benchmark time loss, material waste, labor cost, or safety hazards prior to innovation.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437" y="190294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714641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28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22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916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29350" y="1739051"/>
            <a:ext cx="5429250" cy="380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1739056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Problem Context &amp; User Journey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695325" y="5838653"/>
            <a:ext cx="9048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Exemplar Submission Note: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Team ID: VK-2026-AG-108 | Track: Smart Agriculture &amp; Mechanization | Core Innovation: Compact autonomous active-tine row weeder.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953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₹4,200/Ac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953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MANUAL WEEDING EXPENSE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5147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62 Hrs/Ac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35147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MANUAL LABOR TIME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3341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28% Loss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3341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YIELD LOSS VIA WEED STUNT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1535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68 dB(A)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1535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SAFETY EXPOSURE LIMIT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33400" y="4215556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Vidarbha smallholder inspecting severe weed infestation along 45cm cotton rows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2925" y="1748581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48425" y="1958131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6698009" y="1939081"/>
            <a:ext cx="321572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Target Beneficiary &amp; Before-State User Flow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638925" y="2243881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Target User: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Smallholder cotton farmers in Vidarbha, Maharashtra operating 1–4 acre farms with 45cm crop row spacing.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638925" y="2702272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Operational Bottleneck: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Severe seasonal labor shortages during the 20-day weed-competition window force reliance on manual sickle scraping or drift-heavy herbicides.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638925" y="3346995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Before-State Flow: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Weed infestation emerges (Day 1-5) → 72-hr delay finding scarce farm labor → Slow manual hoeing (0.15 ac/day) causing back strain → Late glyphosate spraying damages 14% cotton plants.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638925" y="3991719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Public Search Disclosure: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Commercial weeding tractors require &gt;30 HP and &gt;1.2m row spacing, crushing crops. Hand-carried weeders cause severe musculoskeletal fatigue after 3 hrs.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467475" y="2234356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467475" y="2692747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467475" y="333747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467475" y="398219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25" y="1614175"/>
            <a:ext cx="3530649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0674" y="1614175"/>
            <a:ext cx="3530649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9924" y="1614175"/>
            <a:ext cx="3530649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809550" y="235712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Block Diagram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09550" y="2785750"/>
            <a:ext cx="305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Map out integrated subsystems: Mechanical Structure, Actuation/Power, Electronic Controllers, and Firmware/Logic flow.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4568799" y="235712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Target Specifications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568799" y="2785750"/>
            <a:ext cx="305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List key operational targets (e.g., Payload capacity: 25kg, Operating speed: 1.5m/s, Battery backup: 4 hrs, Power draw: 200W).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328049" y="235712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Hardware Selection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328049" y="2785750"/>
            <a:ext cx="30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Specify exact microcontroller, motor driver, sensor types, and communication protocols chosen for the architecture.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550" y="188087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68799" y="18808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28049" y="18808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System Architecture &amp; Specs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(1-2 Slides)</a:t>
            </a:r>
            <a:endParaRPr/>
          </a:p>
        </p:txBody>
      </p:sp>
      <p:pic>
        <p:nvPicPr>
          <p:cNvPr id="175" name="Google Shape;175;p17" title="MBF_Logo_2020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VK colored transparent logo.png"/>
          <p:cNvPicPr preferRelativeResize="0"/>
          <p:nvPr/>
        </p:nvPicPr>
        <p:blipFill rotWithShape="1">
          <a:blip r:embed="rId10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310956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4"/>
            <a:ext cx="5429250" cy="40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System Architecture &amp; Specs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723900" y="5406206"/>
            <a:ext cx="9515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Architecture Rationale: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CAN-bus protocol was chosen over I2C/UART to eliminate high-frequency EMI noise generated by dual rotary tine motors under heavy torque loads.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533400" y="3432720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TerraWeed Mk-II modular 4-wheel rover platform with articulated steering</a:t>
            </a:r>
            <a:endParaRPr/>
          </a:p>
        </p:txBody>
      </p:sp>
      <p:graphicFrame>
        <p:nvGraphicFramePr>
          <p:cNvPr id="190" name="Google Shape;190;p18"/>
          <p:cNvGraphicFramePr/>
          <p:nvPr/>
        </p:nvGraphicFramePr>
        <p:xfrm>
          <a:off x="6448425" y="1461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{BBAD28DD-9E69-47B7-B3C4-3EE7697E9F47}</a:tableStyleId>
              </a:tblPr>
              <a:tblGrid>
                <a:gridCol w="1276500"/>
                <a:gridCol w="1176775"/>
                <a:gridCol w="2537825"/>
              </a:tblGrid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Parameter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Target Spec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Selected Hardware / Protocol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Linear Speed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 m/s (2.88 km/h)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4x 24V 150W Planetary BLDC Hub Motors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Weeding Width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420 mm envelope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Counter-rotating carbide tine disc assembly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Continuous Runtime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4.5 Hours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24V 20Ah LiFePO4 pack (8S 32700 cells)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Core Controller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50Hz control loop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STM32F405RGT6 (CAN-bus isolated transceiver)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Vision &amp; Row Tracking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&lt;35ms 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Raspberry Pi Zero 2W + Sony IMX219 (IP65 lens)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Dry Weight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24.5 kg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6061-T6 Extruded Aluminum space-frame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91" name="Google Shape;19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965745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6698009" y="1156245"/>
            <a:ext cx="35071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Engineering Target Specifications &amp; Subsystems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6448425" y="1775370"/>
            <a:ext cx="127649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7724923" y="1775370"/>
            <a:ext cx="117678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8901707" y="1775370"/>
            <a:ext cx="253781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448425" y="2237333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7724923" y="2237333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8901707" y="2237333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448425" y="2685008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7724923" y="2685008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8901707" y="2685008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6448425" y="3132683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7724923" y="3132683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8901707" y="3132683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6448425" y="3580358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7724923" y="3580358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8901707" y="3580358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6448425" y="4028033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7724923" y="4028033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8901707" y="4028033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8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1190625"/>
            <a:ext cx="53721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7925" y="1200150"/>
            <a:ext cx="53530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914400" y="1402378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3D CAD Renders: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Provide isometric and exploded assembly views showing all internal mechanical linkages.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914400" y="2011978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Material Selection: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Detail structural choices (e.g., Aluminum 6061 vs. Carbon Fiber vs. PETG) based on stress &amp; weight.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914400" y="2621578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 / Stress Analysis: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Highlight critical stress nodes and load-bearing calculations to prove hardware integrity.</a:t>
            </a:r>
            <a:endParaRPr/>
          </a:p>
        </p:txBody>
      </p:sp>
      <p:pic>
        <p:nvPicPr>
          <p:cNvPr descr="image.png" id="223" name="Google Shape;22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166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262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63586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CAD Design &amp; Mechanical Specs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(1-2 Slides)</a:t>
            </a:r>
            <a:endParaRPr/>
          </a:p>
        </p:txBody>
      </p:sp>
      <p:pic>
        <p:nvPicPr>
          <p:cNvPr id="227" name="Google Shape;227;p19" title="MBF_Logo_202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 title="VK colored transparent logo.png"/>
          <p:cNvPicPr preferRelativeResize="0"/>
          <p:nvPr/>
        </p:nvPicPr>
        <p:blipFill rotWithShape="1">
          <a:blip r:embed="rId9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551726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4"/>
            <a:ext cx="5429250" cy="3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CAD Design &amp; Mechanical Specs</a:t>
            </a:r>
            <a:endParaRPr/>
          </a:p>
        </p:txBody>
      </p:sp>
      <p:pic>
        <p:nvPicPr>
          <p:cNvPr descr="image.png" id="239" name="Google Shape;23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723900" y="5646976"/>
            <a:ext cx="8620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Design Iteration: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Tiller mount plate thickness increased from 3.0mm to 4.5mm based on FEA fatigue analysis, eliminating stress hot spots under cyclic torque.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533400" y="3432720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SolidWorks exploded assembly of active rotary weeding module &amp; 4-bar linkage</a:t>
            </a:r>
            <a:endParaRPr/>
          </a:p>
        </p:txBody>
      </p:sp>
      <p:pic>
        <p:nvPicPr>
          <p:cNvPr descr="image.png" id="242" name="Google Shape;24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965745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6698009" y="1156245"/>
            <a:ext cx="30880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Mechanical Validation &amp; FEA Stress Report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638925" y="1461045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Chassis Members: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30x30x2mm Aluminum 6061-T6 box extrusion; total frame mass 6.2 kg; yield strength 276 MPa.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638925" y="191943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Rotary Tiller Blades: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Hardened EN45 Spring Steel with oil-quenched temper (48 HRC) to withstand quartz abrasion and stone impacts.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6638925" y="237782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FEA Loading Simulation: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350 N dynamic shock load applied vertically to suspension pivot bracket (simulating a 50mm ditch drop at 1.0 m/s).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638925" y="2836217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Stress &amp; Safety Factor: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Peak Von Mises stress of 114.2 MPa concentrated at pivot fillet; minimum Factor of Safety (FoS) = 2.41.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6638925" y="3294608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Max Deflection: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0.42 mm along cantilevered drive axis, well within deep-groove ball bearing angular misalignment tolerances.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467475" y="14515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6467475" y="190991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467475" y="236830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6467475" y="2826692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467475" y="3285083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255" name="Google Shape;255;p20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190625"/>
            <a:ext cx="53721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200150"/>
            <a:ext cx="53530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6591300" y="1451262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Circuit Schematics: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Provide clear pinout connection diagrams, power distribution networks, and voltage regulation.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591300" y="2060862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Itemized BOM Table: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List all components, exact part numbers, quantities, unit costs, and total build expense.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6591300" y="2670462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Procurement Sourcing: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Flag local vs. imported components with verified vendor lead times to prevent build delays.</a:t>
            </a:r>
            <a:endParaRPr/>
          </a:p>
        </p:txBody>
      </p:sp>
      <p:pic>
        <p:nvPicPr>
          <p:cNvPr descr="image.png" id="266" name="Google Shape;26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1465549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8400" y="207514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8400" y="2684749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Electronics Schematics &amp; BOM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(1-2 Slides)</a:t>
            </a:r>
            <a:endParaRPr/>
          </a:p>
        </p:txBody>
      </p:sp>
      <p:pic>
        <p:nvPicPr>
          <p:cNvPr id="270" name="Google Shape;270;p21" title="MBF_Logo_202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 title="VK colored transparent logo.png"/>
          <p:cNvPicPr preferRelativeResize="0"/>
          <p:nvPr/>
        </p:nvPicPr>
        <p:blipFill rotWithShape="1">
          <a:blip r:embed="rId9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74963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6"/>
            <a:ext cx="5429250" cy="446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Electronics Schematics &amp; BOM</a:t>
            </a:r>
            <a:endParaRPr/>
          </a:p>
        </p:txBody>
      </p:sp>
      <p:pic>
        <p:nvPicPr>
          <p:cNvPr descr="image.png" id="282" name="Google Shape;28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2"/>
          <p:cNvSpPr txBox="1"/>
          <p:nvPr/>
        </p:nvSpPr>
        <p:spPr>
          <a:xfrm>
            <a:off x="723900" y="5844884"/>
            <a:ext cx="7258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Procurement Status: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All core components sourced domestically within India with a maximum shipping lead time of 7 business days.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533400" y="3432720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Custom carrier board schematic with optocoupled BLDC drivers and buck stages</a:t>
            </a:r>
            <a:endParaRPr/>
          </a:p>
        </p:txBody>
      </p:sp>
      <p:graphicFrame>
        <p:nvGraphicFramePr>
          <p:cNvPr id="285" name="Google Shape;285;p22"/>
          <p:cNvGraphicFramePr/>
          <p:nvPr/>
        </p:nvGraphicFramePr>
        <p:xfrm>
          <a:off x="6448425" y="1461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{BBAD28DD-9E69-47B7-B3C4-3EE7697E9F47}</a:tableStyleId>
              </a:tblPr>
              <a:tblGrid>
                <a:gridCol w="1137500"/>
                <a:gridCol w="1637400"/>
                <a:gridCol w="447675"/>
                <a:gridCol w="1005025"/>
                <a:gridCol w="763500"/>
              </a:tblGrid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Part / Specification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Lead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Cost (INR)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MCU Mainboard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STM32F405RGT6 Arm M4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 (3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₹1,450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BLDC Hub Motors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24V 150W Planetary (1:20)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Domestic (7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₹14,200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Smart BMS Unit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Daly 8S 24V 40A UART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 (2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₹2,100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LiFePO4 Cells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3.2V 20Ah 32700 Cylindrical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Domestic (5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₹6,800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Ultrasonic Sensor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JSN-SR04T Waterproof (IP67)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 (2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₹1,150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Custom Carrier PCB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FR4 2-Layer 1.6mm (LionCircuits)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Domestic (6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₹1,800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 Electronics &amp; Drive Train BOM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₹27,500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286" name="Google Shape;28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965745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162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6659909" y="1156245"/>
            <a:ext cx="305186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Itemized Prototype Bill of Materials (BOM)</a:t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6448425" y="1927770"/>
            <a:ext cx="113749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7585918" y="1927770"/>
            <a:ext cx="163740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9223325" y="1927770"/>
            <a:ext cx="44767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9671000" y="1927770"/>
            <a:ext cx="1005036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10676036" y="1927770"/>
            <a:ext cx="76348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6448425" y="2389733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7585918" y="2389733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9223325" y="2389733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9671000" y="2389733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10676036" y="2389733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6448425" y="2837408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7585918" y="2837408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9223325" y="2837408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9671000" y="2837408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10676036" y="2837408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6448425" y="3285083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7585918" y="3285083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9223325" y="3285083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9671000" y="3285083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10676036" y="3285083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6448425" y="3732758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7585918" y="3732758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9223325" y="3732758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9671000" y="3732758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10676036" y="3732758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6448425" y="4180433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7585918" y="4180433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9223325" y="4180433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9671000" y="4180433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10676036" y="4180433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6448425" y="4628108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7585918" y="4628108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9223325" y="4628108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9671000" y="4628108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10676036" y="4628108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22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2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0" name="Google Shape;3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429300"/>
            <a:ext cx="3555950" cy="3737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1429300"/>
            <a:ext cx="3555950" cy="3737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2500" y="1429300"/>
            <a:ext cx="3556100" cy="373782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3"/>
          <p:cNvSpPr txBox="1"/>
          <p:nvPr/>
        </p:nvSpPr>
        <p:spPr>
          <a:xfrm>
            <a:off x="533400" y="457200"/>
            <a:ext cx="11125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Your Maker Journey (1-2 Slides)</a:t>
            </a:r>
            <a:endParaRPr sz="2100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descr="image.png" id="334" name="Google Shape;33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3"/>
          <p:cNvSpPr txBox="1"/>
          <p:nvPr/>
        </p:nvSpPr>
        <p:spPr>
          <a:xfrm>
            <a:off x="771425" y="2110882"/>
            <a:ext cx="307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Proof of personal fabrication: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Google Shape;336;p23"/>
          <p:cNvSpPr txBox="1"/>
          <p:nvPr/>
        </p:nvSpPr>
        <p:spPr>
          <a:xfrm>
            <a:off x="4572365" y="2230457"/>
            <a:ext cx="307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Screenshots of original design assets: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Google Shape;337;p23"/>
          <p:cNvSpPr txBox="1"/>
          <p:nvPr/>
        </p:nvSpPr>
        <p:spPr>
          <a:xfrm>
            <a:off x="8340526" y="2104852"/>
            <a:ext cx="30798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Provide an accessible Google Drive / GitHub repo link: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38" name="Google Shape;33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2931" y="1620696"/>
            <a:ext cx="192425" cy="1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3"/>
          <p:cNvSpPr txBox="1"/>
          <p:nvPr/>
        </p:nvSpPr>
        <p:spPr>
          <a:xfrm>
            <a:off x="982995" y="1599734"/>
            <a:ext cx="288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Authenticity Verification</a:t>
            </a:r>
            <a:endParaRPr b="1" sz="16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962025" y="2421528"/>
            <a:ext cx="2889300" cy="9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Include high-resolution lab photos of team members actively modeling, soldering, and assembling.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1" name="Google Shape;341;p23"/>
          <p:cNvSpPr txBox="1"/>
          <p:nvPr/>
        </p:nvSpPr>
        <p:spPr>
          <a:xfrm>
            <a:off x="962025" y="3518124"/>
            <a:ext cx="2889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Team members must wear institutional ID badges in the frame.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p23"/>
          <p:cNvSpPr txBox="1"/>
          <p:nvPr/>
        </p:nvSpPr>
        <p:spPr>
          <a:xfrm>
            <a:off x="962025" y="4347110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a faculty mentor is attached, include a joint lab review photo.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43" name="Google Shape;34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68698" y="1635924"/>
            <a:ext cx="192425" cy="16866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3"/>
          <p:cNvSpPr txBox="1"/>
          <p:nvPr/>
        </p:nvSpPr>
        <p:spPr>
          <a:xfrm>
            <a:off x="4786600" y="1599734"/>
            <a:ext cx="2889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Work-In-Progress Software Evidence</a:t>
            </a:r>
            <a:endParaRPr b="1" sz="16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23"/>
          <p:cNvSpPr txBox="1"/>
          <p:nvPr/>
        </p:nvSpPr>
        <p:spPr>
          <a:xfrm>
            <a:off x="4762865" y="2512065"/>
            <a:ext cx="2889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CAD software UI showing active parametric feature tree with unsuppressed sketches.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4762865" y="3312911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EDA layout software (KiCad / Altium) with DRC rule-check logs.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7" name="Google Shape;347;p23"/>
          <p:cNvSpPr txBox="1"/>
          <p:nvPr/>
        </p:nvSpPr>
        <p:spPr>
          <a:xfrm>
            <a:off x="4762865" y="3845838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 convergence plots and mesh statistics.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48" name="Google Shape;34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14475" y="1592695"/>
            <a:ext cx="318593" cy="19630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3"/>
          <p:cNvSpPr txBox="1"/>
          <p:nvPr/>
        </p:nvSpPr>
        <p:spPr>
          <a:xfrm>
            <a:off x="8628295" y="1599734"/>
            <a:ext cx="266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Raw Repository Linkage</a:t>
            </a:r>
            <a:endParaRPr b="1" sz="16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0" name="Google Shape;350;p23"/>
          <p:cNvSpPr txBox="1"/>
          <p:nvPr/>
        </p:nvSpPr>
        <p:spPr>
          <a:xfrm>
            <a:off x="8531126" y="2604311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Must include raw native files (.STEP, .SLDPRT, .kicad_sch, .m).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1" name="Google Shape;351;p23"/>
          <p:cNvSpPr txBox="1"/>
          <p:nvPr/>
        </p:nvSpPr>
        <p:spPr>
          <a:xfrm>
            <a:off x="8531126" y="3153913"/>
            <a:ext cx="2889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File creation timestamps will be audited to confirm progress during Stage 2.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2" name="Google Shape;352;p23"/>
          <p:cNvSpPr txBox="1"/>
          <p:nvPr/>
        </p:nvSpPr>
        <p:spPr>
          <a:xfrm>
            <a:off x="8531126" y="3971424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 embedded videos; provide external links only.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Google Shape;353;p23"/>
          <p:cNvSpPr txBox="1"/>
          <p:nvPr/>
        </p:nvSpPr>
        <p:spPr>
          <a:xfrm>
            <a:off x="790575" y="2064737"/>
            <a:ext cx="5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3"/>
          <p:cNvSpPr txBox="1"/>
          <p:nvPr/>
        </p:nvSpPr>
        <p:spPr>
          <a:xfrm>
            <a:off x="4575125" y="2439654"/>
            <a:ext cx="5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3"/>
          <p:cNvSpPr txBox="1"/>
          <p:nvPr/>
        </p:nvSpPr>
        <p:spPr>
          <a:xfrm>
            <a:off x="8359676" y="2600829"/>
            <a:ext cx="5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p23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3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3"/>
            <a:ext cx="5429250" cy="3282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4"/>
          <p:cNvSpPr txBox="1"/>
          <p:nvPr/>
        </p:nvSpPr>
        <p:spPr>
          <a:xfrm>
            <a:off x="533400" y="438150"/>
            <a:ext cx="111252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Maker Journey</a:t>
            </a:r>
            <a:endParaRPr/>
          </a:p>
        </p:txBody>
      </p:sp>
      <p:pic>
        <p:nvPicPr>
          <p:cNvPr descr="image.png" id="367" name="Google Shape;36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4"/>
          <p:cNvSpPr txBox="1"/>
          <p:nvPr/>
        </p:nvSpPr>
        <p:spPr>
          <a:xfrm>
            <a:off x="723900" y="5761004"/>
            <a:ext cx="7953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Institutional Sign-Off: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Work audited and certified by Faculty Guide Prof. S. K. Kulkarni, Dept. of Mechatronics, COEP Technological University Pune.</a:t>
            </a:r>
            <a:endParaRPr/>
          </a:p>
        </p:txBody>
      </p:sp>
      <p:sp>
        <p:nvSpPr>
          <p:cNvPr id="369" name="Google Shape;369;p24"/>
          <p:cNvSpPr txBox="1"/>
          <p:nvPr/>
        </p:nvSpPr>
        <p:spPr>
          <a:xfrm>
            <a:off x="533400" y="3432720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Team members conducting motor dyno &amp; telemetry testing at COEP Pune Maker Lab</a:t>
            </a:r>
            <a:endParaRPr/>
          </a:p>
        </p:txBody>
      </p:sp>
      <p:pic>
        <p:nvPicPr>
          <p:cNvPr descr="image.png" id="370" name="Google Shape;370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965745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4"/>
          <p:cNvSpPr txBox="1"/>
          <p:nvPr/>
        </p:nvSpPr>
        <p:spPr>
          <a:xfrm>
            <a:off x="6717059" y="1156245"/>
            <a:ext cx="291658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Stage 1 to Stage 2 Engineering Iterations</a:t>
            </a:r>
            <a:endParaRPr/>
          </a:p>
        </p:txBody>
      </p:sp>
      <p:sp>
        <p:nvSpPr>
          <p:cNvPr id="373" name="Google Shape;373;p24"/>
          <p:cNvSpPr txBox="1"/>
          <p:nvPr/>
        </p:nvSpPr>
        <p:spPr>
          <a:xfrm>
            <a:off x="6638925" y="1461045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Iterative Pivot: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Replaced passive cultivator shank from Stage 1 with dual active counter-rotating discs after torque calculations indicated 40% soil clogging in clayey black cotton soil.</a:t>
            </a:r>
            <a:endParaRPr/>
          </a:p>
        </p:txBody>
      </p:sp>
      <p:sp>
        <p:nvSpPr>
          <p:cNvPr id="374" name="Google Shape;374;p24"/>
          <p:cNvSpPr txBox="1"/>
          <p:nvPr/>
        </p:nvSpPr>
        <p:spPr>
          <a:xfrm>
            <a:off x="6638925" y="2105769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CAD Milestone: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47 discrete parametric parts modeled in SolidWorks 2024; completed kinematic multi-body simulation of 4-bar steering on Aug 24, 2026.</a:t>
            </a:r>
            <a:endParaRPr/>
          </a:p>
        </p:txBody>
      </p:sp>
      <p:sp>
        <p:nvSpPr>
          <p:cNvPr id="375" name="Google Shape;375;p24"/>
          <p:cNvSpPr txBox="1"/>
          <p:nvPr/>
        </p:nvSpPr>
        <p:spPr>
          <a:xfrm>
            <a:off x="6638925" y="2564159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Electrical Testing: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Validated current surge on 24V bus during tiller stall (peaked at 18.2A for 120ms; managed safely by flyback diodes and smart BMS cutoff).</a:t>
            </a:r>
            <a:endParaRPr/>
          </a:p>
        </p:txBody>
      </p:sp>
      <p:sp>
        <p:nvSpPr>
          <p:cNvPr id="376" name="Google Shape;376;p24"/>
          <p:cNvSpPr txBox="1"/>
          <p:nvPr/>
        </p:nvSpPr>
        <p:spPr>
          <a:xfrm>
            <a:off x="6638925" y="3208883"/>
            <a:ext cx="4800600" cy="7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Verified Drive Repository: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drive.google.com/drive/folders/terraweed-stage2-audit (Contains timestamped .SLDASM, BOM.xlsx, KiCad v8 schematics, and raw FEA stress logs).</a:t>
            </a:r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6467475" y="14515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378" name="Google Shape;378;p24"/>
          <p:cNvSpPr txBox="1"/>
          <p:nvPr/>
        </p:nvSpPr>
        <p:spPr>
          <a:xfrm>
            <a:off x="6467475" y="209624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6467475" y="255463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380" name="Google Shape;380;p24"/>
          <p:cNvSpPr txBox="1"/>
          <p:nvPr/>
        </p:nvSpPr>
        <p:spPr>
          <a:xfrm>
            <a:off x="6467475" y="3199358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381" name="Google Shape;381;p24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4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7" name="Google Shape;3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13" y="1451250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5"/>
          <p:cNvSpPr txBox="1"/>
          <p:nvPr/>
        </p:nvSpPr>
        <p:spPr>
          <a:xfrm>
            <a:off x="801338" y="2194200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Safety &amp; Hazard Mitigation</a:t>
            </a:r>
            <a:endParaRPr/>
          </a:p>
        </p:txBody>
      </p:sp>
      <p:sp>
        <p:nvSpPr>
          <p:cNvPr id="389" name="Google Shape;389;p25"/>
          <p:cNvSpPr txBox="1"/>
          <p:nvPr/>
        </p:nvSpPr>
        <p:spPr>
          <a:xfrm>
            <a:off x="801338" y="262282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Physical Fail-safes: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Emergency cut-off switches, thermal overload protection, and mechanical enclosures.</a:t>
            </a:r>
            <a:endParaRPr/>
          </a:p>
        </p:txBody>
      </p:sp>
      <p:sp>
        <p:nvSpPr>
          <p:cNvPr id="390" name="Google Shape;390;p25"/>
          <p:cNvSpPr txBox="1"/>
          <p:nvPr/>
        </p:nvSpPr>
        <p:spPr>
          <a:xfrm>
            <a:off x="801338" y="319432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FMEA Matrix: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Identify potential failure modes (e.g., sensor drift, power drop) and embedded software protections.</a:t>
            </a:r>
            <a:endParaRPr/>
          </a:p>
        </p:txBody>
      </p:sp>
      <p:pic>
        <p:nvPicPr>
          <p:cNvPr descr="image.png" id="391" name="Google Shape;39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338" y="17179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5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Safety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&amp; Hazard Mitigation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 Slide)</a:t>
            </a:r>
            <a:endParaRPr/>
          </a:p>
        </p:txBody>
      </p:sp>
      <p:pic>
        <p:nvPicPr>
          <p:cNvPr descr="image.png" id="393" name="Google Shape;39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8300" y="1451250"/>
            <a:ext cx="51405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5"/>
          <p:cNvSpPr txBox="1"/>
          <p:nvPr/>
        </p:nvSpPr>
        <p:spPr>
          <a:xfrm>
            <a:off x="6818517" y="2194200"/>
            <a:ext cx="4447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Standards Compliance</a:t>
            </a:r>
            <a:endParaRPr/>
          </a:p>
        </p:txBody>
      </p:sp>
      <p:sp>
        <p:nvSpPr>
          <p:cNvPr id="395" name="Google Shape;395;p25"/>
          <p:cNvSpPr txBox="1"/>
          <p:nvPr/>
        </p:nvSpPr>
        <p:spPr>
          <a:xfrm>
            <a:off x="6818517" y="2622825"/>
            <a:ext cx="423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List relevant industry/safety guidelines (e.g., ISO, IEEE, IP65 ingress protection) considered in the design.</a:t>
            </a:r>
            <a:endParaRPr/>
          </a:p>
        </p:txBody>
      </p:sp>
      <p:pic>
        <p:nvPicPr>
          <p:cNvPr descr="image.png" id="396" name="Google Shape;39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8525" y="1717950"/>
            <a:ext cx="422671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5" title="MBF_Logo_202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5" title="VK colored transparent logo.png"/>
          <p:cNvPicPr preferRelativeResize="0"/>
          <p:nvPr/>
        </p:nvPicPr>
        <p:blipFill rotWithShape="1">
          <a:blip r:embed="rId8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4" name="Google Shape;4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745" y="1402400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6"/>
          <p:cNvSpPr txBox="1"/>
          <p:nvPr/>
        </p:nvSpPr>
        <p:spPr>
          <a:xfrm>
            <a:off x="996870" y="2145350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4-Month Fabrication Plan</a:t>
            </a:r>
            <a:endParaRPr/>
          </a:p>
        </p:txBody>
      </p:sp>
      <p:sp>
        <p:nvSpPr>
          <p:cNvPr id="406" name="Google Shape;406;p26"/>
          <p:cNvSpPr txBox="1"/>
          <p:nvPr/>
        </p:nvSpPr>
        <p:spPr>
          <a:xfrm>
            <a:off x="996870" y="257397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Fabrication Timeline: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Milestones for machining, PCB etching/assembly, code integration, and bench testing.</a:t>
            </a:r>
            <a:endParaRPr/>
          </a:p>
        </p:txBody>
      </p:sp>
      <p:sp>
        <p:nvSpPr>
          <p:cNvPr id="407" name="Google Shape;407;p26"/>
          <p:cNvSpPr txBox="1"/>
          <p:nvPr/>
        </p:nvSpPr>
        <p:spPr>
          <a:xfrm>
            <a:off x="996870" y="314547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Stage 3 Target: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Clear commitment of prototype readiness for functional field testing in Stage 3.</a:t>
            </a:r>
            <a:endParaRPr/>
          </a:p>
        </p:txBody>
      </p:sp>
      <p:pic>
        <p:nvPicPr>
          <p:cNvPr descr="image.png" id="408" name="Google Shape;40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870" y="166910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6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Roadmap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 Slide)</a:t>
            </a:r>
            <a:endParaRPr/>
          </a:p>
        </p:txBody>
      </p:sp>
      <p:pic>
        <p:nvPicPr>
          <p:cNvPr id="410" name="Google Shape;410;p26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6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7" name="Google Shape;4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956220"/>
            <a:ext cx="111252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3013624"/>
            <a:ext cx="5429250" cy="2616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9350" y="3013624"/>
            <a:ext cx="5429250" cy="261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7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Safety by Design &amp; Roadmap</a:t>
            </a:r>
            <a:endParaRPr/>
          </a:p>
        </p:txBody>
      </p:sp>
      <p:pic>
        <p:nvPicPr>
          <p:cNvPr descr="image.png" id="422" name="Google Shape;42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3" name="Google Shape;423;p27"/>
          <p:cNvGraphicFramePr/>
          <p:nvPr/>
        </p:nvGraphicFramePr>
        <p:xfrm>
          <a:off x="752475" y="1461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{BBAD28DD-9E69-47B7-B3C4-3EE7697E9F47}</a:tableStyleId>
              </a:tblPr>
              <a:tblGrid>
                <a:gridCol w="1576675"/>
                <a:gridCol w="3175400"/>
                <a:gridCol w="59349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Failure Mode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Potential Hazard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Embedded Fail-Safe / Mitigation Response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Tiller Stone Jam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BLDC motor stall, thermal runaway, gear shear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Hall-sensor current spike detection cuts PWM in &lt;15ms; triggers 0.5s auto-reverse cycle.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Loss of RF Heartbeat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Runaway robotic vehicle in crop field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Software watchdog timer executes emergency dynamic braking if ping timeout &gt; 350ms.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LiFePO4 Over-Temp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Thermal degradation, fire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Dual NTC thermistors on battery pack disconnect main BMS power contactor above 52°C.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424" name="Google Shape;42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247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7"/>
          <p:cNvSpPr txBox="1"/>
          <p:nvPr/>
        </p:nvSpPr>
        <p:spPr>
          <a:xfrm>
            <a:off x="1002059" y="1156245"/>
            <a:ext cx="35185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Design FMEA (Failure Mode and Effects Analysis)</a:t>
            </a:r>
            <a:endParaRPr/>
          </a:p>
        </p:txBody>
      </p:sp>
      <p:sp>
        <p:nvSpPr>
          <p:cNvPr id="426" name="Google Shape;426;p27"/>
          <p:cNvSpPr/>
          <p:nvPr/>
        </p:nvSpPr>
        <p:spPr>
          <a:xfrm>
            <a:off x="752475" y="1775370"/>
            <a:ext cx="157668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2329160" y="1775370"/>
            <a:ext cx="3175396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5504557" y="1775370"/>
            <a:ext cx="593496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752475" y="2084933"/>
            <a:ext cx="15766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2329160" y="2084933"/>
            <a:ext cx="3175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5504557" y="2084933"/>
            <a:ext cx="5934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7"/>
          <p:cNvSpPr/>
          <p:nvPr/>
        </p:nvSpPr>
        <p:spPr>
          <a:xfrm>
            <a:off x="752475" y="2380208"/>
            <a:ext cx="15766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7"/>
          <p:cNvSpPr/>
          <p:nvPr/>
        </p:nvSpPr>
        <p:spPr>
          <a:xfrm>
            <a:off x="2329160" y="2380208"/>
            <a:ext cx="3175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7"/>
          <p:cNvSpPr/>
          <p:nvPr/>
        </p:nvSpPr>
        <p:spPr>
          <a:xfrm>
            <a:off x="5504557" y="2380208"/>
            <a:ext cx="5934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5" name="Google Shape;435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32326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7"/>
          <p:cNvSpPr txBox="1"/>
          <p:nvPr/>
        </p:nvSpPr>
        <p:spPr>
          <a:xfrm>
            <a:off x="1002059" y="3213645"/>
            <a:ext cx="231844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Fabrication Phase (Months 1 - 2)</a:t>
            </a:r>
            <a:endParaRPr/>
          </a:p>
        </p:txBody>
      </p:sp>
      <p:sp>
        <p:nvSpPr>
          <p:cNvPr id="437" name="Google Shape;437;p27"/>
          <p:cNvSpPr txBox="1"/>
          <p:nvPr/>
        </p:nvSpPr>
        <p:spPr>
          <a:xfrm>
            <a:off x="942975" y="3518445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Oct 2026: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Waterjet cutting 6061 chassis gussets; PCB fabrication at LionCircuits; component order arrival.</a:t>
            </a:r>
            <a:endParaRPr/>
          </a:p>
        </p:txBody>
      </p:sp>
      <p:sp>
        <p:nvSpPr>
          <p:cNvPr id="438" name="Google Shape;438;p27"/>
          <p:cNvSpPr txBox="1"/>
          <p:nvPr/>
        </p:nvSpPr>
        <p:spPr>
          <a:xfrm>
            <a:off x="942975" y="397683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Nov 2026: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Frame weldment, motor harness routing, benchtop dyno torque testing.</a:t>
            </a:r>
            <a:endParaRPr/>
          </a:p>
        </p:txBody>
      </p:sp>
      <p:pic>
        <p:nvPicPr>
          <p:cNvPr descr="image.png" id="439" name="Google Shape;439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48425" y="3232695"/>
            <a:ext cx="1352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7"/>
          <p:cNvSpPr txBox="1"/>
          <p:nvPr/>
        </p:nvSpPr>
        <p:spPr>
          <a:xfrm>
            <a:off x="6678959" y="3213645"/>
            <a:ext cx="288428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Integration &amp; Field Demo (Months 3 - 4)</a:t>
            </a:r>
            <a:endParaRPr/>
          </a:p>
        </p:txBody>
      </p:sp>
      <p:sp>
        <p:nvSpPr>
          <p:cNvPr id="441" name="Google Shape;441;p27"/>
          <p:cNvSpPr txBox="1"/>
          <p:nvPr/>
        </p:nvSpPr>
        <p:spPr>
          <a:xfrm>
            <a:off x="6638925" y="3518445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Dec 2026: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Closed-loop PID tuning, optical row-tracking calibration on artificial soil furrow.</a:t>
            </a:r>
            <a:endParaRPr/>
          </a:p>
        </p:txBody>
      </p:sp>
      <p:sp>
        <p:nvSpPr>
          <p:cNvPr id="442" name="Google Shape;442;p27"/>
          <p:cNvSpPr txBox="1"/>
          <p:nvPr/>
        </p:nvSpPr>
        <p:spPr>
          <a:xfrm>
            <a:off x="6638925" y="397683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Jan 2027: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50-hour field trial on Wardha cotton plot; final tuning for Stage 3 live jury demo.</a:t>
            </a:r>
            <a:endParaRPr/>
          </a:p>
        </p:txBody>
      </p:sp>
      <p:sp>
        <p:nvSpPr>
          <p:cNvPr id="443" name="Google Shape;443;p27"/>
          <p:cNvSpPr txBox="1"/>
          <p:nvPr/>
        </p:nvSpPr>
        <p:spPr>
          <a:xfrm>
            <a:off x="771525" y="35089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44" name="Google Shape;444;p27"/>
          <p:cNvSpPr txBox="1"/>
          <p:nvPr/>
        </p:nvSpPr>
        <p:spPr>
          <a:xfrm>
            <a:off x="771525" y="396731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45" name="Google Shape;445;p27"/>
          <p:cNvSpPr txBox="1"/>
          <p:nvPr/>
        </p:nvSpPr>
        <p:spPr>
          <a:xfrm>
            <a:off x="6467475" y="35089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46" name="Google Shape;446;p27"/>
          <p:cNvSpPr txBox="1"/>
          <p:nvPr/>
        </p:nvSpPr>
        <p:spPr>
          <a:xfrm>
            <a:off x="6467475" y="396731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447" name="Google Shape;447;p27" title="MBF_Logo_202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7" title="VK colored transparent logo.png"/>
          <p:cNvPicPr preferRelativeResize="0"/>
          <p:nvPr/>
        </p:nvPicPr>
        <p:blipFill rotWithShape="1">
          <a:blip r:embed="rId12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3" name="Google Shape;4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175" y="1353525"/>
            <a:ext cx="3530649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8"/>
          <p:cNvSpPr txBox="1"/>
          <p:nvPr/>
        </p:nvSpPr>
        <p:spPr>
          <a:xfrm>
            <a:off x="1184300" y="209647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Engineering Bottlenecks</a:t>
            </a:r>
            <a:endParaRPr/>
          </a:p>
        </p:txBody>
      </p:sp>
      <p:sp>
        <p:nvSpPr>
          <p:cNvPr id="455" name="Google Shape;455;p28"/>
          <p:cNvSpPr txBox="1"/>
          <p:nvPr/>
        </p:nvSpPr>
        <p:spPr>
          <a:xfrm>
            <a:off x="1184300" y="2525100"/>
            <a:ext cx="305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Detail major design constraints encountered during simulation (e.g., torque vs. weight trade-offs, heat dissipation).</a:t>
            </a:r>
            <a:endParaRPr/>
          </a:p>
        </p:txBody>
      </p:sp>
      <p:pic>
        <p:nvPicPr>
          <p:cNvPr descr="image.png" id="456" name="Google Shape;45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4300" y="16202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8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Technical Challenges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&amp; Risks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 Slide)</a:t>
            </a:r>
            <a:endParaRPr/>
          </a:p>
        </p:txBody>
      </p:sp>
      <p:pic>
        <p:nvPicPr>
          <p:cNvPr id="458" name="Google Shape;458;p28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8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5" name="Google Shape;4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33" y="1434975"/>
            <a:ext cx="3530649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9"/>
          <p:cNvSpPr txBox="1"/>
          <p:nvPr/>
        </p:nvSpPr>
        <p:spPr>
          <a:xfrm>
            <a:off x="1099158" y="217792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Risk Mitigation</a:t>
            </a:r>
            <a:endParaRPr/>
          </a:p>
        </p:txBody>
      </p:sp>
      <p:sp>
        <p:nvSpPr>
          <p:cNvPr id="467" name="Google Shape;467;p29"/>
          <p:cNvSpPr txBox="1"/>
          <p:nvPr/>
        </p:nvSpPr>
        <p:spPr>
          <a:xfrm>
            <a:off x="1099158" y="2606550"/>
            <a:ext cx="30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Explain backup technical solutions (e.g., modular gear reduction, alternative sensor fallback logic).</a:t>
            </a:r>
            <a:endParaRPr/>
          </a:p>
        </p:txBody>
      </p:sp>
      <p:pic>
        <p:nvPicPr>
          <p:cNvPr descr="image.png" id="468" name="Google Shape;46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158" y="17016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9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Potential Solutions &amp; Risk Mitigation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 Slide)</a:t>
            </a:r>
            <a:endParaRPr/>
          </a:p>
        </p:txBody>
      </p:sp>
      <p:pic>
        <p:nvPicPr>
          <p:cNvPr id="470" name="Google Shape;470;p29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9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2" name="Google Shape;47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7" name="Google Shape;47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956223"/>
            <a:ext cx="3568600" cy="346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1550" y="956223"/>
            <a:ext cx="3568749" cy="346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9850" y="956223"/>
            <a:ext cx="3568600" cy="346157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0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Technical Challenges &amp; Risks</a:t>
            </a:r>
            <a:endParaRPr/>
          </a:p>
        </p:txBody>
      </p:sp>
      <p:pic>
        <p:nvPicPr>
          <p:cNvPr descr="image.png" id="483" name="Google Shape;483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0"/>
          <p:cNvSpPr txBox="1"/>
          <p:nvPr/>
        </p:nvSpPr>
        <p:spPr>
          <a:xfrm>
            <a:off x="723900" y="5761004"/>
            <a:ext cx="7715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Empirical Verification: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Benchtop clay test rig showed a 94% reduction in mechanical rotational drag after installing the PTFE scraper combs.</a:t>
            </a:r>
            <a:endParaRPr/>
          </a:p>
        </p:txBody>
      </p:sp>
      <p:sp>
        <p:nvSpPr>
          <p:cNvPr id="485" name="Google Shape;485;p30"/>
          <p:cNvSpPr txBox="1"/>
          <p:nvPr/>
        </p:nvSpPr>
        <p:spPr>
          <a:xfrm>
            <a:off x="752475" y="1461045"/>
            <a:ext cx="31304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Observed Risk: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High-moisture (&gt;25%) black cotton soil adheres to rotary cultivator teeth, causing rotational binding within 12 minutes of continuous furrow tilling.</a:t>
            </a:r>
            <a:endParaRPr/>
          </a:p>
        </p:txBody>
      </p:sp>
      <p:sp>
        <p:nvSpPr>
          <p:cNvPr id="486" name="Google Shape;486;p30"/>
          <p:cNvSpPr txBox="1"/>
          <p:nvPr/>
        </p:nvSpPr>
        <p:spPr>
          <a:xfrm>
            <a:off x="752475" y="2055167"/>
            <a:ext cx="31304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Mitigation: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Installed stationary low-friction PTFE scraper blades offset 1.5mm from the tine arc to dynamically peel away clay buildup on every rotation.</a:t>
            </a:r>
            <a:endParaRPr/>
          </a:p>
        </p:txBody>
      </p:sp>
      <p:sp>
        <p:nvSpPr>
          <p:cNvPr id="487" name="Google Shape;487;p30"/>
          <p:cNvSpPr txBox="1"/>
          <p:nvPr/>
        </p:nvSpPr>
        <p:spPr>
          <a:xfrm>
            <a:off x="4530625" y="1461045"/>
            <a:ext cx="3130599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Observed Risk: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Hub motor temperatures reached 68°C in simulation during sustained noon operations at 38°C ambient Maharashtra field heat.</a:t>
            </a:r>
            <a:endParaRPr/>
          </a:p>
        </p:txBody>
      </p:sp>
      <p:sp>
        <p:nvSpPr>
          <p:cNvPr id="488" name="Google Shape;488;p30"/>
          <p:cNvSpPr txBox="1"/>
          <p:nvPr/>
        </p:nvSpPr>
        <p:spPr>
          <a:xfrm>
            <a:off x="4530625" y="2055167"/>
            <a:ext cx="3130599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Mitigation: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Retrofitted extruded radial aluminum heatsinks directly coupled via 3.0 W/mK silicone thermal pads, stabilizing motor casing temps below 47°C.</a:t>
            </a:r>
            <a:endParaRPr/>
          </a:p>
        </p:txBody>
      </p:sp>
      <p:sp>
        <p:nvSpPr>
          <p:cNvPr id="489" name="Google Shape;489;p30"/>
          <p:cNvSpPr txBox="1"/>
          <p:nvPr/>
        </p:nvSpPr>
        <p:spPr>
          <a:xfrm>
            <a:off x="8308925" y="1461045"/>
            <a:ext cx="3130450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ISO 4254-1 Compliance: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2mm sheet steel blade shrouds eliminate projectile pebble hazards.</a:t>
            </a:r>
            <a:endParaRPr/>
          </a:p>
        </p:txBody>
      </p:sp>
      <p:sp>
        <p:nvSpPr>
          <p:cNvPr id="490" name="Google Shape;490;p30"/>
          <p:cNvSpPr txBox="1"/>
          <p:nvPr/>
        </p:nvSpPr>
        <p:spPr>
          <a:xfrm>
            <a:off x="8308925" y="1882526"/>
            <a:ext cx="31304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IP65 Ingress Sealing: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Gasket-sealed ASA electronics bay with IP68 PG7 cable glands tested against direct pressurized spray.</a:t>
            </a:r>
            <a:endParaRPr/>
          </a:p>
        </p:txBody>
      </p:sp>
      <p:sp>
        <p:nvSpPr>
          <p:cNvPr id="491" name="Google Shape;491;p30"/>
          <p:cNvSpPr txBox="1"/>
          <p:nvPr/>
        </p:nvSpPr>
        <p:spPr>
          <a:xfrm>
            <a:off x="8308925" y="2476648"/>
            <a:ext cx="3130450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IEC 62133: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BMS equipped with cell-level thermal sensors and overcharge isolation.</a:t>
            </a:r>
            <a:endParaRPr/>
          </a:p>
        </p:txBody>
      </p:sp>
      <p:pic>
        <p:nvPicPr>
          <p:cNvPr descr="image.png" id="492" name="Google Shape;492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1175295"/>
            <a:ext cx="1924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0"/>
          <p:cNvSpPr txBox="1"/>
          <p:nvPr/>
        </p:nvSpPr>
        <p:spPr>
          <a:xfrm>
            <a:off x="1040159" y="1156245"/>
            <a:ext cx="213181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Bottleneck: Wet Soil Clogging</a:t>
            </a:r>
            <a:endParaRPr/>
          </a:p>
        </p:txBody>
      </p:sp>
      <p:pic>
        <p:nvPicPr>
          <p:cNvPr descr="image.png" id="494" name="Google Shape;494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306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0"/>
          <p:cNvSpPr txBox="1"/>
          <p:nvPr/>
        </p:nvSpPr>
        <p:spPr>
          <a:xfrm>
            <a:off x="4799260" y="1156245"/>
            <a:ext cx="2219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Bottleneck: Thermal Throttling</a:t>
            </a:r>
            <a:endParaRPr/>
          </a:p>
        </p:txBody>
      </p:sp>
      <p:pic>
        <p:nvPicPr>
          <p:cNvPr descr="image.png" id="496" name="Google Shape;496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089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0"/>
          <p:cNvSpPr txBox="1"/>
          <p:nvPr/>
        </p:nvSpPr>
        <p:spPr>
          <a:xfrm>
            <a:off x="8558510" y="1156245"/>
            <a:ext cx="212794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Standards &amp; Enclosure Specs</a:t>
            </a:r>
            <a:endParaRPr/>
          </a:p>
        </p:txBody>
      </p:sp>
      <p:pic>
        <p:nvPicPr>
          <p:cNvPr id="498" name="Google Shape;498;p30" title="MBF_Logo_2020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0" title="VK colored transparent logo.png"/>
          <p:cNvPicPr preferRelativeResize="0"/>
          <p:nvPr/>
        </p:nvPicPr>
        <p:blipFill rotWithShape="1">
          <a:blip r:embed="rId13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/>
          <p:cNvSpPr/>
          <p:nvPr/>
        </p:nvSpPr>
        <p:spPr>
          <a:xfrm>
            <a:off x="571500" y="1532725"/>
            <a:ext cx="110490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1"/>
          <p:cNvSpPr/>
          <p:nvPr/>
        </p:nvSpPr>
        <p:spPr>
          <a:xfrm>
            <a:off x="571500" y="2294725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1"/>
          <p:cNvSpPr/>
          <p:nvPr/>
        </p:nvSpPr>
        <p:spPr>
          <a:xfrm>
            <a:off x="571500" y="2294725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07" name="Google Shape;50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75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1"/>
          <p:cNvSpPr txBox="1"/>
          <p:nvPr/>
        </p:nvSpPr>
        <p:spPr>
          <a:xfrm>
            <a:off x="1666875" y="1682743"/>
            <a:ext cx="9953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https://damassets.autodesk.net/content/dam/autodesk/www/images/3d-f-2.jpg</a:t>
            </a:r>
            <a:endParaRPr/>
          </a:p>
        </p:txBody>
      </p:sp>
      <p:sp>
        <p:nvSpPr>
          <p:cNvPr id="509" name="Google Shape;509;p31"/>
          <p:cNvSpPr txBox="1"/>
          <p:nvPr/>
        </p:nvSpPr>
        <p:spPr>
          <a:xfrm>
            <a:off x="1666875" y="1916106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www.autodesk.com</a:t>
            </a:r>
            <a:endParaRPr/>
          </a:p>
        </p:txBody>
      </p:sp>
      <p:pic>
        <p:nvPicPr>
          <p:cNvPr descr="image.png" id="510" name="Google Shape;51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28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1"/>
          <p:cNvSpPr txBox="1"/>
          <p:nvPr/>
        </p:nvSpPr>
        <p:spPr>
          <a:xfrm>
            <a:off x="1666875" y="2447125"/>
            <a:ext cx="9953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https://static.vecteezy.com/system/resources/previews/073/726/958/non_2x/schematic-motherboard-design-with-electronic-components-and-circuitry-outline-depicting-computer-hardware-technology-and-engineering-vector.jpg</a:t>
            </a:r>
            <a:endParaRPr/>
          </a:p>
        </p:txBody>
      </p:sp>
      <p:sp>
        <p:nvSpPr>
          <p:cNvPr id="512" name="Google Shape;512;p31"/>
          <p:cNvSpPr txBox="1"/>
          <p:nvPr/>
        </p:nvSpPr>
        <p:spPr>
          <a:xfrm>
            <a:off x="1666875" y="2866225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janetmedicalclinic.com</a:t>
            </a:r>
            <a:endParaRPr/>
          </a:p>
        </p:txBody>
      </p:sp>
      <p:sp>
        <p:nvSpPr>
          <p:cNvPr id="513" name="Google Shape;513;p31"/>
          <p:cNvSpPr txBox="1"/>
          <p:nvPr/>
        </p:nvSpPr>
        <p:spPr>
          <a:xfrm>
            <a:off x="571500" y="476250"/>
            <a:ext cx="11601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References &amp; </a:t>
            </a: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Sources </a:t>
            </a:r>
            <a:endParaRPr b="1" sz="255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(Mention </a:t>
            </a:r>
            <a:r>
              <a:rPr lang="en-US" sz="18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18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References and Sources used in your PPT</a:t>
            </a:r>
            <a:r>
              <a:rPr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800"/>
          </a:p>
        </p:txBody>
      </p:sp>
      <p:pic>
        <p:nvPicPr>
          <p:cNvPr id="514" name="Google Shape;514;p31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1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6" name="Google Shape;516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1" name="Google Shape;52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2"/>
          <p:cNvSpPr txBox="1"/>
          <p:nvPr/>
        </p:nvSpPr>
        <p:spPr>
          <a:xfrm>
            <a:off x="533400" y="438150"/>
            <a:ext cx="116586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523" name="Google Shape;523;p32"/>
          <p:cNvSpPr/>
          <p:nvPr/>
        </p:nvSpPr>
        <p:spPr>
          <a:xfrm>
            <a:off x="533400" y="956220"/>
            <a:ext cx="11125200" cy="922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2"/>
          <p:cNvSpPr/>
          <p:nvPr/>
        </p:nvSpPr>
        <p:spPr>
          <a:xfrm>
            <a:off x="533400" y="1878955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2"/>
          <p:cNvSpPr/>
          <p:nvPr/>
        </p:nvSpPr>
        <p:spPr>
          <a:xfrm>
            <a:off x="533400" y="2650480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2"/>
          <p:cNvSpPr/>
          <p:nvPr/>
        </p:nvSpPr>
        <p:spPr>
          <a:xfrm>
            <a:off x="533400" y="3422005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533400" y="186943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2"/>
          <p:cNvSpPr/>
          <p:nvPr/>
        </p:nvSpPr>
        <p:spPr>
          <a:xfrm>
            <a:off x="533400" y="186943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2"/>
          <p:cNvSpPr/>
          <p:nvPr/>
        </p:nvSpPr>
        <p:spPr>
          <a:xfrm>
            <a:off x="533400" y="264095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2"/>
          <p:cNvSpPr/>
          <p:nvPr/>
        </p:nvSpPr>
        <p:spPr>
          <a:xfrm>
            <a:off x="533400" y="264095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2"/>
          <p:cNvSpPr/>
          <p:nvPr/>
        </p:nvSpPr>
        <p:spPr>
          <a:xfrm>
            <a:off x="533400" y="341248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2"/>
          <p:cNvSpPr/>
          <p:nvPr/>
        </p:nvSpPr>
        <p:spPr>
          <a:xfrm>
            <a:off x="533400" y="341248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2"/>
          <p:cNvSpPr/>
          <p:nvPr/>
        </p:nvSpPr>
        <p:spPr>
          <a:xfrm>
            <a:off x="533400" y="418400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2"/>
          <p:cNvSpPr/>
          <p:nvPr/>
        </p:nvSpPr>
        <p:spPr>
          <a:xfrm>
            <a:off x="533400" y="418400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35" name="Google Shape;53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174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2"/>
          <p:cNvSpPr txBox="1"/>
          <p:nvPr/>
        </p:nvSpPr>
        <p:spPr>
          <a:xfrm>
            <a:off x="1628775" y="1099095"/>
            <a:ext cx="10029825" cy="358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assets.farmjournal.com/dims4/default/a754738/2147483647/strip/true/crop/1640x924+0+0/resize/1440x811!/quality/90/?url=https%3A%2F%2Fk1-prod-farm-journal.s3.us-east-2.amazonaws.com%2Fbrightspot%2Fa6%2F33%2Fa69c7199437191c11311d3b6b42f%2Fcotton-before-harvest-as-382887942.jpg</a:t>
            </a:r>
            <a:endParaRPr/>
          </a:p>
        </p:txBody>
      </p:sp>
      <p:sp>
        <p:nvSpPr>
          <p:cNvPr id="537" name="Google Shape;537;p32"/>
          <p:cNvSpPr txBox="1"/>
          <p:nvPr/>
        </p:nvSpPr>
        <p:spPr>
          <a:xfrm>
            <a:off x="1628775" y="1505694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www.agweb.com</a:t>
            </a:r>
            <a:endParaRPr/>
          </a:p>
        </p:txBody>
      </p:sp>
      <p:pic>
        <p:nvPicPr>
          <p:cNvPr descr="image.png" id="538" name="Google Shape;53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20218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2"/>
          <p:cNvSpPr txBox="1"/>
          <p:nvPr/>
        </p:nvSpPr>
        <p:spPr>
          <a:xfrm>
            <a:off x="1628775" y="2035968"/>
            <a:ext cx="10029825" cy="179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https://static.manitobacooperator.ca/wp-content/uploads/2021/12/08154933/IMGP6708_Rover_R-Tech.jpeg</a:t>
            </a:r>
            <a:endParaRPr/>
          </a:p>
        </p:txBody>
      </p:sp>
      <p:sp>
        <p:nvSpPr>
          <p:cNvPr id="540" name="Google Shape;540;p32"/>
          <p:cNvSpPr txBox="1"/>
          <p:nvPr/>
        </p:nvSpPr>
        <p:spPr>
          <a:xfrm>
            <a:off x="1628775" y="2263080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www.manitobacooperator.ca</a:t>
            </a:r>
            <a:endParaRPr/>
          </a:p>
        </p:txBody>
      </p:sp>
      <p:pic>
        <p:nvPicPr>
          <p:cNvPr descr="image.png" id="541" name="Google Shape;541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27933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32"/>
          <p:cNvSpPr txBox="1"/>
          <p:nvPr/>
        </p:nvSpPr>
        <p:spPr>
          <a:xfrm>
            <a:off x="1628775" y="2807493"/>
            <a:ext cx="10029825" cy="179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https://cdn.cadcrowd.com/3d-models/e2/4e/e24ed1e8-571b-42b1-a15d-abf63ff0856c/gallery/3bdc439b-02cc-448e-afd2-b4615ad703f4/medium.jpg</a:t>
            </a:r>
            <a:endParaRPr/>
          </a:p>
        </p:txBody>
      </p:sp>
      <p:sp>
        <p:nvSpPr>
          <p:cNvPr id="543" name="Google Shape;543;p32"/>
          <p:cNvSpPr txBox="1"/>
          <p:nvPr/>
        </p:nvSpPr>
        <p:spPr>
          <a:xfrm>
            <a:off x="1628775" y="3034605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www.cadcrowd.com</a:t>
            </a:r>
            <a:endParaRPr/>
          </a:p>
        </p:txBody>
      </p:sp>
      <p:pic>
        <p:nvPicPr>
          <p:cNvPr descr="image.png" id="544" name="Google Shape;544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35648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32"/>
          <p:cNvSpPr txBox="1"/>
          <p:nvPr/>
        </p:nvSpPr>
        <p:spPr>
          <a:xfrm>
            <a:off x="1628775" y="3579018"/>
            <a:ext cx="10029825" cy="179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https://www.protoexpress.com/wp-content/uploads/2021/12/image2-6.png</a:t>
            </a:r>
            <a:endParaRPr/>
          </a:p>
        </p:txBody>
      </p:sp>
      <p:sp>
        <p:nvSpPr>
          <p:cNvPr id="546" name="Google Shape;546;p32"/>
          <p:cNvSpPr txBox="1"/>
          <p:nvPr/>
        </p:nvSpPr>
        <p:spPr>
          <a:xfrm>
            <a:off x="1628775" y="3806130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www.protoexpress.com</a:t>
            </a:r>
            <a:endParaRPr/>
          </a:p>
        </p:txBody>
      </p:sp>
      <p:pic>
        <p:nvPicPr>
          <p:cNvPr descr="image.png" id="547" name="Google Shape;547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43364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2"/>
          <p:cNvSpPr txBox="1"/>
          <p:nvPr/>
        </p:nvSpPr>
        <p:spPr>
          <a:xfrm>
            <a:off x="1628775" y="4350543"/>
            <a:ext cx="10029825" cy="179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https://docs.gato.txst.edu/775149/w/2000/bBHGqEbMKzTl/_DSC4275%201.jpg</a:t>
            </a:r>
            <a:endParaRPr/>
          </a:p>
        </p:txBody>
      </p:sp>
      <p:sp>
        <p:nvSpPr>
          <p:cNvPr id="549" name="Google Shape;549;p32"/>
          <p:cNvSpPr txBox="1"/>
          <p:nvPr/>
        </p:nvSpPr>
        <p:spPr>
          <a:xfrm>
            <a:off x="1628775" y="4577655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www.engineering.txst.edu</a:t>
            </a:r>
            <a:endParaRPr/>
          </a:p>
        </p:txBody>
      </p:sp>
      <p:pic>
        <p:nvPicPr>
          <p:cNvPr descr="image.png" id="550" name="Google Shape;550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2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2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