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9" r:id="rId10"/>
    <p:sldId id="276" r:id="rId47"/>
    <p:sldId id="261" r:id="rId12"/>
    <p:sldId id="263" r:id="rId14"/>
    <p:sldId id="265" r:id="rId16"/>
    <p:sldId id="267" r:id="rId18"/>
    <p:sldId id="270" r:id="rId21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EFB60C-4C19-4109-8612-B18C57E068F9}">
  <a:tblStyle styleId="{A2EFB60C-4C19-4109-8612-B18C57E068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DMSansMedium-regular.fntdata"/><Relationship Id="rId28" Type="http://schemas.openxmlformats.org/officeDocument/2006/relationships/font" Target="fonts/DMSansMedium-bold.fntdata"/><Relationship Id="rId29" Type="http://schemas.openxmlformats.org/officeDocument/2006/relationships/font" Target="fonts/DMSansMedium-italic.fntdata"/><Relationship Id="rId30" Type="http://schemas.openxmlformats.org/officeDocument/2006/relationships/font" Target="fonts/DMSansMedium-boldItalic.fntdata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Inter-regular.fntdata"/><Relationship Id="rId36" Type="http://schemas.openxmlformats.org/officeDocument/2006/relationships/font" Target="fonts/Inter-bold.fntdata"/><Relationship Id="rId37" Type="http://schemas.openxmlformats.org/officeDocument/2006/relationships/font" Target="fonts/Inter-italic.fntdata"/><Relationship Id="rId38" Type="http://schemas.openxmlformats.org/officeDocument/2006/relationships/font" Target="fonts/Inter-boldItalic.fntdata"/><Relationship Id="rId39" Type="http://schemas.openxmlformats.org/officeDocument/2006/relationships/font" Target="fonts/PoppinsSemiBold-regular.fntdata"/><Relationship Id="rId40" Type="http://schemas.openxmlformats.org/officeDocument/2006/relationships/font" Target="fonts/PoppinsSemiBold-bold.fntdata"/><Relationship Id="rId41" Type="http://schemas.openxmlformats.org/officeDocument/2006/relationships/font" Target="fonts/PoppinsSemiBold-italic.fntdata"/><Relationship Id="rId42" Type="http://schemas.openxmlformats.org/officeDocument/2006/relationships/font" Target="fonts/PoppinsSemiBold-boldItalic.fntdata"/><Relationship Id="rId43" Type="http://schemas.openxmlformats.org/officeDocument/2006/relationships/font" Target="fonts/DMSans-regular.fntdata"/><Relationship Id="rId44" Type="http://schemas.openxmlformats.org/officeDocument/2006/relationships/font" Target="fonts/DMSans-bold.fntdata"/><Relationship Id="rId45" Type="http://schemas.openxmlformats.org/officeDocument/2006/relationships/font" Target="fonts/DMSans-italic.fntdata"/><Relationship Id="rId46" Type="http://schemas.openxmlformats.org/officeDocument/2006/relationships/font" Target="fonts/DMSans-boldItalic.fntdata"/><Relationship Id="rId4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Relationship Id="rId9" Type="http://schemas.openxmlformats.org/officeDocument/2006/relationships/image" Target="../media/image16.png"/><Relationship Id="rId10" Type="http://schemas.openxmlformats.org/officeDocument/2006/relationships/image" Target="../media/image15.png"/><Relationship Id="rId11" Type="http://schemas.openxmlformats.org/officeDocument/2006/relationships/image" Target="../media/image20.png"/><Relationship Id="rId12" Type="http://schemas.openxmlformats.org/officeDocument/2006/relationships/image" Target="../media/image12.png"/><Relationship Id="rId13" Type="http://schemas.openxmlformats.org/officeDocument/2006/relationships/image" Target="../media/image30.png"/><Relationship Id="rId14" Type="http://schemas.openxmlformats.org/officeDocument/2006/relationships/image" Target="../media/image75.png"/><Relationship Id="rId15" Type="http://schemas.openxmlformats.org/officeDocument/2006/relationships/image" Target="../media/image7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27.png"/><Relationship Id="rId9" Type="http://schemas.openxmlformats.org/officeDocument/2006/relationships/image" Target="../media/image23.png"/><Relationship Id="rId10" Type="http://schemas.openxmlformats.org/officeDocument/2006/relationships/image" Target="../media/image30.png"/><Relationship Id="rId11" Type="http://schemas.openxmlformats.org/officeDocument/2006/relationships/image" Target="../media/image75.png"/><Relationship Id="rId12" Type="http://schemas.openxmlformats.org/officeDocument/2006/relationships/image" Target="../media/image7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30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42.png"/><Relationship Id="rId9" Type="http://schemas.openxmlformats.org/officeDocument/2006/relationships/image" Target="../media/image41.png"/><Relationship Id="rId10" Type="http://schemas.openxmlformats.org/officeDocument/2006/relationships/image" Target="../media/image30.png"/><Relationship Id="rId11" Type="http://schemas.openxmlformats.org/officeDocument/2006/relationships/image" Target="../media/image75.png"/><Relationship Id="rId12" Type="http://schemas.openxmlformats.org/officeDocument/2006/relationships/image" Target="../media/image8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30.png"/><Relationship Id="rId11" Type="http://schemas.openxmlformats.org/officeDocument/2006/relationships/image" Target="../media/image75.png"/><Relationship Id="rId12" Type="http://schemas.openxmlformats.org/officeDocument/2006/relationships/image" Target="../media/image8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Relationship Id="rId7" Type="http://schemas.openxmlformats.org/officeDocument/2006/relationships/image" Target="../media/image15.png"/><Relationship Id="rId8" Type="http://schemas.openxmlformats.org/officeDocument/2006/relationships/image" Target="../media/image54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30.png"/><Relationship Id="rId12" Type="http://schemas.openxmlformats.org/officeDocument/2006/relationships/image" Target="../media/image7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15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30.png"/><Relationship Id="rId13" Type="http://schemas.openxmlformats.org/officeDocument/2006/relationships/image" Target="../media/image7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6.png"/><Relationship Id="rId9" Type="http://schemas.openxmlformats.org/officeDocument/2006/relationships/image" Target="../media/image15.png"/><Relationship Id="rId10" Type="http://schemas.openxmlformats.org/officeDocument/2006/relationships/image" Target="../media/image30.png"/><Relationship Id="rId11" Type="http://schemas.openxmlformats.org/officeDocument/2006/relationships/image" Target="../media/image7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6.png"/><Relationship Id="rId9" Type="http://schemas.openxmlformats.org/officeDocument/2006/relationships/image" Target="../media/image75.png"/><Relationship Id="rId10" Type="http://schemas.openxmlformats.org/officeDocument/2006/relationships/image" Target="../media/image11.png"/><Relationship Id="rId11" Type="http://schemas.openxmlformats.org/officeDocument/2006/relationships/image" Target="../media/image3.png"/><Relationship Id="rId12" Type="http://schemas.openxmlformats.org/officeDocument/2006/relationships/image" Target="../media/image14.png"/><Relationship Id="rId13" Type="http://schemas.openxmlformats.org/officeDocument/2006/relationships/image" Target="../media/image13.png"/><Relationship Id="rId1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Vishwakarma Application ID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algn="ctr"/>
            <a:r>
              <a:rPr lang="en-US" sz="1800" b="1">
                <a:solidFill>
                  <a:srgbClr val="1E3A8A"/>
                </a:solidFill>
                <a:latin typeface="Poppins SemiBold"/>
              </a:rPr>
              <a:t>VK26-IITI-HT-0050</a:t>
            </a:r>
          </a:p>
          <a:p>
            <a:pPr algn="ctr"/>
            <a:r>
              <a:rPr lang="en-US" sz="1250" b="1">
                <a:solidFill>
                  <a:srgbClr val="1E3A8A"/>
                </a:solidFill>
                <a:latin typeface="Poppins SemiBold"/>
              </a:rPr>
              <a:t>Dermasense: a laser-written graphene strip that tells nurses when a wound dressing is full</a:t>
            </a:r>
          </a:p>
          <a:p>
            <a:pPr algn="ctr"/>
            <a:r>
              <a:rPr lang="en-US" sz="1050" b="0">
                <a:solidFill>
                  <a:srgbClr val="1E3A8A"/>
                </a:solidFill>
                <a:latin typeface="Poppins SemiBold"/>
              </a:rPr>
              <a:t>Soham Prabhakar Kadu · Bhakti Ajay Kadam  |  Health Tech: Emergency Response &amp; Remote Monitoring</a:t>
            </a: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9051"/>
            <a:ext cx="5429250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1739056"/>
            <a:ext cx="5429250" cy="353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Context</a:t>
            </a:r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9048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Core Insight: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dressing makers already define 'full' as a distance from the pad edge. Dermasense measures exactly that line, from outside the wound.</a:t>
            </a:r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44.9 %</a:t>
            </a:r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OF CHANGES MADE AT OPTIMAL MOISTURE¹</a:t>
            </a:r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≈ 2 cm</a:t>
            </a:r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MAKER'S 'CHANGE NOW' LINE FROM PAD EDGE²</a:t>
            </a:r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1 spot</a:t>
            </a:r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TODAY'S MOISTURE SENSOR READS¹</a:t>
            </a:r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1 laser pass</a:t>
            </a:r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TO WRITE A GRAPHENE ELECTRODE³</a:t>
            </a:r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23885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exudate spreads outward; makers say change when it nears 2 cm from the pad edge², but under a bandage nobody can see it</a:t>
            </a: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2925" y="1748581"/>
            <a:ext cx="5410200" cy="3520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32157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Target Beneficiary &amp; Before-State User Flow</a:t>
            </a:r>
          </a:p>
        </p:txBody>
      </p:sp>
      <p:sp>
        <p:nvSpPr>
          <p:cNvPr id="148" name="Google Shape;148;p16"/>
          <p:cNvSpPr txBox="1"/>
          <p:nvPr/>
        </p:nvSpPr>
        <p:spPr>
          <a:xfrm>
            <a:off x="6638925" y="2243881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 User: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wound-care nurses (clinics, home care) and patients with exuding chronic wounds: diabetic foot, pressure and venous leg ulcers.</a:t>
            </a:r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2702272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Bottleneck: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'change now' signal is visual. Under bandages or opaque covers it is hidden, so dressings are changed by the clock or after a leak.</a:t>
            </a:r>
          </a:p>
        </p:txBody>
      </p:sp>
      <p:sp>
        <p:nvSpPr>
          <p:cNvPr id="150" name="Google Shape;150;p16"/>
          <p:cNvSpPr txBox="1"/>
          <p:nvPr/>
        </p:nvSpPr>
        <p:spPr>
          <a:xfrm>
            <a:off x="6638925" y="334699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Before-State Flow: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dressing on → exudate spreads unseen → changed too early (wasted dressing, disturbed wound) or too late (leak, macerated skin) → repeat.</a:t>
            </a:r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399171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Public Search Disclosure: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WoundSense reads moisture at one spot under the dressing¹; a 2007 lab array mapped moisture⁴; Stanford's smart bandage uses cleanroom electronics⁵; graphene wound sensors are still lab-only⁶. None reads the maker's change line at rupee cost.</a:t>
            </a:r>
          </a:p>
        </p:txBody>
      </p:sp>
      <p:sp>
        <p:nvSpPr>
          <p:cNvPr id="152" name="Google Shape;152;p16"/>
          <p:cNvSpPr txBox="1"/>
          <p:nvPr/>
        </p:nvSpPr>
        <p:spPr>
          <a:xfrm>
            <a:off x="6467475" y="22343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67475" y="269274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7475" y="333747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67475" y="39821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381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&amp; Specs</a:t>
            </a:r>
          </a:p>
        </p:txBody>
      </p:sp>
      <p:sp>
        <p:nvSpPr>
          <p:cNvPr id="188" name="Google Shape;188;p18"/>
          <p:cNvSpPr txBox="1"/>
          <p:nvPr/>
        </p:nvSpPr>
        <p:spPr>
          <a:xfrm>
            <a:off x="723900" y="5406206"/>
            <a:ext cx="95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Architecture Rationale: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only film and graphene are thrown away; every electronic part lives in the reusable reader.</a:t>
            </a:r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4815369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disposable LIG strip on the pad + reusable clip-on reader + phone (concept illustration; not yet built)</a:t>
            </a:r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{A2EFB60C-4C19-4109-8612-B18C57E068F9}</a:tableStyleId>
              </a:tblPr>
              <a:tblGrid>
                <a:gridCol w="1276500"/>
                <a:gridCol w="1176775"/>
                <a:gridCol w="2537825"/>
              </a:tblGrid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Spec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Selected Hardware /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Sensing strip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 wet/dry zones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Laser-induced graphene on Kapton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Zone signal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Dry/wet ≥ 100× (target)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 drive between LIG electrodes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zones every 5 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ESP32-C3 + ADS1115 (16-bit)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Temperature ref.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±0.1 °C class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TMP117, I²C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Display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OK / SOON / CHANGE / LEAK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USB log now, BLE app next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Strip cost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≤ ₹100 (target)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One laser pass, no masks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1" name="Google Shape;191;p1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2925" y="965745"/>
            <a:ext cx="5410200" cy="3794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Engineering Target Specifications &amp; Subsystems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48425" y="1775370"/>
            <a:ext cx="12764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24923" y="1775370"/>
            <a:ext cx="117678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901707" y="1775370"/>
            <a:ext cx="25378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22373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24923" y="22373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901707" y="22373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26850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24923" y="268500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901707" y="268500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448425" y="313268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24923" y="313268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901707" y="313268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48425" y="358035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24923" y="358035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01707" y="358035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48425" y="40280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724923" y="40280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901707" y="40280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3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331012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CAD Design &amp; Mechanical Specs</a:t>
            </a:r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8620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Why Process First: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every graphene sensor needs a repeatable laser recipe, and '12' sits in the low-power range where CO₂ tubes can be unstable⁷.</a:t>
            </a:r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312449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our laser test coupon (real DXF from make_test_pattern.py) and the E1 settings around 'setting 12'</a:t>
            </a:r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2925" y="965745"/>
            <a:ext cx="5410200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3088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Files &amp; Laser Process Window</a:t>
            </a:r>
          </a:p>
        </p:txBody>
      </p:sp>
      <p:sp>
        <p:nvSpPr>
          <p:cNvPr id="245" name="Google Shape;245;p20"/>
          <p:cNvSpPr txBox="1"/>
          <p:nvPr/>
        </p:nvSpPr>
        <p:spPr>
          <a:xfrm>
            <a:off x="6638925" y="14610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 Coupon: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6 cells × 3 graphene strips, 2 mm wide, 8/16/24 mm long; each colour is one laser setting.</a:t>
            </a:r>
          </a:p>
        </p:txBody>
      </p:sp>
      <p:sp>
        <p:nvSpPr>
          <p:cNvPr id="246" name="Google Shape;246;p20"/>
          <p:cNvSpPr txBox="1"/>
          <p:nvPr/>
        </p:nvSpPr>
        <p:spPr>
          <a:xfrm>
            <a:off x="6638925" y="19194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Measurement Trick: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three lengths separate the graphene's sheet resistance from probe contact resistance, so a multimeter is enough.</a:t>
            </a:r>
          </a:p>
        </p:txBody>
      </p:sp>
      <p:sp>
        <p:nvSpPr>
          <p:cNvPr id="247" name="Google Shape;247;p20"/>
          <p:cNvSpPr txBox="1"/>
          <p:nvPr/>
        </p:nvSpPr>
        <p:spPr>
          <a:xfrm>
            <a:off x="6638925" y="237782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Reference: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'setting 12', where we saw a graphene-like layer, appears twice per coupon, on 2 days.</a:t>
            </a:r>
          </a:p>
        </p:txBody>
      </p:sp>
      <p:sp>
        <p:nvSpPr>
          <p:cNvPr id="248" name="Google Shape;248;p20"/>
          <p:cNvSpPr txBox="1"/>
          <p:nvPr/>
        </p:nvSpPr>
        <p:spPr>
          <a:xfrm>
            <a:off x="6638925" y="2836217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Accept Rule: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recipe passes if sheet resistance varies ≤ 20 % between runs, fixed before testing.</a:t>
            </a:r>
          </a:p>
        </p:txBody>
      </p:sp>
      <p:sp>
        <p:nvSpPr>
          <p:cNvPr id="249" name="Google Shape;249;p20"/>
          <p:cNvSpPr txBox="1"/>
          <p:nvPr/>
        </p:nvSpPr>
        <p:spPr>
          <a:xfrm>
            <a:off x="6638925" y="3294608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Next in SolidWorks: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zone strip, clip-on reader and dressing test rig, sized from E1's measured line width.</a:t>
            </a:r>
          </a:p>
        </p:txBody>
      </p:sp>
      <p:sp>
        <p:nvSpPr>
          <p:cNvPr id="250" name="Google Shape;250;p20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67475" y="19099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67475" y="236830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467475" y="282669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467475" y="328508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413308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Electronics Schematics &amp; BOM</a:t>
            </a:r>
          </a:p>
        </p:txBody>
      </p:sp>
      <p:sp>
        <p:nvSpPr>
          <p:cNvPr id="283" name="Google Shape;283;p22"/>
          <p:cNvSpPr txBox="1"/>
          <p:nvPr/>
        </p:nvSpPr>
        <p:spPr>
          <a:xfrm>
            <a:off x="723900" y="5844884"/>
            <a:ext cx="725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Procurement Status: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every part is available in India. Prices are estimates or listings seen on 14 Oct 2026; we order after E1 confirms the laser recipe.</a:t>
            </a:r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5135409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zone readout; each zone is driven both ways and read by a 16-bit ADC (bench design; KiCad capture next)</a:t>
            </a:r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{A2EFB60C-4C19-4109-8612-B18C57E068F9}</a:tableStyleId>
              </a:tblPr>
              <a:tblGrid>
                <a:gridCol w="1137500"/>
                <a:gridCol w="1637400"/>
                <a:gridCol w="447675"/>
                <a:gridCol w="1005025"/>
                <a:gridCol w="76350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 / Specification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(INR)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Microcontroller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ESP32-C3 dev board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₹250–700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ADC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ADS1115 16-bit, I²C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₹200–450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Temp. reference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TMP117 breakout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Online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₹446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Resistors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 kΩ 0.1 %, 1 kΩ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₹40–160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Pad contacts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Silver paint + Cu tape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1+1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₹750–1,800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fluid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NaCl + CaCl₂ (Solution A)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Lab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Lab stock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₹0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(excl. film)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₹1.7–3.6k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86" name="Google Shape;286;p2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2925" y="965745"/>
            <a:ext cx="54102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Itemized Prototype Bill of Materials (BOM)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448425" y="1927770"/>
            <a:ext cx="11374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585918" y="1927770"/>
            <a:ext cx="1637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223325" y="1927770"/>
            <a:ext cx="4476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9671000" y="1927770"/>
            <a:ext cx="10050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0676036" y="1927770"/>
            <a:ext cx="76348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48425" y="23897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585918" y="23897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223325" y="23897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9671000" y="23897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10676036" y="23897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448425" y="28374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585918" y="28374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9223325" y="28374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671000" y="28374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0676036" y="28374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448425" y="328508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585918" y="328508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9223325" y="328508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9671000" y="328508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0676036" y="328508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448425" y="373275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585918" y="373275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9223325" y="373275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9671000" y="373275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676036" y="373275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448425" y="41804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585918" y="41804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223325" y="41804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671000" y="41804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10676036" y="41804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448425" y="46281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7585918" y="46281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223325" y="46281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9671000" y="46281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676036" y="46281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328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303580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11125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Maker Journey</a:t>
            </a:r>
          </a:p>
        </p:txBody>
      </p:sp>
      <p:sp>
        <p:nvSpPr>
          <p:cNvPr id="368" name="Google Shape;368;p24"/>
          <p:cNvSpPr txBox="1"/>
          <p:nvPr/>
        </p:nvSpPr>
        <p:spPr>
          <a:xfrm>
            <a:off x="723900" y="5761004"/>
            <a:ext cx="7953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Team: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Soham Prabhakar Kadu &amp; Bhakti Ajay Kadam. Faculty mentor sign-off to be added after the E1 review.</a:t>
            </a:r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4038129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our real work so far: coupon design file, E1 data sheet, machine settings read from our LaserCAD install (lab photos follow E1)</a:t>
            </a:r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2925" y="965745"/>
            <a:ext cx="5410200" cy="3017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29165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Stage 1 to Stage 2 Engineering Iterations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638925" y="146104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Iterative Pivot: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Stage 1's closed-loop electrotherapy bandage was too broad to build well; we narrowed it to one measurable job: telling when a dressing is full.</a:t>
            </a:r>
          </a:p>
        </p:txBody>
      </p:sp>
      <p:sp>
        <p:nvSpPr>
          <p:cNvPr id="374" name="Google Shape;374;p24"/>
          <p:cNvSpPr txBox="1"/>
          <p:nvPr/>
        </p:nvSpPr>
        <p:spPr>
          <a:xfrm>
            <a:off x="6638925" y="2105769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Laser Evidence: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earlier trial on Kapton at setting '12' gave a black, graphene-like layer; E1 repeats it with full records.</a:t>
            </a:r>
          </a:p>
        </p:txBody>
      </p:sp>
      <p:sp>
        <p:nvSpPr>
          <p:cNvPr id="375" name="Google Shape;375;p24"/>
          <p:cNvSpPr txBox="1"/>
          <p:nvPr/>
        </p:nvSpPr>
        <p:spPr>
          <a:xfrm>
            <a:off x="6638925" y="256415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Machine Facts: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LaserCAD V8.28 on our laptop: 1200 × 900 mm bed, 20 kHz PWM, 98 % cap. So '12' is a % command, not watts.</a:t>
            </a:r>
          </a:p>
        </p:txBody>
      </p:sp>
      <p:sp>
        <p:nvSpPr>
          <p:cNvPr id="376" name="Google Shape;376;p24"/>
          <p:cNvSpPr txBox="1"/>
          <p:nvPr/>
        </p:nvSpPr>
        <p:spPr>
          <a:xfrm>
            <a:off x="6638925" y="3208883"/>
            <a:ext cx="4800600" cy="7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Repository: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design scripts, coupon DXF, E1 protocol and data sheets under version control with timestamps (link to be added).</a:t>
            </a:r>
          </a:p>
        </p:txBody>
      </p:sp>
      <p:sp>
        <p:nvSpPr>
          <p:cNvPr id="377" name="Google Shape;377;p24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467475" y="20962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6467475" y="255463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6467475" y="319935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013624"/>
            <a:ext cx="5429250" cy="2616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013624"/>
            <a:ext cx="5429250" cy="26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 by Design &amp; Roadmap</a:t>
            </a:r>
          </a:p>
        </p:txBody>
      </p:sp>
      <p:graphicFrame>
        <p:nvGraphicFramePr>
          <p:cNvPr id="423" name="Google Shape;423;p27"/>
          <p:cNvGraphicFramePr/>
          <p:nvPr/>
        </p:nvGraphicFramePr>
        <p:xfrm>
          <a:off x="75247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{A2EFB60C-4C19-4109-8612-B18C57E068F9}</a:tableStyleId>
              </a:tblPr>
              <a:tblGrid>
                <a:gridCol w="1576675"/>
                <a:gridCol w="3175400"/>
                <a:gridCol w="59349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Failure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Potential Hazard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Embedded Fail-Safe / Mitigation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Laser over-power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Burn-through, flame, polyimide fumes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Lowest setting first; exhaust on; never unattended; stop on any flame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Unstable low-power output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Graphene quality varies run to run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 tube current; reference cell ×2 per coupon; repeat on 2 days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Electrodes near skin (future)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Irritation, current through tissue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Strip stays off the wound; AC only, ≤ 10 µA; ISO 10993 tests before skin use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35185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FMEA (Failure Mode and Effects Analysis)</a:t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752475" y="1775370"/>
            <a:ext cx="15766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2329160" y="1775370"/>
            <a:ext cx="317539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04557" y="1775370"/>
            <a:ext cx="593496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52475" y="2084933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2329160" y="2084933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5504557" y="2084933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52475" y="2380208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2329160" y="2380208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5504557" y="2380208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2326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213645"/>
            <a:ext cx="231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Fabrication Phase (Months 1 - 2)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94297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Oct 2026: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E1: reproducible graphene on our laser; measure sheet resistance and line width (4 coupons, 2 days).</a:t>
            </a:r>
          </a:p>
        </p:txBody>
      </p:sp>
      <p:sp>
        <p:nvSpPr>
          <p:cNvPr id="438" name="Google Shape;438;p27"/>
          <p:cNvSpPr txBox="1"/>
          <p:nvPr/>
        </p:nvSpPr>
        <p:spPr>
          <a:xfrm>
            <a:off x="94297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 2026: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zone strip v0.1 cut from E1 dimensions; bench reader (ESP32-C3 + ADS1115) assembled and calibrated.</a:t>
            </a:r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232695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213645"/>
            <a:ext cx="28842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Integration &amp; Bench Demo (Months 3 - 4)</a:t>
            </a:r>
          </a:p>
        </p:txBody>
      </p:sp>
      <p:sp>
        <p:nvSpPr>
          <p:cNvPr id="441" name="Google Shape;441;p27"/>
          <p:cNvSpPr txBox="1"/>
          <p:nvPr/>
        </p:nvSpPr>
        <p:spPr>
          <a:xfrm>
            <a:off x="663892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 2026: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E3: strips on real dressings with simulated exudate⁹; zone alerts vs the visible stain front.</a:t>
            </a:r>
          </a:p>
        </p:txBody>
      </p:sp>
      <p:sp>
        <p:nvSpPr>
          <p:cNvPr id="442" name="Google Shape;442;p27"/>
          <p:cNvSpPr txBox="1"/>
          <p:nvPr/>
        </p:nvSpPr>
        <p:spPr>
          <a:xfrm>
            <a:off x="663892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Jan 2027: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repeatability and bending tests; Stage 3 demo video with raw data.</a:t>
            </a:r>
          </a:p>
        </p:txBody>
      </p:sp>
      <p:sp>
        <p:nvSpPr>
          <p:cNvPr id="443" name="Google Shape;443;p27"/>
          <p:cNvSpPr txBox="1"/>
          <p:nvPr/>
        </p:nvSpPr>
        <p:spPr>
          <a:xfrm>
            <a:off x="77152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77152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5" name="Google Shape;445;p27"/>
          <p:cNvSpPr txBox="1"/>
          <p:nvPr/>
        </p:nvSpPr>
        <p:spPr>
          <a:xfrm>
            <a:off x="646747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6" name="Google Shape;446;p27"/>
          <p:cNvSpPr txBox="1"/>
          <p:nvPr/>
        </p:nvSpPr>
        <p:spPr>
          <a:xfrm>
            <a:off x="646747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Challenges &amp; Risks</a:t>
            </a:r>
          </a:p>
        </p:txBody>
      </p:sp>
      <p:sp>
        <p:nvSpPr>
          <p:cNvPr id="484" name="Google Shape;484;p30"/>
          <p:cNvSpPr txBox="1"/>
          <p:nvPr/>
        </p:nvSpPr>
        <p:spPr>
          <a:xfrm>
            <a:off x="723900" y="5761004"/>
            <a:ext cx="77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Fallback: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if our laser cannot give repeatable graphene, we use a partner lab's laser; the strip design and reader stay the same.</a:t>
            </a:r>
          </a:p>
        </p:txBody>
      </p:sp>
      <p:sp>
        <p:nvSpPr>
          <p:cNvPr id="485" name="Google Shape;485;p30"/>
          <p:cNvSpPr txBox="1"/>
          <p:nvPr/>
        </p:nvSpPr>
        <p:spPr>
          <a:xfrm>
            <a:off x="752475" y="1461045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'12' is a low-power command on a 100 W tube; such tubes fire unevenly below ~25 %⁷, and the polyimide brand changes the result⁸.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 tube current, repeat the reference on 2 days, accept only if variation ≤ 20 %; fall back to slower or defocused passes.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E1, 8 reference cells over 2 days, tube current logged.</a:t>
            </a:r>
          </a:p>
        </p:txBody>
      </p:sp>
      <p:sp>
        <p:nvSpPr>
          <p:cNvPr id="487" name="Google Shape;487;p30"/>
          <p:cNvSpPr txBox="1"/>
          <p:nvPr/>
        </p:nvSpPr>
        <p:spPr>
          <a:xfrm>
            <a:off x="4530625" y="1461045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black and conductive is not proof of graphene; resistance alone cannot show graphitic carbon.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Raman (D, G, 2D peaks) and SEM through a university facility; until then we call it a graphene-like layer.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Raman on our 3 best cells; graphene shows D ≈ 1350, G ≈ 1580 and 2D ≈ 2700 cm⁻¹ bands³.</a:t>
            </a:r>
          </a:p>
        </p:txBody>
      </p:sp>
      <p:sp>
        <p:nvSpPr>
          <p:cNvPr id="489" name="Google Shape;489;p30"/>
          <p:cNvSpPr txBox="1"/>
          <p:nvPr/>
        </p:nvSpPr>
        <p:spPr>
          <a:xfrm>
            <a:off x="8308925" y="1461045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Wound Contact: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none by design; the strip sits on the outer face of the pad.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 10993: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required before any skin contact; Kapton is not sold as medical grade¹⁰.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IEC 60601-1: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applies to the future on-body reader, not to bench tests.</a:t>
            </a: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Claims: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 data only, so no diagnostic or healing claims.</a:t>
            </a:r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21318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Laser Repeatability</a:t>
            </a:r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Is It Graphene?</a:t>
            </a:r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21279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Safety &amp; Standards</a:t>
            </a:r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71500" y="1532725"/>
            <a:ext cx="110490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1"/>
          <p:cNvSpPr txBox="1"/>
          <p:nvPr/>
        </p:nvSpPr>
        <p:spPr>
          <a:xfrm>
            <a:off x="731520" y="1645920"/>
            <a:ext cx="1078992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Milne S.D. et al., A wearable wound moisture sensor as an indicator for wound dressing change, Int. Wound J. 13(6):1309–1314 (2016). doi:10.1111/iwj.12521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Dressing instructions for use: Mölnlycke Mepilex Border Flex 'time to change'; 3M Tegaderm silicone foam border guide; foam dressings citing the 2 cm rule.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Lin J. et al., Laser-induced porous graphene films from commercial polymers, Nat. Commun. 5, 5714 (2014). doi:10.1038/ncomms6714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McColl D., Cartlidge B., Connolly P., Real-time monitoring of moisture levels in wound dressings in vitro, Int. J. Surg. 5(5):316–322 (2007). doi:10.1016/j.ijsu.2007.02.008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Jiang Y. et al., Wireless, closed-loop, smart bandage with integrated sensors and stimulators, Nat. Biotechnol. (2022). doi:10.1038/s41587-022-01528-3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Asgharian H. et al., WoundMx: wound-infection biomarker detection with laser-induced graphene, Research Square preprint (2025). doi:10.21203/rs.3.rs-7274589/v1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7. CO₂ laser tube current vs PWM setting, engineering measurements, softsolder.com (2022), not peer-reviewed.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8. Influence of lasing parameters on the morphology and electrical resistance of polyimide-based LIG, Carbon Letters (2023).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9. EN 13726-1:2002 / EN 13726:2023, Test methods for primary wound dressings (absorbency; 'Solution A' simulated exudate).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10. DuPont statement on the use of DuPont materials in medical applications (Kapton medical caution).</a:t>
            </a: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11. Reviewed, not used as evidence: Rezaei I. et al., Wearable Kapton graphene biosensor for toxic gases, J. Hazard. Mater. Adv. 15, 100452 (2024), simulation only.</a:t>
            </a:r>
          </a:p>
        </p:txBody>
      </p:sp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&amp; </a:t>
            </a: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Sources 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(numbers match the superscripts on each slide)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800"/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533400" y="956220"/>
            <a:ext cx="1112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731520" y="1097280"/>
            <a:ext cx="10789920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All figures were drawn by the team with Python from project files: problem, journey and concept illustrations; the coupon from lig_test_coupon.dxf; the schematic with schemdraw; machine settings from LaserCAD SysCfg.ini. Script: 08_submission/make_figures.py.</a:t>
            </a:r>
          </a:p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stock photos and no AI-generated images are used; concept drawings are labelled as concepts.</a:t>
            </a:r>
          </a:p>
        </p:txBody>
      </p:sp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29350" y="1739051"/>
            <a:ext cx="5429250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1739056"/>
            <a:ext cx="5429250" cy="353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Journey</a:t>
            </a:r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9048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Principle: 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strip sits on the outer face of the absorbent pad, never on the wound: lower biocompatibility risk and no fouling of the sensor.</a:t>
            </a:r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By clock</a:t>
            </a:r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HOW DRESSINGS ARE CHANGED TODAY</a:t>
            </a:r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4 zones</a:t>
            </a:r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CENTRE → EDGE ON ONE STRIP</a:t>
            </a:r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 WITH THE WOUND BED</a:t>
            </a:r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≤ ₹100</a:t>
            </a:r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TARGET COST PER STRIP</a:t>
            </a:r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23885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today's blind cycle vs the Dermasense cycle (target workflow, to be proven on the bench first)</a:t>
            </a: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2925" y="1748581"/>
            <a:ext cx="5410200" cy="3520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32157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After-State User Flow &amp; Quantified Efficiency</a:t>
            </a:r>
          </a:p>
        </p:txBody>
      </p:sp>
      <p:sp>
        <p:nvSpPr>
          <p:cNvPr id="148" name="Google Shape;148;p16"/>
          <p:cNvSpPr txBox="1"/>
          <p:nvPr/>
        </p:nvSpPr>
        <p:spPr>
          <a:xfrm>
            <a:off x="6638925" y="2243881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After-State Flow: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strip on the pad, reader clipped on → zones read wet/dry → phone shows OK, SOON, CHANGE or LEAK → change when the change line is wet.</a:t>
            </a:r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2702272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Who Benefits: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patients get fewer needless removals; nurses get a reason for every change; clinics waste fewer dressings.</a:t>
            </a:r>
          </a:p>
        </p:txBody>
      </p:sp>
      <p:sp>
        <p:nvSpPr>
          <p:cNvPr id="150" name="Google Shape;150;p16"/>
          <p:cNvSpPr txBox="1"/>
          <p:nvPr/>
        </p:nvSpPr>
        <p:spPr>
          <a:xfrm>
            <a:off x="6638925" y="334699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Efficiency Target: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alert within ±10 % of the fluid volume at which exudate visibly reaches the change line, in bench tests with simulated exudate⁹.</a:t>
            </a:r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399171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Not Claimed Yet: 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fewer dressing changes or faster healing. Those need clinical studies after the bench prototype works.</a:t>
            </a:r>
          </a:p>
        </p:txBody>
      </p:sp>
      <p:sp>
        <p:nvSpPr>
          <p:cNvPr id="152" name="Google Shape;152;p16"/>
          <p:cNvSpPr txBox="1"/>
          <p:nvPr/>
        </p:nvSpPr>
        <p:spPr>
          <a:xfrm>
            <a:off x="6467475" y="22343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67475" y="269274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7475" y="333747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67475" y="39821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