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y="6858000" cx="12192000"/>
  <p:notesSz cx="6858000" cy="9144000"/>
  <p:embeddedFontLst>
    <p:embeddedFont>
      <p:font typeface="DM Sans Medium"/>
      <p:regular r:id="rId27"/>
      <p:bold r:id="rId28"/>
      <p:italic r:id="rId29"/>
      <p:boldItalic r:id="rId30"/>
    </p:embeddedFont>
    <p:embeddedFont>
      <p:font typeface="Poppins"/>
      <p:regular r:id="rId31"/>
      <p:bold r:id="rId32"/>
      <p:italic r:id="rId33"/>
      <p:boldItalic r:id="rId34"/>
    </p:embeddedFont>
    <p:embeddedFont>
      <p:font typeface="Inter"/>
      <p:regular r:id="rId35"/>
      <p:bold r:id="rId36"/>
      <p:italic r:id="rId37"/>
      <p:boldItalic r:id="rId38"/>
    </p:embeddedFont>
    <p:embeddedFont>
      <p:font typeface="Poppins SemiBold"/>
      <p:regular r:id="rId39"/>
      <p:bold r:id="rId40"/>
      <p:italic r:id="rId41"/>
      <p:boldItalic r:id="rId42"/>
    </p:embeddedFont>
    <p:embeddedFont>
      <p:font typeface="DM Sans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2EFB60C-4C19-4109-8612-B18C57E068F9}">
  <a:tblStyle styleId="{A2EFB60C-4C19-4109-8612-B18C57E068F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font" Target="fonts/DMSansMedium-regular.fntdata"/><Relationship Id="rId28" Type="http://schemas.openxmlformats.org/officeDocument/2006/relationships/font" Target="fonts/DMSansMedium-bold.fntdata"/><Relationship Id="rId29" Type="http://schemas.openxmlformats.org/officeDocument/2006/relationships/font" Target="fonts/DMSansMedium-italic.fntdata"/><Relationship Id="rId30" Type="http://schemas.openxmlformats.org/officeDocument/2006/relationships/font" Target="fonts/DMSansMedium-boldItalic.fntdata"/><Relationship Id="rId31" Type="http://schemas.openxmlformats.org/officeDocument/2006/relationships/font" Target="fonts/Poppins-regular.fntdata"/><Relationship Id="rId32" Type="http://schemas.openxmlformats.org/officeDocument/2006/relationships/font" Target="fonts/Poppins-bold.fntdata"/><Relationship Id="rId33" Type="http://schemas.openxmlformats.org/officeDocument/2006/relationships/font" Target="fonts/Poppins-italic.fntdata"/><Relationship Id="rId34" Type="http://schemas.openxmlformats.org/officeDocument/2006/relationships/font" Target="fonts/Poppins-boldItalic.fntdata"/><Relationship Id="rId35" Type="http://schemas.openxmlformats.org/officeDocument/2006/relationships/font" Target="fonts/Inter-regular.fntdata"/><Relationship Id="rId36" Type="http://schemas.openxmlformats.org/officeDocument/2006/relationships/font" Target="fonts/Inter-bold.fntdata"/><Relationship Id="rId37" Type="http://schemas.openxmlformats.org/officeDocument/2006/relationships/font" Target="fonts/Inter-italic.fntdata"/><Relationship Id="rId38" Type="http://schemas.openxmlformats.org/officeDocument/2006/relationships/font" Target="fonts/Inter-boldItalic.fntdata"/><Relationship Id="rId39" Type="http://schemas.openxmlformats.org/officeDocument/2006/relationships/font" Target="fonts/PoppinsSemiBold-regular.fntdata"/><Relationship Id="rId40" Type="http://schemas.openxmlformats.org/officeDocument/2006/relationships/font" Target="fonts/PoppinsSemiBold-bold.fntdata"/><Relationship Id="rId41" Type="http://schemas.openxmlformats.org/officeDocument/2006/relationships/font" Target="fonts/PoppinsSemiBold-italic.fntdata"/><Relationship Id="rId42" Type="http://schemas.openxmlformats.org/officeDocument/2006/relationships/font" Target="fonts/PoppinsSemiBold-boldItalic.fntdata"/><Relationship Id="rId43" Type="http://schemas.openxmlformats.org/officeDocument/2006/relationships/font" Target="fonts/DMSans-regular.fntdata"/><Relationship Id="rId44" Type="http://schemas.openxmlformats.org/officeDocument/2006/relationships/font" Target="fonts/DMSans-bold.fntdata"/><Relationship Id="rId45" Type="http://schemas.openxmlformats.org/officeDocument/2006/relationships/font" Target="fonts/DMSans-italic.fntdata"/><Relationship Id="rId46" Type="http://schemas.openxmlformats.org/officeDocument/2006/relationships/font" Target="fonts/DM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fb7065920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g3fb7065920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fb70659208_2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g3fb70659208_26_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fb70659208_26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g3fb70659208_26_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fb70659208_26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g3fb70659208_26_6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fb70659208_26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g3fb70659208_26_9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b70659208_1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g3fb70659208_12_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3fb70659208_26_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g3fb70659208_26_14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fb70659208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g3fb70659208_0_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3fb70659208_26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g3fb70659208_26_16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3fb70659208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g3fb70659208_0_3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fb70659208_26_1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5" name="Google Shape;475;g3fb70659208_26_19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" name="Google Shape;502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fb70659208_26_2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g3fb70659208_26_2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30.png"/><Relationship Id="rId6" Type="http://schemas.openxmlformats.org/officeDocument/2006/relationships/image" Target="../media/image7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30.png"/><Relationship Id="rId6" Type="http://schemas.openxmlformats.org/officeDocument/2006/relationships/image" Target="../media/image75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0.png"/><Relationship Id="rId6" Type="http://schemas.openxmlformats.org/officeDocument/2006/relationships/image" Target="../media/image75.png"/><Relationship Id="rId7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9.png"/><Relationship Id="rId5" Type="http://schemas.openxmlformats.org/officeDocument/2006/relationships/image" Target="../media/image11.png"/><Relationship Id="rId6" Type="http://schemas.openxmlformats.org/officeDocument/2006/relationships/image" Target="../media/image3.png"/><Relationship Id="rId7" Type="http://schemas.openxmlformats.org/officeDocument/2006/relationships/image" Target="../media/image14.png"/><Relationship Id="rId8" Type="http://schemas.openxmlformats.org/officeDocument/2006/relationships/image" Target="../media/image13.png"/><Relationship Id="rId9" Type="http://schemas.openxmlformats.org/officeDocument/2006/relationships/image" Target="../media/image16.png"/><Relationship Id="rId10" Type="http://schemas.openxmlformats.org/officeDocument/2006/relationships/image" Target="../media/image15.png"/><Relationship Id="rId11" Type="http://schemas.openxmlformats.org/officeDocument/2006/relationships/image" Target="../media/image20.png"/><Relationship Id="rId12" Type="http://schemas.openxmlformats.org/officeDocument/2006/relationships/image" Target="../media/image12.png"/><Relationship Id="rId13" Type="http://schemas.openxmlformats.org/officeDocument/2006/relationships/image" Target="../media/image30.png"/><Relationship Id="rId14" Type="http://schemas.openxmlformats.org/officeDocument/2006/relationships/image" Target="../media/image75.png"/><Relationship Id="rId15" Type="http://schemas.openxmlformats.org/officeDocument/2006/relationships/image" Target="../media/image7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21.png"/><Relationship Id="rId5" Type="http://schemas.openxmlformats.org/officeDocument/2006/relationships/image" Target="../media/image17.png"/><Relationship Id="rId6" Type="http://schemas.openxmlformats.org/officeDocument/2006/relationships/image" Target="../media/image22.png"/><Relationship Id="rId7" Type="http://schemas.openxmlformats.org/officeDocument/2006/relationships/image" Target="../media/image19.png"/><Relationship Id="rId8" Type="http://schemas.openxmlformats.org/officeDocument/2006/relationships/image" Target="../media/image25.png"/><Relationship Id="rId9" Type="http://schemas.openxmlformats.org/officeDocument/2006/relationships/image" Target="../media/image30.png"/><Relationship Id="rId10" Type="http://schemas.openxmlformats.org/officeDocument/2006/relationships/image" Target="../media/image75.png"/><Relationship Id="rId11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9.png"/><Relationship Id="rId5" Type="http://schemas.openxmlformats.org/officeDocument/2006/relationships/image" Target="../media/image24.png"/><Relationship Id="rId6" Type="http://schemas.openxmlformats.org/officeDocument/2006/relationships/image" Target="../media/image32.png"/><Relationship Id="rId7" Type="http://schemas.openxmlformats.org/officeDocument/2006/relationships/image" Target="../media/image15.png"/><Relationship Id="rId8" Type="http://schemas.openxmlformats.org/officeDocument/2006/relationships/image" Target="../media/image27.png"/><Relationship Id="rId9" Type="http://schemas.openxmlformats.org/officeDocument/2006/relationships/image" Target="../media/image23.png"/><Relationship Id="rId10" Type="http://schemas.openxmlformats.org/officeDocument/2006/relationships/image" Target="../media/image30.png"/><Relationship Id="rId11" Type="http://schemas.openxmlformats.org/officeDocument/2006/relationships/image" Target="../media/image75.png"/><Relationship Id="rId12" Type="http://schemas.openxmlformats.org/officeDocument/2006/relationships/image" Target="../media/image7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6.png"/><Relationship Id="rId4" Type="http://schemas.openxmlformats.org/officeDocument/2006/relationships/image" Target="../media/image29.png"/><Relationship Id="rId5" Type="http://schemas.openxmlformats.org/officeDocument/2006/relationships/image" Target="../media/image28.png"/><Relationship Id="rId6" Type="http://schemas.openxmlformats.org/officeDocument/2006/relationships/image" Target="../media/image31.png"/><Relationship Id="rId7" Type="http://schemas.openxmlformats.org/officeDocument/2006/relationships/image" Target="../media/image33.png"/><Relationship Id="rId8" Type="http://schemas.openxmlformats.org/officeDocument/2006/relationships/image" Target="../media/image30.png"/><Relationship Id="rId9" Type="http://schemas.openxmlformats.org/officeDocument/2006/relationships/image" Target="../media/image75.png"/><Relationship Id="rId10" Type="http://schemas.openxmlformats.org/officeDocument/2006/relationships/image" Target="../media/image7.png"/><Relationship Id="rId11" Type="http://schemas.openxmlformats.org/officeDocument/2006/relationships/image" Target="../media/image7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9.png"/><Relationship Id="rId5" Type="http://schemas.openxmlformats.org/officeDocument/2006/relationships/image" Target="../media/image24.png"/><Relationship Id="rId6" Type="http://schemas.openxmlformats.org/officeDocument/2006/relationships/image" Target="../media/image32.png"/><Relationship Id="rId7" Type="http://schemas.openxmlformats.org/officeDocument/2006/relationships/image" Target="../media/image15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30.png"/><Relationship Id="rId11" Type="http://schemas.openxmlformats.org/officeDocument/2006/relationships/image" Target="../media/image75.png"/><Relationship Id="rId12" Type="http://schemas.openxmlformats.org/officeDocument/2006/relationships/image" Target="../media/image8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6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0.png"/><Relationship Id="rId9" Type="http://schemas.openxmlformats.org/officeDocument/2006/relationships/image" Target="../media/image75.png"/><Relationship Id="rId10" Type="http://schemas.openxmlformats.org/officeDocument/2006/relationships/image" Target="../media/image7.png"/><Relationship Id="rId11" Type="http://schemas.openxmlformats.org/officeDocument/2006/relationships/image" Target="../media/image8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9.png"/><Relationship Id="rId5" Type="http://schemas.openxmlformats.org/officeDocument/2006/relationships/image" Target="../media/image24.png"/><Relationship Id="rId6" Type="http://schemas.openxmlformats.org/officeDocument/2006/relationships/image" Target="../media/image32.png"/><Relationship Id="rId7" Type="http://schemas.openxmlformats.org/officeDocument/2006/relationships/image" Target="../media/image15.png"/><Relationship Id="rId8" Type="http://schemas.openxmlformats.org/officeDocument/2006/relationships/image" Target="../media/image42.png"/><Relationship Id="rId9" Type="http://schemas.openxmlformats.org/officeDocument/2006/relationships/image" Target="../media/image41.png"/><Relationship Id="rId10" Type="http://schemas.openxmlformats.org/officeDocument/2006/relationships/image" Target="../media/image30.png"/><Relationship Id="rId11" Type="http://schemas.openxmlformats.org/officeDocument/2006/relationships/image" Target="../media/image75.png"/><Relationship Id="rId12" Type="http://schemas.openxmlformats.org/officeDocument/2006/relationships/image" Target="../media/image8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5.png"/><Relationship Id="rId4" Type="http://schemas.openxmlformats.org/officeDocument/2006/relationships/image" Target="../media/image58.png"/><Relationship Id="rId5" Type="http://schemas.openxmlformats.org/officeDocument/2006/relationships/image" Target="../media/image61.png"/><Relationship Id="rId6" Type="http://schemas.openxmlformats.org/officeDocument/2006/relationships/image" Target="../media/image7.png"/><Relationship Id="rId7" Type="http://schemas.openxmlformats.org/officeDocument/2006/relationships/image" Target="../media/image44.png"/><Relationship Id="rId8" Type="http://schemas.openxmlformats.org/officeDocument/2006/relationships/image" Target="../media/image43.png"/><Relationship Id="rId9" Type="http://schemas.openxmlformats.org/officeDocument/2006/relationships/image" Target="../media/image45.png"/><Relationship Id="rId10" Type="http://schemas.openxmlformats.org/officeDocument/2006/relationships/image" Target="../media/image30.png"/><Relationship Id="rId11" Type="http://schemas.openxmlformats.org/officeDocument/2006/relationships/image" Target="../media/image7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9.png"/><Relationship Id="rId5" Type="http://schemas.openxmlformats.org/officeDocument/2006/relationships/image" Target="../media/image24.png"/><Relationship Id="rId6" Type="http://schemas.openxmlformats.org/officeDocument/2006/relationships/image" Target="../media/image32.png"/><Relationship Id="rId7" Type="http://schemas.openxmlformats.org/officeDocument/2006/relationships/image" Target="../media/image15.png"/><Relationship Id="rId8" Type="http://schemas.openxmlformats.org/officeDocument/2006/relationships/image" Target="../media/image46.png"/><Relationship Id="rId9" Type="http://schemas.openxmlformats.org/officeDocument/2006/relationships/image" Target="../media/image47.png"/><Relationship Id="rId10" Type="http://schemas.openxmlformats.org/officeDocument/2006/relationships/image" Target="../media/image30.png"/><Relationship Id="rId11" Type="http://schemas.openxmlformats.org/officeDocument/2006/relationships/image" Target="../media/image75.png"/><Relationship Id="rId12" Type="http://schemas.openxmlformats.org/officeDocument/2006/relationships/image" Target="../media/image8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50.png"/><Relationship Id="rId5" Type="http://schemas.openxmlformats.org/officeDocument/2006/relationships/image" Target="../media/image17.png"/><Relationship Id="rId6" Type="http://schemas.openxmlformats.org/officeDocument/2006/relationships/image" Target="../media/image49.png"/><Relationship Id="rId7" Type="http://schemas.openxmlformats.org/officeDocument/2006/relationships/image" Target="../media/image30.png"/><Relationship Id="rId8" Type="http://schemas.openxmlformats.org/officeDocument/2006/relationships/image" Target="../media/image75.png"/><Relationship Id="rId9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48.png"/><Relationship Id="rId5" Type="http://schemas.openxmlformats.org/officeDocument/2006/relationships/image" Target="../media/image30.png"/><Relationship Id="rId6" Type="http://schemas.openxmlformats.org/officeDocument/2006/relationships/image" Target="../media/image75.png"/><Relationship Id="rId7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Relationship Id="rId4" Type="http://schemas.openxmlformats.org/officeDocument/2006/relationships/image" Target="../media/image51.png"/><Relationship Id="rId5" Type="http://schemas.openxmlformats.org/officeDocument/2006/relationships/image" Target="../media/image53.png"/><Relationship Id="rId6" Type="http://schemas.openxmlformats.org/officeDocument/2006/relationships/image" Target="../media/image52.png"/><Relationship Id="rId7" Type="http://schemas.openxmlformats.org/officeDocument/2006/relationships/image" Target="../media/image15.png"/><Relationship Id="rId8" Type="http://schemas.openxmlformats.org/officeDocument/2006/relationships/image" Target="../media/image54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Relationship Id="rId11" Type="http://schemas.openxmlformats.org/officeDocument/2006/relationships/image" Target="../media/image30.png"/><Relationship Id="rId12" Type="http://schemas.openxmlformats.org/officeDocument/2006/relationships/image" Target="../media/image7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8.png"/><Relationship Id="rId4" Type="http://schemas.openxmlformats.org/officeDocument/2006/relationships/image" Target="../media/image59.png"/><Relationship Id="rId5" Type="http://schemas.openxmlformats.org/officeDocument/2006/relationships/image" Target="../media/image30.png"/><Relationship Id="rId6" Type="http://schemas.openxmlformats.org/officeDocument/2006/relationships/image" Target="../media/image75.png"/><Relationship Id="rId7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Relationship Id="rId4" Type="http://schemas.openxmlformats.org/officeDocument/2006/relationships/image" Target="../media/image60.png"/><Relationship Id="rId5" Type="http://schemas.openxmlformats.org/officeDocument/2006/relationships/image" Target="../media/image30.png"/><Relationship Id="rId6" Type="http://schemas.openxmlformats.org/officeDocument/2006/relationships/image" Target="../media/image75.png"/><Relationship Id="rId7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Relationship Id="rId4" Type="http://schemas.openxmlformats.org/officeDocument/2006/relationships/image" Target="../media/image9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15.png"/><Relationship Id="rId9" Type="http://schemas.openxmlformats.org/officeDocument/2006/relationships/image" Target="../media/image65.png"/><Relationship Id="rId10" Type="http://schemas.openxmlformats.org/officeDocument/2006/relationships/image" Target="../media/image66.png"/><Relationship Id="rId11" Type="http://schemas.openxmlformats.org/officeDocument/2006/relationships/image" Target="../media/image67.png"/><Relationship Id="rId12" Type="http://schemas.openxmlformats.org/officeDocument/2006/relationships/image" Target="../media/image30.png"/><Relationship Id="rId13" Type="http://schemas.openxmlformats.org/officeDocument/2006/relationships/image" Target="../media/image7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30.png"/><Relationship Id="rId6" Type="http://schemas.openxmlformats.org/officeDocument/2006/relationships/image" Target="../media/image75.png"/><Relationship Id="rId7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image" Target="../media/image76.png"/><Relationship Id="rId9" Type="http://schemas.openxmlformats.org/officeDocument/2006/relationships/image" Target="../media/image15.png"/><Relationship Id="rId10" Type="http://schemas.openxmlformats.org/officeDocument/2006/relationships/image" Target="../media/image30.png"/><Relationship Id="rId11" Type="http://schemas.openxmlformats.org/officeDocument/2006/relationships/image" Target="../media/image7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320528" y="3182619"/>
            <a:ext cx="7551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75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Vishwakarma Application ID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3905250" y="4062412"/>
            <a:ext cx="4381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algn="ctr"/>
            <a:r>
              <a:rPr lang="en-US" sz="1800" b="1">
                <a:solidFill>
                  <a:srgbClr val="1E3A8A"/>
                </a:solidFill>
                <a:latin typeface="Poppins SemiBold"/>
              </a:rPr>
              <a:t>VK26-IITI-HT-0050</a:t>
            </a:r>
          </a:p>
          <a:p>
            <a:pPr algn="ctr"/>
            <a:r>
              <a:rPr lang="en-US" sz="1100" b="1">
                <a:solidFill>
                  <a:srgbClr val="1E3A8A"/>
                </a:solidFill>
                <a:latin typeface="Poppins SemiBold"/>
              </a:rPr>
              <a:t>Dermasense · LIG-on-Kapton dressing-moisture strip · Health Tech</a:t>
            </a:r>
          </a:p>
        </p:txBody>
      </p:sp>
      <p:pic>
        <p:nvPicPr>
          <p:cNvPr descr="image.png" id="87" name="Google Shape;87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70213" y="2268205"/>
            <a:ext cx="5851614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title="MBF_Logo_2020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700669" y="80825"/>
            <a:ext cx="1491330" cy="784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 title="VK colored transparent logo.png"/>
          <p:cNvPicPr preferRelativeResize="0"/>
          <p:nvPr/>
        </p:nvPicPr>
        <p:blipFill rotWithShape="1">
          <a:blip r:embed="rId6">
            <a:alphaModFix/>
          </a:blip>
          <a:srcRect b="44466" l="14673" r="15820" t="33074"/>
          <a:stretch/>
        </p:blipFill>
        <p:spPr>
          <a:xfrm>
            <a:off x="0" y="80825"/>
            <a:ext cx="2428825" cy="78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4" name="Google Shape;9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1369800"/>
            <a:ext cx="5372100" cy="287274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809625" y="2112750"/>
            <a:ext cx="51405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Project Overview &amp; Problem Statement</a:t>
            </a:r>
          </a:p>
        </p:txBody>
      </p:sp>
      <p:sp>
        <p:nvSpPr>
          <p:cNvPr id="96" name="Google Shape;96;p14"/>
          <p:cNvSpPr txBox="1"/>
          <p:nvPr/>
        </p:nvSpPr>
        <p:spPr>
          <a:xfrm>
            <a:off x="809625" y="2541375"/>
            <a:ext cx="4896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Project Overview: 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Dermasense (VK26-IITI-HT-0050, Health Tech): low-cost laser-induced graphene (LIG) strips written on Kapton to show when a dressing is full.</a:t>
            </a:r>
          </a:p>
        </p:txBody>
      </p:sp>
      <p:sp>
        <p:nvSpPr>
          <p:cNvPr id="97" name="Google Shape;97;p14"/>
          <p:cNvSpPr txBox="1"/>
          <p:nvPr/>
        </p:nvSpPr>
        <p:spPr>
          <a:xfrm>
            <a:off x="809625" y="3341475"/>
            <a:ext cx="4896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Problem Statement: 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exudate spread is hidden under bandages; in one study 44.9 % of 588 dressing changes were made while moisture was still optimal [C]. Beneficiaries: wound-care nurses and patients.</a:t>
            </a:r>
          </a:p>
        </p:txBody>
      </p:sp>
      <p:pic>
        <p:nvPicPr>
          <p:cNvPr descr="image.png" id="98" name="Google Shape;9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625" y="1636500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571500" y="47625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Problem Context</a:t>
            </a:r>
          </a:p>
        </p:txBody>
      </p:sp>
      <p:pic>
        <p:nvPicPr>
          <p:cNvPr id="100" name="Google Shape;100;p14" title="MBF_Logo_2020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title="VK colored transparent logo.png"/>
          <p:cNvPicPr preferRelativeResize="0"/>
          <p:nvPr/>
        </p:nvPicPr>
        <p:blipFill rotWithShape="1">
          <a:blip r:embed="rId6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7" name="Google Shape;10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30075" y="1597875"/>
            <a:ext cx="5372100" cy="282702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 txBox="1"/>
          <p:nvPr/>
        </p:nvSpPr>
        <p:spPr>
          <a:xfrm>
            <a:off x="6468200" y="2340825"/>
            <a:ext cx="51405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After State (planned, not yet built)</a:t>
            </a:r>
          </a:p>
        </p:txBody>
      </p:sp>
      <p:sp>
        <p:nvSpPr>
          <p:cNvPr id="109" name="Google Shape;109;p15"/>
          <p:cNvSpPr txBox="1"/>
          <p:nvPr/>
        </p:nvSpPr>
        <p:spPr>
          <a:xfrm>
            <a:off x="6468200" y="2769450"/>
            <a:ext cx="4896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Future Solution: 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a thin LIG strip on the outer face of the pad (no wound contact) reads wet/dry at the centre and at the maker's 2 cm change line.</a:t>
            </a:r>
          </a:p>
        </p:txBody>
      </p:sp>
      <p:sp>
        <p:nvSpPr>
          <p:cNvPr id="110" name="Google Shape;110;p15"/>
          <p:cNvSpPr txBox="1"/>
          <p:nvPr/>
        </p:nvSpPr>
        <p:spPr>
          <a:xfrm>
            <a:off x="6468200" y="3569550"/>
            <a:ext cx="4896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Quantified Efficiency (target, unproven): 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alert within ±10 % of the fluid volume at which exudate visibly reaches the 2 cm line in bench tests [B]. No clinical benefit claimed.</a:t>
            </a:r>
          </a:p>
        </p:txBody>
      </p:sp>
      <p:pic>
        <p:nvPicPr>
          <p:cNvPr descr="image.png" id="111" name="Google Shape;111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68200" y="1864575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571500" y="47625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User Journey</a:t>
            </a:r>
          </a:p>
        </p:txBody>
      </p:sp>
      <p:pic>
        <p:nvPicPr>
          <p:cNvPr descr="image.png" id="113" name="Google Shape;11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3312" y="1636247"/>
            <a:ext cx="5372100" cy="264414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/>
          <p:nvPr/>
        </p:nvSpPr>
        <p:spPr>
          <a:xfrm>
            <a:off x="821437" y="2379197"/>
            <a:ext cx="51405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Before State (today)</a:t>
            </a:r>
          </a:p>
        </p:txBody>
      </p:sp>
      <p:sp>
        <p:nvSpPr>
          <p:cNvPr id="115" name="Google Shape;115;p15"/>
          <p:cNvSpPr txBox="1"/>
          <p:nvPr/>
        </p:nvSpPr>
        <p:spPr>
          <a:xfrm>
            <a:off x="821437" y="2807822"/>
            <a:ext cx="4896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Current Pain Point: 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exudate spreads unseen → change on a schedule or after leakage → early changes disturb the moist wound bed; late changes cause leakage and skin maceration [C].</a:t>
            </a:r>
          </a:p>
        </p:txBody>
      </p:sp>
      <p:sp>
        <p:nvSpPr>
          <p:cNvPr id="116" name="Google Shape;116;p15"/>
          <p:cNvSpPr txBox="1"/>
          <p:nvPr/>
        </p:nvSpPr>
        <p:spPr>
          <a:xfrm>
            <a:off x="821437" y="3591089"/>
            <a:ext cx="4896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Quantified Inefficiency: 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44.9 % of 588 changes at optimal moisture (Milne 2016) [C]. Local time and cost per change: to be measured [B].</a:t>
            </a:r>
          </a:p>
        </p:txBody>
      </p:sp>
      <p:pic>
        <p:nvPicPr>
          <p:cNvPr descr="image.png" id="117" name="Google Shape;117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1437" y="1902947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title="MBF_Logo_2020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5" title="VK colored transparent logo.png"/>
          <p:cNvPicPr preferRelativeResize="0"/>
          <p:nvPr/>
        </p:nvPicPr>
        <p:blipFill rotWithShape="1">
          <a:blip r:embed="rId6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5" name="Google Shape;12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714641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3528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722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9916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1" name="Google Shape;131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229350" y="1739051"/>
            <a:ext cx="5429250" cy="380129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33400" y="1739056"/>
            <a:ext cx="5429250" cy="242887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533400" y="438150"/>
            <a:ext cx="1112520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25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Problem Context &amp; User Journey</a:t>
            </a:r>
          </a:p>
        </p:txBody>
      </p:sp>
      <p:sp>
        <p:nvSpPr>
          <p:cNvPr id="135" name="Google Shape;135;p16"/>
          <p:cNvSpPr txBox="1"/>
          <p:nvPr/>
        </p:nvSpPr>
        <p:spPr>
          <a:xfrm>
            <a:off x="695325" y="5838653"/>
            <a:ext cx="90489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37" u="none" cap="none" strike="noStrik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Submission Note: </a:t>
            </a:r>
            <a:r>
              <a:rPr b="0" i="0" lang="en-US" sz="93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Team ID: VK26-IITI-HT-0050 | Track: Health Tech | Stage 2 focus: prove a reproducible LIG process on our own 100 W laser before any sensor claim.</a:t>
            </a:r>
          </a:p>
        </p:txBody>
      </p:sp>
      <p:sp>
        <p:nvSpPr>
          <p:cNvPr id="136" name="Google Shape;136;p16"/>
          <p:cNvSpPr txBox="1"/>
          <p:nvPr/>
        </p:nvSpPr>
        <p:spPr>
          <a:xfrm>
            <a:off x="695325" y="1080045"/>
            <a:ext cx="2343150" cy="2303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369A1"/>
                </a:solidFill>
                <a:latin typeface="Poppins"/>
                <a:ea typeface="Poppins"/>
                <a:cs typeface="Poppins"/>
                <a:sym typeface="Poppins"/>
              </a:rPr>
              <a:t>44.9 %</a:t>
            </a:r>
          </a:p>
        </p:txBody>
      </p:sp>
      <p:sp>
        <p:nvSpPr>
          <p:cNvPr id="137" name="Google Shape;137;p16"/>
          <p:cNvSpPr txBox="1"/>
          <p:nvPr/>
        </p:nvSpPr>
        <p:spPr>
          <a:xfrm>
            <a:off x="695325" y="1339006"/>
            <a:ext cx="23431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2" u="none" cap="none" strike="noStrike">
                <a:solidFill>
                  <a:srgbClr val="64748B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CHANGES AT OPTIMAL MOISTURE [C]</a:t>
            </a:r>
          </a:p>
        </p:txBody>
      </p:sp>
      <p:sp>
        <p:nvSpPr>
          <p:cNvPr id="138" name="Google Shape;138;p16"/>
          <p:cNvSpPr txBox="1"/>
          <p:nvPr/>
        </p:nvSpPr>
        <p:spPr>
          <a:xfrm>
            <a:off x="3514725" y="1080045"/>
            <a:ext cx="2343150" cy="2303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369A1"/>
                </a:solidFill>
                <a:latin typeface="Poppins"/>
                <a:ea typeface="Poppins"/>
                <a:cs typeface="Poppins"/>
                <a:sym typeface="Poppins"/>
              </a:rPr>
              <a:t>≈ 2 cm</a:t>
            </a:r>
          </a:p>
        </p:txBody>
      </p:sp>
      <p:sp>
        <p:nvSpPr>
          <p:cNvPr id="139" name="Google Shape;139;p16"/>
          <p:cNvSpPr txBox="1"/>
          <p:nvPr/>
        </p:nvSpPr>
        <p:spPr>
          <a:xfrm>
            <a:off x="3514725" y="1339006"/>
            <a:ext cx="23431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2" u="none" cap="none" strike="noStrike">
                <a:solidFill>
                  <a:srgbClr val="64748B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MAKER'S CHANGE LINE FROM EDGE [C]</a:t>
            </a:r>
          </a:p>
        </p:txBody>
      </p:sp>
      <p:sp>
        <p:nvSpPr>
          <p:cNvPr id="140" name="Google Shape;140;p16"/>
          <p:cNvSpPr txBox="1"/>
          <p:nvPr/>
        </p:nvSpPr>
        <p:spPr>
          <a:xfrm>
            <a:off x="6334125" y="1080045"/>
            <a:ext cx="2343150" cy="2303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369A1"/>
                </a:solidFill>
                <a:latin typeface="Poppins"/>
                <a:ea typeface="Poppins"/>
                <a:cs typeface="Poppins"/>
                <a:sym typeface="Poppins"/>
              </a:rPr>
              <a:t>&lt; 35 Ω/sq</a:t>
            </a:r>
          </a:p>
        </p:txBody>
      </p:sp>
      <p:sp>
        <p:nvSpPr>
          <p:cNvPr id="141" name="Google Shape;141;p16"/>
          <p:cNvSpPr txBox="1"/>
          <p:nvPr/>
        </p:nvSpPr>
        <p:spPr>
          <a:xfrm>
            <a:off x="6334125" y="1339006"/>
            <a:ext cx="23431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2" u="none" cap="none" strike="noStrike">
                <a:solidFill>
                  <a:srgbClr val="64748B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LIG BENCHMARK, LIN 2014 [C]</a:t>
            </a:r>
          </a:p>
        </p:txBody>
      </p:sp>
      <p:sp>
        <p:nvSpPr>
          <p:cNvPr id="142" name="Google Shape;142;p16"/>
          <p:cNvSpPr txBox="1"/>
          <p:nvPr/>
        </p:nvSpPr>
        <p:spPr>
          <a:xfrm>
            <a:off x="9153525" y="1080045"/>
            <a:ext cx="2343150" cy="2303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369A1"/>
                </a:solidFill>
                <a:latin typeface="Poppins"/>
                <a:ea typeface="Poppins"/>
                <a:cs typeface="Poppins"/>
                <a:sym typeface="Poppins"/>
              </a:rPr>
              <a:t>'12'</a:t>
            </a:r>
          </a:p>
        </p:txBody>
      </p:sp>
      <p:sp>
        <p:nvSpPr>
          <p:cNvPr id="143" name="Google Shape;143;p16"/>
          <p:cNvSpPr txBox="1"/>
          <p:nvPr/>
        </p:nvSpPr>
        <p:spPr>
          <a:xfrm>
            <a:off x="9153525" y="1339006"/>
            <a:ext cx="23431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2" u="none" cap="none" strike="noStrike">
                <a:solidFill>
                  <a:srgbClr val="64748B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OUR EARLIER LASER SETTING [A]</a:t>
            </a:r>
          </a:p>
        </p:txBody>
      </p:sp>
      <p:sp>
        <p:nvSpPr>
          <p:cNvPr id="144" name="Google Shape;144;p16"/>
          <p:cNvSpPr txBox="1"/>
          <p:nvPr/>
        </p:nvSpPr>
        <p:spPr>
          <a:xfrm>
            <a:off x="533400" y="4215556"/>
            <a:ext cx="5429250" cy="1587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62" u="none" cap="none" strike="noStrike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Figure: before-state vs planned after-state (team diagram; after-state not yet built or tested)</a:t>
            </a:r>
          </a:p>
        </p:txBody>
      </p:sp>
      <p:pic>
        <p:nvPicPr>
          <p:cNvPr descr="image.png" id="145" name="Google Shape;145;p16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542925" y="1748581"/>
            <a:ext cx="5410200" cy="2409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6" name="Google Shape;146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448425" y="1958131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/>
          <p:nvPr/>
        </p:nvSpPr>
        <p:spPr>
          <a:xfrm>
            <a:off x="6698009" y="1939081"/>
            <a:ext cx="3215729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Target Beneficiary &amp; Before-State User Flow</a:t>
            </a:r>
            <a:endParaRPr/>
          </a:p>
        </p:txBody>
      </p:sp>
      <p:sp>
        <p:nvSpPr>
          <p:cNvPr id="148" name="Google Shape;148;p16"/>
          <p:cNvSpPr txBox="1"/>
          <p:nvPr/>
        </p:nvSpPr>
        <p:spPr>
          <a:xfrm>
            <a:off x="6638925" y="2243881"/>
            <a:ext cx="4800600" cy="372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Target User: </a:t>
            </a:r>
            <a:r>
              <a:rPr b="0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wound-care nurses and patients with exuding chronic wounds (diabetic foot and pressure ulcers) in clinics and home care.</a:t>
            </a:r>
          </a:p>
        </p:txBody>
      </p:sp>
      <p:sp>
        <p:nvSpPr>
          <p:cNvPr id="149" name="Google Shape;149;p16"/>
          <p:cNvSpPr txBox="1"/>
          <p:nvPr/>
        </p:nvSpPr>
        <p:spPr>
          <a:xfrm>
            <a:off x="6638925" y="2702272"/>
            <a:ext cx="4800600" cy="558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Operational Bottleneck: </a:t>
            </a:r>
            <a:r>
              <a:rPr b="0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change decision depends on seeing the exudate front; under bandages it is hidden, so changes follow a schedule or leakage [C; to confirm in nurse interviews].</a:t>
            </a:r>
          </a:p>
        </p:txBody>
      </p:sp>
      <p:sp>
        <p:nvSpPr>
          <p:cNvPr id="150" name="Google Shape;150;p16"/>
          <p:cNvSpPr txBox="1"/>
          <p:nvPr/>
        </p:nvSpPr>
        <p:spPr>
          <a:xfrm>
            <a:off x="6638925" y="3346995"/>
            <a:ext cx="4800600" cy="558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Before-State Flow: </a:t>
            </a:r>
            <a:r>
              <a:rPr b="0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dressing applied → exudate spreads unseen → scheduled change or leakage → wound bed disturbed or skin macerated → repeat.</a:t>
            </a:r>
          </a:p>
        </p:txBody>
      </p:sp>
      <p:sp>
        <p:nvSpPr>
          <p:cNvPr id="151" name="Google Shape;151;p16"/>
          <p:cNvSpPr txBox="1"/>
          <p:nvPr/>
        </p:nvSpPr>
        <p:spPr>
          <a:xfrm>
            <a:off x="6638925" y="3991719"/>
            <a:ext cx="4800600" cy="558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Public Search Disclosure: </a:t>
            </a:r>
            <a:r>
              <a:rPr b="0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WoundSense single-point impedance sensor; McColl 2007 8-point in-vitro moisture array; moisture-map patents; Stanford closed-loop bandage 2022 [C]. Novelty of our approach is NOT yet established.</a:t>
            </a:r>
          </a:p>
        </p:txBody>
      </p:sp>
      <p:sp>
        <p:nvSpPr>
          <p:cNvPr id="152" name="Google Shape;152;p16"/>
          <p:cNvSpPr txBox="1"/>
          <p:nvPr/>
        </p:nvSpPr>
        <p:spPr>
          <a:xfrm>
            <a:off x="6467475" y="2234356"/>
            <a:ext cx="571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5966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6467475" y="2692747"/>
            <a:ext cx="571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5966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154" name="Google Shape;154;p16"/>
          <p:cNvSpPr txBox="1"/>
          <p:nvPr/>
        </p:nvSpPr>
        <p:spPr>
          <a:xfrm>
            <a:off x="6467475" y="3337470"/>
            <a:ext cx="571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5966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6467475" y="3982194"/>
            <a:ext cx="571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5966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pic>
        <p:nvPicPr>
          <p:cNvPr id="156" name="Google Shape;156;p16" title="MBF_Logo_2020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6" title="VK colored transparent logo.png"/>
          <p:cNvPicPr preferRelativeResize="0"/>
          <p:nvPr/>
        </p:nvPicPr>
        <p:blipFill rotWithShape="1">
          <a:blip r:embed="rId14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2" name="Google Shape;16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425" y="1614175"/>
            <a:ext cx="3530649" cy="2438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3" name="Google Shape;163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30674" y="1614175"/>
            <a:ext cx="3530649" cy="2438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4" name="Google Shape;164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89924" y="1614175"/>
            <a:ext cx="3530649" cy="24384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/>
        </p:nvSpPr>
        <p:spPr>
          <a:xfrm>
            <a:off x="809550" y="2357125"/>
            <a:ext cx="3207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System Block Diagram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809550" y="2785750"/>
            <a:ext cx="30543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Now: film → 100 W CO₂ laser → test coupon → multimeter + microscope → CSV → sheet resistance and repeatability. Planned: LIG strip → ESP32-C3 + 16-bit ADC → phone.</a:t>
            </a:r>
          </a:p>
        </p:txBody>
      </p:sp>
      <p:sp>
        <p:nvSpPr>
          <p:cNvPr id="167" name="Google Shape;167;p17"/>
          <p:cNvSpPr txBox="1"/>
          <p:nvPr/>
        </p:nvSpPr>
        <p:spPr>
          <a:xfrm>
            <a:off x="4568799" y="2357125"/>
            <a:ext cx="3207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Target Specifications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4568799" y="2785750"/>
            <a:ext cx="30543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Targets [B]: sheet resistance ≤ 100 Ω/sq; run-to-run CV ≤ 20 %; line growth measured; strip dry/wet contrast ≥ 100×; strip cost ≤ ₹100.</a:t>
            </a:r>
          </a:p>
        </p:txBody>
      </p:sp>
      <p:sp>
        <p:nvSpPr>
          <p:cNvPr id="169" name="Google Shape;169;p17"/>
          <p:cNvSpPr txBox="1"/>
          <p:nvPr/>
        </p:nvSpPr>
        <p:spPr>
          <a:xfrm>
            <a:off x="8328049" y="2357125"/>
            <a:ext cx="3207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Hardware Selection</a:t>
            </a:r>
            <a:endParaRPr/>
          </a:p>
        </p:txBody>
      </p:sp>
      <p:sp>
        <p:nvSpPr>
          <p:cNvPr id="170" name="Google Shape;170;p17"/>
          <p:cNvSpPr txBox="1"/>
          <p:nvPr/>
        </p:nvSpPr>
        <p:spPr>
          <a:xfrm>
            <a:off x="8328049" y="2785750"/>
            <a:ext cx="3054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100 W CO₂ laser with LaserCAD V8.28 (1200×900 mm, 20 kHz PWM) [A]; multimeter; microscope. Planned: ESP32-C3, ADS1115, TMP117.</a:t>
            </a:r>
          </a:p>
        </p:txBody>
      </p:sp>
      <p:pic>
        <p:nvPicPr>
          <p:cNvPr descr="image.png" id="171" name="Google Shape;171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550" y="1880875"/>
            <a:ext cx="3429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2" name="Google Shape;172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568799" y="1880875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3" name="Google Shape;173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328049" y="1880875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7"/>
          <p:cNvSpPr txBox="1"/>
          <p:nvPr/>
        </p:nvSpPr>
        <p:spPr>
          <a:xfrm>
            <a:off x="571500" y="47625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System Architecture &amp; Specs</a:t>
            </a:r>
          </a:p>
        </p:txBody>
      </p:sp>
      <p:pic>
        <p:nvPicPr>
          <p:cNvPr id="175" name="Google Shape;175;p17" title="MBF_Logo_2020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17" title="VK colored transparent logo.png"/>
          <p:cNvPicPr preferRelativeResize="0"/>
          <p:nvPr/>
        </p:nvPicPr>
        <p:blipFill rotWithShape="1">
          <a:blip r:embed="rId10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2" name="Google Shape;18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3" name="Google Shape;183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310956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4" name="Google Shape;184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29350" y="956224"/>
            <a:ext cx="5429250" cy="4076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5" name="Google Shape;185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3400" y="956220"/>
            <a:ext cx="5429250" cy="242887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8"/>
          <p:cNvSpPr txBox="1"/>
          <p:nvPr/>
        </p:nvSpPr>
        <p:spPr>
          <a:xfrm>
            <a:off x="533400" y="438150"/>
            <a:ext cx="1112520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25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System Architecture &amp; Specs</a:t>
            </a:r>
          </a:p>
        </p:txBody>
      </p:sp>
      <p:sp>
        <p:nvSpPr>
          <p:cNvPr id="188" name="Google Shape;188;p18"/>
          <p:cNvSpPr txBox="1"/>
          <p:nvPr/>
        </p:nvSpPr>
        <p:spPr>
          <a:xfrm>
            <a:off x="723900" y="5406206"/>
            <a:ext cx="9515400" cy="35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37" u="none" cap="none" strike="noStrik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Architecture Rationale: </a:t>
            </a:r>
            <a:r>
              <a:rPr b="0" i="0" lang="en-US" sz="93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material first — no sensor or electronics claim until the LIG process is shown to be reproducible on our own machine (Experiment E1).</a:t>
            </a:r>
          </a:p>
        </p:txBody>
      </p:sp>
      <p:sp>
        <p:nvSpPr>
          <p:cNvPr id="189" name="Google Shape;189;p18"/>
          <p:cNvSpPr txBox="1"/>
          <p:nvPr/>
        </p:nvSpPr>
        <p:spPr>
          <a:xfrm>
            <a:off x="533400" y="3432720"/>
            <a:ext cx="5429250" cy="1587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62" u="none" cap="none" strike="noStrike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Figure: Stage 2 measurement chain (now) and Stage 3 readout chain (planned) — team diagram</a:t>
            </a:r>
          </a:p>
        </p:txBody>
      </p:sp>
      <p:graphicFrame>
        <p:nvGraphicFramePr>
          <p:cNvPr id="190" name="Google Shape;190;p18"/>
          <p:cNvGraphicFramePr/>
          <p:nvPr/>
        </p:nvGraphicFramePr>
        <p:xfrm>
          <a:off x="6448425" y="14610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{A2EFB60C-4C19-4109-8612-B18C57E068F9}</a:tableStyleId>
              </a:tblPr>
              <a:tblGrid>
                <a:gridCol w="1276500"/>
                <a:gridCol w="1176775"/>
                <a:gridCol w="2537825"/>
              </a:tblGrid>
              <a:tr h="431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37" u="none" cap="none" strike="noStrik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Parameter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37" u="none" cap="none" strike="noStrik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Target Spec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37" u="none" cap="none" strike="noStrik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Selected Hardware / Protocol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5F9"/>
                    </a:solidFill>
                  </a:tcPr>
                </a:tc>
              </a:tr>
              <a:tr h="431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Laser source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Setting + tube mA logged per cell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100 W CO₂ tube, LaserCAD V8.28 [A]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1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Sheet resistance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≤ 100 Ω/sq (target)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3-length strips + multimeter [B]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1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Repeatability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CV ≤ 20 % over 2 days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Reference cell ×2 per coupon [B]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1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Line width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Measured vs drawn 2.00 mm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Optical microscope + scale [B]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1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Zone readout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Dry/wet ≥ 100× (planned)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ESP32-C3 + ADS1115 16-bit [B]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1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Temperature ref.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±0.1 °C class sensor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TMP117, I²C (datasheet) [C]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image.png" id="191" name="Google Shape;191;p18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42925" y="965745"/>
            <a:ext cx="5410200" cy="2409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2" name="Google Shape;192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48425" y="11752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18"/>
          <p:cNvSpPr txBox="1"/>
          <p:nvPr/>
        </p:nvSpPr>
        <p:spPr>
          <a:xfrm>
            <a:off x="6698009" y="1156245"/>
            <a:ext cx="3507134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Engineering Target Specifications &amp; Subsystems</a:t>
            </a:r>
            <a:endParaRPr/>
          </a:p>
        </p:txBody>
      </p:sp>
      <p:sp>
        <p:nvSpPr>
          <p:cNvPr id="194" name="Google Shape;194;p18"/>
          <p:cNvSpPr/>
          <p:nvPr/>
        </p:nvSpPr>
        <p:spPr>
          <a:xfrm>
            <a:off x="6448425" y="1775370"/>
            <a:ext cx="1276498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/>
          <p:nvPr/>
        </p:nvSpPr>
        <p:spPr>
          <a:xfrm>
            <a:off x="7724923" y="1775370"/>
            <a:ext cx="1176783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8901707" y="1775370"/>
            <a:ext cx="2537817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6448425" y="2237333"/>
            <a:ext cx="127649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/>
          <p:nvPr/>
        </p:nvSpPr>
        <p:spPr>
          <a:xfrm>
            <a:off x="7724923" y="2237333"/>
            <a:ext cx="11767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8"/>
          <p:cNvSpPr/>
          <p:nvPr/>
        </p:nvSpPr>
        <p:spPr>
          <a:xfrm>
            <a:off x="8901707" y="2237333"/>
            <a:ext cx="25378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8"/>
          <p:cNvSpPr/>
          <p:nvPr/>
        </p:nvSpPr>
        <p:spPr>
          <a:xfrm>
            <a:off x="6448425" y="2685008"/>
            <a:ext cx="127649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8"/>
          <p:cNvSpPr/>
          <p:nvPr/>
        </p:nvSpPr>
        <p:spPr>
          <a:xfrm>
            <a:off x="7724923" y="2685008"/>
            <a:ext cx="11767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8"/>
          <p:cNvSpPr/>
          <p:nvPr/>
        </p:nvSpPr>
        <p:spPr>
          <a:xfrm>
            <a:off x="8901707" y="2685008"/>
            <a:ext cx="25378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8"/>
          <p:cNvSpPr/>
          <p:nvPr/>
        </p:nvSpPr>
        <p:spPr>
          <a:xfrm>
            <a:off x="6448425" y="3132683"/>
            <a:ext cx="127649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/>
          <p:nvPr/>
        </p:nvSpPr>
        <p:spPr>
          <a:xfrm>
            <a:off x="7724923" y="3132683"/>
            <a:ext cx="11767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8"/>
          <p:cNvSpPr/>
          <p:nvPr/>
        </p:nvSpPr>
        <p:spPr>
          <a:xfrm>
            <a:off x="8901707" y="3132683"/>
            <a:ext cx="25378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8"/>
          <p:cNvSpPr/>
          <p:nvPr/>
        </p:nvSpPr>
        <p:spPr>
          <a:xfrm>
            <a:off x="6448425" y="3580358"/>
            <a:ext cx="127649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8"/>
          <p:cNvSpPr/>
          <p:nvPr/>
        </p:nvSpPr>
        <p:spPr>
          <a:xfrm>
            <a:off x="7724923" y="3580358"/>
            <a:ext cx="11767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8"/>
          <p:cNvSpPr/>
          <p:nvPr/>
        </p:nvSpPr>
        <p:spPr>
          <a:xfrm>
            <a:off x="8901707" y="3580358"/>
            <a:ext cx="25378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8"/>
          <p:cNvSpPr/>
          <p:nvPr/>
        </p:nvSpPr>
        <p:spPr>
          <a:xfrm>
            <a:off x="6448425" y="4028033"/>
            <a:ext cx="127649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8"/>
          <p:cNvSpPr/>
          <p:nvPr/>
        </p:nvSpPr>
        <p:spPr>
          <a:xfrm>
            <a:off x="7724923" y="4028033"/>
            <a:ext cx="11767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8"/>
          <p:cNvSpPr/>
          <p:nvPr/>
        </p:nvSpPr>
        <p:spPr>
          <a:xfrm>
            <a:off x="8901707" y="4028033"/>
            <a:ext cx="25378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2" name="Google Shape;212;p18" title="MBF_Logo_2020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18" title="VK colored transparent logo.png"/>
          <p:cNvPicPr preferRelativeResize="0"/>
          <p:nvPr/>
        </p:nvPicPr>
        <p:blipFill rotWithShape="1">
          <a:blip r:embed="rId11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8" name="Google Shape;21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48400" y="1190625"/>
            <a:ext cx="5372100" cy="400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9" name="Google Shape;219;p19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257925" y="1200150"/>
            <a:ext cx="5353050" cy="398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9"/>
          <p:cNvSpPr txBox="1"/>
          <p:nvPr/>
        </p:nvSpPr>
        <p:spPr>
          <a:xfrm>
            <a:off x="914400" y="1402378"/>
            <a:ext cx="5029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Design Assets (now): 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parametric laser test coupon (Python → DXF, shown). Strip and test-rig CAD start after line width is measured.</a:t>
            </a:r>
          </a:p>
        </p:txBody>
      </p:sp>
      <p:sp>
        <p:nvSpPr>
          <p:cNvPr id="221" name="Google Shape;221;p19"/>
          <p:cNvSpPr txBox="1"/>
          <p:nvPr/>
        </p:nvSpPr>
        <p:spPr>
          <a:xfrm>
            <a:off x="914400" y="2011978"/>
            <a:ext cx="5029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Material Selection: 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polyimide (Kapton-type) film, grade and thickness to be measured [B]; polyimide tape to seal traces; no wound contact.</a:t>
            </a:r>
          </a:p>
        </p:txBody>
      </p:sp>
      <p:sp>
        <p:nvSpPr>
          <p:cNvPr id="222" name="Google Shape;222;p19"/>
          <p:cNvSpPr txBox="1"/>
          <p:nvPr/>
        </p:nvSpPr>
        <p:spPr>
          <a:xfrm>
            <a:off x="914400" y="2621578"/>
            <a:ext cx="5029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Mechanical Testing: 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no FEA claimed; bending durability will be measured (1,000 bends, 10 mm radius), not simulated [B].</a:t>
            </a:r>
          </a:p>
        </p:txBody>
      </p:sp>
      <p:pic>
        <p:nvPicPr>
          <p:cNvPr descr="image.png" id="223" name="Google Shape;223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141666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4" name="Google Shape;224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202626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5" name="Google Shape;225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2635865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19"/>
          <p:cNvSpPr txBox="1"/>
          <p:nvPr/>
        </p:nvSpPr>
        <p:spPr>
          <a:xfrm>
            <a:off x="571500" y="47625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CAD Design &amp; Mechanical Specs</a:t>
            </a:r>
          </a:p>
        </p:txBody>
      </p:sp>
      <p:pic>
        <p:nvPicPr>
          <p:cNvPr id="227" name="Google Shape;227;p19" title="MBF_Logo_2020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19" title="VK colored transparent logo.png"/>
          <p:cNvPicPr preferRelativeResize="0"/>
          <p:nvPr/>
        </p:nvPicPr>
        <p:blipFill rotWithShape="1">
          <a:blip r:embed="rId9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4" name="Google Shape;234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5" name="Google Shape;235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551726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6" name="Google Shape;236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29350" y="956224"/>
            <a:ext cx="5429250" cy="3559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7" name="Google Shape;237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3400" y="956220"/>
            <a:ext cx="5429250" cy="2428875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0"/>
          <p:cNvSpPr txBox="1"/>
          <p:nvPr/>
        </p:nvSpPr>
        <p:spPr>
          <a:xfrm>
            <a:off x="533400" y="438150"/>
            <a:ext cx="1112520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25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CAD Design &amp; Mechanical Specs</a:t>
            </a:r>
          </a:p>
        </p:txBody>
      </p:sp>
      <p:sp>
        <p:nvSpPr>
          <p:cNvPr id="240" name="Google Shape;240;p20"/>
          <p:cNvSpPr txBox="1"/>
          <p:nvPr/>
        </p:nvSpPr>
        <p:spPr>
          <a:xfrm>
            <a:off x="723900" y="5646976"/>
            <a:ext cx="8620200" cy="35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37" u="none" cap="none" strike="noStrik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Design Iteration: </a:t>
            </a:r>
            <a:r>
              <a:rPr b="0" i="0" lang="en-US" sz="93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Stage 1 closed-loop electrotherapy bandage re-scoped: the LIG process must be proven first; stimulation deferred.</a:t>
            </a:r>
          </a:p>
        </p:txBody>
      </p:sp>
      <p:sp>
        <p:nvSpPr>
          <p:cNvPr id="241" name="Google Shape;241;p20"/>
          <p:cNvSpPr txBox="1"/>
          <p:nvPr/>
        </p:nvSpPr>
        <p:spPr>
          <a:xfrm>
            <a:off x="533400" y="3432720"/>
            <a:ext cx="5429250" cy="1587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62" u="none" cap="none" strike="noStrike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Figure: lig_test_coupon.dxf generated by make_test_pattern.py (real design file; not yet fabricated)</a:t>
            </a:r>
          </a:p>
        </p:txBody>
      </p:sp>
      <p:pic>
        <p:nvPicPr>
          <p:cNvPr descr="image.png" id="242" name="Google Shape;242;p20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42925" y="965745"/>
            <a:ext cx="5410200" cy="2409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3" name="Google Shape;243;p2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48425" y="11752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0"/>
          <p:cNvSpPr txBox="1"/>
          <p:nvPr/>
        </p:nvSpPr>
        <p:spPr>
          <a:xfrm>
            <a:off x="6698009" y="1156245"/>
            <a:ext cx="3088034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Design File &amp; Fabrication Constraints</a:t>
            </a:r>
          </a:p>
        </p:txBody>
      </p:sp>
      <p:sp>
        <p:nvSpPr>
          <p:cNvPr id="245" name="Google Shape;245;p20"/>
          <p:cNvSpPr txBox="1"/>
          <p:nvPr/>
        </p:nvSpPr>
        <p:spPr>
          <a:xfrm>
            <a:off x="6638925" y="1461045"/>
            <a:ext cx="4800600" cy="372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Test Coupon: </a:t>
            </a:r>
            <a:r>
              <a:rPr b="0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6 cells × 3 strips, 2.00 mm wide, 8/16/24 mm long, 4 × 4 mm pads; one closed outline each, no overlaps.</a:t>
            </a:r>
          </a:p>
        </p:txBody>
      </p:sp>
      <p:sp>
        <p:nvSpPr>
          <p:cNvPr id="246" name="Google Shape;246;p20"/>
          <p:cNvSpPr txBox="1"/>
          <p:nvPr/>
        </p:nvSpPr>
        <p:spPr>
          <a:xfrm>
            <a:off x="6638925" y="1919436"/>
            <a:ext cx="4800600" cy="372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Why 3 Lengths: </a:t>
            </a:r>
            <a:r>
              <a:rPr b="0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 = Rs·L/W + R0; the slope gives sheet resistance, the intercept gives contact resistance.</a:t>
            </a:r>
          </a:p>
        </p:txBody>
      </p:sp>
      <p:sp>
        <p:nvSpPr>
          <p:cNvPr id="247" name="Google Shape;247;p20"/>
          <p:cNvSpPr txBox="1"/>
          <p:nvPr/>
        </p:nvSpPr>
        <p:spPr>
          <a:xfrm>
            <a:off x="6638925" y="2377826"/>
            <a:ext cx="4800600" cy="372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Laser Settings: </a:t>
            </a:r>
            <a:r>
              <a:rPr b="0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each colour layer has its own power and speed in LaserCAD; the reference cell appears twice per coupon.</a:t>
            </a:r>
          </a:p>
        </p:txBody>
      </p:sp>
      <p:sp>
        <p:nvSpPr>
          <p:cNvPr id="248" name="Google Shape;248;p20"/>
          <p:cNvSpPr txBox="1"/>
          <p:nvPr/>
        </p:nvSpPr>
        <p:spPr>
          <a:xfrm>
            <a:off x="6638925" y="2836217"/>
            <a:ext cx="4800600" cy="372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Not Final: </a:t>
            </a:r>
            <a:r>
              <a:rPr b="0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sensor-strip gaps and pads depend on measured line growth and the minimum isolating gap [B].</a:t>
            </a:r>
          </a:p>
        </p:txBody>
      </p:sp>
      <p:sp>
        <p:nvSpPr>
          <p:cNvPr id="249" name="Google Shape;249;p20"/>
          <p:cNvSpPr txBox="1"/>
          <p:nvPr/>
        </p:nvSpPr>
        <p:spPr>
          <a:xfrm>
            <a:off x="6638925" y="3294608"/>
            <a:ext cx="4800600" cy="372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Next CAD (SolidWorks): </a:t>
            </a:r>
            <a:r>
              <a:rPr b="0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laser alignment plate, bending jig and dressing test rig, after E1 gives real dimensions.</a:t>
            </a:r>
          </a:p>
        </p:txBody>
      </p:sp>
      <p:sp>
        <p:nvSpPr>
          <p:cNvPr id="250" name="Google Shape;250;p20"/>
          <p:cNvSpPr txBox="1"/>
          <p:nvPr/>
        </p:nvSpPr>
        <p:spPr>
          <a:xfrm>
            <a:off x="6467475" y="1451520"/>
            <a:ext cx="571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5966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251" name="Google Shape;251;p20"/>
          <p:cNvSpPr txBox="1"/>
          <p:nvPr/>
        </p:nvSpPr>
        <p:spPr>
          <a:xfrm>
            <a:off x="6467475" y="1909911"/>
            <a:ext cx="571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5966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252" name="Google Shape;252;p20"/>
          <p:cNvSpPr txBox="1"/>
          <p:nvPr/>
        </p:nvSpPr>
        <p:spPr>
          <a:xfrm>
            <a:off x="6467475" y="2368301"/>
            <a:ext cx="571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5966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253" name="Google Shape;253;p20"/>
          <p:cNvSpPr txBox="1"/>
          <p:nvPr/>
        </p:nvSpPr>
        <p:spPr>
          <a:xfrm>
            <a:off x="6467475" y="2826692"/>
            <a:ext cx="571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5966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254" name="Google Shape;254;p20"/>
          <p:cNvSpPr txBox="1"/>
          <p:nvPr/>
        </p:nvSpPr>
        <p:spPr>
          <a:xfrm>
            <a:off x="6467475" y="3285083"/>
            <a:ext cx="571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5966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pic>
        <p:nvPicPr>
          <p:cNvPr id="255" name="Google Shape;255;p20" title="MBF_Logo_2020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0" title="VK colored transparent logo.png"/>
          <p:cNvPicPr preferRelativeResize="0"/>
          <p:nvPr/>
        </p:nvPicPr>
        <p:blipFill rotWithShape="1">
          <a:blip r:embed="rId11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1" name="Google Shape;26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1190625"/>
            <a:ext cx="5372100" cy="400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2" name="Google Shape;262;p2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81025" y="1200150"/>
            <a:ext cx="5353050" cy="398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1"/>
          <p:cNvSpPr txBox="1"/>
          <p:nvPr/>
        </p:nvSpPr>
        <p:spPr>
          <a:xfrm>
            <a:off x="6591300" y="1451262"/>
            <a:ext cx="5029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Circuit Schematics: 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Stage 2 needs no custom circuit (2-wire multimeter per strip). Planned zone readout shown; not yet built.</a:t>
            </a:r>
          </a:p>
        </p:txBody>
      </p:sp>
      <p:sp>
        <p:nvSpPr>
          <p:cNvPr id="264" name="Google Shape;264;p21"/>
          <p:cNvSpPr txBox="1"/>
          <p:nvPr/>
        </p:nvSpPr>
        <p:spPr>
          <a:xfrm>
            <a:off x="6591300" y="2060862"/>
            <a:ext cx="5029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Itemized BOM Table: 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next slide; characterisation + readout ≈ ₹1.7–3.6k (estimates), excluding film.</a:t>
            </a:r>
          </a:p>
        </p:txBody>
      </p:sp>
      <p:sp>
        <p:nvSpPr>
          <p:cNvPr id="265" name="Google Shape;265;p21"/>
          <p:cNvSpPr txBox="1"/>
          <p:nvPr/>
        </p:nvSpPr>
        <p:spPr>
          <a:xfrm>
            <a:off x="6591300" y="2670462"/>
            <a:ext cx="5029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Procurement Sourcing: 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nothing ordered, no quotations yet; prices are estimates or public listings seen on 14 Oct 2026.</a:t>
            </a:r>
          </a:p>
        </p:txBody>
      </p:sp>
      <p:pic>
        <p:nvPicPr>
          <p:cNvPr descr="image.png" id="266" name="Google Shape;266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48400" y="1465549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7" name="Google Shape;267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48400" y="2075149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8" name="Google Shape;268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48400" y="2684749"/>
            <a:ext cx="2381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21"/>
          <p:cNvSpPr txBox="1"/>
          <p:nvPr/>
        </p:nvSpPr>
        <p:spPr>
          <a:xfrm>
            <a:off x="571500" y="47625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Electronics Schematics &amp; BOM</a:t>
            </a:r>
          </a:p>
        </p:txBody>
      </p:sp>
      <p:pic>
        <p:nvPicPr>
          <p:cNvPr id="270" name="Google Shape;270;p21" title="MBF_Logo_2020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21" title="VK colored transparent logo.png"/>
          <p:cNvPicPr preferRelativeResize="0"/>
          <p:nvPr/>
        </p:nvPicPr>
        <p:blipFill rotWithShape="1">
          <a:blip r:embed="rId9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7" name="Google Shape;277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8" name="Google Shape;278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749634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9" name="Google Shape;279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29350" y="956226"/>
            <a:ext cx="5429250" cy="4468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0" name="Google Shape;280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3400" y="956220"/>
            <a:ext cx="5429250" cy="2428875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22"/>
          <p:cNvSpPr txBox="1"/>
          <p:nvPr/>
        </p:nvSpPr>
        <p:spPr>
          <a:xfrm>
            <a:off x="533400" y="438150"/>
            <a:ext cx="1112520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25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Electronics Schematics &amp; BOM</a:t>
            </a:r>
          </a:p>
        </p:txBody>
      </p:sp>
      <p:sp>
        <p:nvSpPr>
          <p:cNvPr id="283" name="Google Shape;283;p22"/>
          <p:cNvSpPr txBox="1"/>
          <p:nvPr/>
        </p:nvSpPr>
        <p:spPr>
          <a:xfrm>
            <a:off x="723900" y="5844884"/>
            <a:ext cx="7258200" cy="35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37" u="none" cap="none" strike="noStrik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Procurement Status: </a:t>
            </a:r>
            <a:r>
              <a:rPr b="0" i="0" lang="en-US" sz="93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nothing ordered yet. * estimate; † public listing seen 14 Oct 2026, not a quotation. Polyimide film stock and grade to confirm.</a:t>
            </a:r>
          </a:p>
        </p:txBody>
      </p:sp>
      <p:sp>
        <p:nvSpPr>
          <p:cNvPr id="284" name="Google Shape;284;p22"/>
          <p:cNvSpPr txBox="1"/>
          <p:nvPr/>
        </p:nvSpPr>
        <p:spPr>
          <a:xfrm>
            <a:off x="533400" y="3432720"/>
            <a:ext cx="5429250" cy="1587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62" u="none" cap="none" strike="noStrike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Figure: planned bipolar zone readout (schemdraw); KiCad capture pending — KiCad not installed</a:t>
            </a:r>
          </a:p>
        </p:txBody>
      </p:sp>
      <p:graphicFrame>
        <p:nvGraphicFramePr>
          <p:cNvPr id="285" name="Google Shape;285;p22"/>
          <p:cNvGraphicFramePr/>
          <p:nvPr/>
        </p:nvGraphicFramePr>
        <p:xfrm>
          <a:off x="6448425" y="14610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{A2EFB60C-4C19-4109-8612-B18C57E068F9}</a:tableStyleId>
              </a:tblPr>
              <a:tblGrid>
                <a:gridCol w="1137500"/>
                <a:gridCol w="1637400"/>
                <a:gridCol w="447675"/>
                <a:gridCol w="1005025"/>
                <a:gridCol w="763500"/>
              </a:tblGrid>
              <a:tr h="433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37" u="none" cap="none" strike="noStrik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Component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37" u="none" cap="none" strike="noStrik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Part / Specification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37" u="none" cap="none" strike="noStrik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Qty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37" u="none" cap="none" strike="noStrik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Lead Time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37" u="none" cap="none" strike="noStrik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Cost (INR)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5F9"/>
                    </a:solidFill>
                  </a:tcPr>
                </a:tc>
              </a:tr>
              <a:tr h="433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MCU (planned)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ESP32-C3 dev board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1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Local, TBC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₹250–700*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3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ADC (planned)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ADS1115 16-bit I²C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1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Local, TBC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₹200–450*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3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Temp. reference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TMP117 breakout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1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Online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₹446†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3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Ref. resistors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100 kΩ 0.1 %, 1 kΩ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4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Local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₹40–160*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3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Pad contacts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Silver paint + Cu tape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1+1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Local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₹750–1,800*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3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Test fluid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NaCl + CaCl₂ (Solution A)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Lab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Lab stock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₹0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3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Total (estimate, excl. film)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3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₹1.7–3.6k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image.png" id="286" name="Google Shape;286;p22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42925" y="965745"/>
            <a:ext cx="5410200" cy="2409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7" name="Google Shape;287;p2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48425" y="1175295"/>
            <a:ext cx="1162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2"/>
          <p:cNvSpPr txBox="1"/>
          <p:nvPr/>
        </p:nvSpPr>
        <p:spPr>
          <a:xfrm>
            <a:off x="6659909" y="1156245"/>
            <a:ext cx="3051869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Itemized Prototype Bill of Materials (BOM)</a:t>
            </a:r>
            <a:endParaRPr/>
          </a:p>
        </p:txBody>
      </p:sp>
      <p:sp>
        <p:nvSpPr>
          <p:cNvPr id="289" name="Google Shape;289;p22"/>
          <p:cNvSpPr/>
          <p:nvPr/>
        </p:nvSpPr>
        <p:spPr>
          <a:xfrm>
            <a:off x="6448425" y="1927770"/>
            <a:ext cx="1137493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2"/>
          <p:cNvSpPr/>
          <p:nvPr/>
        </p:nvSpPr>
        <p:spPr>
          <a:xfrm>
            <a:off x="7585918" y="1927770"/>
            <a:ext cx="1637407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2"/>
          <p:cNvSpPr/>
          <p:nvPr/>
        </p:nvSpPr>
        <p:spPr>
          <a:xfrm>
            <a:off x="9223325" y="1927770"/>
            <a:ext cx="447675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2"/>
          <p:cNvSpPr/>
          <p:nvPr/>
        </p:nvSpPr>
        <p:spPr>
          <a:xfrm>
            <a:off x="9671000" y="1927770"/>
            <a:ext cx="1005036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2"/>
          <p:cNvSpPr/>
          <p:nvPr/>
        </p:nvSpPr>
        <p:spPr>
          <a:xfrm>
            <a:off x="10676036" y="1927770"/>
            <a:ext cx="763488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2"/>
          <p:cNvSpPr/>
          <p:nvPr/>
        </p:nvSpPr>
        <p:spPr>
          <a:xfrm>
            <a:off x="6448425" y="2389733"/>
            <a:ext cx="113749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2"/>
          <p:cNvSpPr/>
          <p:nvPr/>
        </p:nvSpPr>
        <p:spPr>
          <a:xfrm>
            <a:off x="7585918" y="2389733"/>
            <a:ext cx="163740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2"/>
          <p:cNvSpPr/>
          <p:nvPr/>
        </p:nvSpPr>
        <p:spPr>
          <a:xfrm>
            <a:off x="9223325" y="2389733"/>
            <a:ext cx="4476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2"/>
          <p:cNvSpPr/>
          <p:nvPr/>
        </p:nvSpPr>
        <p:spPr>
          <a:xfrm>
            <a:off x="9671000" y="2389733"/>
            <a:ext cx="10050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2"/>
          <p:cNvSpPr/>
          <p:nvPr/>
        </p:nvSpPr>
        <p:spPr>
          <a:xfrm>
            <a:off x="10676036" y="2389733"/>
            <a:ext cx="76348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2"/>
          <p:cNvSpPr/>
          <p:nvPr/>
        </p:nvSpPr>
        <p:spPr>
          <a:xfrm>
            <a:off x="6448425" y="2837408"/>
            <a:ext cx="113749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2"/>
          <p:cNvSpPr/>
          <p:nvPr/>
        </p:nvSpPr>
        <p:spPr>
          <a:xfrm>
            <a:off x="7585918" y="2837408"/>
            <a:ext cx="163740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2"/>
          <p:cNvSpPr/>
          <p:nvPr/>
        </p:nvSpPr>
        <p:spPr>
          <a:xfrm>
            <a:off x="9223325" y="2837408"/>
            <a:ext cx="4476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2"/>
          <p:cNvSpPr/>
          <p:nvPr/>
        </p:nvSpPr>
        <p:spPr>
          <a:xfrm>
            <a:off x="9671000" y="2837408"/>
            <a:ext cx="10050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2"/>
          <p:cNvSpPr/>
          <p:nvPr/>
        </p:nvSpPr>
        <p:spPr>
          <a:xfrm>
            <a:off x="10676036" y="2837408"/>
            <a:ext cx="76348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2"/>
          <p:cNvSpPr/>
          <p:nvPr/>
        </p:nvSpPr>
        <p:spPr>
          <a:xfrm>
            <a:off x="6448425" y="3285083"/>
            <a:ext cx="113749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2"/>
          <p:cNvSpPr/>
          <p:nvPr/>
        </p:nvSpPr>
        <p:spPr>
          <a:xfrm>
            <a:off x="7585918" y="3285083"/>
            <a:ext cx="163740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2"/>
          <p:cNvSpPr/>
          <p:nvPr/>
        </p:nvSpPr>
        <p:spPr>
          <a:xfrm>
            <a:off x="9223325" y="3285083"/>
            <a:ext cx="4476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2"/>
          <p:cNvSpPr/>
          <p:nvPr/>
        </p:nvSpPr>
        <p:spPr>
          <a:xfrm>
            <a:off x="9671000" y="3285083"/>
            <a:ext cx="10050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2"/>
          <p:cNvSpPr/>
          <p:nvPr/>
        </p:nvSpPr>
        <p:spPr>
          <a:xfrm>
            <a:off x="10676036" y="3285083"/>
            <a:ext cx="76348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2"/>
          <p:cNvSpPr/>
          <p:nvPr/>
        </p:nvSpPr>
        <p:spPr>
          <a:xfrm>
            <a:off x="6448425" y="3732758"/>
            <a:ext cx="113749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2"/>
          <p:cNvSpPr/>
          <p:nvPr/>
        </p:nvSpPr>
        <p:spPr>
          <a:xfrm>
            <a:off x="7585918" y="3732758"/>
            <a:ext cx="163740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2"/>
          <p:cNvSpPr/>
          <p:nvPr/>
        </p:nvSpPr>
        <p:spPr>
          <a:xfrm>
            <a:off x="9223325" y="3732758"/>
            <a:ext cx="4476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22"/>
          <p:cNvSpPr/>
          <p:nvPr/>
        </p:nvSpPr>
        <p:spPr>
          <a:xfrm>
            <a:off x="9671000" y="3732758"/>
            <a:ext cx="10050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2"/>
          <p:cNvSpPr/>
          <p:nvPr/>
        </p:nvSpPr>
        <p:spPr>
          <a:xfrm>
            <a:off x="10676036" y="3732758"/>
            <a:ext cx="76348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2"/>
          <p:cNvSpPr/>
          <p:nvPr/>
        </p:nvSpPr>
        <p:spPr>
          <a:xfrm>
            <a:off x="6448425" y="4180433"/>
            <a:ext cx="113749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2"/>
          <p:cNvSpPr/>
          <p:nvPr/>
        </p:nvSpPr>
        <p:spPr>
          <a:xfrm>
            <a:off x="7585918" y="4180433"/>
            <a:ext cx="163740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2"/>
          <p:cNvSpPr/>
          <p:nvPr/>
        </p:nvSpPr>
        <p:spPr>
          <a:xfrm>
            <a:off x="9223325" y="4180433"/>
            <a:ext cx="4476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22"/>
          <p:cNvSpPr/>
          <p:nvPr/>
        </p:nvSpPr>
        <p:spPr>
          <a:xfrm>
            <a:off x="9671000" y="4180433"/>
            <a:ext cx="10050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2"/>
          <p:cNvSpPr/>
          <p:nvPr/>
        </p:nvSpPr>
        <p:spPr>
          <a:xfrm>
            <a:off x="10676036" y="4180433"/>
            <a:ext cx="76348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2"/>
          <p:cNvSpPr/>
          <p:nvPr/>
        </p:nvSpPr>
        <p:spPr>
          <a:xfrm>
            <a:off x="6448425" y="4628108"/>
            <a:ext cx="113749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2"/>
          <p:cNvSpPr/>
          <p:nvPr/>
        </p:nvSpPr>
        <p:spPr>
          <a:xfrm>
            <a:off x="7585918" y="4628108"/>
            <a:ext cx="163740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2"/>
          <p:cNvSpPr/>
          <p:nvPr/>
        </p:nvSpPr>
        <p:spPr>
          <a:xfrm>
            <a:off x="9223325" y="4628108"/>
            <a:ext cx="4476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22"/>
          <p:cNvSpPr/>
          <p:nvPr/>
        </p:nvSpPr>
        <p:spPr>
          <a:xfrm>
            <a:off x="9671000" y="4628108"/>
            <a:ext cx="10050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2"/>
          <p:cNvSpPr/>
          <p:nvPr/>
        </p:nvSpPr>
        <p:spPr>
          <a:xfrm>
            <a:off x="10676036" y="4628108"/>
            <a:ext cx="76348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4" name="Google Shape;324;p22" title="MBF_Logo_2020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22" title="VK colored transparent logo.png"/>
          <p:cNvPicPr preferRelativeResize="0"/>
          <p:nvPr/>
        </p:nvPicPr>
        <p:blipFill rotWithShape="1">
          <a:blip r:embed="rId11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0" name="Google Shape;330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3400" y="1429300"/>
            <a:ext cx="3555950" cy="373782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1" name="Google Shape;33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17950" y="1429300"/>
            <a:ext cx="3555950" cy="373782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2" name="Google Shape;332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02500" y="1429300"/>
            <a:ext cx="3556100" cy="3737824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23"/>
          <p:cNvSpPr txBox="1"/>
          <p:nvPr/>
        </p:nvSpPr>
        <p:spPr>
          <a:xfrm>
            <a:off x="533400" y="457200"/>
            <a:ext cx="111252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Your Maker Journey</a:t>
            </a:r>
          </a:p>
        </p:txBody>
      </p:sp>
      <p:sp>
        <p:nvSpPr>
          <p:cNvPr id="335" name="Google Shape;335;p23"/>
          <p:cNvSpPr txBox="1"/>
          <p:nvPr/>
        </p:nvSpPr>
        <p:spPr>
          <a:xfrm>
            <a:off x="771425" y="2110882"/>
            <a:ext cx="3079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Earlier work [A] and next steps [B]:</a:t>
            </a:r>
          </a:p>
        </p:txBody>
      </p:sp>
      <p:sp>
        <p:nvSpPr>
          <p:cNvPr id="336" name="Google Shape;336;p23"/>
          <p:cNvSpPr txBox="1"/>
          <p:nvPr/>
        </p:nvSpPr>
        <p:spPr>
          <a:xfrm>
            <a:off x="4572365" y="2230457"/>
            <a:ext cx="3079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Original assets in our repository:</a:t>
            </a:r>
          </a:p>
        </p:txBody>
      </p:sp>
      <p:sp>
        <p:nvSpPr>
          <p:cNvPr id="337" name="Google Shape;337;p23"/>
          <p:cNvSpPr txBox="1"/>
          <p:nvPr/>
        </p:nvSpPr>
        <p:spPr>
          <a:xfrm>
            <a:off x="8340526" y="2104852"/>
            <a:ext cx="30798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Repository link (to be added after upload):</a:t>
            </a:r>
          </a:p>
        </p:txBody>
      </p:sp>
      <p:pic>
        <p:nvPicPr>
          <p:cNvPr descr="image.png" id="338" name="Google Shape;338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22931" y="1620696"/>
            <a:ext cx="192425" cy="1963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3"/>
          <p:cNvSpPr txBox="1"/>
          <p:nvPr/>
        </p:nvSpPr>
        <p:spPr>
          <a:xfrm>
            <a:off x="982995" y="1599734"/>
            <a:ext cx="28893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Authenticity Verification</a:t>
            </a:r>
            <a:endParaRPr b="1" sz="165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0" name="Google Shape;340;p23"/>
          <p:cNvSpPr txBox="1"/>
          <p:nvPr/>
        </p:nvSpPr>
        <p:spPr>
          <a:xfrm>
            <a:off x="962025" y="2421528"/>
            <a:ext cx="2889300" cy="9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04800" lvl="0" marL="45720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Inter"/>
              <a:buChar char="●"/>
            </a:pPr>
            <a:r>
              <a:rPr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Earlier trial on Kapton at setting '12' gave a black, LIG-like layer; no photos or settings retained (preliminary).</a:t>
            </a:r>
          </a:p>
        </p:txBody>
      </p:sp>
      <p:sp>
        <p:nvSpPr>
          <p:cNvPr id="341" name="Google Shape;341;p23"/>
          <p:cNvSpPr txBox="1"/>
          <p:nvPr/>
        </p:nvSpPr>
        <p:spPr>
          <a:xfrm>
            <a:off x="962025" y="3518124"/>
            <a:ext cx="2889300" cy="7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04800" lvl="0" marL="45720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Inter"/>
              <a:buChar char="●"/>
            </a:pPr>
            <a:r>
              <a:rPr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E1 lab photos (team with ID badges at the laser) to be added after the first session.</a:t>
            </a:r>
          </a:p>
        </p:txBody>
      </p:sp>
      <p:sp>
        <p:nvSpPr>
          <p:cNvPr id="342" name="Google Shape;342;p23"/>
          <p:cNvSpPr txBox="1"/>
          <p:nvPr/>
        </p:nvSpPr>
        <p:spPr>
          <a:xfrm>
            <a:off x="962025" y="4347110"/>
            <a:ext cx="28893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04800" lvl="0" marL="45720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Inter"/>
              <a:buChar char="●"/>
            </a:pPr>
            <a:r>
              <a:rPr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Faculty mentor review photo: pending.</a:t>
            </a:r>
          </a:p>
        </p:txBody>
      </p:sp>
      <p:pic>
        <p:nvPicPr>
          <p:cNvPr descr="image.png" id="343" name="Google Shape;343;p2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468698" y="1635924"/>
            <a:ext cx="192425" cy="168664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p23"/>
          <p:cNvSpPr txBox="1"/>
          <p:nvPr/>
        </p:nvSpPr>
        <p:spPr>
          <a:xfrm>
            <a:off x="4786600" y="1599734"/>
            <a:ext cx="28893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Work-In-Progress Software Evidence</a:t>
            </a:r>
            <a:endParaRPr b="1" sz="165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5" name="Google Shape;345;p23"/>
          <p:cNvSpPr txBox="1"/>
          <p:nvPr/>
        </p:nvSpPr>
        <p:spPr>
          <a:xfrm>
            <a:off x="4762865" y="2512065"/>
            <a:ext cx="2889300" cy="7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04800" lvl="0" marL="45720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Inter"/>
              <a:buChar char="●"/>
            </a:pPr>
            <a:r>
              <a:rPr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Python DXF generator + coupon file; E1 analysis script; git history from 14 Oct 2026.</a:t>
            </a:r>
          </a:p>
        </p:txBody>
      </p:sp>
      <p:sp>
        <p:nvSpPr>
          <p:cNvPr id="346" name="Google Shape;346;p23"/>
          <p:cNvSpPr txBox="1"/>
          <p:nvPr/>
        </p:nvSpPr>
        <p:spPr>
          <a:xfrm>
            <a:off x="4762865" y="3312911"/>
            <a:ext cx="28893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04800" lvl="0" marL="45720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Inter"/>
              <a:buChar char="●"/>
            </a:pPr>
            <a:r>
              <a:rPr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KiCad not installed yet; schematic drawn with schemdraw.</a:t>
            </a:r>
          </a:p>
        </p:txBody>
      </p:sp>
      <p:sp>
        <p:nvSpPr>
          <p:cNvPr id="347" name="Google Shape;347;p23"/>
          <p:cNvSpPr txBox="1"/>
          <p:nvPr/>
        </p:nvSpPr>
        <p:spPr>
          <a:xfrm>
            <a:off x="4762865" y="3845838"/>
            <a:ext cx="28893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04800" lvl="0" marL="45720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Inter"/>
              <a:buChar char="●"/>
            </a:pPr>
            <a:r>
              <a:rPr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No FEA claimed; bending will be measured.</a:t>
            </a:r>
          </a:p>
        </p:txBody>
      </p:sp>
      <p:pic>
        <p:nvPicPr>
          <p:cNvPr descr="image.png" id="348" name="Google Shape;348;p2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214475" y="1592695"/>
            <a:ext cx="318593" cy="196306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3"/>
          <p:cNvSpPr txBox="1"/>
          <p:nvPr/>
        </p:nvSpPr>
        <p:spPr>
          <a:xfrm>
            <a:off x="8628295" y="1599734"/>
            <a:ext cx="2663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Raw Repository Linkage</a:t>
            </a:r>
            <a:endParaRPr b="1" sz="165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50" name="Google Shape;350;p23"/>
          <p:cNvSpPr txBox="1"/>
          <p:nvPr/>
        </p:nvSpPr>
        <p:spPr>
          <a:xfrm>
            <a:off x="8531126" y="2604311"/>
            <a:ext cx="28893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04800" lvl="0" marL="45720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Inter"/>
              <a:buChar char="●"/>
            </a:pPr>
            <a:r>
              <a:rPr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Contains .py, .dxf, .csv and protocols.</a:t>
            </a:r>
          </a:p>
        </p:txBody>
      </p:sp>
      <p:sp>
        <p:nvSpPr>
          <p:cNvPr id="351" name="Google Shape;351;p23"/>
          <p:cNvSpPr txBox="1"/>
          <p:nvPr/>
        </p:nvSpPr>
        <p:spPr>
          <a:xfrm>
            <a:off x="8531126" y="3153913"/>
            <a:ext cx="2889300" cy="7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04800" lvl="0" marL="45720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Inter"/>
              <a:buChar char="●"/>
            </a:pPr>
            <a:r>
              <a:rPr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Raw CSVs and original photos committed with timestamps.</a:t>
            </a:r>
          </a:p>
        </p:txBody>
      </p:sp>
      <p:sp>
        <p:nvSpPr>
          <p:cNvPr id="352" name="Google Shape;352;p23"/>
          <p:cNvSpPr txBox="1"/>
          <p:nvPr/>
        </p:nvSpPr>
        <p:spPr>
          <a:xfrm>
            <a:off x="8531126" y="3971424"/>
            <a:ext cx="28893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04800" lvl="0" marL="45720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Inter"/>
              <a:buChar char="●"/>
            </a:pPr>
            <a:r>
              <a:rPr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No embedded videos; external links only.</a:t>
            </a:r>
          </a:p>
        </p:txBody>
      </p:sp>
      <p:sp>
        <p:nvSpPr>
          <p:cNvPr id="353" name="Google Shape;353;p23"/>
          <p:cNvSpPr txBox="1"/>
          <p:nvPr/>
        </p:nvSpPr>
        <p:spPr>
          <a:xfrm>
            <a:off x="790575" y="2064737"/>
            <a:ext cx="57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23"/>
          <p:cNvSpPr txBox="1"/>
          <p:nvPr/>
        </p:nvSpPr>
        <p:spPr>
          <a:xfrm>
            <a:off x="4575125" y="2439654"/>
            <a:ext cx="57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23"/>
          <p:cNvSpPr txBox="1"/>
          <p:nvPr/>
        </p:nvSpPr>
        <p:spPr>
          <a:xfrm>
            <a:off x="8359676" y="2600829"/>
            <a:ext cx="57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56" name="Google Shape;356;p23" title="MBF_Logo_2020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23" title="VK colored transparent logo.png"/>
          <p:cNvPicPr preferRelativeResize="0"/>
          <p:nvPr/>
        </p:nvPicPr>
        <p:blipFill rotWithShape="1">
          <a:blip r:embed="rId11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62" name="Google Shape;36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3" name="Google Shape;363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665754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4" name="Google Shape;364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29350" y="956223"/>
            <a:ext cx="5429250" cy="3282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5" name="Google Shape;365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3400" y="956220"/>
            <a:ext cx="5429250" cy="2428875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4"/>
          <p:cNvSpPr txBox="1"/>
          <p:nvPr/>
        </p:nvSpPr>
        <p:spPr>
          <a:xfrm>
            <a:off x="533400" y="438150"/>
            <a:ext cx="11125200" cy="31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25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Maker Journey</a:t>
            </a:r>
          </a:p>
        </p:txBody>
      </p:sp>
      <p:sp>
        <p:nvSpPr>
          <p:cNvPr id="368" name="Google Shape;368;p24"/>
          <p:cNvSpPr txBox="1"/>
          <p:nvPr/>
        </p:nvSpPr>
        <p:spPr>
          <a:xfrm>
            <a:off x="723900" y="5761004"/>
            <a:ext cx="7953300" cy="35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37" u="none" cap="none" strike="noStrik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Institutional Sign-Off: </a:t>
            </a:r>
            <a:r>
              <a:rPr b="0" i="0" lang="en-US" sz="93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faculty mentor review pending — to be added after Experiment E1.</a:t>
            </a:r>
          </a:p>
        </p:txBody>
      </p:sp>
      <p:sp>
        <p:nvSpPr>
          <p:cNvPr id="369" name="Google Shape;369;p24"/>
          <p:cNvSpPr txBox="1"/>
          <p:nvPr/>
        </p:nvSpPr>
        <p:spPr>
          <a:xfrm>
            <a:off x="533400" y="3432720"/>
            <a:ext cx="5429250" cy="1587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62" u="none" cap="none" strike="noStrike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Figure: PLACEHOLDER — original E1 lab photo to be inserted (no photo exists yet)</a:t>
            </a:r>
          </a:p>
        </p:txBody>
      </p:sp>
      <p:pic>
        <p:nvPicPr>
          <p:cNvPr descr="image.png" id="370" name="Google Shape;370;p24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42925" y="965745"/>
            <a:ext cx="5410200" cy="2409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1" name="Google Shape;371;p2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48425" y="1175295"/>
            <a:ext cx="17338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24"/>
          <p:cNvSpPr txBox="1"/>
          <p:nvPr/>
        </p:nvSpPr>
        <p:spPr>
          <a:xfrm>
            <a:off x="6717059" y="1156245"/>
            <a:ext cx="2916584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Stage 1 to Stage 2 Engineering Iterations</a:t>
            </a:r>
            <a:endParaRPr/>
          </a:p>
        </p:txBody>
      </p:sp>
      <p:sp>
        <p:nvSpPr>
          <p:cNvPr id="373" name="Google Shape;373;p24"/>
          <p:cNvSpPr txBox="1"/>
          <p:nvPr/>
        </p:nvSpPr>
        <p:spPr>
          <a:xfrm>
            <a:off x="6638925" y="1461045"/>
            <a:ext cx="4800600" cy="558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Iterative Pivot: </a:t>
            </a:r>
            <a:r>
              <a:rPr b="0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after an evidence audit, the Stage 1 closed-loop electrotherapy bandage was re-scoped to a measurable first step: reproducible LIG on our own 100 W laser.</a:t>
            </a:r>
          </a:p>
        </p:txBody>
      </p:sp>
      <p:sp>
        <p:nvSpPr>
          <p:cNvPr id="374" name="Google Shape;374;p24"/>
          <p:cNvSpPr txBox="1"/>
          <p:nvPr/>
        </p:nvSpPr>
        <p:spPr>
          <a:xfrm>
            <a:off x="6638925" y="2105769"/>
            <a:ext cx="4800600" cy="372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Machine Facts Recovered: </a:t>
            </a:r>
            <a:r>
              <a:rPr b="0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LaserCAD V8.28 config on our laptop: 1200×900 mm bed, 500/400 mm/s axes, 20 kHz PWM, 98 % max power [A].</a:t>
            </a:r>
          </a:p>
        </p:txBody>
      </p:sp>
      <p:sp>
        <p:nvSpPr>
          <p:cNvPr id="375" name="Google Shape;375;p24"/>
          <p:cNvSpPr txBox="1"/>
          <p:nvPr/>
        </p:nvSpPr>
        <p:spPr>
          <a:xfrm>
            <a:off x="6638925" y="2564159"/>
            <a:ext cx="4800600" cy="558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Preliminary Observation: </a:t>
            </a:r>
            <a:r>
              <a:rPr b="0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setting '12' gave a LIG-like black layer [A, unverified]. '12' is most likely a % PWM command, not watts; tube current must be measured.</a:t>
            </a:r>
          </a:p>
        </p:txBody>
      </p:sp>
      <p:sp>
        <p:nvSpPr>
          <p:cNvPr id="376" name="Google Shape;376;p24"/>
          <p:cNvSpPr txBox="1"/>
          <p:nvPr/>
        </p:nvSpPr>
        <p:spPr>
          <a:xfrm>
            <a:off x="6638925" y="3208883"/>
            <a:ext cx="4800600" cy="745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Repository: </a:t>
            </a:r>
            <a:r>
              <a:rPr b="0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E1 protocol, pre-filled sample log, test coupon, analysis code and evidence register committed with timestamps (link to be added).</a:t>
            </a:r>
          </a:p>
        </p:txBody>
      </p:sp>
      <p:sp>
        <p:nvSpPr>
          <p:cNvPr id="377" name="Google Shape;377;p24"/>
          <p:cNvSpPr txBox="1"/>
          <p:nvPr/>
        </p:nvSpPr>
        <p:spPr>
          <a:xfrm>
            <a:off x="6467475" y="1451520"/>
            <a:ext cx="571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5966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378" name="Google Shape;378;p24"/>
          <p:cNvSpPr txBox="1"/>
          <p:nvPr/>
        </p:nvSpPr>
        <p:spPr>
          <a:xfrm>
            <a:off x="6467475" y="2096244"/>
            <a:ext cx="571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5966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379" name="Google Shape;379;p24"/>
          <p:cNvSpPr txBox="1"/>
          <p:nvPr/>
        </p:nvSpPr>
        <p:spPr>
          <a:xfrm>
            <a:off x="6467475" y="2554634"/>
            <a:ext cx="571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5966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380" name="Google Shape;380;p24"/>
          <p:cNvSpPr txBox="1"/>
          <p:nvPr/>
        </p:nvSpPr>
        <p:spPr>
          <a:xfrm>
            <a:off x="6467475" y="3199358"/>
            <a:ext cx="571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5966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pic>
        <p:nvPicPr>
          <p:cNvPr id="381" name="Google Shape;381;p24" title="MBF_Logo_2020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24" title="VK colored transparent logo.png"/>
          <p:cNvPicPr preferRelativeResize="0"/>
          <p:nvPr/>
        </p:nvPicPr>
        <p:blipFill rotWithShape="1">
          <a:blip r:embed="rId11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87" name="Google Shape;38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3213" y="1451250"/>
            <a:ext cx="5372100" cy="25527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25"/>
          <p:cNvSpPr txBox="1"/>
          <p:nvPr/>
        </p:nvSpPr>
        <p:spPr>
          <a:xfrm>
            <a:off x="801338" y="2194200"/>
            <a:ext cx="51405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Safety &amp; Hazard Mitigation</a:t>
            </a:r>
            <a:endParaRPr/>
          </a:p>
        </p:txBody>
      </p:sp>
      <p:sp>
        <p:nvSpPr>
          <p:cNvPr id="389" name="Google Shape;389;p25"/>
          <p:cNvSpPr txBox="1"/>
          <p:nvPr/>
        </p:nvSpPr>
        <p:spPr>
          <a:xfrm>
            <a:off x="801338" y="2622825"/>
            <a:ext cx="4896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Physical Fail-safes: 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laser runs only with exhaust on, lid closed and operator present; lowest setting first; extinguisher nearby.</a:t>
            </a:r>
          </a:p>
        </p:txBody>
      </p:sp>
      <p:sp>
        <p:nvSpPr>
          <p:cNvPr id="390" name="Google Shape;390;p25"/>
          <p:cNvSpPr txBox="1"/>
          <p:nvPr/>
        </p:nvSpPr>
        <p:spPr>
          <a:xfrm>
            <a:off x="801338" y="3194325"/>
            <a:ext cx="4896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FMEA Matrix: 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see Safety by Design slide. No human or animal testing in Stages 2–3; bench and phantom only.</a:t>
            </a:r>
          </a:p>
        </p:txBody>
      </p:sp>
      <p:pic>
        <p:nvPicPr>
          <p:cNvPr descr="image.png" id="391" name="Google Shape;391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1338" y="1717950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2" name="Google Shape;392;p25"/>
          <p:cNvSpPr txBox="1"/>
          <p:nvPr/>
        </p:nvSpPr>
        <p:spPr>
          <a:xfrm>
            <a:off x="571500" y="47625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Safety &amp; Hazard Mitigation</a:t>
            </a:r>
          </a:p>
        </p:txBody>
      </p:sp>
      <p:pic>
        <p:nvPicPr>
          <p:cNvPr descr="image.png" id="393" name="Google Shape;393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88300" y="1451250"/>
            <a:ext cx="5140500" cy="255270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25"/>
          <p:cNvSpPr txBox="1"/>
          <p:nvPr/>
        </p:nvSpPr>
        <p:spPr>
          <a:xfrm>
            <a:off x="6818517" y="2194200"/>
            <a:ext cx="44472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Standards Compliance</a:t>
            </a:r>
            <a:endParaRPr/>
          </a:p>
        </p:txBody>
      </p:sp>
      <p:sp>
        <p:nvSpPr>
          <p:cNvPr id="395" name="Google Shape;395;p25"/>
          <p:cNvSpPr txBox="1"/>
          <p:nvPr/>
        </p:nvSpPr>
        <p:spPr>
          <a:xfrm>
            <a:off x="6818517" y="2622825"/>
            <a:ext cx="4235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ISO 10993 biocompatibility before any skin or wound contact; IEC 60601-1 limits for any future on-body electronics; university laser-safety rules. None claimed as met yet.</a:t>
            </a:r>
          </a:p>
        </p:txBody>
      </p:sp>
      <p:pic>
        <p:nvPicPr>
          <p:cNvPr descr="image.png" id="396" name="Google Shape;396;p2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18525" y="1717950"/>
            <a:ext cx="422671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7" name="Google Shape;397;p25" title="MBF_Logo_2020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8" name="Google Shape;398;p25" title="VK colored transparent logo.png"/>
          <p:cNvPicPr preferRelativeResize="0"/>
          <p:nvPr/>
        </p:nvPicPr>
        <p:blipFill rotWithShape="1">
          <a:blip r:embed="rId8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04" name="Google Shape;404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8745" y="1402400"/>
            <a:ext cx="5372100" cy="2552700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26"/>
          <p:cNvSpPr txBox="1"/>
          <p:nvPr/>
        </p:nvSpPr>
        <p:spPr>
          <a:xfrm>
            <a:off x="996870" y="2145350"/>
            <a:ext cx="51405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4-Month Fabrication Plan</a:t>
            </a:r>
            <a:endParaRPr/>
          </a:p>
        </p:txBody>
      </p:sp>
      <p:sp>
        <p:nvSpPr>
          <p:cNvPr id="406" name="Google Shape;406;p26"/>
          <p:cNvSpPr txBox="1"/>
          <p:nvPr/>
        </p:nvSpPr>
        <p:spPr>
          <a:xfrm>
            <a:off x="996870" y="2573975"/>
            <a:ext cx="4896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Fabrication Timeline: 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Oct E1 laser repeatability · Nov line width, strip v0.1, bench readout · Dec dressing bench tests · Jan integration.</a:t>
            </a:r>
          </a:p>
        </p:txBody>
      </p:sp>
      <p:sp>
        <p:nvSpPr>
          <p:cNvPr id="407" name="Google Shape;407;p26"/>
          <p:cNvSpPr txBox="1"/>
          <p:nvPr/>
        </p:nvSpPr>
        <p:spPr>
          <a:xfrm>
            <a:off x="996870" y="3145475"/>
            <a:ext cx="4896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Stage 3 Target: 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a bench-tested LIG moisture strip with raw data and repeatability statistics; no clinical or diagnostic claims.</a:t>
            </a:r>
          </a:p>
        </p:txBody>
      </p:sp>
      <p:pic>
        <p:nvPicPr>
          <p:cNvPr descr="image.png" id="408" name="Google Shape;408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96870" y="1669100"/>
            <a:ext cx="2667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26"/>
          <p:cNvSpPr txBox="1"/>
          <p:nvPr/>
        </p:nvSpPr>
        <p:spPr>
          <a:xfrm>
            <a:off x="571500" y="47625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Roadmap</a:t>
            </a:r>
          </a:p>
        </p:txBody>
      </p:sp>
      <p:pic>
        <p:nvPicPr>
          <p:cNvPr id="410" name="Google Shape;410;p26" title="MBF_Logo_2020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1" name="Google Shape;411;p26" title="VK colored transparent logo.png"/>
          <p:cNvPicPr preferRelativeResize="0"/>
          <p:nvPr/>
        </p:nvPicPr>
        <p:blipFill rotWithShape="1">
          <a:blip r:embed="rId6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17" name="Google Shape;417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8" name="Google Shape;418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956220"/>
            <a:ext cx="11125200" cy="1924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9" name="Google Shape;419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3013624"/>
            <a:ext cx="5429250" cy="2616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0" name="Google Shape;420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29350" y="3013624"/>
            <a:ext cx="5429250" cy="2616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p27"/>
          <p:cNvSpPr txBox="1"/>
          <p:nvPr/>
        </p:nvSpPr>
        <p:spPr>
          <a:xfrm>
            <a:off x="533400" y="438150"/>
            <a:ext cx="1112520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25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Safety by Design &amp; Roadmap</a:t>
            </a:r>
          </a:p>
        </p:txBody>
      </p:sp>
      <p:graphicFrame>
        <p:nvGraphicFramePr>
          <p:cNvPr id="423" name="Google Shape;423;p27"/>
          <p:cNvGraphicFramePr/>
          <p:nvPr/>
        </p:nvGraphicFramePr>
        <p:xfrm>
          <a:off x="752475" y="14610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{A2EFB60C-4C19-4109-8612-B18C57E068F9}</a:tableStyleId>
              </a:tblPr>
              <a:tblGrid>
                <a:gridCol w="1576675"/>
                <a:gridCol w="3175400"/>
                <a:gridCol w="5934975"/>
              </a:tblGrid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37" u="non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Failure Mode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37" u="non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Potential Hazard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37" u="non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Embedded Fail-Safe / Mitigation Response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5F9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Laser over-power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Burn-through, flame, polyimide fumes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Lowest setting first; exhaust on; never unattended; stop on any flame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Unstable low-PWM output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Irreproducible LIG, wrong conclusions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Log tube mA; reference cell ×2 per coupon; repeat on 2 days; report CV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Contact artefacts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False sheet resistance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3-length fit separates contacts; silver-paint pads; meter checked on resistors</a:t>
                      </a: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image.png" id="424" name="Google Shape;424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52475" y="11752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27"/>
          <p:cNvSpPr txBox="1"/>
          <p:nvPr/>
        </p:nvSpPr>
        <p:spPr>
          <a:xfrm>
            <a:off x="1002059" y="1156245"/>
            <a:ext cx="3518594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Design FMEA (Failure Mode and Effects Analysis)</a:t>
            </a:r>
            <a:endParaRPr/>
          </a:p>
        </p:txBody>
      </p:sp>
      <p:sp>
        <p:nvSpPr>
          <p:cNvPr id="426" name="Google Shape;426;p27"/>
          <p:cNvSpPr/>
          <p:nvPr/>
        </p:nvSpPr>
        <p:spPr>
          <a:xfrm>
            <a:off x="752475" y="1775370"/>
            <a:ext cx="1576685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27"/>
          <p:cNvSpPr/>
          <p:nvPr/>
        </p:nvSpPr>
        <p:spPr>
          <a:xfrm>
            <a:off x="2329160" y="1775370"/>
            <a:ext cx="3175396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27"/>
          <p:cNvSpPr/>
          <p:nvPr/>
        </p:nvSpPr>
        <p:spPr>
          <a:xfrm>
            <a:off x="5504557" y="1775370"/>
            <a:ext cx="5934967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27"/>
          <p:cNvSpPr/>
          <p:nvPr/>
        </p:nvSpPr>
        <p:spPr>
          <a:xfrm>
            <a:off x="752475" y="2084933"/>
            <a:ext cx="157668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27"/>
          <p:cNvSpPr/>
          <p:nvPr/>
        </p:nvSpPr>
        <p:spPr>
          <a:xfrm>
            <a:off x="2329160" y="2084933"/>
            <a:ext cx="317539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27"/>
          <p:cNvSpPr/>
          <p:nvPr/>
        </p:nvSpPr>
        <p:spPr>
          <a:xfrm>
            <a:off x="5504557" y="2084933"/>
            <a:ext cx="59349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7"/>
          <p:cNvSpPr/>
          <p:nvPr/>
        </p:nvSpPr>
        <p:spPr>
          <a:xfrm>
            <a:off x="752475" y="2380208"/>
            <a:ext cx="157668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27"/>
          <p:cNvSpPr/>
          <p:nvPr/>
        </p:nvSpPr>
        <p:spPr>
          <a:xfrm>
            <a:off x="2329160" y="2380208"/>
            <a:ext cx="317539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27"/>
          <p:cNvSpPr/>
          <p:nvPr/>
        </p:nvSpPr>
        <p:spPr>
          <a:xfrm>
            <a:off x="5504557" y="2380208"/>
            <a:ext cx="59349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35" name="Google Shape;435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52475" y="32326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36" name="Google Shape;436;p27"/>
          <p:cNvSpPr txBox="1"/>
          <p:nvPr/>
        </p:nvSpPr>
        <p:spPr>
          <a:xfrm>
            <a:off x="1002059" y="3213645"/>
            <a:ext cx="2318444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Fabrication Phase (Months 1 - 2)</a:t>
            </a:r>
            <a:endParaRPr/>
          </a:p>
        </p:txBody>
      </p:sp>
      <p:sp>
        <p:nvSpPr>
          <p:cNvPr id="437" name="Google Shape;437;p27"/>
          <p:cNvSpPr txBox="1"/>
          <p:nvPr/>
        </p:nvSpPr>
        <p:spPr>
          <a:xfrm>
            <a:off x="942975" y="3518445"/>
            <a:ext cx="4800600" cy="372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Oct 2026: </a:t>
            </a:r>
            <a:r>
              <a:rPr b="0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E1 — machine record, film thickness, 4 coupons around setting '12' on 2 days; resistance + microscope.</a:t>
            </a:r>
          </a:p>
        </p:txBody>
      </p:sp>
      <p:sp>
        <p:nvSpPr>
          <p:cNvPr id="438" name="Google Shape;438;p27"/>
          <p:cNvSpPr txBox="1"/>
          <p:nvPr/>
        </p:nvSpPr>
        <p:spPr>
          <a:xfrm>
            <a:off x="942975" y="3976836"/>
            <a:ext cx="4800600" cy="372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Nov 2026: </a:t>
            </a:r>
            <a:r>
              <a:rPr b="0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E2 — line width and isolation gaps; strip v0.1; bench readout (ESP32-C3 + ADS1115) assembled.</a:t>
            </a:r>
          </a:p>
        </p:txBody>
      </p:sp>
      <p:pic>
        <p:nvPicPr>
          <p:cNvPr descr="image.png" id="439" name="Google Shape;439;p2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448425" y="3232695"/>
            <a:ext cx="13528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27"/>
          <p:cNvSpPr txBox="1"/>
          <p:nvPr/>
        </p:nvSpPr>
        <p:spPr>
          <a:xfrm>
            <a:off x="6678959" y="3213645"/>
            <a:ext cx="2884289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Integration &amp; Bench Demo (Months 3 - 4)</a:t>
            </a:r>
          </a:p>
        </p:txBody>
      </p:sp>
      <p:sp>
        <p:nvSpPr>
          <p:cNvPr id="441" name="Google Shape;441;p27"/>
          <p:cNvSpPr txBox="1"/>
          <p:nvPr/>
        </p:nvSpPr>
        <p:spPr>
          <a:xfrm>
            <a:off x="6638925" y="3518445"/>
            <a:ext cx="4800600" cy="372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Dec 2026: </a:t>
            </a:r>
            <a:r>
              <a:rPr b="0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E3 — strip on real dressings with Solution A: centre zone vs 2 cm-line zone vs visual front.</a:t>
            </a:r>
          </a:p>
        </p:txBody>
      </p:sp>
      <p:sp>
        <p:nvSpPr>
          <p:cNvPr id="442" name="Google Shape;442;p27"/>
          <p:cNvSpPr txBox="1"/>
          <p:nvPr/>
        </p:nvSpPr>
        <p:spPr>
          <a:xfrm>
            <a:off x="6638925" y="3976836"/>
            <a:ext cx="4800600" cy="372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Jan 2027: </a:t>
            </a:r>
            <a:r>
              <a:rPr b="0" i="0" lang="en-US" sz="1012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repeatability and bending tests; Stage 3 video of the bench system with raw data.</a:t>
            </a:r>
          </a:p>
        </p:txBody>
      </p:sp>
      <p:sp>
        <p:nvSpPr>
          <p:cNvPr id="443" name="Google Shape;443;p27"/>
          <p:cNvSpPr txBox="1"/>
          <p:nvPr/>
        </p:nvSpPr>
        <p:spPr>
          <a:xfrm>
            <a:off x="771525" y="3508920"/>
            <a:ext cx="571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5966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444" name="Google Shape;444;p27"/>
          <p:cNvSpPr txBox="1"/>
          <p:nvPr/>
        </p:nvSpPr>
        <p:spPr>
          <a:xfrm>
            <a:off x="771525" y="3967311"/>
            <a:ext cx="571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5966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445" name="Google Shape;445;p27"/>
          <p:cNvSpPr txBox="1"/>
          <p:nvPr/>
        </p:nvSpPr>
        <p:spPr>
          <a:xfrm>
            <a:off x="6467475" y="3508920"/>
            <a:ext cx="571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5966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446" name="Google Shape;446;p27"/>
          <p:cNvSpPr txBox="1"/>
          <p:nvPr/>
        </p:nvSpPr>
        <p:spPr>
          <a:xfrm>
            <a:off x="6467475" y="3967311"/>
            <a:ext cx="571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5966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pic>
        <p:nvPicPr>
          <p:cNvPr id="447" name="Google Shape;447;p27" title="MBF_Logo_2020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27" title="VK colored transparent logo.png"/>
          <p:cNvPicPr preferRelativeResize="0"/>
          <p:nvPr/>
        </p:nvPicPr>
        <p:blipFill rotWithShape="1">
          <a:blip r:embed="rId12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53" name="Google Shape;453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6175" y="1353525"/>
            <a:ext cx="3530649" cy="2438400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28"/>
          <p:cNvSpPr txBox="1"/>
          <p:nvPr/>
        </p:nvSpPr>
        <p:spPr>
          <a:xfrm>
            <a:off x="1184300" y="2096475"/>
            <a:ext cx="3207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Engineering Bottlenecks</a:t>
            </a:r>
            <a:endParaRPr/>
          </a:p>
        </p:txBody>
      </p:sp>
      <p:sp>
        <p:nvSpPr>
          <p:cNvPr id="455" name="Google Shape;455;p28"/>
          <p:cNvSpPr txBox="1"/>
          <p:nvPr/>
        </p:nvSpPr>
        <p:spPr>
          <a:xfrm>
            <a:off x="1184300" y="2525100"/>
            <a:ext cx="30543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'12' is a low-PWM setting on a 100 W tube, where output can be unstable [C]; actual power unknown [A]; film grade unverified; without Raman/SEM we cannot prove 'graphene'.</a:t>
            </a:r>
          </a:p>
        </p:txBody>
      </p:sp>
      <p:pic>
        <p:nvPicPr>
          <p:cNvPr descr="image.png" id="456" name="Google Shape;456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84300" y="1620225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28"/>
          <p:cNvSpPr txBox="1"/>
          <p:nvPr/>
        </p:nvSpPr>
        <p:spPr>
          <a:xfrm>
            <a:off x="571500" y="47625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Technical Challenges &amp; Risks</a:t>
            </a:r>
          </a:p>
        </p:txBody>
      </p:sp>
      <p:pic>
        <p:nvPicPr>
          <p:cNvPr id="458" name="Google Shape;458;p28" title="MBF_Logo_2020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9" name="Google Shape;459;p28" title="VK colored transparent logo.png"/>
          <p:cNvPicPr preferRelativeResize="0"/>
          <p:nvPr/>
        </p:nvPicPr>
        <p:blipFill rotWithShape="1">
          <a:blip r:embed="rId6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65" name="Google Shape;465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61033" y="1434975"/>
            <a:ext cx="3530649" cy="2438400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p29"/>
          <p:cNvSpPr txBox="1"/>
          <p:nvPr/>
        </p:nvSpPr>
        <p:spPr>
          <a:xfrm>
            <a:off x="1099158" y="2177925"/>
            <a:ext cx="3207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Risk Mitigation</a:t>
            </a:r>
            <a:endParaRPr/>
          </a:p>
        </p:txBody>
      </p:sp>
      <p:sp>
        <p:nvSpPr>
          <p:cNvPr id="467" name="Google Shape;467;p29"/>
          <p:cNvSpPr txBox="1"/>
          <p:nvPr/>
        </p:nvSpPr>
        <p:spPr>
          <a:xfrm>
            <a:off x="1099158" y="2606550"/>
            <a:ext cx="3054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Log tube current per setting; replicate the reference cell; adjust speed to avoid unstable power; request Raman/SEM via IIT Indore SIC; keep claims bench-level.</a:t>
            </a:r>
          </a:p>
        </p:txBody>
      </p:sp>
      <p:pic>
        <p:nvPicPr>
          <p:cNvPr descr="image.png" id="468" name="Google Shape;468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9158" y="1701675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29"/>
          <p:cNvSpPr txBox="1"/>
          <p:nvPr/>
        </p:nvSpPr>
        <p:spPr>
          <a:xfrm>
            <a:off x="571500" y="47625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Potential Solutions &amp; Risk Mitigation</a:t>
            </a:r>
          </a:p>
        </p:txBody>
      </p:sp>
      <p:pic>
        <p:nvPicPr>
          <p:cNvPr id="470" name="Google Shape;470;p29" title="MBF_Logo_2020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" name="Google Shape;471;p29" title="VK colored transparent logo.png"/>
          <p:cNvPicPr preferRelativeResize="0"/>
          <p:nvPr/>
        </p:nvPicPr>
        <p:blipFill rotWithShape="1">
          <a:blip r:embed="rId6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77" name="Google Shape;47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8" name="Google Shape;478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665754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9" name="Google Shape;479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956223"/>
            <a:ext cx="3568600" cy="34615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0" name="Google Shape;480;p3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11550" y="956223"/>
            <a:ext cx="3568749" cy="34615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1" name="Google Shape;481;p3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89850" y="956223"/>
            <a:ext cx="3568600" cy="3461575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30"/>
          <p:cNvSpPr txBox="1"/>
          <p:nvPr/>
        </p:nvSpPr>
        <p:spPr>
          <a:xfrm>
            <a:off x="533400" y="438150"/>
            <a:ext cx="1112520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25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Technical Challenges &amp; Risks</a:t>
            </a:r>
          </a:p>
        </p:txBody>
      </p:sp>
      <p:sp>
        <p:nvSpPr>
          <p:cNvPr id="484" name="Google Shape;484;p30"/>
          <p:cNvSpPr txBox="1"/>
          <p:nvPr/>
        </p:nvSpPr>
        <p:spPr>
          <a:xfrm>
            <a:off x="723900" y="5761004"/>
            <a:ext cx="7715400" cy="35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37" u="none" cap="none" strike="noStrik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Empirical Verification: </a:t>
            </a:r>
            <a:r>
              <a:rPr b="0" i="0" lang="en-US" sz="93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none yet — first measurements are Experiment E1 (Oct 2026); results will replace every target on these slides.</a:t>
            </a:r>
          </a:p>
        </p:txBody>
      </p:sp>
      <p:sp>
        <p:nvSpPr>
          <p:cNvPr id="485" name="Google Shape;485;p30"/>
          <p:cNvSpPr txBox="1"/>
          <p:nvPr/>
        </p:nvSpPr>
        <p:spPr>
          <a:xfrm>
            <a:off x="752475" y="1461045"/>
            <a:ext cx="3130450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37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Observed Risk: </a:t>
            </a:r>
            <a:r>
              <a:rPr b="0" i="0" lang="en-US" sz="937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tube current is spiky below ~25 % PWM (engineering measurements, not peer-reviewed) [C]; our '12' is in this range [A].</a:t>
            </a:r>
          </a:p>
        </p:txBody>
      </p:sp>
      <p:sp>
        <p:nvSpPr>
          <p:cNvPr id="486" name="Google Shape;486;p30"/>
          <p:cNvSpPr txBox="1"/>
          <p:nvPr/>
        </p:nvSpPr>
        <p:spPr>
          <a:xfrm>
            <a:off x="752475" y="2055167"/>
            <a:ext cx="3130450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37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Mitigation: </a:t>
            </a:r>
            <a:r>
              <a:rPr b="0" i="0" lang="en-US" sz="937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log tube mA; 2 coupons per day on 2 days; accept only if CV ≤ 20 % (pre-registered).</a:t>
            </a:r>
          </a:p>
        </p:txBody>
      </p:sp>
      <p:sp>
        <p:nvSpPr>
          <p:cNvPr id="487" name="Google Shape;487;p30"/>
          <p:cNvSpPr txBox="1"/>
          <p:nvPr/>
        </p:nvSpPr>
        <p:spPr>
          <a:xfrm>
            <a:off x="4530625" y="1461045"/>
            <a:ext cx="3130599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37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Observed Risk: </a:t>
            </a:r>
            <a:r>
              <a:rPr b="0" i="0" lang="en-US" sz="937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black and conductive does not prove graphene; resistance alone cannot confirm graphitic carbon.</a:t>
            </a:r>
          </a:p>
        </p:txBody>
      </p:sp>
      <p:sp>
        <p:nvSpPr>
          <p:cNvPr id="488" name="Google Shape;488;p30"/>
          <p:cNvSpPr txBox="1"/>
          <p:nvPr/>
        </p:nvSpPr>
        <p:spPr>
          <a:xfrm>
            <a:off x="4530625" y="2055167"/>
            <a:ext cx="3130599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37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Mitigation: </a:t>
            </a:r>
            <a:r>
              <a:rPr b="0" i="0" lang="en-US" sz="937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Raman (D, G, 2D) and SEM via a university facility; until then we report a 'LIG-like conductive layer'.</a:t>
            </a:r>
          </a:p>
        </p:txBody>
      </p:sp>
      <p:sp>
        <p:nvSpPr>
          <p:cNvPr id="489" name="Google Shape;489;p30"/>
          <p:cNvSpPr txBox="1"/>
          <p:nvPr/>
        </p:nvSpPr>
        <p:spPr>
          <a:xfrm>
            <a:off x="8308925" y="1461045"/>
            <a:ext cx="3130450" cy="3452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37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ISO 10993: </a:t>
            </a:r>
            <a:r>
              <a:rPr b="0" i="0" lang="en-US" sz="937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required before any skin or wound contact; not started.</a:t>
            </a:r>
          </a:p>
        </p:txBody>
      </p:sp>
      <p:sp>
        <p:nvSpPr>
          <p:cNvPr id="490" name="Google Shape;490;p30"/>
          <p:cNvSpPr txBox="1"/>
          <p:nvPr/>
        </p:nvSpPr>
        <p:spPr>
          <a:xfrm>
            <a:off x="8308925" y="1882526"/>
            <a:ext cx="3130450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37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Wound Contact: </a:t>
            </a:r>
            <a:r>
              <a:rPr b="0" i="0" lang="en-US" sz="937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none by design; the strip sits on the outer face of the absorbent pad.</a:t>
            </a:r>
          </a:p>
        </p:txBody>
      </p:sp>
      <p:sp>
        <p:nvSpPr>
          <p:cNvPr id="491" name="Google Shape;491;p30"/>
          <p:cNvSpPr txBox="1"/>
          <p:nvPr/>
        </p:nvSpPr>
        <p:spPr>
          <a:xfrm>
            <a:off x="8308925" y="2476648"/>
            <a:ext cx="3130450" cy="3452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37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Claims: </a:t>
            </a:r>
            <a:r>
              <a:rPr b="0" i="0" lang="en-US" sz="937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bench data only; no diagnostic or healing claims.</a:t>
            </a:r>
          </a:p>
        </p:txBody>
      </p:sp>
      <p:pic>
        <p:nvPicPr>
          <p:cNvPr descr="image.png" id="492" name="Google Shape;492;p3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52475" y="1175295"/>
            <a:ext cx="1924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30"/>
          <p:cNvSpPr txBox="1"/>
          <p:nvPr/>
        </p:nvSpPr>
        <p:spPr>
          <a:xfrm>
            <a:off x="1040159" y="1156245"/>
            <a:ext cx="2131814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Bottleneck: Laser Stability</a:t>
            </a:r>
          </a:p>
        </p:txBody>
      </p:sp>
      <p:pic>
        <p:nvPicPr>
          <p:cNvPr descr="image.png" id="494" name="Google Shape;494;p3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530625" y="1175295"/>
            <a:ext cx="17338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30"/>
          <p:cNvSpPr txBox="1"/>
          <p:nvPr/>
        </p:nvSpPr>
        <p:spPr>
          <a:xfrm>
            <a:off x="4799260" y="1156245"/>
            <a:ext cx="22193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Bottleneck: Proving It Is LIG</a:t>
            </a:r>
          </a:p>
        </p:txBody>
      </p:sp>
      <p:pic>
        <p:nvPicPr>
          <p:cNvPr descr="image.png" id="496" name="Google Shape;496;p30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308925" y="11752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97" name="Google Shape;497;p30"/>
          <p:cNvSpPr txBox="1"/>
          <p:nvPr/>
        </p:nvSpPr>
        <p:spPr>
          <a:xfrm>
            <a:off x="8558510" y="1156245"/>
            <a:ext cx="2127944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Claims &amp; Standards</a:t>
            </a:r>
          </a:p>
        </p:txBody>
      </p:sp>
      <p:pic>
        <p:nvPicPr>
          <p:cNvPr id="498" name="Google Shape;498;p30" title="MBF_Logo_2020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" name="Google Shape;499;p30" title="VK colored transparent logo.png"/>
          <p:cNvPicPr preferRelativeResize="0"/>
          <p:nvPr/>
        </p:nvPicPr>
        <p:blipFill rotWithShape="1">
          <a:blip r:embed="rId13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1"/>
          <p:cNvSpPr/>
          <p:nvPr/>
        </p:nvSpPr>
        <p:spPr>
          <a:xfrm>
            <a:off x="571500" y="1532725"/>
            <a:ext cx="1104900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31"/>
          <p:cNvSpPr txBox="1"/>
          <p:nvPr/>
        </p:nvSpPr>
        <p:spPr>
          <a:xfrm>
            <a:off x="731520" y="1645920"/>
            <a:ext cx="1078992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1. Lin J. et al., Laser-induced porous graphene films from commercial polymers, Nat. Commun. 5, 5714 (2014). doi:10.1038/ncomms6714</a:t>
            </a:r>
          </a:p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2. Milne S.D. et al., A wearable wound moisture sensor as an indicator for wound dressing change, Int. Wound J. 13(6), 1309–1314 (2016). doi:10.1111/iwj.12521</a:t>
            </a:r>
          </a:p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3. McColl D., Cartlidge B., Connolly P., Real-time monitoring of moisture levels in wound dressings in vitro, Int. J. Surg. 5(5), 316–322 (2007). doi:10.1016/j.ijsu.2007.02.008</a:t>
            </a:r>
          </a:p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4. Jiang Y. et al., Wireless, closed-loop, smart bandage with integrated sensors and stimulators, Nat. Biotechnol. (2022). doi:10.1038/s41587-022-01528-3</a:t>
            </a:r>
          </a:p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5. Shirzaei Sani E. et al., A stretchable wireless wearable bioelectronic system for infected chronic wounds, Sci. Adv. 9, eadf7388 (2023). doi:10.1126/sciadv.adf7388</a:t>
            </a:r>
          </a:p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6. Asgharian H. et al., WoundMx: multiplexed wound-infection biomarker detection with laser-induced graphene, Research Square preprint (2025). doi:10.21203/rs.3.rs-7274589/v1</a:t>
            </a:r>
          </a:p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7. Influence of lasing parameters on the morphology and electrical resistance of polyimide-based LIG, Carbon Letters (2023).</a:t>
            </a:r>
          </a:p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8. Design of experiments and optimization of laser-induced graphene, University College Cork (2023).</a:t>
            </a:r>
          </a:p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9. Dressing instructions: Mölnlycke Mepilex Border Flex 'time to change'; 3M Tegaderm silicone foam border guide.</a:t>
            </a:r>
          </a:p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10. EN 13726-1:2002 / EN 13726:2023, Test methods for primary wound dressings (absorbency, 'Solution A').</a:t>
            </a:r>
          </a:p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11. CO₂ laser tube current vs PWM measurements, softsolder.com (2022) — engineering blog, not peer-reviewed.</a:t>
            </a:r>
          </a:p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12. Rezaei I. et al., Wearable Kapton graphene biosensor for toxic gases, J. Hazard. Mater. Adv. 15, 100452 (2024) — simulation only; reviewed, not used as evidence.</a:t>
            </a:r>
          </a:p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13. DuPont statement on use of DuPont materials in medical applications (Kapton medical caution).</a:t>
            </a:r>
          </a:p>
        </p:txBody>
      </p:sp>
      <p:sp>
        <p:nvSpPr>
          <p:cNvPr id="513" name="Google Shape;513;p31"/>
          <p:cNvSpPr txBox="1"/>
          <p:nvPr/>
        </p:nvSpPr>
        <p:spPr>
          <a:xfrm>
            <a:off x="571500" y="476250"/>
            <a:ext cx="11601600" cy="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References &amp; </a:t>
            </a:r>
            <a:r>
              <a:rPr b="1" i="0" lang="en-US" sz="255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Sources </a:t>
            </a:r>
            <a:endParaRPr b="1" sz="2550">
              <a:solidFill>
                <a:srgbClr val="1E3A8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80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(tags: [A] our records · [B] planned measurement · [C] published literature)</a:t>
            </a:r>
            <a:r>
              <a:rPr lang="en-US" sz="180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en-US" sz="180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i="0" lang="en-US" sz="180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1800"/>
          </a:p>
        </p:txBody>
      </p:sp>
      <p:pic>
        <p:nvPicPr>
          <p:cNvPr id="514" name="Google Shape;514;p31" title="MBF_Logo_2020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5" name="Google Shape;515;p31" title="VK colored transparent logo.png"/>
          <p:cNvPicPr preferRelativeResize="0"/>
          <p:nvPr/>
        </p:nvPicPr>
        <p:blipFill rotWithShape="1">
          <a:blip r:embed="rId6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21" name="Google Shape;521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2" name="Google Shape;522;p32"/>
          <p:cNvSpPr txBox="1"/>
          <p:nvPr/>
        </p:nvSpPr>
        <p:spPr>
          <a:xfrm>
            <a:off x="533400" y="438150"/>
            <a:ext cx="1165860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25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Image Sources</a:t>
            </a:r>
            <a:endParaRPr/>
          </a:p>
        </p:txBody>
      </p:sp>
      <p:sp>
        <p:nvSpPr>
          <p:cNvPr id="523" name="Google Shape;523;p32"/>
          <p:cNvSpPr/>
          <p:nvPr/>
        </p:nvSpPr>
        <p:spPr>
          <a:xfrm>
            <a:off x="533400" y="956220"/>
            <a:ext cx="11125200" cy="11513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32"/>
          <p:cNvSpPr txBox="1"/>
          <p:nvPr/>
        </p:nvSpPr>
        <p:spPr>
          <a:xfrm>
            <a:off x="731520" y="1097280"/>
            <a:ext cx="10789920" cy="220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All figures in this deck were generated by the team from project files: flow diagrams (matplotlib), coupon drawing rendered from lig_test_coupon.dxf, schematic (schemdraw). Script: 08_submission/make_figures.py.</a:t>
            </a:r>
          </a:p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No stock photos and no AI-generated images are used. The photo slot on the Maker Journey slide is a marked placeholder for an original E1 lab photo.</a:t>
            </a:r>
          </a:p>
        </p:txBody>
      </p:sp>
      <p:pic>
        <p:nvPicPr>
          <p:cNvPr id="551" name="Google Shape;551;p32" title="MBF_Logo_2020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2" name="Google Shape;552;p32" title="VK colored transparent logo.png"/>
          <p:cNvPicPr preferRelativeResize="0"/>
          <p:nvPr/>
        </p:nvPicPr>
        <p:blipFill rotWithShape="1">
          <a:blip r:embed="rId11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